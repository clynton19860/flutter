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302" r:id="rIdNew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48" Type="http://schemas.openxmlformats.org/officeDocument/2006/relationships/notesMaster" Target="notesMasters/notesMaster1.xml" /><Relationship Id="rId49" Type="http://schemas.openxmlformats.org/officeDocument/2006/relationships/presProps" Target="presProps.xml" /><Relationship Id="rId50" Type="http://schemas.openxmlformats.org/officeDocument/2006/relationships/viewProps" Target="viewProps.xml" /><Relationship Id="rId51" Type="http://schemas.openxmlformats.org/officeDocument/2006/relationships/theme" Target="theme/theme1.xml" /><Relationship Id="rId52" Type="http://schemas.openxmlformats.org/officeDocument/2006/relationships/tableStyles" Target="tableStyles.xml" /><Relationship Id="rIdNew47" Type="http://schemas.openxmlformats.org/officeDocument/2006/relationships/slide" Target="slides/slide47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47.xml><?xml version="1.0" encoding="utf-8"?>
<ns0:sld xmlns:ns0="http://schemas.openxmlformats.org/presentationml/2006/main" xmlns:ns1="http://schemas.openxmlformats.org/drawingml/2006/main">
  <ns0:cSld name="Slide 13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ext 0"/>
          <ns0:cNvSpPr txBox="1"/>
          <ns0:nvPr/>
        </ns0:nvSpPr>
        <ns0:spPr>
          <ns1:xfrm>
            <ns1:off x="548640" y="365760"/>
            <ns1:ext cx="11091672" cy="7315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3000" b="1" dirty="0">
                <ns1:solidFill>
                  <ns1:srgbClr val="0B254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R300 TAKEALOT VOUCHER  ·  THE FIFTH STATE</ns1:t>
            </ns1:r>
            <ns1:endParaRPr lang="en-US" sz="3000" dirty="0"/>
          </ns1:p>
        </ns0:txBody>
      </ns0:sp>
      <ns0:sp>
        <ns0:nvSpPr>
          <ns0:cNvPr id="3" name="Text 1"/>
          <ns0:cNvSpPr txBox="1"/>
          <ns0:nvPr/>
        </ns0:nvSpPr>
        <ns0:spPr>
          <ns1:xfrm>
            <ns1:off x="548640" y="1325880"/>
            <ns1:ext cx="4299509" cy="4754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177800" indent="-177800">
              <ns1:spcAft>
                <ns1:spcPts val="800"/>
              </ns1:spcAft>
              <ns1:buSzPct val="100000"/>
              <ns1:buChar char="•"/>
            </ns1:pPr>
            <ns1:r>
              <ns1:rPr lang="en-US" sz="1400" b="1" dirty="0">
                <ns1:solidFill>
                  <ns1:srgbClr val="0B254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First one done wins. </ns1:t>
            </ns1:r>
            <ns1:pPr indent="0" marL="0">
              <ns1:spcAft>
                <ns1:spcPts val="800"/>
              </ns1:spcAft>
              <ns1:buNone/>
            </ns1:pPr>
            <ns1:r>
              <ns1:rPr lang="en-US" sz="1400" dirty="0">
                <ns1:solidFill>
                  <ns1:srgbClr val="1F29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Green tests in front of me, and the voucher is yours. One prize.</ns1:t>
            </ns1:r>
            <ns1:endParaRPr lang="en-US" sz="1400" dirty="0"/>
          </ns1:p>
          <ns1:p>
            <ns1:pPr marL="177800" indent="-177800">
              <ns1:spcAft>
                <ns1:spcPts val="800"/>
              </ns1:spcAft>
              <ns1:buSzPct val="100000"/>
              <ns1:buChar char="•"/>
            </ns1:pPr>
            <ns1:r>
              <ns1:rPr lang="en-US" sz="1400" b="1" dirty="0">
                <ns1:solidFill>
                  <ns1:srgbClr val="0B254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The Day 3 question, for real. </ns1:t>
            </ns1:r>
            <ns1:pPr indent="0" marL="0">
              <ns1:spcAft>
                <ns1:spcPts val="800"/>
              </ns1:spcAft>
              <ns1:buNone/>
            </ns1:pPr>
            <ns1:r>
              <ns1:rPr lang="en-US" sz="1400" dirty="0">
                <ns1:solidFill>
                  <ns1:srgbClr val="1F29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Add QuoteExpired as the fifth state. The compiler will show you every place that breaks.</ns1:t>
            </ns1:r>
            <ns1:endParaRPr lang="en-US" sz="1400" dirty="0"/>
          </ns1:p>
          <ns1:p>
            <ns1:pPr marL="177800" indent="-177800">
              <ns1:spcAft>
                <ns1:spcPts val="800"/>
              </ns1:spcAft>
              <ns1:buSzPct val="100000"/>
              <ns1:buChar char="•"/>
            </ns1:pPr>
            <ns1:r>
              <ns1:rPr lang="en-US" sz="1400" b="1" dirty="0">
                <ns1:solidFill>
                  <ns1:srgbClr val="0B254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Do not edit the test file. </ns1:t>
            </ns1:r>
            <ns1:pPr indent="0" marL="0">
              <ns1:spcAft>
                <ns1:spcPts val="800"/>
              </ns1:spcAft>
              <ns1:buNone/>
            </ns1:pPr>
            <ns1:r>
              <ns1:rPr lang="en-US" sz="1400" dirty="0">
                <ns1:solidFill>
                  <ns1:srgbClr val="1F29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Nine tests, copied in as-is. Change the app until they pass.</ns1:t>
            </ns1:r>
            <ns1:endParaRPr lang="en-US" sz="1400" dirty="0"/>
          </ns1:p>
          <ns1:p>
            <ns1:pPr marL="177800" indent="-177800">
              <ns1:spcAft>
                <ns1:spcPts val="800"/>
              </ns1:spcAft>
              <ns1:buSzPct val="100000"/>
              <ns1:buChar char="•"/>
            </ns1:pPr>
            <ns1:r>
              <ns1:rPr lang="en-US" sz="1400" b="1" dirty="0">
                <ns1:solidFill>
                  <ns1:srgbClr val="0B254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Everything else must still pass. </ns1:t>
            </ns1:r>
            <ns1:pPr indent="0" marL="0">
              <ns1:spcAft>
                <ns1:spcPts val="800"/>
              </ns1:spcAft>
              <ns1:buNone/>
            </ns1:pPr>
            <ns1:r>
              <ns1:rPr lang="en-US" sz="1400" dirty="0">
                <ns1:solidFill>
                  <ns1:srgbClr val="1F29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flutter analyze clean AND flutter test green. Breaking one to fix another is not a win.</ns1:t>
            </ns1:r>
            <ns1:endParaRPr lang="en-US" sz="1400" dirty="0"/>
          </ns1:p>
          <ns1:p>
            <ns1:pPr marL="177800" indent="-177800">
              <ns1:spcAft>
                <ns1:spcPts val="800"/>
              </ns1:spcAft>
              <ns1:buSzPct val="100000"/>
              <ns1:buChar char="•"/>
            </ns1:pPr>
            <ns1:r>
              <ns1:rPr lang="en-US" sz="1400" b="1" dirty="0">
                <ns1:solidFill>
                  <ns1:srgbClr val="0B254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About 30 lines, three files. </ns1:t>
            </ns1:r>
            <ns1:pPr indent="0" marL="0">
              <ns1:spcAft>
                <ns1:spcPts val="800"/>
              </ns1:spcAft>
              <ns1:buNone/>
            </ns1:pPr>
            <ns1:r>
              <ns1:rPr lang="en-US" sz="1400" dirty="0">
                <ns1:solidFill>
                  <ns1:srgbClr val="1F29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Ask me anything, use the handbooks, use the internet. Pair up if you like - one voucher, so agree the split first.</ns1:t>
            </ns1:r>
            <ns1:endParaRPr lang="en-US" sz="1400" dirty="0"/>
          </ns1:p>
        </ns0:txBody>
      </ns0:sp>
      <ns0:sp>
        <ns0:nvSpPr>
          <ns0:cNvPr id="4" name="Shape 2"/>
          <ns0:cNvSpPr/>
          <ns0:nvPr/>
        </ns0:nvSpPr>
        <ns0:spPr>
          <ns1:xfrm>
            <ns1:off x="5122469" y="1325880"/>
            <ns1:ext cx="6517843" cy="4754880"/>
          </ns1:xfrm>
          <ns1:prstGeom prst="roundRect">
            <ns1:avLst>
              <ns1:gd name="adj" fmla="val 1538"/>
            </ns1:avLst>
          </ns1:prstGeom>
          <ns1:solidFill>
            <ns1:srgbClr val="0F172A"/>
          </ns1:solidFill>
          <ns1:ln w="12700">
            <ns1:solidFill>
              <ns1:srgbClr val="0F172A"/>
            </ns1:solidFill>
            <ns1:prstDash val="solid"/>
          </ns1:ln>
        </ns0:spPr>
      </ns0:sp>
      <ns0:sp>
        <ns0:nvSpPr>
          <ns0:cNvPr id="5" name="Text 3"/>
          <ns0:cNvSpPr txBox="1"/>
          <ns0:nvPr/>
        </ns0:nvSpPr>
        <ns0:spPr>
          <ns1:xfrm>
            <ns1:off x="10177272" y="1380744"/>
            <ns1:ext cx="13716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800" dirty="0">
                <ns1:solidFill>
                  <ns1:srgbClr val="E3C7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terminal</ns1:t>
            </ns1:r>
            <ns1:endParaRPr lang="en-US" sz="800" dirty="0"/>
          </ns1:p>
        </ns0:txBody>
      </ns0:sp>
      <ns0:sp>
        <ns0:nvSpPr>
          <ns0:cNvPr id="6" name="Text 4"/>
          <ns0:cNvSpPr txBox="1"/>
          <ns0:nvPr/>
        </ns0:nvSpPr>
        <ns0:spPr>
          <ns1:xfrm>
            <ns1:off x="5259629" y="1435608"/>
            <ns1:ext cx="6243523" cy="45354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# start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git checkout lab-4-3-solution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git checkout -b challenge-&lt;your-name&gt;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cp ../challenge/challenge_test.dart test/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/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flutter test          # compile errors = your to-do list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 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 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# you win when BOTH of these are clean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flutter analyze       # No issues found!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flutter test          # All tests passed!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 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 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# the full brief, spec and hints</ns1:t>
            </ns1:r>
            <ns1:endParaRPr lang="en-US" sz="1000" dirty="0"/>
          </ns1:p>
          <ns1:p>
            <ns1:pPr indent="0" marL="0">
              <ns1:lnSpc>
                <ns1:spcPct val="105000"/>
              </ns1:lnSpc>
              <ns1:buNone/>
            </ns1:pPr>
            <ns1:r>
              <ns1:rPr lang="en-US" sz="1000" dirty="0">
                <ns1:solidFill>
                  <ns1:srgbClr val="E2E8F0"/>
                </ns1:solidFill>
                <ns1:latin typeface="Courier New" pitchFamily="34" charset="0"/>
                <ns1:ea typeface="Courier New" pitchFamily="34" charset="-122"/>
                <ns1:cs typeface="Courier New" pitchFamily="34" charset="-120"/>
              </ns1:rPr>
              <ns1:t>challenge/README.md</ns1:t>
            </ns1:r>
            <ns1:endParaRPr lang="en-US" sz="1000" dirty="0"/>
          </ns1:p>
        </ns0:txBody>
      </ns0:sp>
      <ns0:sp>
        <ns0:nvSpPr>
          <ns0:cNvPr id="7" name="Text 5"/>
          <ns0:cNvSpPr txBox="1"/>
          <ns0:nvPr/>
        </ns0:nvSpPr>
        <ns0:spPr>
          <ns1:xfrm>
            <ns1:off x="548640" y="6473952"/>
            <ns1:ext cx="9994392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900" dirty="0">
                <ns1:solidFill>
                  <ns1:srgbClr val="5B677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 Integrations · Flutter Training · Day 4 challenge</ns1:t>
            </ns1:r>
            <ns1:endParaRPr lang="en-US" sz="900" dirty="0"/>
          </ns1:p>
        </ns0:txBody>
      </ns0:sp>
      <ns0:sp>
        <ns0:nvSpPr>
          <ns0:cNvPr id="8" name="Text 6"/>
          <ns0:cNvSpPr txBox="1"/>
          <ns0:nvPr/>
        </ns0:nvSpPr>
        <ns0:spPr>
          <ns1:xfrm>
            <ns1:off x="10543032" y="6473952"/>
            <ns1:ext cx="109728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r" indent="0" marL="0">
              <ns1:buNone/>
            </ns1:pPr>
            <ns1:r>
              <ns1:rPr lang="en-US" sz="900" dirty="0">
                <ns1:solidFill>
                  <ns1:srgbClr val="5B677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 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Day 3 - State Management</dc:title>
  <dc:subject>MO Integrations Flutter Training</dc:subject>
  <dc:creator>MO Integrations</dc:creator>
  <cp:lastModifiedBy>MO Integrations</cp:lastModifiedBy>
  <cp:revision>1</cp:revision>
  <dcterms:created xsi:type="dcterms:W3CDTF">2026-09-06T15:57:32Z</dcterms:created>
  <dcterms:modified xsi:type="dcterms:W3CDTF">2026-09-06T15:57:32Z</dcterms:modified>
</cp:coreProperties>
</file>