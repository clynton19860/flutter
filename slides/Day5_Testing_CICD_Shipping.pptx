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have an app that works. Today you make it one you can ship, and ship again next week: tests that catch pricing regressions, two brands from one codebase, a signed bundle, a pipeline, and the store walkthroughs. The afternoon ends with your real project on the whiteboard.
OPENER: two delegates present the testing homework (Q2, Q4). Then we write the first widget test live.
PRESENTER CHECKLIST: reference repo at lab-5-start with tests green; two flavours running; keystore + key.properties ready (NOT in the repo); GitHub Actions run green on your fork; Codemagic workflow file in the repo; Mac: Xcode open with the iOS build archived and a TestFlight upload done last night so processing is finished; Play Console and App Store Connect open in browser tabs with screenshots as backup if the venue blocks them; mock API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morning makes the app trustworthy; the afternoon makes it shippable; the last hour is theirs.
TIMING: protect the clinic. If release runs long, move the Codemagic detail to the appendix and demo only the local Mac iOS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After the presenters. The pumpAndSettle trap is the one to burn in: the quote flow shows a spinner, so tests of it must pump(Duration) past the fake's delay, never pumpAndSettle.
LIVE TEST: create test/capture_form_test.dart from their answers; run flutter test; watch it fail on a finder, fix, pass.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Survey average 2.8, wide spread. Keep it practical: three files, three commands, one rule about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Ten seconds per line. The insurance-specific message: pricing rules are unit tests; the regulator does not care about widget coverage, they care that a 24-year-old is loaded 50%.
Golden tests: mention matchesGoldenFile for per-brand snapshots; they are brittle across platforms (font rendering differs Mac vs Windows vs Linux CI) - run goldens on one OS only, usually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Pure Dart, no Flutter. Runs in milliseconds. Show flutter test with one failing assertion first (change 1500 to 1400) so they see the diff output, then fix.
Both OS identical. VS Code: the Run/Debug code-lens above each test; Flutter extension shows a test tree in the sidebar.
Coverage on Windows: lcov.info is produced; to view HTML you need lcov (choco install lcov) or use VS Code Coverage Gutters extension. On Mac: brew install lcov; genhtml coverage/lcov.info -o coverage/html.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Pure Dart, no Flutter. Runs in milliseconds. Show flutter test with one failing assertion first (change 1500 to 1400) so they see the diff output, then fix.
Both OS identical. VS Code: the Run/Debug code-lens above each test; Flutter extension shows a test tree in the sidebar.
Coverage on Windows: lcov.info is produced; to view HTML you need lcov (choco install lcov) or use VS Code Coverage Gutters extension. On Mac: brew install lcov; genhtml coverage/lcov.info -o coverage/html.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Yesterday's ProviderContainer test with a mock instead of the fake: now you can force a failure, a timeout, or verify the call count. mocktail over mockito because no build_runner step.
registerFallbackValue: the error "Bad state: A test tried to use any or captureAny on a parameter of type QuoteRequest" means you forgot it. Put it in setUpAll.
Add the request constant from Day 3's test above main(); it is omitted here for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Yesterday's ProviderContainer test with a mock instead of the fake: now you can force a failure, a timeout, or verify the call count. mocktail over mockito because no build_runner step.
registerFallbackValue: the error "Bad state: A test tried to use any or captureAny on a parameter of type QuoteRequest" means you forgot it. Put it in setUpAll.
Add the request constant from Day 3's test above main(); it is omitted here for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Two tests: validation errors, and a valid submission captured through the callback. Note the wrap helper - without MaterialApp you get "No MaterialLocalizations found" from the date picker and "No Material widget found" from InkWell.
enterText on find.widgetWithText(TextFormField, 'Vehicle make'): the label text is inside the field's decoration, so widgetWithText matches it. Alternative: give fields Keys (ValueKey('make')) and use find.byKey - more robust when labels are localised.
The date picker test taps OK with the initial date; that is enough to satisfy the validator.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Two tests: validation errors, and a valid submission captured through the callback. Note the wrap helper - without MaterialApp you get "No MaterialLocalizations found" from the date picker and "No Material widget found" from InkWell.
enterText on find.widgetWithText(TextFormField, 'Vehicle make'): the label text is inside the field's decoration, so widgetWithText matches it. Alternative: give fields Keys (ValueKey('make')) and use find.byKey - more robust when labels are localised.
The date picker test taps OK with the initial date; that is enough to satisfy the validator.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whole screen under test with a fake service: submit → spinner → navigation → PremiumCard on the result screen. Three specifics: setMockInitialValues before getInstance (otherwise MissingPluginException); pump(const Duration(seconds: 2)) because the spinner never settles; and a two-route test GoRouter overriding routerProvider, because the Day 4 CaptureScreen calls context.push on QuoteLoaded and needs a GoRouter in scope.
If you only want to test the form, test CaptureForm directly (previous slide) - it has no router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whole screen under test with a fake service: submit → spinner → navigation → PremiumCard on the result screen. Three specifics: setMockInitialValues before getInstance (otherwise MissingPluginException); pump(const Duration(seconds: 2)) because the spinner never settles; and a two-route test GoRouter overriding routerProvider, because the Day 4 CaptureScreen calls context.push on QuoteLoaded and needs a GoRouter in scope.
If you only want to test the form, test CaptureForm directly (previous slide) - it has no router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Same test API, real device. integration_test is an SDK package (--sdk=flutter). The mock API must be running and reachable from the emulator (10.0.2.2).
WINDOWS: identical. Device id: flutter devices lists e.g. emulator-5554.
The onboarding branch: the test checks whether "Get started" exists so it passes on both fresh and onboarded installs; alternatively pm clear before the run.
CI: integration tests on an emulator in GitHub Actions need the reactivecircus/android-emulator-runner action - show in the appendix, do not build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Same test API, real device. integration_test is an SDK package (--sdk=flutter). The mock API must be running and reachable from the emulator (10.0.2.2).
WINDOWS: identical. Device id: flutter devices lists e.g. emulator-5554.
The onboarding branch: the test checks whether "Get started" exists so it passes on both fresh and onboarded installs; alternatively pm clear before the run.
CI: integration tests on an emulator in GitHub Actions need the reactivecircus/android-emulator-runner action - show in the appendix, do not build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Q4 produces something the client takes away: an integration test plan for their real app.
EXPECTED: Q1 a binding that drives a real app on a device with real plugins and rendering; needs a device because of plugins and native rendering. Q2 Test Lab has a free daily quota; beyond that per-device-minute pricing; a 2-minute flow on 3 devices nightly is small. Q3 HTTP-level mocks test parsing and error mapping; service-level mocks test the notifier; we mock the service for notifier tests and would use a mock adapter (dio's HttpClientAdapter) for DioQuoteService tests. Q4 typically: quote → bind/purchase, login/OTP, document download; plus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LAB: 40 min. Core = steps 2-4; 5-6 are the quality bar.
COMMON ERRORS: "No MaterialLocalizations found" → wrap in MaterialApp. pumpAndSettle timeout → spinner on screen; use pump(Duration). "registerFallbackValue" error → setUpAll missing. Integration test cannot find the device → flutter devices for the id; emulator must be booted. "Connection refused" in the integration test → mock API not running or API_URL define missing.
WINDOWS PATHS in coverage: lcov.info uses forward slashes; fine for VS Code extensions.
SOLUTION: Appendix A, branch lab-5-1-solution.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multi-brand requirement from the survey, delivered. Runtime brand (Day 2/3) + build-time flavour (today) = one artefact per brand from one codebase.
PRESENTER: this is where the Kotlin DSL vs Groovy gradle difference bites - the start branch was created on current Flutter so it is build.gradle.kts; delegates with older projects have build.gradle (Groovy). Both versions are on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three layers and which one owns what. The config JSON files are per brand and committed (no secrets - they are baked into the binary). Env.brand is a const so the compiler can tree-shake the other brand's code paths.
BrandKeyNotifier.build now falls back to Env.brand: a beta build starts as beta even before the user picks anything; prefs still win if the user switched (or drop the toggle in production builds).
Both OS: --dart-define-from-file works identically; paths are relative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Flavour dimension "brand", two flavours, each with an id suffix and an app_name string. Then set android:label="@string/app_name" in AndroidManifest.xml (replace the hard-coded label).
KTS vs GROOVY: Flutter 3.29+ templates use build.gradle.kts. If a delegate's file is build.gradle (no .kts), use the Groovy syntax on the next slide; do not mix.
RUN: flutter run --flavor alpha --dart-define-from-file=config/alpha.json. Without --flavor after adding flavours you get "You must specify a --flavor"; with a wrong name, "flavor not found".
ICONS per flavour: android/app/src/alpha/res/mipmap-*/ic_launcher.png; flutter_launcher_icons can generate them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Groovy for older projects. Then the run/build commands - identical on both OS.
iOS: on the Mac, open ios/Runner.xcworkspace, duplicate the Debug/Release/Profile configurations as Debug-alpha etc., create schemes alpha and beta, set PRODUCT_BUNDLE_IDENTIFIER per configuration. That is 15 minutes of clicking; show it on the projector once, then show flavorizr generating it (next slide). Windows delegates cannot do this step; they commit the Android side and let CI/Mac handle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For a team where nobody wants to touch Xcode, flavorizr is the answer: one YAML, one command, both platforms. Caveats: it overwrites native config (commit before), and it generates main_alpha.dart entry points (run with -t lib/main_alpha.dart) - we prefer dart-define for brand selection, so you can ignore or delete those and keep a single main.dart.
Run it on the Mac once so the iOS side exists in the repo; Windows delegates then never need Xcode.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LAB: 45 min. The Gradle edit is the risk: one wrong brace and the build fails with a Kotlin script compile error pointing at the line. Have the KTS block on the second display.
COMMON ERRORS: "You must specify a --flavor" → flavours exist, flag missing. "Flavor 'alpha' not found" → typo or wrong dimension. Manifest label error → @string/app_name needs the resValue; clean and rebuild. Icons unchanged → flutter clean then run (launcher caches icons; sometimes uninstall). Gradle sync slow on Windows → antivirus exclusion for the project and .gradle.
SOLUTION: Appendix B, branch lab-5-2-solution.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lowest survey score. Every step gets a command on both OS and a checklist for the consoles. Your ThynkPay App Store experience is the credibility here - tell one war story about a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Run it on your Mac live; delegates run the Windows column. keytool is in the JDK bundled with Android Studio (jbr); if not on PATH, the full path is on the slide.
PASSWORDS: keytool asks store password then key password; use the same for simplicity, keep them in a password manager. Later they go into key.properties (local) and CI secrets.
BACKUP: say it twice. With Play App Signing enrolled, a lost upload key can be reset through Play Console support; a lost signing key without Play App Signing means you can never update the app.
WINDOWS: the &amp; call operator is needed when the path has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Two files. key.properties holds paths and passwords locally; the Gradle block reads it and signs release builds. On Windows the storeFile path needs double backslashes or forward slashes.
Add android/key.properties and *.jks to .gitignore now, before the first commit of the day.
Groovy equivalent: def keystoreProperties = new Properties() … signingConfigs { release { keyAlias keystoreProperties['keyAlias'] … } } - Appendix D.
Minify errors at runtime (ClassNotFound for a plugin) → add keep rules to proguard-rules.pro; most Flutter plugins ship their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Two files. key.properties holds paths and passwords locally; the Gradle block reads it and signs release builds. On Windows the storeFile path needs double backslashes or forward slashes.
Add android/key.properties and *.jks to .gitignore now, before the first commit of the day.
Groovy equivalent: def keystoreProperties = new Properties() … signingConfigs { release { keyAlias keystoreProperties['keyAlias'] … } } - Appendix D.
Minify errors at runtime (ClassNotFound for a plugin) → add keep rules to proguard-rules.pro; most Flutter plugins ship their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One command per brand. Explain the output path with the flavour folder. The obfuscate flags are cheap and worth it for an insurance app; keep the symbols folder per release.
apksigner path differs per OS (on the slide). Version: pubspec version 1.0.0+1 → versionName 1.0.0, versionCode 1; Play requires a higher versionCode on every upload.
DEMO: build alpha AAB on the Mac (takes a minute or two - start it before the slide), show the file, run apksigner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Quick win. Both packages are dev dependencies and pure Dart CLIs - identical on Windows and Mac.
Adaptive icon: background colour + foreground PNG with padding; without it Android crops your square icon into a circle.
Splash: flutter_native_splash also handles the Android 12 splash API which otherwise shows a plain icon.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Walk the console live if the venue allows (Play Console → your test app), else the screenshots. The two things that stall first releases: the data safety form (must be consistent with the privacy policy and with what the app actually does) and app access (give a reviewer demo account if login exists).
Multi-brand: each flavour has its own application id, so each brand is its own Play listing with its own screenshots and policy - plan the store assets per brand.
Common rejections list is in the appendix; say the top three: data safety mismatch, no demo account, crash on a low-end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your Mac demo. Show: flutter build ipa (already run), Xcode → Organizer → the archive, Distribute App, then App Store Connect with the processed build in TestFlight. Ten minutes, and it is the most concrete answer the room will get all week to "how do we ship iOS from Windows" - the second half of that answer is the Codemagic slide.
Your ThynkPay story goes here: what got rejected, what fixed it.
Windows delegates: they cannot run step 4 locally. Their path is Codemagic or a Mac in the team; the repo still carries all iOS config so either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Read it top to bottom. subosito/flutter-action installs Flutter with caching; setup-java 17 for Gradle. The keystore comes from a base64 secret, decoded into android/app/ (relative storeFile paths resolve against android/app/ because that is where build.gradle.kts lives); key.properties is written from secrets. Artefacts are the AABs.
Add a Play upload step later with r0adkll/upload-google-play or fastlane supply - mention, do not build.
Integration tests in CI need an emulator: reactivecircus/android-emulator-runner (macos or ubuntu with KVM). Appendix E has the snippet.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Read it top to bottom. subosito/flutter-action installs Flutter with caching; setup-java 17 for Gradle. The keystore comes from a base64 secret, decoded into android/app/ (relative storeFile paths resolve against android/app/ because that is where build.gradle.kts lives); key.properties is written from secrets. Artefacts are the AABs.
Add a Play upload step later with r0adkll/upload-google-play or fastlane supply - mention, do not build.
Integration tests in CI need an emulator: reactivecircus/android-emulator-runner (macos or ubuntu with KVM). Appendix E has the snippet.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Both OS put the base64 on the clipboard; paste into the GitHub secret. Then STORE_PASSWORD and KEY_PASSWORD.
Say the rotation rule. A senior dev will ask about git-secrets / pre-commit hooks - yes, add one (gitleaks) on the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answer to the Windows-room question. Codemagic (or GitHub Actions macos runners with fastlane match) builds iOS from Git. One-time setup: an App Store Connect API key stored in Codemagic, the bundle ids registered, and this YAML.
Show your Codemagic dashboard if you set one up last night; otherwise walk the YAML.
Free tier has limited macOS minutes; budget it for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answer to the Windows-room question. Codemagic (or GitHub Actions macos runners with fastlane match) builds iOS from Git. One-time setup: an App Store Connect API key stored in Codemagic, the bundle ids registered, and this YAML.
Show your Codemagic dashboard if you set one up last night; otherwise walk the YAML.
Free tier has limited macOS minutes; budget it for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LAB: 45 min. The keystore + Gradle edit is where it breaks; keep Appendix D (Groovy) and the KTS slide on the second display.
COMMON ERRORS: "Keystore file not found" → storeFile path wrong (Windows: double backslashes or forward slashes). "key.properties not found" in CI → the write step failed (heredoc indentation). Gradle "signingConfig release not found" → block placed outside android {}. GitHub Actions Java error → setup-java missing. "flutter: command not found" in CI → flutter-action step missing or wrong order.
NO GITHUB ACCOUNT / NETWORK: do steps 1-3 only and pair with someone who has one for 4-6.
SOLUTION: Appendix D/E, branch lab-5-3-solution (workflow file included; secrets obviously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Fifteen minutes of practices, then the room's project on the whiteboard for the rest. This is the hour they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Four checks: every icon-only control has a tooltip/label; every image has a semanticLabel or is excluded; the form survives 200% text scaling (SingleChildScrollView, no fixed heights); brand seeds pass contrast (check primaryContainer/onPrimaryContainer for both brands).
DEMO: DevTools → "Show semantics" overlay on the capture screen; then set the emulator font size to largest (Settings → Display → Font size) and scroll the form.
TalkBack via adb: the command on the slide turns it on; turn it off with the same command and value "" or from Settings, or the emulator becomes hard to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Turn these on in week one of the real project, not week ten; retrofitting lints on a large codebase is painful. dart fix --apply handles most of the mechanical ones.
custom_lint runs as a separate command: dart run custom_lint. Add it to CI after flutter analyze.
require_trailing_commas: makes dart format produce readable widget trees - the single most useful style lint for Flutter.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Ten lines, thirty seconds each. Demo item 3 if time: DevTools → Inspector → Track widget rebuilds while toggling brand; show the count on the header vs the whole tree before/after select.
Item 8 answers the "is Flutter smooth on low-end Android" question: Impeller removed shader-compile jank; a Go device with 2 GB RAM still needs item 4-6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course repo at lab-5-3-solution. Recommend they clone it as the template for the insurance app: rename the package (change_app_package_name package or manual), delete the quote feature, keep core and the pipeline.
The domain/ rule (no Flutter imports) is the one that keeps pricing logic testable in plain Dart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Read the ten pairs quickly; each is a slide from this week. Ask the room which one they broke most often. It is usually "watch in build, read in callbacks" or the mounted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client stated accessibility as a requirement; this activity turns a vague requirement into a definition of done the team wrote themselves.
EXPECTED: Q1 typically: semantic labels on icon buttons/images, text scaling to 200%, contrast 4.5:1, touch targets 48 dp, focus order; test via widget-test semantics matchers, manual TalkBack, DevTools overlay. Q2 expensive work or object creation in build (e.g. building the brands map or formatters each build), missing const. Q3 AnimatedOpacity/FadeTransition or opacity on the child's colour - Opacity forces an offscreen buffer. Q4 open; accept any reasoned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Facilitate, do not lecture. Ten questions; let the two people closest to the project answer; draw the architecture as they talk. Map each answer to something from this week: brands → flavours + BrandTheme; forms → Day 2 + Form.io stretch (Appendix F); audit → ProviderObserver/Bloc; offline → SQLite cache; release → Day 5 pipeline; OTA → Shorebird.
FORM.IO: Appendix F has the WebView bridge; show it if they ask.
SHOREBIRD: code push for Dart changes without a store release; allowed by both stores for Dart-only patches; paid beyond the free tier. Mention, do not demo.
Photograph the whiteboard. Send it with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Two minutes. Then the feedback form (Metrics That Matter link) and the whiteboard photo sent to everyone.
PRESENTER: after class, push the final lab-5-3-solution with everything the room changed live; send the repo link, the five decks, the whiteboard photo, and the reading list. Note what to change for the next delivery while it is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This is the day you are strongest - you have shipped to the App Store and nobody in the room has shipped anything. Lean on that.
CAPTURE SCREENSHOTS BEFORE MONDAY: Play Console (create app, internal testing, data safety form) and App Store Connect (TestFlight, version page, review notes). Venue networks block consoles more often than you expect, and a live console that will not load in front of twenty people is the worst ten minutes of the week.
PROTECT THE CLINIC. It is the hour they will rate highest on the feedback form. If release runs long, cut the Codemagic detail - it is in the appendix and the YAML is in the repo.
IF A LAB FAILS ENTIRELY: the reference repo has every artefact - signed AAB, green pipeline, iOS archive. Show yours. They leave with the knowledge and the repo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Unit, mocktail and integration tests are on the module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Unit, mocktail and integration tests are on the module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demo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delegates whose project still uses the Groovy DSL.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delegates whose project still uses the Groovy DSL.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The Play upload needs a Google Cloud service account linked in Play Console → Users and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delegates who raised Form.io. Demo-level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display during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repo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9262872" y="-1463040"/>
            <a:ext cx="4754880" cy="4754880"/>
          </a:xfrm>
          <a:prstGeom prst="ellipse">
            <a:avLst/>
          </a:prstGeom>
          <a:solidFill>
            <a:srgbClr val="13315C"/>
          </a:solidFill>
          <a:ln w="12700">
            <a:solidFill>
              <a:srgbClr val="13315C"/>
            </a:solidFill>
            <a:prstDash val="solid"/>
          </a:ln>
        </p:spPr>
      </p:sp>
      <p:sp>
        <p:nvSpPr>
          <p:cNvPr id="3" name="Shape 1"/>
          <p:cNvSpPr/>
          <p:nvPr/>
        </p:nvSpPr>
        <p:spPr>
          <a:xfrm>
            <a:off x="10543032" y="4480560"/>
            <a:ext cx="3108960" cy="3108960"/>
          </a:xfrm>
          <a:prstGeom prst="ellipse">
            <a:avLst/>
          </a:prstGeom>
          <a:solidFill>
            <a:srgbClr val="C9A227"/>
          </a:solidFill>
          <a:ln w="12700">
            <a:solidFill>
              <a:srgbClr val="C9A227"/>
            </a:solidFill>
            <a:prstDash val="solid"/>
          </a:ln>
        </p:spPr>
      </p:sp>
      <p:sp>
        <p:nvSpPr>
          <p:cNvPr id="4" name="Text 2"/>
          <p:cNvSpPr txBox="1"/>
          <p:nvPr/>
        </p:nvSpPr>
        <p:spPr>
          <a:xfrm>
            <a:off x="548640" y="731520"/>
            <a:ext cx="7315200" cy="365760"/>
          </a:xfrm>
          <a:prstGeom prst="rect">
            <a:avLst/>
          </a:prstGeom>
          <a:noFill/>
          <a:ln/>
        </p:spPr>
        <p:txBody>
          <a:bodyPr wrap="square" lIns="0" tIns="0" rIns="0" bIns="0" rtlCol="0" anchor="ctr"/>
          <a:lstStyle/>
          <a:p>
            <a:pPr indent="0" marL="0">
              <a:buNone/>
            </a:pPr>
            <a:r>
              <a:rPr lang="en-US" sz="1200" spc="400" kern="0" dirty="0">
                <a:solidFill>
                  <a:srgbClr val="E3C766"/>
                </a:solidFill>
                <a:latin typeface="Calibri" pitchFamily="34" charset="0"/>
                <a:ea typeface="Calibri" pitchFamily="34" charset="-122"/>
                <a:cs typeface="Calibri" pitchFamily="34" charset="-120"/>
              </a:rPr>
              <a:t>MO INTEGRATIONS  ·  TECHNICAL TRAINING</a:t>
            </a:r>
            <a:endParaRPr lang="en-US" sz="1200" dirty="0"/>
          </a:p>
        </p:txBody>
      </p:sp>
      <p:sp>
        <p:nvSpPr>
          <p:cNvPr id="5" name="Text 3"/>
          <p:cNvSpPr txBox="1"/>
          <p:nvPr/>
        </p:nvSpPr>
        <p:spPr>
          <a:xfrm>
            <a:off x="548640" y="1371600"/>
            <a:ext cx="8229600" cy="548640"/>
          </a:xfrm>
          <a:prstGeom prst="rect">
            <a:avLst/>
          </a:prstGeom>
          <a:noFill/>
          <a:ln/>
        </p:spPr>
        <p:txBody>
          <a:bodyPr wrap="square" lIns="0" tIns="0" rIns="0" bIns="0" rtlCol="0" anchor="ctr"/>
          <a:lstStyle/>
          <a:p>
            <a:pPr indent="0" marL="0">
              <a:buNone/>
            </a:pPr>
            <a:r>
              <a:rPr lang="en-US" sz="1800" dirty="0">
                <a:solidFill>
                  <a:srgbClr val="D7DEE8"/>
                </a:solidFill>
                <a:latin typeface="Calibri" pitchFamily="34" charset="0"/>
                <a:ea typeface="Calibri" pitchFamily="34" charset="-122"/>
                <a:cs typeface="Calibri" pitchFamily="34" charset="-120"/>
              </a:rPr>
              <a:t>Flutter Mobile Application Development · 5-Day Programme</a:t>
            </a:r>
            <a:endParaRPr lang="en-US" sz="1800" dirty="0"/>
          </a:p>
        </p:txBody>
      </p:sp>
      <p:sp>
        <p:nvSpPr>
          <p:cNvPr id="6" name="Text 4"/>
          <p:cNvSpPr txBox="1"/>
          <p:nvPr/>
        </p:nvSpPr>
        <p:spPr>
          <a:xfrm>
            <a:off x="548640" y="2103120"/>
            <a:ext cx="8686800" cy="146304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Day 5</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Testing, CI/CD &amp; Shipping</a:t>
            </a:r>
            <a:endParaRPr lang="en-US" sz="4800" dirty="0"/>
          </a:p>
        </p:txBody>
      </p:sp>
      <p:sp>
        <p:nvSpPr>
          <p:cNvPr id="7" name="Text 5"/>
          <p:cNvSpPr txBox="1"/>
          <p:nvPr/>
        </p:nvSpPr>
        <p:spPr>
          <a:xfrm>
            <a:off x="548640" y="3657600"/>
            <a:ext cx="8229600" cy="731520"/>
          </a:xfrm>
          <a:prstGeom prst="rect">
            <a:avLst/>
          </a:prstGeom>
          <a:noFill/>
          <a:ln/>
        </p:spPr>
        <p:txBody>
          <a:bodyPr wrap="square" lIns="0" tIns="0" rIns="0" bIns="0" rtlCol="0" anchor="ctr"/>
          <a:lstStyle/>
          <a:p>
            <a:pPr indent="0" marL="0">
              <a:buNone/>
            </a:pPr>
            <a:r>
              <a:rPr lang="en-US" sz="2000" dirty="0">
                <a:solidFill>
                  <a:srgbClr val="E3C766"/>
                </a:solidFill>
                <a:latin typeface="Calibri" pitchFamily="34" charset="0"/>
                <a:ea typeface="Calibri" pitchFamily="34" charset="-122"/>
                <a:cs typeface="Calibri" pitchFamily="34" charset="-120"/>
              </a:rPr>
              <a:t>Tests · Build flavours &amp; white-label · Signing &amp; store release · CI · Best practices &amp; project clinic</a:t>
            </a:r>
            <a:endParaRPr lang="en-US" sz="2000" dirty="0"/>
          </a:p>
        </p:txBody>
      </p:sp>
      <p:sp>
        <p:nvSpPr>
          <p:cNvPr id="8" name="Text 6"/>
          <p:cNvSpPr txBox="1"/>
          <p:nvPr/>
        </p:nvSpPr>
        <p:spPr>
          <a:xfrm>
            <a:off x="548640" y="5760720"/>
            <a:ext cx="8229600" cy="457200"/>
          </a:xfrm>
          <a:prstGeom prst="rect">
            <a:avLst/>
          </a:prstGeom>
          <a:noFill/>
          <a:ln/>
        </p:spPr>
        <p:txBody>
          <a:bodyPr wrap="square" lIns="0" tIns="0" rIns="0" bIns="0" rtlCol="0" anchor="ctr"/>
          <a:lstStyle/>
          <a:p>
            <a:pPr indent="0" marL="0">
              <a:buNone/>
            </a:pPr>
            <a:r>
              <a:rPr lang="en-US" sz="1200" dirty="0">
                <a:solidFill>
                  <a:srgbClr val="AAB6C4"/>
                </a:solidFill>
                <a:latin typeface="Calibri" pitchFamily="34" charset="0"/>
                <a:ea typeface="Calibri" pitchFamily="34" charset="-122"/>
                <a:cs typeface="Calibri" pitchFamily="34" charset="-120"/>
              </a:rPr>
              <a:t>Nobody has shipped yet - the day that closes the biggest gap (publishing 1.6)  ·  Instructor: Clynton Botterill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Day 5 agenda</a:t>
            </a:r>
            <a:endParaRPr lang="en-US" sz="3000" dirty="0"/>
          </a:p>
        </p:txBody>
      </p:sp>
      <p:sp>
        <p:nvSpPr>
          <p:cNvPr id="3" name="Shape 1"/>
          <p:cNvSpPr/>
          <p:nvPr/>
        </p:nvSpPr>
        <p:spPr>
          <a:xfrm>
            <a:off x="548640"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4" name="Shape 2"/>
          <p:cNvSpPr/>
          <p:nvPr/>
        </p:nvSpPr>
        <p:spPr>
          <a:xfrm>
            <a:off x="822960" y="1600200"/>
            <a:ext cx="548640" cy="548640"/>
          </a:xfrm>
          <a:prstGeom prst="ellipse">
            <a:avLst/>
          </a:prstGeom>
          <a:solidFill>
            <a:srgbClr val="C9A227"/>
          </a:solidFill>
          <a:ln w="12700">
            <a:solidFill>
              <a:srgbClr val="C9A227"/>
            </a:solidFill>
            <a:prstDash val="solid"/>
          </a:ln>
        </p:spPr>
      </p:sp>
      <p:sp>
        <p:nvSpPr>
          <p:cNvPr id="5" name="Text 3"/>
          <p:cNvSpPr txBox="1"/>
          <p:nvPr/>
        </p:nvSpPr>
        <p:spPr>
          <a:xfrm>
            <a:off x="822960"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508760"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09:00 - 10:30</a:t>
            </a:r>
            <a:endParaRPr lang="en-US" sz="1000" dirty="0"/>
          </a:p>
        </p:txBody>
      </p:sp>
      <p:sp>
        <p:nvSpPr>
          <p:cNvPr id="7" name="Text 5"/>
          <p:cNvSpPr txBox="1"/>
          <p:nvPr/>
        </p:nvSpPr>
        <p:spPr>
          <a:xfrm>
            <a:off x="1508760"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Testing</a:t>
            </a:r>
            <a:endParaRPr lang="en-US" sz="1500" dirty="0"/>
          </a:p>
        </p:txBody>
      </p:sp>
      <p:sp>
        <p:nvSpPr>
          <p:cNvPr id="8" name="Text 6"/>
          <p:cNvSpPr txBox="1"/>
          <p:nvPr/>
        </p:nvSpPr>
        <p:spPr>
          <a:xfrm>
            <a:off x="822960"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Homework debrief; first widget test live</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Unit tests: calculator, notifier with mocktail</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Widget tests: finders, pump, overrides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Integration test on device · Lab 5.1</a:t>
            </a:r>
            <a:endParaRPr lang="en-US" sz="1200" dirty="0"/>
          </a:p>
        </p:txBody>
      </p:sp>
      <p:sp>
        <p:nvSpPr>
          <p:cNvPr id="9" name="Shape 7"/>
          <p:cNvSpPr/>
          <p:nvPr/>
        </p:nvSpPr>
        <p:spPr>
          <a:xfrm>
            <a:off x="3390138"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10" name="Shape 8"/>
          <p:cNvSpPr/>
          <p:nvPr/>
        </p:nvSpPr>
        <p:spPr>
          <a:xfrm>
            <a:off x="3664458" y="16002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3664458"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4350258"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10:45 - 12:30</a:t>
            </a:r>
            <a:endParaRPr lang="en-US" sz="1000" dirty="0"/>
          </a:p>
        </p:txBody>
      </p:sp>
      <p:sp>
        <p:nvSpPr>
          <p:cNvPr id="13" name="Text 11"/>
          <p:cNvSpPr txBox="1"/>
          <p:nvPr/>
        </p:nvSpPr>
        <p:spPr>
          <a:xfrm>
            <a:off x="4350258"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Flavours &amp; white-label</a:t>
            </a:r>
            <a:endParaRPr lang="en-US" sz="1500" dirty="0"/>
          </a:p>
        </p:txBody>
      </p:sp>
      <p:sp>
        <p:nvSpPr>
          <p:cNvPr id="14" name="Text 12"/>
          <p:cNvSpPr txBox="1"/>
          <p:nvPr/>
        </p:nvSpPr>
        <p:spPr>
          <a:xfrm>
            <a:off x="3664458"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--dart-define-from-file per brand</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Android product flavours, icons, names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iOS schemes (Mac demo) · flavorizr</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Lab 5.2 - two installable brands</a:t>
            </a:r>
            <a:endParaRPr lang="en-US" sz="1200" dirty="0"/>
          </a:p>
        </p:txBody>
      </p:sp>
      <p:sp>
        <p:nvSpPr>
          <p:cNvPr id="15" name="Shape 13"/>
          <p:cNvSpPr/>
          <p:nvPr/>
        </p:nvSpPr>
        <p:spPr>
          <a:xfrm>
            <a:off x="6231636"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16" name="Shape 14"/>
          <p:cNvSpPr/>
          <p:nvPr/>
        </p:nvSpPr>
        <p:spPr>
          <a:xfrm>
            <a:off x="6505956" y="16002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6505956"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7191756"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13:15 - 14:45</a:t>
            </a:r>
            <a:endParaRPr lang="en-US" sz="1000" dirty="0"/>
          </a:p>
        </p:txBody>
      </p:sp>
      <p:sp>
        <p:nvSpPr>
          <p:cNvPr id="19" name="Text 17"/>
          <p:cNvSpPr txBox="1"/>
          <p:nvPr/>
        </p:nvSpPr>
        <p:spPr>
          <a:xfrm>
            <a:off x="7191756"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CI/CD &amp; release</a:t>
            </a:r>
            <a:endParaRPr lang="en-US" sz="1500" dirty="0"/>
          </a:p>
        </p:txBody>
      </p:sp>
      <p:sp>
        <p:nvSpPr>
          <p:cNvPr id="20" name="Text 18"/>
          <p:cNvSpPr txBox="1"/>
          <p:nvPr/>
        </p:nvSpPr>
        <p:spPr>
          <a:xfrm>
            <a:off x="6505956"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Keystore, key.properties, signed AAB</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Play Console + App Store walkthroughs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GitHub Actions matrix; Codemagic for iOS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Lab 5.3 - signed bundle + green pipeline</a:t>
            </a:r>
            <a:endParaRPr lang="en-US" sz="1200" dirty="0"/>
          </a:p>
        </p:txBody>
      </p:sp>
      <p:sp>
        <p:nvSpPr>
          <p:cNvPr id="21" name="Shape 19"/>
          <p:cNvSpPr/>
          <p:nvPr/>
        </p:nvSpPr>
        <p:spPr>
          <a:xfrm>
            <a:off x="9073134" y="1371600"/>
            <a:ext cx="2567178" cy="4663440"/>
          </a:xfrm>
          <a:prstGeom prst="roundRect">
            <a:avLst>
              <a:gd name="adj" fmla="val 3562"/>
            </a:avLst>
          </a:prstGeom>
          <a:solidFill>
            <a:srgbClr val="F3F5F8"/>
          </a:solidFill>
          <a:ln w="6350">
            <a:solidFill>
              <a:srgbClr val="F3F5F8"/>
            </a:solidFill>
            <a:prstDash val="solid"/>
          </a:ln>
          <a:effectLst>
            <a:outerShdw sx="100000" sy="100000" kx="0" ky="0" algn="bl" rotWithShape="0" blurRad="38100" dist="12700" dir="5400000">
              <a:srgbClr val="000000">
                <a:alpha val="8000"/>
              </a:srgbClr>
            </a:outerShdw>
          </a:effectLst>
        </p:spPr>
      </p:sp>
      <p:sp>
        <p:nvSpPr>
          <p:cNvPr id="22" name="Shape 20"/>
          <p:cNvSpPr/>
          <p:nvPr/>
        </p:nvSpPr>
        <p:spPr>
          <a:xfrm>
            <a:off x="9347454" y="16002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9347454" y="1600200"/>
            <a:ext cx="548640" cy="548640"/>
          </a:xfrm>
          <a:prstGeom prst="rect">
            <a:avLst/>
          </a:prstGeom>
          <a:noFill/>
          <a:ln/>
        </p:spPr>
        <p:txBody>
          <a:bodyPr wrap="square" lIns="0" tIns="0" rIns="0" bIns="0" rtlCol="0" anchor="ctr"/>
          <a:lstStyle/>
          <a:p>
            <a:pPr algn="ctr" indent="0" marL="0">
              <a:buNone/>
            </a:pPr>
            <a:r>
              <a:rPr lang="en-US" sz="1600" b="1" dirty="0">
                <a:solidFill>
                  <a:srgbClr val="0B2545"/>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10033254" y="1645920"/>
            <a:ext cx="1378458" cy="274320"/>
          </a:xfrm>
          <a:prstGeom prst="rect">
            <a:avLst/>
          </a:prstGeom>
          <a:noFill/>
          <a:ln/>
        </p:spPr>
        <p:txBody>
          <a:bodyPr wrap="square" lIns="0" tIns="0" rIns="0" bIns="0" rtlCol="0" anchor="ctr"/>
          <a:lstStyle/>
          <a:p>
            <a:pPr indent="0" marL="0">
              <a:buNone/>
            </a:pPr>
            <a:r>
              <a:rPr lang="en-US" sz="1000" dirty="0">
                <a:solidFill>
                  <a:srgbClr val="5B6773"/>
                </a:solidFill>
                <a:latin typeface="Calibri" pitchFamily="34" charset="0"/>
                <a:ea typeface="Calibri" pitchFamily="34" charset="-122"/>
                <a:cs typeface="Calibri" pitchFamily="34" charset="-120"/>
              </a:rPr>
              <a:t>15:00 - 16:00</a:t>
            </a:r>
            <a:endParaRPr lang="en-US" sz="1000" dirty="0"/>
          </a:p>
        </p:txBody>
      </p:sp>
      <p:sp>
        <p:nvSpPr>
          <p:cNvPr id="25" name="Text 23"/>
          <p:cNvSpPr txBox="1"/>
          <p:nvPr/>
        </p:nvSpPr>
        <p:spPr>
          <a:xfrm>
            <a:off x="10033254" y="1874520"/>
            <a:ext cx="1378458" cy="5486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Best practices &amp; clinic</a:t>
            </a:r>
            <a:endParaRPr lang="en-US" sz="1500" dirty="0"/>
          </a:p>
        </p:txBody>
      </p:sp>
      <p:sp>
        <p:nvSpPr>
          <p:cNvPr id="26" name="Text 24"/>
          <p:cNvSpPr txBox="1"/>
          <p:nvPr/>
        </p:nvSpPr>
        <p:spPr>
          <a:xfrm>
            <a:off x="9347454" y="2560320"/>
            <a:ext cx="2018538"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Accessibility, lints, performance</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Repo structure, do's and don'ts</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Project clinic against your insurance app</a:t>
            </a:r>
            <a:endParaRPr lang="en-US" sz="1200" dirty="0"/>
          </a:p>
          <a:p>
            <a:pPr marL="177800" indent="-177800">
              <a:spcAft>
                <a:spcPts val="500"/>
              </a:spcAft>
              <a:buSzPct val="100000"/>
              <a:buChar char="•"/>
            </a:pPr>
            <a:r>
              <a:rPr lang="en-US" sz="1200" dirty="0">
                <a:solidFill>
                  <a:srgbClr val="1F2933"/>
                </a:solidFill>
                <a:latin typeface="Calibri" pitchFamily="34" charset="0"/>
                <a:ea typeface="Calibri" pitchFamily="34" charset="-122"/>
                <a:cs typeface="Calibri" pitchFamily="34" charset="-120"/>
              </a:rPr>
              <a:t>Course close</a:t>
            </a:r>
            <a:endParaRPr lang="en-US" sz="1200" dirty="0"/>
          </a:p>
        </p:txBody>
      </p:sp>
      <p:sp>
        <p:nvSpPr>
          <p:cNvPr id="27" name="Text 2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28" name="Text 2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Whiteboard debrief: pump, pumpAndSettle, finders, overrides</a:t>
            </a:r>
            <a:endParaRPr lang="en-US" sz="3000" dirty="0"/>
          </a:p>
        </p:txBody>
      </p:sp>
      <p:sp>
        <p:nvSpPr>
          <p:cNvPr id="3" name="Text 1"/>
          <p:cNvSpPr txBox="1"/>
          <p:nvPr/>
        </p:nvSpPr>
        <p:spPr>
          <a:xfrm>
            <a:off x="548640" y="1325880"/>
            <a:ext cx="11091672" cy="4754880"/>
          </a:xfrm>
          <a:prstGeom prst="rect">
            <a:avLst/>
          </a:prstGeom>
          <a:noFill/>
          <a:ln/>
        </p:spPr>
        <p:txBody>
          <a:bodyPr wrap="square" lIns="0" tIns="0" rIns="0" bIns="0" rtlCol="0" anchor="t"/>
          <a:lstStyle/>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pumpWidget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mounts the tree and renders one frame.</a:t>
            </a:r>
            <a:endParaRPr lang="en-US" sz="1600" dirty="0"/>
          </a:p>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pump([duration])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advances one frame, optionally after a fake-clock duration. Use for spinners and timed fakes.</a:t>
            </a:r>
            <a:endParaRPr lang="en-US" sz="1600" dirty="0"/>
          </a:p>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pumpAndSettle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repeats pump until no frames are scheduled. Hangs forever on an infinite animation (CircularProgressIndicator).</a:t>
            </a:r>
            <a:endParaRPr lang="en-US" sz="1600" dirty="0"/>
          </a:p>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Finders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find.text, find.byType, find.byKey, find.widgetWithText(TextFormField, 'Year'). tester.tap(finder) then pump.</a:t>
            </a:r>
            <a:endParaRPr lang="en-US" sz="1600" dirty="0"/>
          </a:p>
          <a:p>
            <a:pPr marL="177800" indent="-177800">
              <a:spcAft>
                <a:spcPts val="1000"/>
              </a:spcAft>
              <a:buSzPct val="100000"/>
              <a:buChar char="•"/>
            </a:pPr>
            <a:r>
              <a:rPr lang="en-US" sz="1600" b="1" dirty="0">
                <a:solidFill>
                  <a:srgbClr val="0B2545"/>
                </a:solidFill>
                <a:latin typeface="Calibri" pitchFamily="34" charset="0"/>
                <a:ea typeface="Calibri" pitchFamily="34" charset="-122"/>
                <a:cs typeface="Calibri" pitchFamily="34" charset="-120"/>
              </a:rPr>
              <a:t>Riverpod override </a:t>
            </a:r>
            <a:pPr indent="0" marL="0">
              <a:spcAft>
                <a:spcPts val="1000"/>
              </a:spcAft>
              <a:buNone/>
            </a:pPr>
            <a:r>
              <a:rPr lang="en-US" sz="1600" dirty="0">
                <a:solidFill>
                  <a:srgbClr val="1F2933"/>
                </a:solidFill>
                <a:latin typeface="Calibri" pitchFamily="34" charset="0"/>
                <a:ea typeface="Calibri" pitchFamily="34" charset="-122"/>
                <a:cs typeface="Calibri" pitchFamily="34" charset="-120"/>
              </a:rPr>
              <a:t>ProviderScope(overrides: [quoteServiceProvider.overrideWithValue(Fake())], child: …) - the API never runs in a widget test.</a:t>
            </a:r>
            <a:endParaRPr lang="en-US" sz="1600" dirty="0"/>
          </a:p>
        </p:txBody>
      </p:sp>
      <p:sp>
        <p:nvSpPr>
          <p:cNvPr id="4" name="Shape 2"/>
          <p:cNvSpPr/>
          <p:nvPr/>
        </p:nvSpPr>
        <p:spPr>
          <a:xfrm>
            <a:off x="548640" y="5394960"/>
            <a:ext cx="11091672" cy="685800"/>
          </a:xfrm>
          <a:prstGeom prst="roundRect">
            <a:avLst>
              <a:gd name="adj" fmla="val 13333"/>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5" name="Text 3"/>
          <p:cNvSpPr txBox="1"/>
          <p:nvPr/>
        </p:nvSpPr>
        <p:spPr>
          <a:xfrm>
            <a:off x="685800" y="5440680"/>
            <a:ext cx="10817352" cy="594360"/>
          </a:xfrm>
          <a:prstGeom prst="rect">
            <a:avLst/>
          </a:prstGeom>
          <a:noFill/>
          <a:ln/>
        </p:spPr>
        <p:txBody>
          <a:bodyPr wrap="square" lIns="0" tIns="0" rIns="0" bIns="0" rtlCol="0" anchor="ctr"/>
          <a:lstStyle/>
          <a:p>
            <a:pPr indent="0" marL="0">
              <a:buNone/>
            </a:pPr>
            <a:r>
              <a:rPr lang="en-US" sz="1200" dirty="0">
                <a:solidFill>
                  <a:srgbClr val="1F2933"/>
                </a:solidFill>
                <a:latin typeface="Calibri" pitchFamily="34" charset="0"/>
                <a:ea typeface="Calibri" pitchFamily="34" charset="-122"/>
                <a:cs typeface="Calibri" pitchFamily="34" charset="-120"/>
              </a:rPr>
              <a:t>Write the first test live now: "empty submit shows validation errors". The room dictates, you type.</a:t>
            </a:r>
            <a:endParaRPr lang="en-US" sz="12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17  ·  09:20 - 10:30</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Testing Flutter applications</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Place unit, widget and integration tests at the right layer</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Unit test notifiers with mocktail and ProviderContainer</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Widget test forms and screens with finders and provider overrides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Run an integration test on the emulator against the mock API</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The test pyramid for the quote app</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guidance</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Where each test type earns its keep in the quote app</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Unit        calculatePremium, QuoteNotifier, repositories (in-memory), JSON mapping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ms per test · hundreds of them · run on every save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Widget      CaptureForm validation, PremiumCard rendering, SavedQuotesList empty state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~100 ms per test · dozens · run on every commit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Integration onboarding → quote → save on a real device with the real bootstrap</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seconds per test · a handful · run in CI nightly / before release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Golden      pixel snapshots of PremiumCard per brand (matchesGoldenFile) - optional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Rule: test behaviour at the lowest layer that can observe it.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Do not chase 100% widget coverage; do cover every pricing rule.</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Test behaviour at the lowest layer that can observe it. Every pricing rule gets a unit test; every form gets a widget test; the happy path gets one integration test.</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Unit tests: the pricing rules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test/premium_calculator_test.dart · terminal</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test/premium_calculator_test.dart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'package:flutter_test/flutter_test.dart';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'package:quote_app/features/quote/domain/cover.dart';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'package:quote_app/features/quote/domain/premium_calculator.dart';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'package:quote_app/features/quote/domain/quote_request.dart';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void main()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const base = QuoteRequest(make: 'VW', year: 2020, driverAge: 30, cover: Cover.comprehensive);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group('calculatePremium', ()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test('base case is 1000', ()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expect(calculatePremium(base), 1000.0);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test('young driver loads 50%', ()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expect(calculatePremium(base.copyWith(driverAge: 22)), 1500.0);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Unit tests: the pricing rules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test/premium_calculator_test.dart · terminal</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test('older vehicle and third party combine', ()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expect(calculatePremium(base.copyWith(year: 2012, cover: Cover.thirdParty)), 720.0);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test('rounds to cents', ()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p = calculatePremium(base.copyWith(cover: Cover.thirdPartyFireTheft));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expect(p, closeTo(800.0, 0.005));</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run (both OS)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test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test test/premium_calculator_test.dart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test --coverage        # writes coverage/lcov.info</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group/test/expect from flutter_test (re-exports package:test). closeTo for doubles. flutter test --coverage writes lcov.info for CI.</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Notifier tests with mocktail: control the service, assert the state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test/quote_notifier_test.dart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test/quote_notifier_test.dart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'package:flutter_riverpod/flutter_riverpod.dart';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'package:flutter_test/flutter_test.dart';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'package:mocktail/mocktail.dart';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class MockQuoteService extends Mock implements QuoteService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class FakeQuoteRequest extends Fake implements QuoteRequest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void main()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late MockQuoteService service;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late ProviderContainer container;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setUpAll(() =&gt; registerFallbackValue(FakeQuoteRequest()));   // needed for any()</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Notifier tests with mocktail: control the service, assert the state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test/quote_notifier_test.dart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setUp(()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service = MockQuoteService();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container = ProviderContainer(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overrides: [quoteServiceProvider.overrideWithValue(service)],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addTearDown(container.dispose);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test('failure becomes QuoteFailed with the message', () async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when(() =&gt; service.getQuote(any())).thenThrow(QuoteException('Vehicle too old'));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container.read(quoteProvider.notifier).submit(request);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state = container.read(quoteProvider);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expect(state, isA&lt;QuoteFailed&gt;().having((s) =&gt; s.message, 'message', 'Vehicle too old'));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verify(() =&gt; service.getQuote(any())).called(1);</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flutter pub add --dev mocktail</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mocktail needs no code generation. registerFallbackValue is required once for any() on a custom type. isA&lt;T&gt;().having(...) makes the assertion readable.</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Widget tests: the capture form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test/capture_form_test.dart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test/capture_form_test.dart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'package:flutter/material.dart';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'package:flutter_test/flutter_test.dart';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void main()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Widget wrap(Widget child) =&gt; MaterialApp(home: Scaffold(body: child));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testWidgets('empty submit shows validation errors', (tester) async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tester.pumpWidget(wrap(CaptureForm(onSubmit: (_)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tester.tap(find.text('Get quote'));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tester.pump();                                   // one frame: errors render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expect(find.text('Make is required'), findsOneWidget);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expect(find.text('Enter a 4-digit year'), findsOneWidget);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testWidgets('valid input calls onSubmit with a QuoteRequest', (tester) async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QuoteRequest? submitted;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tester.pumpWidget(wrap(CaptureForm(onSubmit: (r) =&gt; submitted = r)));</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Widget tests: the capture form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test/capture_form_test.dart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'Vehicle make'), 'VW');</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'Year'), '2020');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tester.tap(find.text('Select date'));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tester.pumpAndSettle();                          // date picker dialog opens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tester.tap(find.text('OK'));</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tester.pumpAndSettle();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tester.tap(find.text('Get quote'));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expect(submitted, isNotNull);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expect(submitted!.make, 'VW');</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Wrap in MaterialApp + Scaffold (Material ancestors, localisations). enterText targets the field by its label; the date picker is driven by tapping OK.</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Widget tests with Riverpod and a test router: override, drive, assert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test/capture_screen_test.dart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Widget test with Riverpod: override the service, drive the whole 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The Day 4 CaptureScreen navigates on QuoteLoaded, so give it a small test router.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testWidgets('submit navigates to the result with a PremiumCard', (tester) async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SharedPreferences.setMockInitialValues({'onboarded': true});   // no platform channel in tests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router = GoRouter(routes: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GoRoute(path: '/', builder: (_, __) =&gt; const CaptureScreen()),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GoRoute(path: '/quote/result/:id', builder: (_, s) =&gt; ResultScreen(id: s.pathParameters['id']!)),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tester.pumpWidget(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ProviderScope(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overrides: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quoteServiceProvider.overrideWithValue(FakeQuoteService()),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sharedPrefsProvider.overrideWithValue(await SharedPreferences.getInstance()),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routerProvider.overrideWithValue(router),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child: MaterialApp.router(routerConfig: router),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Widget tests with Riverpod and a test router: override, drive, assert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test/capture_screen_test.dart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'Vehicle make'), 'VW');</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'Year'), '2020');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…date…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tester.tap(find.text('Get quote'));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                                      // Loading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expect(find.byType(CircularProgressIndicator), findsOneWidget);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tester.pump(const Duration(seconds: 2));            // let the fake's delay elapse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tester.pumpAndSettle();                             // route transition (finite animation)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expect(find.byType(PremiumCard), findsOneWidget);         // now on ResultScreen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pumpAndSettle hangs while an infinite spinner is on screen - pump(duration) past it first.</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pump(Duration) past the fake's delay, then pumpAndSettle for the route transition. setMockInitialValues provides prefs without a device; routerProvider is overridden with a two-route test router.</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Integration test: the real app on the emulator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integration_test/quote_flow_test.dart · terminal</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terminal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 pub add --dev integration_test --sdk=flutter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integration_test/quote_flow_test.dart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'package:flutter_test/flutter_test.dart';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'package:integration_test/integration_test.dart';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import 'package:quote_app/main.dart' as app;</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void main()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IntegrationTestWidgetsFlutterBinding.ensureInitialized();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testWidgets('onboarding → capture → result', (tester) async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app.main();                                  // real bootstrap, real plugins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tester.pumpAndSettle();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if (find.text('Get started').evaluate().isNotEmpty)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tester.tap(find.text('Get started'));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await tester.pumpAndSettle();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Integration test: the real app on the emulator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integration_test/quote_flow_test.dart · terminal</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'Vehicle make'), 'VW');</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'Year'), '2020');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tester.tap(find.text('Select date'));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tester.pumpAndSettle();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tester.tap(find.text('OK'));</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tester.pumpAndSettle();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tester.tap(find.text('Get quote'));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tester.pump(const Duration(seconds: 3));            // API round trip (spinner on 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tester.pumpAndSettle();                             // route transition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expect(find.text('Your quote'), findsOneWidget);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run on the emulator (both OS) - mock API must be running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test integration_test/quote_flow_test.dart -d emulator-5554 --dart-define=API_URL=http://10.0.2.2:8080</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Runs the real main() with real plugins and the mock API. One per critical flow; minutes, not milliseconds. Device id from flutter devices.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2011680" cy="292608"/>
          </a:xfrm>
          <a:prstGeom prst="roundRect">
            <a:avLst>
              <a:gd name="adj" fmla="val 50000"/>
            </a:avLst>
          </a:prstGeom>
          <a:solidFill>
            <a:srgbClr val="0B2545"/>
          </a:solidFill>
          <a:ln w="12700">
            <a:solidFill>
              <a:srgbClr val="0B2545"/>
            </a:solidFill>
            <a:prstDash val="solid"/>
          </a:ln>
        </p:spPr>
      </p:sp>
      <p:sp>
        <p:nvSpPr>
          <p:cNvPr id="3" name="Text 1"/>
          <p:cNvSpPr txBox="1"/>
          <p:nvPr/>
        </p:nvSpPr>
        <p:spPr>
          <a:xfrm>
            <a:off x="548640" y="457200"/>
            <a:ext cx="20116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 &amp; BREAK DOWN</a:t>
            </a:r>
            <a:endParaRPr lang="en-US" sz="1000" dirty="0"/>
          </a:p>
        </p:txBody>
      </p:sp>
      <p:sp>
        <p:nvSpPr>
          <p:cNvPr id="4" name="Text 2"/>
          <p:cNvSpPr txBox="1"/>
          <p:nvPr/>
        </p:nvSpPr>
        <p:spPr>
          <a:xfrm>
            <a:off x="9811512" y="457200"/>
            <a:ext cx="1828800" cy="292608"/>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10 min read + 5 min debrief</a:t>
            </a:r>
            <a:endParaRPr lang="en-US" sz="1200" dirty="0"/>
          </a:p>
        </p:txBody>
      </p:sp>
      <p:sp>
        <p:nvSpPr>
          <p:cNvPr id="5" name="Text 3"/>
          <p:cNvSpPr txBox="1"/>
          <p:nvPr/>
        </p:nvSpPr>
        <p:spPr>
          <a:xfrm>
            <a:off x="548640" y="868680"/>
            <a:ext cx="11091672" cy="640080"/>
          </a:xfrm>
          <a:prstGeom prst="rect">
            <a:avLst/>
          </a:prstGeom>
          <a:noFill/>
          <a:ln/>
        </p:spPr>
        <p:txBody>
          <a:bodyPr wrap="square" lIns="0" tIns="0" rIns="0" bIns="0" rtlCol="0" anchor="ctr"/>
          <a:lstStyle/>
          <a:p>
            <a:pPr indent="0" marL="0">
              <a:buNone/>
            </a:pPr>
            <a:r>
              <a:rPr lang="en-US" sz="2800" b="1" dirty="0">
                <a:solidFill>
                  <a:srgbClr val="0B2545"/>
                </a:solidFill>
                <a:latin typeface="Calibri" pitchFamily="34" charset="0"/>
                <a:ea typeface="Calibri" pitchFamily="34" charset="-122"/>
                <a:cs typeface="Calibri" pitchFamily="34" charset="-120"/>
              </a:rPr>
              <a:t>Read: "An introduction to integration testing" - then decide what deserves one</a:t>
            </a:r>
            <a:endParaRPr lang="en-US" sz="2800" dirty="0"/>
          </a:p>
        </p:txBody>
      </p:sp>
      <p:sp>
        <p:nvSpPr>
          <p:cNvPr id="6" name="Shape 4"/>
          <p:cNvSpPr/>
          <p:nvPr/>
        </p:nvSpPr>
        <p:spPr>
          <a:xfrm>
            <a:off x="548640" y="1691640"/>
            <a:ext cx="11091672" cy="960120"/>
          </a:xfrm>
          <a:prstGeom prst="roundRect">
            <a:avLst>
              <a:gd name="adj" fmla="val 9524"/>
            </a:avLst>
          </a:prstGeom>
          <a:solidFill>
            <a:srgbClr val="EAF0F7"/>
          </a:solidFill>
          <a:ln w="6350">
            <a:solidFill>
              <a:srgbClr val="EAF0F7"/>
            </a:solidFill>
            <a:prstDash val="solid"/>
          </a:ln>
          <a:effectLst>
            <a:outerShdw sx="100000" sy="100000" kx="0" ky="0" algn="bl" rotWithShape="0" blurRad="38100" dist="12700" dir="5400000">
              <a:srgbClr val="000000">
                <a:alpha val="8000"/>
              </a:srgbClr>
            </a:outerShdw>
          </a:effectLst>
        </p:spPr>
      </p:sp>
      <p:sp>
        <p:nvSpPr>
          <p:cNvPr id="7" name="Text 5"/>
          <p:cNvSpPr txBox="1"/>
          <p:nvPr/>
        </p:nvSpPr>
        <p:spPr>
          <a:xfrm>
            <a:off x="822960" y="1783080"/>
            <a:ext cx="10543032" cy="457200"/>
          </a:xfrm>
          <a:prstGeom prst="rect">
            <a:avLst/>
          </a:prstGeom>
          <a:noFill/>
          <a:ln/>
        </p:spPr>
        <p:txBody>
          <a:bodyPr wrap="square" lIns="0" tIns="0" rIns="0" bIns="0" rtlCol="0" anchor="ctr"/>
          <a:lstStyle/>
          <a:p>
            <a:pPr indent="0" marL="0">
              <a:buNone/>
            </a:pPr>
            <a:r>
              <a:rPr lang="en-US" sz="1800" b="1" dirty="0">
                <a:solidFill>
                  <a:srgbClr val="0B2545"/>
                </a:solidFill>
                <a:latin typeface="Courier New" pitchFamily="34" charset="0"/>
                <a:ea typeface="Courier New" pitchFamily="34" charset="-122"/>
                <a:cs typeface="Courier New" pitchFamily="34" charset="-120"/>
              </a:rPr>
              <a:t>docs.flutter.dev/testing/integration-tests</a:t>
            </a:r>
            <a:endParaRPr lang="en-US" sz="1800" dirty="0"/>
          </a:p>
        </p:txBody>
      </p:sp>
      <p:sp>
        <p:nvSpPr>
          <p:cNvPr id="8" name="Text 6"/>
          <p:cNvSpPr txBox="1"/>
          <p:nvPr/>
        </p:nvSpPr>
        <p:spPr>
          <a:xfrm>
            <a:off x="822960" y="2212848"/>
            <a:ext cx="10543032" cy="36576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Whole page, plus docs.flutter.dev/cookbook/testing/unit/mocking (about 10 minutes)</a:t>
            </a:r>
            <a:endParaRPr lang="en-US" sz="1200" dirty="0"/>
          </a:p>
        </p:txBody>
      </p:sp>
      <p:sp>
        <p:nvSpPr>
          <p:cNvPr id="9" name="Text 7"/>
          <p:cNvSpPr txBox="1"/>
          <p:nvPr/>
        </p:nvSpPr>
        <p:spPr>
          <a:xfrm>
            <a:off x="548640" y="2880360"/>
            <a:ext cx="6655003"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Answer these as you read</a:t>
            </a:r>
            <a:endParaRPr lang="en-US" sz="1400" dirty="0"/>
          </a:p>
        </p:txBody>
      </p:sp>
      <p:sp>
        <p:nvSpPr>
          <p:cNvPr id="10" name="Text 8"/>
          <p:cNvSpPr txBox="1"/>
          <p:nvPr/>
        </p:nvSpPr>
        <p:spPr>
          <a:xfrm>
            <a:off x="548640" y="3291840"/>
            <a:ext cx="6655003" cy="27432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does integration_test add over flutter_test, and why must it run on a device?</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The doc shows running on Firebase Test Lab - what would it cost us to run our one flow on 3 devices nightly?</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From the mocking cookbook: why mock at the HTTP client level vs the service level? Which did we do and why?</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List the three flows of the insurance app that deserve an integration test before the first production release.</a:t>
            </a:r>
            <a:endParaRPr lang="en-US" sz="1400" dirty="0"/>
          </a:p>
        </p:txBody>
      </p:sp>
      <p:sp>
        <p:nvSpPr>
          <p:cNvPr id="11" name="Shape 9"/>
          <p:cNvSpPr/>
          <p:nvPr/>
        </p:nvSpPr>
        <p:spPr>
          <a:xfrm>
            <a:off x="7477963" y="2880360"/>
            <a:ext cx="4162349" cy="3154680"/>
          </a:xfrm>
          <a:prstGeom prst="roundRect">
            <a:avLst>
              <a:gd name="adj" fmla="val 2899"/>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2" name="Text 10"/>
          <p:cNvSpPr txBox="1"/>
          <p:nvPr/>
        </p:nvSpPr>
        <p:spPr>
          <a:xfrm>
            <a:off x="7706563" y="3017520"/>
            <a:ext cx="3705149"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Then</a:t>
            </a:r>
            <a:endParaRPr lang="en-US" sz="1400" dirty="0"/>
          </a:p>
        </p:txBody>
      </p:sp>
      <p:sp>
        <p:nvSpPr>
          <p:cNvPr id="13" name="Text 11"/>
          <p:cNvSpPr txBox="1"/>
          <p:nvPr/>
        </p:nvSpPr>
        <p:spPr>
          <a:xfrm>
            <a:off x="7706563" y="3429000"/>
            <a:ext cx="3705149" cy="251460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Round the room for Q4 - write the flows on the whiteboard; they become the client's test plan.</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One person answers Q3; instructor confirms with our DioQuoteService boundary.</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Then Lab 5.1.</a:t>
            </a:r>
            <a:endParaRPr lang="en-US" sz="125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88720" cy="457200"/>
          </a:xfrm>
          <a:prstGeom prst="roundRect">
            <a:avLst>
              <a:gd name="adj" fmla="val 20000"/>
            </a:avLst>
          </a:prstGeom>
          <a:solidFill>
            <a:srgbClr val="C9A227"/>
          </a:solidFill>
          <a:ln w="12700">
            <a:solidFill>
              <a:srgbClr val="C9A227"/>
            </a:solidFill>
            <a:prstDash val="solid"/>
          </a:ln>
        </p:spPr>
      </p:sp>
      <p:sp>
        <p:nvSpPr>
          <p:cNvPr id="3" name="Text 1"/>
          <p:cNvSpPr txBox="1"/>
          <p:nvPr/>
        </p:nvSpPr>
        <p:spPr>
          <a:xfrm>
            <a:off x="548640" y="411480"/>
            <a:ext cx="1188720" cy="457200"/>
          </a:xfrm>
          <a:prstGeom prst="rect">
            <a:avLst/>
          </a:prstGeom>
          <a:noFill/>
          <a:ln/>
        </p:spPr>
        <p:txBody>
          <a:bodyPr wrap="square" lIns="0" tIns="0" rIns="0" bIns="0"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LAB 5.1</a:t>
            </a:r>
            <a:endParaRPr lang="en-US" sz="1400" dirty="0"/>
          </a:p>
        </p:txBody>
      </p:sp>
      <p:sp>
        <p:nvSpPr>
          <p:cNvPr id="4" name="Text 2"/>
          <p:cNvSpPr txBox="1"/>
          <p:nvPr/>
        </p:nvSpPr>
        <p:spPr>
          <a:xfrm>
            <a:off x="1920240" y="365760"/>
            <a:ext cx="8165592" cy="548640"/>
          </a:xfrm>
          <a:prstGeom prst="rect">
            <a:avLst/>
          </a:prstGeom>
          <a:noFill/>
          <a:ln/>
        </p:spPr>
        <p:txBody>
          <a:bodyPr wrap="square" lIns="0" tIns="0" rIns="0" bIns="0" rtlCol="0" anchor="ctr"/>
          <a:lstStyle/>
          <a:p>
            <a:pPr indent="0" marL="0">
              <a:buNone/>
            </a:pPr>
            <a:r>
              <a:rPr lang="en-US" sz="2600" b="1" dirty="0">
                <a:solidFill>
                  <a:srgbClr val="0B2545"/>
                </a:solidFill>
                <a:latin typeface="Calibri" pitchFamily="34" charset="0"/>
                <a:ea typeface="Calibri" pitchFamily="34" charset="-122"/>
                <a:cs typeface="Calibri" pitchFamily="34" charset="-120"/>
              </a:rPr>
              <a:t>Three layers of tests, all green</a:t>
            </a:r>
            <a:endParaRPr lang="en-US" sz="2600" dirty="0"/>
          </a:p>
        </p:txBody>
      </p:sp>
      <p:sp>
        <p:nvSpPr>
          <p:cNvPr id="5" name="Text 3"/>
          <p:cNvSpPr txBox="1"/>
          <p:nvPr/>
        </p:nvSpPr>
        <p:spPr>
          <a:xfrm>
            <a:off x="10177272" y="411480"/>
            <a:ext cx="1463040" cy="457200"/>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40 min</a:t>
            </a:r>
            <a:endParaRPr lang="en-US" sz="1200" dirty="0"/>
          </a:p>
        </p:txBody>
      </p:sp>
      <p:sp>
        <p:nvSpPr>
          <p:cNvPr id="6" name="Text 4"/>
          <p:cNvSpPr txBox="1"/>
          <p:nvPr/>
        </p:nvSpPr>
        <p:spPr>
          <a:xfrm>
            <a:off x="548640" y="1097280"/>
            <a:ext cx="11091672" cy="502920"/>
          </a:xfrm>
          <a:prstGeom prst="rect">
            <a:avLst/>
          </a:prstGeom>
          <a:noFill/>
          <a:ln/>
        </p:spPr>
        <p:txBody>
          <a:bodyPr wrap="square" lIns="0" tIns="0" rIns="0" bIns="0" rtlCol="0" anchor="t"/>
          <a:lstStyle/>
          <a:p>
            <a:pPr indent="0" marL="0">
              <a:buNone/>
            </a:pPr>
            <a:r>
              <a:rPr lang="en-US" sz="1400" b="1" dirty="0">
                <a:solidFill>
                  <a:srgbClr val="0B2545"/>
                </a:solidFill>
                <a:latin typeface="Calibri" pitchFamily="34" charset="0"/>
                <a:ea typeface="Calibri" pitchFamily="34" charset="-122"/>
                <a:cs typeface="Calibri" pitchFamily="34" charset="-120"/>
              </a:rPr>
              <a:t>Goal  </a:t>
            </a:r>
            <a:pPr indent="0" marL="0">
              <a:buNone/>
            </a:pPr>
            <a:r>
              <a:rPr lang="en-US" sz="1400" dirty="0">
                <a:solidFill>
                  <a:srgbClr val="1F2933"/>
                </a:solidFill>
                <a:latin typeface="Calibri" pitchFamily="34" charset="0"/>
                <a:ea typeface="Calibri" pitchFamily="34" charset="-122"/>
                <a:cs typeface="Calibri" pitchFamily="34" charset="-120"/>
              </a:rPr>
              <a:t>Unit tests for every pricing rule, a mocktail notifier test, two widget tests on the form, one integration test on the emulator; flutter test passes.</a:t>
            </a:r>
            <a:endParaRPr lang="en-US" sz="1400" dirty="0"/>
          </a:p>
        </p:txBody>
      </p:sp>
      <p:sp>
        <p:nvSpPr>
          <p:cNvPr id="7" name="Text 5"/>
          <p:cNvSpPr txBox="1"/>
          <p:nvPr/>
        </p:nvSpPr>
        <p:spPr>
          <a:xfrm>
            <a:off x="548640" y="1691640"/>
            <a:ext cx="7098670" cy="4389120"/>
          </a:xfrm>
          <a:prstGeom prst="rect">
            <a:avLst/>
          </a:prstGeom>
          <a:noFill/>
          <a:ln/>
        </p:spPr>
        <p:txBody>
          <a:bodyPr wrap="square" lIns="0" tIns="0" rIns="0" bIns="0" rtlCol="0" anchor="t"/>
          <a:lstStyle/>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flutter pub add --dev mocktail; flutter pub add --dev integration_test --sdk=flutter.</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test/premium_calculator_test.dart: one test per rule (base, young driver, older vehicle, cover factors, rounding).</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test/quote_notifier_test.dart: MockQuoteService; a success test and a failure test; verify getQuote called once.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test/capture_form_test.dart: validation errors on empty submit; valid input reaches onSubmit.</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test/capture_screen_test.dart: ProviderScope overrides (fake service + mock prefs); spinner then PremiumCard using pump(Duration).</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integration_test/quote_flow_test.dart: onboarding → quote → result on the emulator with the mock API running.</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flutter test --coverage; open the lcov summary (VS Code Coverage Gutters or genhtml).</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Commit "Day 5: tests".</a:t>
            </a:r>
            <a:endParaRPr lang="en-US" sz="1300" dirty="0"/>
          </a:p>
        </p:txBody>
      </p:sp>
      <p:sp>
        <p:nvSpPr>
          <p:cNvPr id="8" name="Shape 6"/>
          <p:cNvSpPr/>
          <p:nvPr/>
        </p:nvSpPr>
        <p:spPr>
          <a:xfrm>
            <a:off x="7921630" y="1691640"/>
            <a:ext cx="3718682" cy="4389120"/>
          </a:xfrm>
          <a:prstGeom prst="roundRect">
            <a:avLst>
              <a:gd name="adj" fmla="val 2459"/>
            </a:avLst>
          </a:prstGeom>
          <a:solidFill>
            <a:srgbClr val="EAF2EC"/>
          </a:solidFill>
          <a:ln w="6350">
            <a:solidFill>
              <a:srgbClr val="EAF2EC"/>
            </a:solidFill>
            <a:prstDash val="solid"/>
          </a:ln>
          <a:effectLst>
            <a:outerShdw sx="100000" sy="100000" kx="0" ky="0" algn="bl" rotWithShape="0" blurRad="38100" dist="12700" dir="5400000">
              <a:srgbClr val="000000">
                <a:alpha val="8000"/>
              </a:srgbClr>
            </a:outerShdw>
          </a:effectLst>
        </p:spPr>
      </p:sp>
      <p:sp>
        <p:nvSpPr>
          <p:cNvPr id="9" name="Text 7"/>
          <p:cNvSpPr txBox="1"/>
          <p:nvPr/>
        </p:nvSpPr>
        <p:spPr>
          <a:xfrm>
            <a:off x="8104510" y="1828800"/>
            <a:ext cx="3352922" cy="365760"/>
          </a:xfrm>
          <a:prstGeom prst="rect">
            <a:avLst/>
          </a:prstGeom>
          <a:noFill/>
          <a:ln/>
        </p:spPr>
        <p:txBody>
          <a:bodyPr wrap="square" lIns="0" tIns="0" rIns="0" bIns="0" rtlCol="0" anchor="ctr"/>
          <a:lstStyle/>
          <a:p>
            <a:pPr indent="0" marL="0">
              <a:buNone/>
            </a:pPr>
            <a:r>
              <a:rPr lang="en-US" sz="1300" b="1" dirty="0">
                <a:solidFill>
                  <a:srgbClr val="1F7A5C"/>
                </a:solidFill>
                <a:latin typeface="Calibri" pitchFamily="34" charset="0"/>
                <a:ea typeface="Calibri" pitchFamily="34" charset="-122"/>
                <a:cs typeface="Calibri" pitchFamily="34" charset="-120"/>
              </a:rPr>
              <a:t>Stretch (fast lane)</a:t>
            </a:r>
            <a:endParaRPr lang="en-US" sz="1300" dirty="0"/>
          </a:p>
        </p:txBody>
      </p:sp>
      <p:sp>
        <p:nvSpPr>
          <p:cNvPr id="10" name="Text 8"/>
          <p:cNvSpPr txBox="1"/>
          <p:nvPr/>
        </p:nvSpPr>
        <p:spPr>
          <a:xfrm>
            <a:off x="8104510" y="2240280"/>
            <a:ext cx="3352922" cy="3657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Golden test for PremiumCard per brand: matchesGoldenFile('premium_card_alpha.png'); generate with --update-goldens.</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Test DioQuoteService with a dio HttpClientAdapter mock (http_mock_adapter package): 200, 422, timeout.</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Add a test for the redirect: build the router with onboarded=false and assert the initial route.</a:t>
            </a:r>
            <a:endParaRPr lang="en-US" sz="1200" dirty="0"/>
          </a:p>
        </p:txBody>
      </p:sp>
      <p:sp>
        <p:nvSpPr>
          <p:cNvPr id="11" name="Text 9"/>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12" name="Text 10"/>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18  ·  10:45 - 12:30</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Build flavours &amp; theming at scale</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Drive brand and API URL from --dart-define-from-file per environment</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Add Android product flavours with distinct ids, names and icons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Understand iOS schemes and generate both with flutter_flavorizr</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Install two brands of the same app side by side on one device</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Two layers: build-time flavour, runtime brand</a:t>
            </a:r>
            <a:endParaRPr lang="en-US" sz="3000" dirty="0"/>
          </a:p>
        </p:txBody>
      </p:sp>
      <p:sp>
        <p:nvSpPr>
          <p:cNvPr id="3" name="Text 1"/>
          <p:cNvSpPr txBox="1"/>
          <p:nvPr/>
        </p:nvSpPr>
        <p:spPr>
          <a:xfrm>
            <a:off x="548640" y="1325880"/>
            <a:ext cx="4521342"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Build-time (flavour)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application id, app name, icon, signing, store listing. Set in Gradle / Xcode. One artefact per brand.</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Compile-time defines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--dart-define-from-file: BRAND, API_URL, feature flags. Read via String.fromEnvironment (const, tree-shaken).</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Runtime (BrandTheme)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colours, name, logo from the brands map keyed by BRAND. Unchanged since Day 2.</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Optional remote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fetch BrandTheme values from an endpoint at startup for changes without a release.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Rule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store-visible identity is build-time; everything else is a value.</a:t>
            </a:r>
            <a:endParaRPr lang="en-US" sz="1400" dirty="0"/>
          </a:p>
        </p:txBody>
      </p:sp>
      <p:sp>
        <p:nvSpPr>
          <p:cNvPr id="4" name="Shape 2"/>
          <p:cNvSpPr/>
          <p:nvPr/>
        </p:nvSpPr>
        <p:spPr>
          <a:xfrm>
            <a:off x="5344302" y="1325880"/>
            <a:ext cx="6296010"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config/*.json · core/config/env.dart</a:t>
            </a:r>
            <a:endParaRPr lang="en-US" sz="800" dirty="0"/>
          </a:p>
        </p:txBody>
      </p:sp>
      <p:sp>
        <p:nvSpPr>
          <p:cNvPr id="6" name="Text 4"/>
          <p:cNvSpPr txBox="1"/>
          <p:nvPr/>
        </p:nvSpPr>
        <p:spPr>
          <a:xfrm>
            <a:off x="5481462" y="1435608"/>
            <a:ext cx="6021690" cy="453542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config/alpha.json                       // config/beta.json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"BRAND": "alpha",                          "BRAND": "beta",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"API_URL": "https://api.alpha.example"     "API_URL": "https://api.beta.example"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one flag instead of many --dart-define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 run --flavor alpha --dart-define-from-file=config/alpha.json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 build appbundle --flavor beta --dart-define-from-file=config/beta.json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lib/core/config/env.dart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class Env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static const brand = String.fromEnvironment('BRAND', defaultValue: 'alpha');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static const apiUrl = String.fromEnvironment('API_URL', defaultValue: 'http://10.0.2.2:8080');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core/theme/brand_provider.dart - initial state now comes from the build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@override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String build() =&gt; ref.watch(sharedPrefsProvider).getString('brand') ?? Env.brand;</a:t>
            </a:r>
            <a:endParaRPr lang="en-US" sz="10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Android product flavours (Kotlin DSL)</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android/app/build.gradle.kts</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android/app/build.gradle.kts  (Flutter 3.29+ default; Groovy build.gradle on older projects)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android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namespace = "za.co.moint.quote_app"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defaultConfig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applicationId = "za.co.moint.quote_app"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minSdk = flutter.minSdkVersion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targetSdk = flutter.targetSdkVersion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flavorDimensions += "brand"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productFlavors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create("alpha")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dimension = "brand"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applicationIdSuffix = ".alpha"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resValue("string", "app_name", "Alpha Insure")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create("beta")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dimension = "brand"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applicationIdSuffix = ".beta"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resValue("string", "app_name", "Beta Cover")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AndroidManifest.xml: android:label="@string/app_name"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Per-flavour icons: android/app/src/alpha/res/mipmap-*/ic_launcher.png (and src/beta/…)</a:t>
            </a:r>
            <a:endParaRPr lang="en-US" sz="9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Suffix keeps both brands installable side by side. app_name resValue feeds the manifest label. Groovy version for older projects: next slide.</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Groovy variant, run commands, and iOS</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android/app/build.gradle (Groovy) · terminal</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android/app/build.gradle (Groovy - older projects)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android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flavorDimensions "brand"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productFlavors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alpha { dimension "brand"; applicationIdSuffix ".alpha"; resValue "string", "app_name", "Alpha Insure"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beta  { dimension "brand"; applicationIdSuffix ".beta";  resValue "string", "app_name", "Beta Cover"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Run / build a flavour (both OS)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run --flavor alpha --dart-define-from-file=config/alpha.json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build apk --flavor beta --dart-define-from-file=config/beta.json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iOS flavours = Xcode schemes + configurations (Friday Mac demo); or use flutter_flavorizr to generate both</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iOS flavours are Xcode schemes + build configurations named after the flavour; Flutter maps --flavor to the scheme. Mac-only to configure; flavorizr does it for you.</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flutter_flavorizr: generate Android + iOS flavours from one YAML</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pubspec.yaml · terminal</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flutter_flavorizr generates Android flavours, iOS schemes, icons and main_&lt;flavor&gt;.dart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flutter pub add --dev flutter_flavorizr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pubspec.yaml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flavorizr: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flavors: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name: "Alpha Insure"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android: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applicationId: "za.co.moint.quote_app.alpha"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icon: "assets/brands/alpha_icon.png"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ios: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bundleId: "za.co.moint.quoteApp.alpha"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icon: "assets/brands/alpha_icon.png"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beta: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name: "Beta Cover"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android: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applicationId: "za.co.moint.quote_app.beta"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icon: "assets/brands/beta_icon.png"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ios: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bundleId: "za.co.moint.quoteApp.beta"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icon: "assets/brands/beta_icon.png"</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dart run flutter_flavorizr        # regenerates native config - commit before running</a:t>
            </a:r>
            <a:endParaRPr lang="en-US" sz="9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Generates Gradle flavours, Xcode schemes/configs, icons and lib/main_&lt;flavor&gt;.dart entry points. Commit first; it rewrites native files.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88720" cy="457200"/>
          </a:xfrm>
          <a:prstGeom prst="roundRect">
            <a:avLst>
              <a:gd name="adj" fmla="val 20000"/>
            </a:avLst>
          </a:prstGeom>
          <a:solidFill>
            <a:srgbClr val="C9A227"/>
          </a:solidFill>
          <a:ln w="12700">
            <a:solidFill>
              <a:srgbClr val="C9A227"/>
            </a:solidFill>
            <a:prstDash val="solid"/>
          </a:ln>
        </p:spPr>
      </p:sp>
      <p:sp>
        <p:nvSpPr>
          <p:cNvPr id="3" name="Text 1"/>
          <p:cNvSpPr txBox="1"/>
          <p:nvPr/>
        </p:nvSpPr>
        <p:spPr>
          <a:xfrm>
            <a:off x="548640" y="411480"/>
            <a:ext cx="1188720" cy="457200"/>
          </a:xfrm>
          <a:prstGeom prst="rect">
            <a:avLst/>
          </a:prstGeom>
          <a:noFill/>
          <a:ln/>
        </p:spPr>
        <p:txBody>
          <a:bodyPr wrap="square" lIns="0" tIns="0" rIns="0" bIns="0"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LAB 5.2</a:t>
            </a:r>
            <a:endParaRPr lang="en-US" sz="1400" dirty="0"/>
          </a:p>
        </p:txBody>
      </p:sp>
      <p:sp>
        <p:nvSpPr>
          <p:cNvPr id="4" name="Text 2"/>
          <p:cNvSpPr txBox="1"/>
          <p:nvPr/>
        </p:nvSpPr>
        <p:spPr>
          <a:xfrm>
            <a:off x="1920240" y="365760"/>
            <a:ext cx="8165592" cy="548640"/>
          </a:xfrm>
          <a:prstGeom prst="rect">
            <a:avLst/>
          </a:prstGeom>
          <a:noFill/>
          <a:ln/>
        </p:spPr>
        <p:txBody>
          <a:bodyPr wrap="square" lIns="0" tIns="0" rIns="0" bIns="0" rtlCol="0" anchor="ctr"/>
          <a:lstStyle/>
          <a:p>
            <a:pPr indent="0" marL="0">
              <a:buNone/>
            </a:pPr>
            <a:r>
              <a:rPr lang="en-US" sz="2600" b="1" dirty="0">
                <a:solidFill>
                  <a:srgbClr val="0B2545"/>
                </a:solidFill>
                <a:latin typeface="Calibri" pitchFamily="34" charset="0"/>
                <a:ea typeface="Calibri" pitchFamily="34" charset="-122"/>
                <a:cs typeface="Calibri" pitchFamily="34" charset="-120"/>
              </a:rPr>
              <a:t>Two installable brands</a:t>
            </a:r>
            <a:endParaRPr lang="en-US" sz="2600" dirty="0"/>
          </a:p>
        </p:txBody>
      </p:sp>
      <p:sp>
        <p:nvSpPr>
          <p:cNvPr id="5" name="Text 3"/>
          <p:cNvSpPr txBox="1"/>
          <p:nvPr/>
        </p:nvSpPr>
        <p:spPr>
          <a:xfrm>
            <a:off x="10177272" y="411480"/>
            <a:ext cx="1463040" cy="457200"/>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45 min</a:t>
            </a:r>
            <a:endParaRPr lang="en-US" sz="1200" dirty="0"/>
          </a:p>
        </p:txBody>
      </p:sp>
      <p:sp>
        <p:nvSpPr>
          <p:cNvPr id="6" name="Text 4"/>
          <p:cNvSpPr txBox="1"/>
          <p:nvPr/>
        </p:nvSpPr>
        <p:spPr>
          <a:xfrm>
            <a:off x="548640" y="1097280"/>
            <a:ext cx="11091672" cy="502920"/>
          </a:xfrm>
          <a:prstGeom prst="rect">
            <a:avLst/>
          </a:prstGeom>
          <a:noFill/>
          <a:ln/>
        </p:spPr>
        <p:txBody>
          <a:bodyPr wrap="square" lIns="0" tIns="0" rIns="0" bIns="0" rtlCol="0" anchor="t"/>
          <a:lstStyle/>
          <a:p>
            <a:pPr indent="0" marL="0">
              <a:buNone/>
            </a:pPr>
            <a:r>
              <a:rPr lang="en-US" sz="1400" b="1" dirty="0">
                <a:solidFill>
                  <a:srgbClr val="0B2545"/>
                </a:solidFill>
                <a:latin typeface="Calibri" pitchFamily="34" charset="0"/>
                <a:ea typeface="Calibri" pitchFamily="34" charset="-122"/>
                <a:cs typeface="Calibri" pitchFamily="34" charset="-120"/>
              </a:rPr>
              <a:t>Goal  </a:t>
            </a:r>
            <a:pPr indent="0" marL="0">
              <a:buNone/>
            </a:pPr>
            <a:r>
              <a:rPr lang="en-US" sz="1400" dirty="0">
                <a:solidFill>
                  <a:srgbClr val="1F2933"/>
                </a:solidFill>
                <a:latin typeface="Calibri" pitchFamily="34" charset="0"/>
                <a:ea typeface="Calibri" pitchFamily="34" charset="-122"/>
                <a:cs typeface="Calibri" pitchFamily="34" charset="-120"/>
              </a:rPr>
              <a:t>Alpha and Beta are two apps on the emulator with different ids, names, icons and themes, built from one codebase with --flavor and a config file.</a:t>
            </a:r>
            <a:endParaRPr lang="en-US" sz="1400" dirty="0"/>
          </a:p>
        </p:txBody>
      </p:sp>
      <p:sp>
        <p:nvSpPr>
          <p:cNvPr id="7" name="Text 5"/>
          <p:cNvSpPr txBox="1"/>
          <p:nvPr/>
        </p:nvSpPr>
        <p:spPr>
          <a:xfrm>
            <a:off x="548640" y="1691640"/>
            <a:ext cx="7098670" cy="4389120"/>
          </a:xfrm>
          <a:prstGeom prst="rect">
            <a:avLst/>
          </a:prstGeom>
          <a:noFill/>
          <a:ln/>
        </p:spPr>
        <p:txBody>
          <a:bodyPr wrap="square" lIns="0" tIns="0" rIns="0" bIns="0" rtlCol="0" anchor="t"/>
          <a:lstStyle/>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Create config/alpha.json and config/beta.json (BRAND, API_URL). Add core/config/env.dart; BrandKeyNotifier.build falls back to Env.brand.</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Add the flavour block to android/app/build.gradle.kts (or Groovy). Set android:label="@string/app_name" in the manifest.</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flutter run --flavor alpha --dart-define-from-file=config/alpha.json. Then in a second terminal (or after stopping) the same for beta. Both icons appear in the launcher; both open with their own theme.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flutter pub add --dev flutter_launcher_icons; one config per flavour; dart run flutter_launcher_icons -f flutter_launcher_icons-alpha.yaml (and beta). Rebuild; icons differ.</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Add a third brand: config/gamma.json + Gradle flavour + brands map entry. Count the files touched (should be 3 + icons).</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Remove the runtime brand toggle from release builds: if (kDebugMode) around the AppBar action.</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Commit "Day 5: flavours".</a:t>
            </a:r>
            <a:endParaRPr lang="en-US" sz="1300" dirty="0"/>
          </a:p>
        </p:txBody>
      </p:sp>
      <p:sp>
        <p:nvSpPr>
          <p:cNvPr id="8" name="Shape 6"/>
          <p:cNvSpPr/>
          <p:nvPr/>
        </p:nvSpPr>
        <p:spPr>
          <a:xfrm>
            <a:off x="7921630" y="1691640"/>
            <a:ext cx="3718682" cy="4389120"/>
          </a:xfrm>
          <a:prstGeom prst="roundRect">
            <a:avLst>
              <a:gd name="adj" fmla="val 2459"/>
            </a:avLst>
          </a:prstGeom>
          <a:solidFill>
            <a:srgbClr val="EAF2EC"/>
          </a:solidFill>
          <a:ln w="6350">
            <a:solidFill>
              <a:srgbClr val="EAF2EC"/>
            </a:solidFill>
            <a:prstDash val="solid"/>
          </a:ln>
          <a:effectLst>
            <a:outerShdw sx="100000" sy="100000" kx="0" ky="0" algn="bl" rotWithShape="0" blurRad="38100" dist="12700" dir="5400000">
              <a:srgbClr val="000000">
                <a:alpha val="8000"/>
              </a:srgbClr>
            </a:outerShdw>
          </a:effectLst>
        </p:spPr>
      </p:sp>
      <p:sp>
        <p:nvSpPr>
          <p:cNvPr id="9" name="Text 7"/>
          <p:cNvSpPr txBox="1"/>
          <p:nvPr/>
        </p:nvSpPr>
        <p:spPr>
          <a:xfrm>
            <a:off x="8104510" y="1828800"/>
            <a:ext cx="3352922" cy="365760"/>
          </a:xfrm>
          <a:prstGeom prst="rect">
            <a:avLst/>
          </a:prstGeom>
          <a:noFill/>
          <a:ln/>
        </p:spPr>
        <p:txBody>
          <a:bodyPr wrap="square" lIns="0" tIns="0" rIns="0" bIns="0" rtlCol="0" anchor="ctr"/>
          <a:lstStyle/>
          <a:p>
            <a:pPr indent="0" marL="0">
              <a:buNone/>
            </a:pPr>
            <a:r>
              <a:rPr lang="en-US" sz="1300" b="1" dirty="0">
                <a:solidFill>
                  <a:srgbClr val="1F7A5C"/>
                </a:solidFill>
                <a:latin typeface="Calibri" pitchFamily="34" charset="0"/>
                <a:ea typeface="Calibri" pitchFamily="34" charset="-122"/>
                <a:cs typeface="Calibri" pitchFamily="34" charset="-120"/>
              </a:rPr>
              <a:t>Stretch (fast lane)</a:t>
            </a:r>
            <a:endParaRPr lang="en-US" sz="1300" dirty="0"/>
          </a:p>
        </p:txBody>
      </p:sp>
      <p:sp>
        <p:nvSpPr>
          <p:cNvPr id="10" name="Text 8"/>
          <p:cNvSpPr txBox="1"/>
          <p:nvPr/>
        </p:nvSpPr>
        <p:spPr>
          <a:xfrm>
            <a:off x="8104510" y="2240280"/>
            <a:ext cx="3352922" cy="3657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flutter_flavorizr on the Mac (instructor machine) to generate iOS schemes; pull and inspect ios/Runner.xcodeproj changes.</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flutter_native_splash per brand with the brand colour.</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 feature flag in the JSON (e.g. "SHOW_BREAKDOWN": "true") read via bool.fromEnvironment and used in PremiumCard.</a:t>
            </a:r>
            <a:endParaRPr lang="en-US" sz="1200" dirty="0"/>
          </a:p>
        </p:txBody>
      </p:sp>
      <p:sp>
        <p:nvSpPr>
          <p:cNvPr id="11" name="Text 9"/>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12" name="Text 10"/>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19  ·  13:15 - 14:45</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CI/CD, signing &amp; store release</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Create an upload keystore and sign release builds without committing secrets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Produce a signed App Bundle per brand with obfuscation</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Walk through Play Console and App Store Connect first-release checklists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Run tests and builds in GitHub Actions; build iOS with Codemagic from a Windows-authored repo</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Create the upload keystore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One keystore per company (not per app). Back it up somewhere safe; losing it with Play App Signing is recoverable, without it is not.</a:t>
            </a:r>
            <a:endParaRPr lang="en-US" sz="1300" dirty="0"/>
          </a:p>
        </p:txBody>
      </p:sp>
      <p:sp>
        <p:nvSpPr>
          <p:cNvPr id="4" name="Shape 2"/>
          <p:cNvSpPr/>
          <p:nvPr/>
        </p:nvSpPr>
        <p:spPr>
          <a:xfrm>
            <a:off x="548640" y="1874520"/>
            <a:ext cx="1280160" cy="292608"/>
          </a:xfrm>
          <a:prstGeom prst="roundRect">
            <a:avLst>
              <a:gd name="adj" fmla="val 50000"/>
            </a:avLst>
          </a:prstGeom>
          <a:solidFill>
            <a:srgbClr val="2E6F95"/>
          </a:solidFill>
          <a:ln w="12700">
            <a:solidFill>
              <a:srgbClr val="2E6F95"/>
            </a:solidFill>
            <a:prstDash val="solid"/>
          </a:ln>
        </p:spPr>
      </p:sp>
      <p:sp>
        <p:nvSpPr>
          <p:cNvPr id="5" name="Text 3"/>
          <p:cNvSpPr txBox="1"/>
          <p:nvPr/>
        </p:nvSpPr>
        <p:spPr>
          <a:xfrm>
            <a:off x="548640" y="1874520"/>
            <a:ext cx="128016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macOS · zsh</a:t>
            </a:r>
            <a:endParaRPr lang="en-US" sz="1000" dirty="0"/>
          </a:p>
        </p:txBody>
      </p:sp>
      <p:sp>
        <p:nvSpPr>
          <p:cNvPr id="6" name="Shape 4"/>
          <p:cNvSpPr/>
          <p:nvPr/>
        </p:nvSpPr>
        <p:spPr>
          <a:xfrm>
            <a:off x="6231636" y="1874520"/>
            <a:ext cx="1737360" cy="292608"/>
          </a:xfrm>
          <a:prstGeom prst="roundRect">
            <a:avLst>
              <a:gd name="adj" fmla="val 50000"/>
            </a:avLst>
          </a:prstGeom>
          <a:solidFill>
            <a:srgbClr val="1F7A5C"/>
          </a:solidFill>
          <a:ln w="12700">
            <a:solidFill>
              <a:srgbClr val="1F7A5C"/>
            </a:solidFill>
            <a:prstDash val="solid"/>
          </a:ln>
        </p:spPr>
      </p:sp>
      <p:sp>
        <p:nvSpPr>
          <p:cNvPr id="7" name="Text 5"/>
          <p:cNvSpPr txBox="1"/>
          <p:nvPr/>
        </p:nvSpPr>
        <p:spPr>
          <a:xfrm>
            <a:off x="6231636" y="1874520"/>
            <a:ext cx="173736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Windows · PowerShell</a:t>
            </a:r>
            <a:endParaRPr lang="en-US" sz="1000" dirty="0"/>
          </a:p>
        </p:txBody>
      </p:sp>
      <p:sp>
        <p:nvSpPr>
          <p:cNvPr id="8" name="Shape 6"/>
          <p:cNvSpPr/>
          <p:nvPr/>
        </p:nvSpPr>
        <p:spPr>
          <a:xfrm>
            <a:off x="548640" y="2258568"/>
            <a:ext cx="5408676" cy="3227832"/>
          </a:xfrm>
          <a:prstGeom prst="roundRect">
            <a:avLst>
              <a:gd name="adj" fmla="val 2266"/>
            </a:avLst>
          </a:prstGeom>
          <a:solidFill>
            <a:srgbClr val="0F172A"/>
          </a:solidFill>
          <a:ln w="12700">
            <a:solidFill>
              <a:srgbClr val="0F172A"/>
            </a:solidFill>
            <a:prstDash val="solid"/>
          </a:ln>
        </p:spPr>
      </p:sp>
      <p:sp>
        <p:nvSpPr>
          <p:cNvPr id="9" name="Text 7"/>
          <p:cNvSpPr txBox="1"/>
          <p:nvPr/>
        </p:nvSpPr>
        <p:spPr>
          <a:xfrm>
            <a:off x="685800" y="2368296"/>
            <a:ext cx="5134356" cy="3008376"/>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macOS (zsh) - keytool ships with the JDK bundled in Android Studio</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keytool -genkey -v -keystore ~/upload-keystore.jks -keyalg RSA -keysize 2048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-validity 10000 -alias upload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if keytool is not on PATH:</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/Applications/Android\ Studio.app/Contents/jbr/Contents/Home/bin/keytool -genkey ...</a:t>
            </a:r>
            <a:endParaRPr lang="en-US" sz="1100" dirty="0"/>
          </a:p>
        </p:txBody>
      </p:sp>
      <p:sp>
        <p:nvSpPr>
          <p:cNvPr id="10" name="Shape 8"/>
          <p:cNvSpPr/>
          <p:nvPr/>
        </p:nvSpPr>
        <p:spPr>
          <a:xfrm>
            <a:off x="6231636" y="2258568"/>
            <a:ext cx="5408676" cy="3227832"/>
          </a:xfrm>
          <a:prstGeom prst="roundRect">
            <a:avLst>
              <a:gd name="adj" fmla="val 2266"/>
            </a:avLst>
          </a:prstGeom>
          <a:solidFill>
            <a:srgbClr val="0F172A"/>
          </a:solidFill>
          <a:ln w="12700">
            <a:solidFill>
              <a:srgbClr val="0F172A"/>
            </a:solidFill>
            <a:prstDash val="solid"/>
          </a:ln>
        </p:spPr>
      </p:sp>
      <p:sp>
        <p:nvSpPr>
          <p:cNvPr id="11" name="Text 9"/>
          <p:cNvSpPr txBox="1"/>
          <p:nvPr/>
        </p:nvSpPr>
        <p:spPr>
          <a:xfrm>
            <a:off x="6368796" y="2368296"/>
            <a:ext cx="5134356" cy="3008376"/>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Windows (PowerShell)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keytool -genkey -v -keystore $env:USERPROFILE\upload-keystore.jks -keyalg RSA -keysize 2048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-validity 10000 -alias upload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if keytool is not on PATH:</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&amp; "C:\Program Files\Android\Android Studio\jbr\bin\keytool.exe" -genkey -v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-keystore $env:USERPROFILE\upload-keystore.jks -keyalg RSA -keysize 2048 -validity 10000 -alias upload</a:t>
            </a:r>
            <a:endParaRPr lang="en-US" sz="1100" dirty="0"/>
          </a:p>
        </p:txBody>
      </p:sp>
      <p:sp>
        <p:nvSpPr>
          <p:cNvPr id="12" name="Shape 10"/>
          <p:cNvSpPr/>
          <p:nvPr/>
        </p:nvSpPr>
        <p:spPr>
          <a:xfrm>
            <a:off x="548640" y="5623560"/>
            <a:ext cx="11091672" cy="548640"/>
          </a:xfrm>
          <a:prstGeom prst="roundRect">
            <a:avLst>
              <a:gd name="adj" fmla="val 16667"/>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3" name="Text 11"/>
          <p:cNvSpPr txBox="1"/>
          <p:nvPr/>
        </p:nvSpPr>
        <p:spPr>
          <a:xfrm>
            <a:off x="685800" y="5650992"/>
            <a:ext cx="10817352" cy="493776"/>
          </a:xfrm>
          <a:prstGeom prst="rect">
            <a:avLst/>
          </a:prstGeom>
          <a:noFill/>
          <a:ln/>
        </p:spPr>
        <p:txBody>
          <a:bodyPr wrap="square" lIns="0" tIns="0" rIns="0" bIns="0" rtlCol="0" anchor="ctr"/>
          <a:lstStyle/>
          <a:p>
            <a:pPr indent="0" marL="0">
              <a:buNone/>
            </a:pPr>
            <a:r>
              <a:rPr lang="en-US" sz="1100" dirty="0">
                <a:solidFill>
                  <a:srgbClr val="1F2933"/>
                </a:solidFill>
                <a:latin typeface="Calibri" pitchFamily="34" charset="0"/>
                <a:ea typeface="Calibri" pitchFamily="34" charset="-122"/>
                <a:cs typeface="Calibri" pitchFamily="34" charset="-120"/>
              </a:rPr>
              <a:t>keytool prompts for passwords and a Distinguished Name (use the company name). Keep the .jks OUTSIDE the repo. Play App Signing means Google holds the final signing key and this is only your upload key.</a:t>
            </a:r>
            <a:endParaRPr lang="en-US" sz="110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key.properties and the release signing config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android/key.properties · android/app/build.gradle.kts</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android/key.properties  - NEVER commit; add to .gitignore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storePassword=&lt;store password&gt;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keyPassword=&lt;key password&gt;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keyAlias=upload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storeFile=/Users/clynton/upload-keystore.jks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Windows: storeFile=C:\\Users\\&lt;name&gt;\\upload-keystore.jks   (double backslashes)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android/app/build.gradle.kts - load key.properties and sign release builds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java.util.Properties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import java.io.FileInputStream</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val keystoreProperties = Properties()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val keystorePropertiesFile = rootProject.file("key.properties")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if (keystorePropertiesFile.exists())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keystoreProperties.load(FileInputStream(keystorePropertiesFile))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key.properties and the release signing config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android/key.properties · android/app/build.gradle.kts</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android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signingConfigs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create("release")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keyAlias = keystoreProperties["keyAlias"] as String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keyPassword = keystoreProperties["keyPassword"] as String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storeFile = keystoreProperties["storeFile"]?.let { file(it)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storePassword = keystoreProperties["storePassword"] as String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buildTypes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release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signingConfig = signingConfigs.getByName("release")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isMinifyEnabled =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isShrinkResources =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proguardFiles(getDefaultProguardFile("proguard-android-optimize.txt"), "proguard-rules.pro")</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key.properties is git-ignored; CI recreates it from secrets. Minify + shrink on release; proguard-rules.pro for any reflection-based packages.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Build the signed App Bundle</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terminal (both OS)</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Signed App Bundle per brand (both OS)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build appbundle --flavor alpha --dart-define-from-file=config/alpha.json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--obfuscate --split-debug-info=build/symbols/alpha</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build/app/outputs/bundle/alphaRelease/app-alpha-release.aab</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APK for sideloading / testers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build apk --flavor alpha --dart-define-from-file=config/alpha.json --split-per-abi</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Verify the signature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macOS: $ANDROID_HOME/build-tools/&lt;ver&gt;/apksigner verify --print-certs app.apk</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Win:   &amp; "$env:LOCALAPPDATA\Android\Sdk\build-tools\&lt;ver&gt;\apksigner.bat" verify --print-certs app.apk</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Version: pubspec.yaml  version: 1.0.0+1   (name + build number; bump +N every upload)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build appbundle --build-name=1.0.1 --build-number=2</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appbundle for the store, apk for testers. --obfuscate + --split-debug-info keeps symbols for crash de-obfuscation (upload build/symbols to Crashlytics/Sentry). Bump the build number every upload.</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Icons and splash screens without opening the native projects</a:t>
            </a:r>
            <a:endParaRPr lang="en-US" sz="3000" dirty="0"/>
          </a:p>
        </p:txBody>
      </p:sp>
      <p:sp>
        <p:nvSpPr>
          <p:cNvPr id="3" name="Text 1"/>
          <p:cNvSpPr txBox="1"/>
          <p:nvPr/>
        </p:nvSpPr>
        <p:spPr>
          <a:xfrm>
            <a:off x="548640" y="1325880"/>
            <a:ext cx="4299509" cy="47548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flutter_launcher_icons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generates every density and the adaptive icon from one 1024×1024 PNG; per-flavour config files.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flutter_native_splash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generates Android 12+ splash and iOS launch storyboard from a colour + image.</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Per brand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one YAML each; run with -f. Commit the generated resources.</a:t>
            </a:r>
            <a:endParaRPr lang="en-US" sz="1400" dirty="0"/>
          </a:p>
          <a:p>
            <a:pPr marL="177800" indent="-177800">
              <a:spcAft>
                <a:spcPts val="800"/>
              </a:spcAft>
              <a:buSzPct val="100000"/>
              <a:buChar char="•"/>
            </a:pPr>
            <a:r>
              <a:rPr lang="en-US" sz="1400" b="1" dirty="0">
                <a:solidFill>
                  <a:srgbClr val="0B2545"/>
                </a:solidFill>
                <a:latin typeface="Calibri" pitchFamily="34" charset="0"/>
                <a:ea typeface="Calibri" pitchFamily="34" charset="-122"/>
                <a:cs typeface="Calibri" pitchFamily="34" charset="-120"/>
              </a:rPr>
              <a:t>Store assets </a:t>
            </a:r>
            <a:pPr indent="0" marL="0">
              <a:spcAft>
                <a:spcPts val="800"/>
              </a:spcAft>
              <a:buNone/>
            </a:pPr>
            <a:r>
              <a:rPr lang="en-US" sz="1400" dirty="0">
                <a:solidFill>
                  <a:srgbClr val="1F2933"/>
                </a:solidFill>
                <a:latin typeface="Calibri" pitchFamily="34" charset="0"/>
                <a:ea typeface="Calibri" pitchFamily="34" charset="-122"/>
                <a:cs typeface="Calibri" pitchFamily="34" charset="-120"/>
              </a:rPr>
              <a:t>still needed separately: 512×512 icon and 1024×500 feature graphic (Play), screenshots per device class (both).</a:t>
            </a:r>
            <a:endParaRPr lang="en-US" sz="1400" dirty="0"/>
          </a:p>
        </p:txBody>
      </p:sp>
      <p:sp>
        <p:nvSpPr>
          <p:cNvPr id="4" name="Shape 2"/>
          <p:cNvSpPr/>
          <p:nvPr/>
        </p:nvSpPr>
        <p:spPr>
          <a:xfrm>
            <a:off x="5122469" y="1325880"/>
            <a:ext cx="6517843" cy="4754880"/>
          </a:xfrm>
          <a:prstGeom prst="roundRect">
            <a:avLst>
              <a:gd name="adj" fmla="val 1538"/>
            </a:avLst>
          </a:prstGeom>
          <a:solidFill>
            <a:srgbClr val="0F172A"/>
          </a:solidFill>
          <a:ln w="12700">
            <a:solidFill>
              <a:srgbClr val="0F172A"/>
            </a:solidFill>
            <a:prstDash val="solid"/>
          </a:ln>
        </p:spPr>
      </p:sp>
      <p:sp>
        <p:nvSpPr>
          <p:cNvPr id="5" name="Text 3"/>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terminal · pubspec.yaml</a:t>
            </a:r>
            <a:endParaRPr lang="en-US" sz="800" dirty="0"/>
          </a:p>
        </p:txBody>
      </p:sp>
      <p:sp>
        <p:nvSpPr>
          <p:cNvPr id="6" name="Text 4"/>
          <p:cNvSpPr txBox="1"/>
          <p:nvPr/>
        </p:nvSpPr>
        <p:spPr>
          <a:xfrm>
            <a:off x="5259629" y="1435608"/>
            <a:ext cx="6243523" cy="453542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App icons and splash without opening Xcode / Android Studio</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 pub add --dev flutter_launcher_icons flutter_native_splash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pubspec.yaml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flutter_launcher_icons: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android: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ios: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image_path: "assets/brands/alpha_icon.png"      # 1024×1024 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adaptive_icon_background: "#0B2545"</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adaptive_icon_foreground: "assets/brands/alpha_fg.png"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flutter_native_splash: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 "#0B2545"</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image: assets/brands/alpha_logo.png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android_12:</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 "#0B2545"</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dart run flutter_launcher_icons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dart run flutter_native_splash:create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per brand: keep one config file per flavour, e.g. flutter_launcher_icons-alpha.yaml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dart run flutter_launcher_icons -f flutter_launcher_icons-alpha.yaml</a:t>
            </a:r>
            <a:endParaRPr lang="en-US" sz="10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Google Play Console: first release checklist</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665500"/>
                <a:gridCol w="5545836"/>
                <a:gridCol w="4880336"/>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Gotchas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Create app: name, language, app/game, free/paid</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Free cannot become paid later</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Dashboard tasks: privacy policy URL, app access, ads, content rating, target audience, data safety</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Insurance → declare "financial features"; data safety must match what the app collects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Store listing: descriptions, icon 512², feature graphic 1024×500, 2-8 screenshots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Screenshots per brand - take them from the flavour builds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Internal testing → create release → upload .aab → release notes → testers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Available within minutes; up to 100 testers by email</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Play App Signing: accept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Google holds the signing key; you keep the upload key</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Promote: internal → closed → open → production; staged rollout %</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Production review: hours to a few days for new apps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Every update: bump versionCode, new release, notes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Same package name forever; suffix per brand = separate listing per brand</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App Store Connect: first release checklist (Mac demo)</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665500"/>
                <a:gridCol w="5545836"/>
                <a:gridCol w="4880336"/>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Gotchas</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Apple Developer Program: enrol as an organisation (D-U-N-S number)</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1-2 weeks; start now for the real project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App ID + capabilities; signing: let Xcode manage automatically (or Codemagic)</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Provisioning profile per bundle id = per brand</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App Store Connect → New App: name, bundle id, SKU</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Name must be unique on the store</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Build: flutter build ipa → Xcode Organizer → Distribute → App Store Connect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Mac only; or Codemagic from a Git push</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TestFlight: internal testers immediately; external testers after a short beta review</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Processing 10-30 min after upload</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App Privacy questionnaire, age rating, category Finance, screenshots 6.7" + 6.5", review notes with demo account</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Missing purpose strings (camera, location) in Info.plist = instant rejection</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100" b="1" dirty="0">
                          <a:solidFill>
                            <a:srgbClr val="1F2933"/>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Submit for review; answer in Resolution Center</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1F2933"/>
                          </a:solidFill>
                          <a:latin typeface="Calibri" pitchFamily="34" charset="0"/>
                          <a:ea typeface="Calibri" pitchFamily="34" charset="-122"/>
                          <a:cs typeface="Calibri" pitchFamily="34" charset="-120"/>
                        </a:rPr>
                        <a:t>Typically 24-72 h; resubmits are faster</a:t>
                      </a:r>
                      <a:endParaRPr lang="en-US" sz="11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GitHub Actions: test, then build both brands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.github/workflows/ci.yml</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.github/workflows/ci.yml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name: ci</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on: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push: { branches: [main]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pull_request: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jobs: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runs-on: ubuntu-latest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steps: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uses: actions/checkout@v4</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uses: subosito/flutter-action@v2</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with: { channel: stable, cache: true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run: flutter pub get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run: dart format --output=none --set-exit-if-changed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run: flutter analyze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run: flutter test --coverage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uses: actions/upload-artifact@v4</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with: { name: coverage, path: coverage/lcov.info }</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GitHub Actions: test, then build both brands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.github/workflows/ci.yml</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build-android: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needs: test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runs-on: ubuntu-latest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strategy: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matrix: { flavor: [alpha, beta]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steps: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actions/checkout@v4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actions/setup-java@v4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with: { distribution: temurin, java-version: '17'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subosito/flutter-action@v2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with: { channel: stable, cache: true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run: flutter pub get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name: Decode keystore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run: echo "${{ secrets.UPLOAD_KEYSTORE_B64 }}" | base64 -d &gt; android/app/upload-keystore.jks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name: Write key.properties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run: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cat &gt; android/key.properties &lt;&lt;EOF</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storePassword=${{ secrets.STORE_PASSWORD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keyPassword=${{ secrets.KEY_PASSWORD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keyAlias=upload</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storeFile=upload-keystore.jks     # relative to android/app/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EOF</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run: flutter build appbundle --flavor ${{ matrix.flavor }} --dart-define-from-file=config/${{ matrix.flavor }}.json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actions/upload-artifact@v4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with:</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name: aab-${{ matrix.flavor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path: build/app/outputs/bundle/${{ matrix.flavor }}Release/*.aab</a:t>
            </a:r>
            <a:endParaRPr lang="en-US" sz="9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Two jobs: test gate, then a matrix over flavours that rebuilds key.properties from secrets and uploads the AABs as artefacts. Secrets encoded on the next slide.</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Encode the keystore for CI secrets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Secrets never enter the repo: the .jks is base64 in a GitHub secret, passwords are separate secrets, and the workflow rebuilds key.properties at run time.</a:t>
            </a:r>
            <a:endParaRPr lang="en-US" sz="1300" dirty="0"/>
          </a:p>
        </p:txBody>
      </p:sp>
      <p:sp>
        <p:nvSpPr>
          <p:cNvPr id="4" name="Shape 2"/>
          <p:cNvSpPr/>
          <p:nvPr/>
        </p:nvSpPr>
        <p:spPr>
          <a:xfrm>
            <a:off x="548640" y="1874520"/>
            <a:ext cx="1280160" cy="292608"/>
          </a:xfrm>
          <a:prstGeom prst="roundRect">
            <a:avLst>
              <a:gd name="adj" fmla="val 50000"/>
            </a:avLst>
          </a:prstGeom>
          <a:solidFill>
            <a:srgbClr val="2E6F95"/>
          </a:solidFill>
          <a:ln w="12700">
            <a:solidFill>
              <a:srgbClr val="2E6F95"/>
            </a:solidFill>
            <a:prstDash val="solid"/>
          </a:ln>
        </p:spPr>
      </p:sp>
      <p:sp>
        <p:nvSpPr>
          <p:cNvPr id="5" name="Text 3"/>
          <p:cNvSpPr txBox="1"/>
          <p:nvPr/>
        </p:nvSpPr>
        <p:spPr>
          <a:xfrm>
            <a:off x="548640" y="1874520"/>
            <a:ext cx="128016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macOS · zsh</a:t>
            </a:r>
            <a:endParaRPr lang="en-US" sz="1000" dirty="0"/>
          </a:p>
        </p:txBody>
      </p:sp>
      <p:sp>
        <p:nvSpPr>
          <p:cNvPr id="6" name="Shape 4"/>
          <p:cNvSpPr/>
          <p:nvPr/>
        </p:nvSpPr>
        <p:spPr>
          <a:xfrm>
            <a:off x="6231636" y="1874520"/>
            <a:ext cx="1737360" cy="292608"/>
          </a:xfrm>
          <a:prstGeom prst="roundRect">
            <a:avLst>
              <a:gd name="adj" fmla="val 50000"/>
            </a:avLst>
          </a:prstGeom>
          <a:solidFill>
            <a:srgbClr val="1F7A5C"/>
          </a:solidFill>
          <a:ln w="12700">
            <a:solidFill>
              <a:srgbClr val="1F7A5C"/>
            </a:solidFill>
            <a:prstDash val="solid"/>
          </a:ln>
        </p:spPr>
      </p:sp>
      <p:sp>
        <p:nvSpPr>
          <p:cNvPr id="7" name="Text 5"/>
          <p:cNvSpPr txBox="1"/>
          <p:nvPr/>
        </p:nvSpPr>
        <p:spPr>
          <a:xfrm>
            <a:off x="6231636" y="1874520"/>
            <a:ext cx="173736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Windows · PowerShell</a:t>
            </a:r>
            <a:endParaRPr lang="en-US" sz="1000" dirty="0"/>
          </a:p>
        </p:txBody>
      </p:sp>
      <p:sp>
        <p:nvSpPr>
          <p:cNvPr id="8" name="Shape 6"/>
          <p:cNvSpPr/>
          <p:nvPr/>
        </p:nvSpPr>
        <p:spPr>
          <a:xfrm>
            <a:off x="548640" y="2258568"/>
            <a:ext cx="5408676" cy="3227832"/>
          </a:xfrm>
          <a:prstGeom prst="roundRect">
            <a:avLst>
              <a:gd name="adj" fmla="val 2266"/>
            </a:avLst>
          </a:prstGeom>
          <a:solidFill>
            <a:srgbClr val="0F172A"/>
          </a:solidFill>
          <a:ln w="12700">
            <a:solidFill>
              <a:srgbClr val="0F172A"/>
            </a:solidFill>
            <a:prstDash val="solid"/>
          </a:ln>
        </p:spPr>
      </p:sp>
      <p:sp>
        <p:nvSpPr>
          <p:cNvPr id="9" name="Text 7"/>
          <p:cNvSpPr txBox="1"/>
          <p:nvPr/>
        </p:nvSpPr>
        <p:spPr>
          <a:xfrm>
            <a:off x="685800" y="2368296"/>
            <a:ext cx="5134356" cy="3008376"/>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Encode the keystore for a CI secret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macOS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base64 -i ~/upload-keystore.jks | pbcopy</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p:txBody>
      </p:sp>
      <p:sp>
        <p:nvSpPr>
          <p:cNvPr id="10" name="Shape 8"/>
          <p:cNvSpPr/>
          <p:nvPr/>
        </p:nvSpPr>
        <p:spPr>
          <a:xfrm>
            <a:off x="6231636" y="2258568"/>
            <a:ext cx="5408676" cy="3227832"/>
          </a:xfrm>
          <a:prstGeom prst="roundRect">
            <a:avLst>
              <a:gd name="adj" fmla="val 2266"/>
            </a:avLst>
          </a:prstGeom>
          <a:solidFill>
            <a:srgbClr val="0F172A"/>
          </a:solidFill>
          <a:ln w="12700">
            <a:solidFill>
              <a:srgbClr val="0F172A"/>
            </a:solidFill>
            <a:prstDash val="solid"/>
          </a:ln>
        </p:spPr>
      </p:sp>
      <p:sp>
        <p:nvSpPr>
          <p:cNvPr id="11" name="Text 9"/>
          <p:cNvSpPr txBox="1"/>
          <p:nvPr/>
        </p:nvSpPr>
        <p:spPr>
          <a:xfrm>
            <a:off x="6368796" y="2368296"/>
            <a:ext cx="5134356" cy="3008376"/>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Windows (PowerShell)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[Convert]::ToBase64String(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[IO.File]::ReadAllBytes("$env:USERPROFILE\upload-keystore.jks")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Set-Clipboard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GitHub → repo → Settings → Secrets and variables → Actions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New repository secret: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UPLOAD_KEYSTORE_B64   (paste clipboard)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STORE_PASSWORD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KEY_PASSWORD</a:t>
            </a:r>
            <a:endParaRPr lang="en-US" sz="1100" dirty="0"/>
          </a:p>
        </p:txBody>
      </p:sp>
      <p:sp>
        <p:nvSpPr>
          <p:cNvPr id="12" name="Shape 10"/>
          <p:cNvSpPr/>
          <p:nvPr/>
        </p:nvSpPr>
        <p:spPr>
          <a:xfrm>
            <a:off x="548640" y="5623560"/>
            <a:ext cx="11091672" cy="548640"/>
          </a:xfrm>
          <a:prstGeom prst="roundRect">
            <a:avLst>
              <a:gd name="adj" fmla="val 16667"/>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3" name="Text 11"/>
          <p:cNvSpPr txBox="1"/>
          <p:nvPr/>
        </p:nvSpPr>
        <p:spPr>
          <a:xfrm>
            <a:off x="685800" y="5650992"/>
            <a:ext cx="10817352" cy="493776"/>
          </a:xfrm>
          <a:prstGeom prst="rect">
            <a:avLst/>
          </a:prstGeom>
          <a:noFill/>
          <a:ln/>
        </p:spPr>
        <p:txBody>
          <a:bodyPr wrap="square" lIns="0" tIns="0" rIns="0" bIns="0" rtlCol="0" anchor="ctr"/>
          <a:lstStyle/>
          <a:p>
            <a:pPr indent="0" marL="0">
              <a:buNone/>
            </a:pPr>
            <a:r>
              <a:rPr lang="en-US" sz="1100" dirty="0">
                <a:solidFill>
                  <a:srgbClr val="1F2933"/>
                </a:solidFill>
                <a:latin typeface="Calibri" pitchFamily="34" charset="0"/>
                <a:ea typeface="Calibri" pitchFamily="34" charset="-122"/>
                <a:cs typeface="Calibri" pitchFamily="34" charset="-120"/>
              </a:rPr>
              <a:t>Rotate secrets if a keystore is ever committed by mistake - git history keeps it forever; treat it as compromised.</a:t>
            </a:r>
            <a:endParaRPr lang="en-US" sz="110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Codemagic: iOS from a Windows-authored repo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codemagic.yaml</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codemagic.yaml - iOS and Android from one Windows-authored repo (macOS runner in the cloud)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workflows: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ios-alpha:</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name: iOS Alpha</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instance_type: mac_mini_m2</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environment: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flutter: stable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xcode: latest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groups: [app_store_credentials]        # App Store Connect API key stored in Codemagic</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vars: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BUNDLE_ID: za.co.moint.quoteApp.alpha</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integrations: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app_store_connect: MO_ASC_KEY</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scripts: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flutter pub get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flutter test</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Codemagic: iOS from a Windows-authored repo  (2/2)</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codemagic.yaml</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name: Set up code signing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script: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app-store-connect fetch-signing-files "$BUNDLE_ID" --type IOS_APP_STORE --create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xcode-project use-profiles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name: Build IPA</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script: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flutter build ipa --release --flavor alpha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--dart-define-from-file=config/alpha.json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--export-options-plist=/Users/builder/export_options.plist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artifacts: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build/ios/ipa/*.ipa</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publishing: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app_store_connect: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auth: integration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submit_to_testflight: true</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A macOS runner in the cloud fetches signing files from App Store Connect, builds the IPA and pushes to TestFlight on every push to main. The team never needs a local Mac for releases.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88720" cy="457200"/>
          </a:xfrm>
          <a:prstGeom prst="roundRect">
            <a:avLst>
              <a:gd name="adj" fmla="val 20000"/>
            </a:avLst>
          </a:prstGeom>
          <a:solidFill>
            <a:srgbClr val="C9A227"/>
          </a:solidFill>
          <a:ln w="12700">
            <a:solidFill>
              <a:srgbClr val="C9A227"/>
            </a:solidFill>
            <a:prstDash val="solid"/>
          </a:ln>
        </p:spPr>
      </p:sp>
      <p:sp>
        <p:nvSpPr>
          <p:cNvPr id="3" name="Text 1"/>
          <p:cNvSpPr txBox="1"/>
          <p:nvPr/>
        </p:nvSpPr>
        <p:spPr>
          <a:xfrm>
            <a:off x="548640" y="411480"/>
            <a:ext cx="1188720" cy="457200"/>
          </a:xfrm>
          <a:prstGeom prst="rect">
            <a:avLst/>
          </a:prstGeom>
          <a:noFill/>
          <a:ln/>
        </p:spPr>
        <p:txBody>
          <a:bodyPr wrap="square" lIns="0" tIns="0" rIns="0" bIns="0"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LAB 5.3</a:t>
            </a:r>
            <a:endParaRPr lang="en-US" sz="1400" dirty="0"/>
          </a:p>
        </p:txBody>
      </p:sp>
      <p:sp>
        <p:nvSpPr>
          <p:cNvPr id="4" name="Text 2"/>
          <p:cNvSpPr txBox="1"/>
          <p:nvPr/>
        </p:nvSpPr>
        <p:spPr>
          <a:xfrm>
            <a:off x="1920240" y="365760"/>
            <a:ext cx="8165592" cy="548640"/>
          </a:xfrm>
          <a:prstGeom prst="rect">
            <a:avLst/>
          </a:prstGeom>
          <a:noFill/>
          <a:ln/>
        </p:spPr>
        <p:txBody>
          <a:bodyPr wrap="square" lIns="0" tIns="0" rIns="0" bIns="0" rtlCol="0" anchor="ctr"/>
          <a:lstStyle/>
          <a:p>
            <a:pPr indent="0" marL="0">
              <a:buNone/>
            </a:pPr>
            <a:r>
              <a:rPr lang="en-US" sz="2600" b="1" dirty="0">
                <a:solidFill>
                  <a:srgbClr val="0B2545"/>
                </a:solidFill>
                <a:latin typeface="Calibri" pitchFamily="34" charset="0"/>
                <a:ea typeface="Calibri" pitchFamily="34" charset="-122"/>
                <a:cs typeface="Calibri" pitchFamily="34" charset="-120"/>
              </a:rPr>
              <a:t>Signed bundle and a green pipeline</a:t>
            </a:r>
            <a:endParaRPr lang="en-US" sz="2600" dirty="0"/>
          </a:p>
        </p:txBody>
      </p:sp>
      <p:sp>
        <p:nvSpPr>
          <p:cNvPr id="5" name="Text 3"/>
          <p:cNvSpPr txBox="1"/>
          <p:nvPr/>
        </p:nvSpPr>
        <p:spPr>
          <a:xfrm>
            <a:off x="10177272" y="411480"/>
            <a:ext cx="1463040" cy="457200"/>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45 min</a:t>
            </a:r>
            <a:endParaRPr lang="en-US" sz="1200" dirty="0"/>
          </a:p>
        </p:txBody>
      </p:sp>
      <p:sp>
        <p:nvSpPr>
          <p:cNvPr id="6" name="Text 4"/>
          <p:cNvSpPr txBox="1"/>
          <p:nvPr/>
        </p:nvSpPr>
        <p:spPr>
          <a:xfrm>
            <a:off x="548640" y="1097280"/>
            <a:ext cx="11091672" cy="502920"/>
          </a:xfrm>
          <a:prstGeom prst="rect">
            <a:avLst/>
          </a:prstGeom>
          <a:noFill/>
          <a:ln/>
        </p:spPr>
        <p:txBody>
          <a:bodyPr wrap="square" lIns="0" tIns="0" rIns="0" bIns="0" rtlCol="0" anchor="t"/>
          <a:lstStyle/>
          <a:p>
            <a:pPr indent="0" marL="0">
              <a:buNone/>
            </a:pPr>
            <a:r>
              <a:rPr lang="en-US" sz="1400" b="1" dirty="0">
                <a:solidFill>
                  <a:srgbClr val="0B2545"/>
                </a:solidFill>
                <a:latin typeface="Calibri" pitchFamily="34" charset="0"/>
                <a:ea typeface="Calibri" pitchFamily="34" charset="-122"/>
                <a:cs typeface="Calibri" pitchFamily="34" charset="-120"/>
              </a:rPr>
              <a:t>Goal  </a:t>
            </a:r>
            <a:pPr indent="0" marL="0">
              <a:buNone/>
            </a:pPr>
            <a:r>
              <a:rPr lang="en-US" sz="1400" dirty="0">
                <a:solidFill>
                  <a:srgbClr val="1F2933"/>
                </a:solidFill>
                <a:latin typeface="Calibri" pitchFamily="34" charset="0"/>
                <a:ea typeface="Calibri" pitchFamily="34" charset="-122"/>
                <a:cs typeface="Calibri" pitchFamily="34" charset="-120"/>
              </a:rPr>
              <a:t>A signed alpha App Bundle built locally; key.properties and keystore ignored by git; a GitHub Actions run that tests and builds both brands.</a:t>
            </a:r>
            <a:endParaRPr lang="en-US" sz="1400" dirty="0"/>
          </a:p>
        </p:txBody>
      </p:sp>
      <p:sp>
        <p:nvSpPr>
          <p:cNvPr id="7" name="Text 5"/>
          <p:cNvSpPr txBox="1"/>
          <p:nvPr/>
        </p:nvSpPr>
        <p:spPr>
          <a:xfrm>
            <a:off x="548640" y="1691640"/>
            <a:ext cx="7098670" cy="4389120"/>
          </a:xfrm>
          <a:prstGeom prst="rect">
            <a:avLst/>
          </a:prstGeom>
          <a:noFill/>
          <a:ln/>
        </p:spPr>
        <p:txBody>
          <a:bodyPr wrap="square" lIns="0" tIns="0" rIns="0" bIns="0" rtlCol="0" anchor="t"/>
          <a:lstStyle/>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Create the upload keystore (Windows column). Write android/key.properties. Add key.properties and *.jks to .gitignore; git status shows neither.</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Add the signing block to build.gradle.kts (or Groovy). flutter build appbundle --flavor alpha --dart-define-from-file=config/alpha.json --obfuscate --split-debug-info=build/symbols/alpha.</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Verify with apksigner (or install the release APK from flutter build apk --flavor alpha on the emulator and open it).</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Push the repo to GitHub (your own fork). Add .github/workflows/ci.yml from the slide.</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Encode the keystore; add the three secrets. Push; watch Actions: test job green, build matrix green, two AAB artefacts.</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Bump version to 1.0.1+2 in pubspec; push; confirm the artefact name/version changed.</a:t>
            </a:r>
            <a:endParaRPr lang="en-US" sz="1300" dirty="0"/>
          </a:p>
          <a:p>
            <a:pPr marL="279400" indent="-279400">
              <a:spcAft>
                <a:spcPts val="700"/>
              </a:spcAft>
              <a:buSzPct val="100000"/>
              <a:buFont typeface="+mj-lt"/>
              <a:buAutoNum type="arabicPeriod" startAt="1"/>
            </a:pPr>
            <a:r>
              <a:rPr lang="en-US" sz="1300" dirty="0">
                <a:solidFill>
                  <a:srgbClr val="1F2933"/>
                </a:solidFill>
                <a:latin typeface="Calibri" pitchFamily="34" charset="0"/>
                <a:ea typeface="Calibri" pitchFamily="34" charset="-122"/>
                <a:cs typeface="Calibri" pitchFamily="34" charset="-120"/>
              </a:rPr>
              <a:t>Commit and tag: git tag v1.0.1 &amp;&amp; git push --tags.</a:t>
            </a:r>
            <a:endParaRPr lang="en-US" sz="1300" dirty="0"/>
          </a:p>
        </p:txBody>
      </p:sp>
      <p:sp>
        <p:nvSpPr>
          <p:cNvPr id="8" name="Shape 6"/>
          <p:cNvSpPr/>
          <p:nvPr/>
        </p:nvSpPr>
        <p:spPr>
          <a:xfrm>
            <a:off x="7921630" y="1691640"/>
            <a:ext cx="3718682" cy="4389120"/>
          </a:xfrm>
          <a:prstGeom prst="roundRect">
            <a:avLst>
              <a:gd name="adj" fmla="val 2459"/>
            </a:avLst>
          </a:prstGeom>
          <a:solidFill>
            <a:srgbClr val="EAF2EC"/>
          </a:solidFill>
          <a:ln w="6350">
            <a:solidFill>
              <a:srgbClr val="EAF2EC"/>
            </a:solidFill>
            <a:prstDash val="solid"/>
          </a:ln>
          <a:effectLst>
            <a:outerShdw sx="100000" sy="100000" kx="0" ky="0" algn="bl" rotWithShape="0" blurRad="38100" dist="12700" dir="5400000">
              <a:srgbClr val="000000">
                <a:alpha val="8000"/>
              </a:srgbClr>
            </a:outerShdw>
          </a:effectLst>
        </p:spPr>
      </p:sp>
      <p:sp>
        <p:nvSpPr>
          <p:cNvPr id="9" name="Text 7"/>
          <p:cNvSpPr txBox="1"/>
          <p:nvPr/>
        </p:nvSpPr>
        <p:spPr>
          <a:xfrm>
            <a:off x="8104510" y="1828800"/>
            <a:ext cx="3352922" cy="365760"/>
          </a:xfrm>
          <a:prstGeom prst="rect">
            <a:avLst/>
          </a:prstGeom>
          <a:noFill/>
          <a:ln/>
        </p:spPr>
        <p:txBody>
          <a:bodyPr wrap="square" lIns="0" tIns="0" rIns="0" bIns="0" rtlCol="0" anchor="ctr"/>
          <a:lstStyle/>
          <a:p>
            <a:pPr indent="0" marL="0">
              <a:buNone/>
            </a:pPr>
            <a:r>
              <a:rPr lang="en-US" sz="1300" b="1" dirty="0">
                <a:solidFill>
                  <a:srgbClr val="1F7A5C"/>
                </a:solidFill>
                <a:latin typeface="Calibri" pitchFamily="34" charset="0"/>
                <a:ea typeface="Calibri" pitchFamily="34" charset="-122"/>
                <a:cs typeface="Calibri" pitchFamily="34" charset="-120"/>
              </a:rPr>
              <a:t>Stretch (fast lane)</a:t>
            </a:r>
            <a:endParaRPr lang="en-US" sz="1300" dirty="0"/>
          </a:p>
        </p:txBody>
      </p:sp>
      <p:sp>
        <p:nvSpPr>
          <p:cNvPr id="10" name="Text 8"/>
          <p:cNvSpPr txBox="1"/>
          <p:nvPr/>
        </p:nvSpPr>
        <p:spPr>
          <a:xfrm>
            <a:off x="8104510" y="2240280"/>
            <a:ext cx="3352922" cy="3657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Add flutter_native_splash per brand and rebuild.</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Add a Play internal-testing upload step with r0adkll/upload-google-play (needs a service account JSON secret).</a:t>
            </a:r>
            <a:endParaRPr lang="en-US" sz="1200" dirty="0"/>
          </a:p>
          <a:p>
            <a:pPr marL="177800" indent="-177800">
              <a:spcAft>
                <a:spcPts val="600"/>
              </a:spcAft>
              <a:buSzPct val="100000"/>
              <a:buChar char="•"/>
            </a:pPr>
            <a:r>
              <a:rPr lang="en-US" sz="1200" dirty="0">
                <a:solidFill>
                  <a:srgbClr val="1F2933"/>
                </a:solidFill>
                <a:latin typeface="Calibri" pitchFamily="34" charset="0"/>
                <a:ea typeface="Calibri" pitchFamily="34" charset="-122"/>
                <a:cs typeface="Calibri" pitchFamily="34" charset="-120"/>
              </a:rPr>
              <a:t>Add codemagic.yaml and connect the repo to a Codemagic account (free tier).</a:t>
            </a:r>
            <a:endParaRPr lang="en-US" sz="1200" dirty="0"/>
          </a:p>
        </p:txBody>
      </p:sp>
      <p:sp>
        <p:nvSpPr>
          <p:cNvPr id="11" name="Text 9"/>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12" name="Text 10"/>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1371600" y="384048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1097280"/>
            <a:ext cx="5486400" cy="457200"/>
          </a:xfrm>
          <a:prstGeom prst="rect">
            <a:avLst/>
          </a:prstGeom>
          <a:noFill/>
          <a:ln/>
        </p:spPr>
        <p:txBody>
          <a:bodyPr wrap="square" lIns="0" tIns="0" rIns="0" bIns="0" rtlCol="0" anchor="ctr"/>
          <a:lstStyle/>
          <a:p>
            <a:pPr indent="0" marL="0">
              <a:buNone/>
            </a:pPr>
            <a:r>
              <a:rPr lang="en-US" sz="1400" spc="300" kern="0" dirty="0">
                <a:solidFill>
                  <a:srgbClr val="E3C766"/>
                </a:solidFill>
                <a:latin typeface="Calibri" pitchFamily="34" charset="0"/>
                <a:ea typeface="Calibri" pitchFamily="34" charset="-122"/>
                <a:cs typeface="Calibri" pitchFamily="34" charset="-120"/>
              </a:rPr>
              <a:t>MODULE 20  ·  15:00 - 16:00</a:t>
            </a:r>
            <a:endParaRPr lang="en-US" sz="1400" dirty="0"/>
          </a:p>
        </p:txBody>
      </p:sp>
      <p:sp>
        <p:nvSpPr>
          <p:cNvPr id="4" name="Text 2"/>
          <p:cNvSpPr txBox="1"/>
          <p:nvPr/>
        </p:nvSpPr>
        <p:spPr>
          <a:xfrm>
            <a:off x="548640" y="1554480"/>
            <a:ext cx="6400800" cy="164592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Best practices &amp; project clinic</a:t>
            </a:r>
            <a:endParaRPr lang="en-US" sz="4000" dirty="0"/>
          </a:p>
        </p:txBody>
      </p:sp>
      <p:sp>
        <p:nvSpPr>
          <p:cNvPr id="5" name="Shape 3"/>
          <p:cNvSpPr/>
          <p:nvPr/>
        </p:nvSpPr>
        <p:spPr>
          <a:xfrm>
            <a:off x="6949440" y="1188720"/>
            <a:ext cx="4663440" cy="4389120"/>
          </a:xfrm>
          <a:prstGeom prst="roundRect">
            <a:avLst>
              <a:gd name="adj" fmla="val 2083"/>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223760" y="1371600"/>
            <a:ext cx="420624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By the end of this module you can</a:t>
            </a:r>
            <a:endParaRPr lang="en-US" sz="1100" dirty="0"/>
          </a:p>
        </p:txBody>
      </p:sp>
      <p:sp>
        <p:nvSpPr>
          <p:cNvPr id="7" name="Text 5"/>
          <p:cNvSpPr txBox="1"/>
          <p:nvPr/>
        </p:nvSpPr>
        <p:spPr>
          <a:xfrm>
            <a:off x="7223760" y="1783080"/>
            <a:ext cx="4206240" cy="36576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Ship accessible UI: semantics, contrast, text scaling, touch targets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Enforce quality with lints, formatting and CI gates</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Know the performance checklist and the repo structure to start from</a:t>
            </a:r>
            <a:endParaRPr lang="en-US" sz="1400" dirty="0"/>
          </a:p>
          <a:p>
            <a:pPr marL="177800" indent="-1778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Leave with decisions made about your real insurance app</a:t>
            </a:r>
            <a:endParaRPr lang="en-US" sz="14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Accessibility from day one: semantics, scaling, contrast, targets</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 · adb</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Semantics - screen readers announce what you tell them</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Semantics(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label: 'Monthly premium ${quote.display}',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ExcludeSemantics(child: PremiumCard(quote: quote)),   // avoid double-reading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IconButton(icon: const Icon(Icons.swap_horiz), tooltip: 'Switch brand', onPressed: …)   // tooltip = label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Image.asset(brand.logoAsset, semanticLabel: '${brand.name} logo')</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Text scaling: never fix heights around text; test at 200%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MediaQuery(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data: MediaQuery.of(context).copyWith(textScaler: const TextScaler.linear(2.0)),</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child: const CaptureScreen(),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Contrast: 4.5:1 body, 3:1 large text - check brand seeds with a contrast checker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Touch targets: 48×48 dp minimum (Material buttons already comply)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Focus order: Form fields in reading order; FocusTraversalGroup for custom layouts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 hooks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flutter run → DevTools → "Show semantics" overlay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Android: TalkBack (Settings → Accessibility);  emulator: adb shell settings put secure enabled_accessibility_services com.google.android.marvin.talkback/.TalkBackService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Widget test:   expect(tester.getSemantics(find.byType(PremiumCard)).label, contains('premium'));</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Stated project requirement. Test with TalkBack on the emulator and at 200% text scale; assert semantics in widget tests.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Lints and formatting as CI gates</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analysis_options.yaml</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analysis_options.yaml - stricter than the default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include: package:flutter_lints/flutter.yaml</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analyzer: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language: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strict-casts: true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strict-inference: true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strict-raw-types: true</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errors: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use_build_context_synchronously: error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unawaited_futures: error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plugins: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custom_lint            # riverpod_lint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linter:</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rules: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prefer_const_constructors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prefer_const_declarations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avoid_print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always_declare_return_types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prefer_final_locals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unawaited_futures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use_build_context_synchronously</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require_trailing_commas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sort_pub_dependencies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dart fix --apply   applies the mechanical ones project-wide</a:t>
            </a:r>
            <a:endParaRPr lang="en-US" sz="9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Strict mode catches implicit dynamic; two lints promoted to errors stop the classic async-context and unawaited bugs; riverpod_lint via custom_lint. CI runs dart format --set-exit-if-changed and flutter analyze.</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Performance checklist before release</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checklist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Performance checklist before release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1. Run in profile mode:  flutter run --profile   (debug mode numbers are meaningless)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2. DevTools → Performance: look for frames over 16 ms (jank) and what built in them</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3. Rebuild counts: DevTools → Inspector → "Track widget rebuilds"; fix with const, select, Extract Widget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4. Lists: ListView.builder + itemExtent/prototypeItem when rows are uniform</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5. Images: cacheWidth/cacheHeight, cached_network_image, avoid Opacity over large subtrees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6. RepaintBoundary around animating widgets that sit in static parents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7. Isolates (compute) for JSON &gt; ~100 KB or any CPU-heavy loop</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8. Impeller is the default renderer; shader jank is gone - if you see it, you are on an old SDK</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9. Release size: flutter build apk --analyze-size --target-platform android-arm64</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10. Startup: defer heavy init; do not await network in main()</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Profile mode only. Most Flutter jank is rebuild scope, list virtualisation or images - not the framework.</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Repo structure to start the real project from</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tree</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quote_app/</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lib/</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main.dart                  bootstrap only</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app.dart                   MaterialApp.router + theme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core/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 config/env.dart        dart-define access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 network/dio_client.dart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 routing/router.dart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 storage/{database,prefs_providers}.dart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 theme/{brand_theme,brand_provider}.dart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 widgets/               shared UI</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features/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onboarding/presentation/</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quote/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domain/            models, calculator, state - no Flutter imports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data/              services, repositories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 presentation/      screens, widgets, providers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test/                          mirrors lib/</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integration_test/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config/{alpha,beta}.json       per-brand defines (no secrets)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android/  ios/                 flavours, signing (key.properties git-ignored)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.github/workflows/ci.yml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codemagic.yaml</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Feature-first with a small core. domain/ has no Flutter imports. Everything git-ignored is listed in the appendix .gitignore.</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Do's and don'ts: the code review checklist</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checklist</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DO</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theme roles, never Colors.* in widgets           - ids in routes, not objects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state = new value; copyWith                        - watch in build, read in callbacks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services behind interfaces + providers             - one FilledButton per 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const everywhere the analyser suggests             - mounted check after every await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dispose controllers                                - pin package majors; commit pubspec.lock</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DON'T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business logic in widgets or build()               - secrets in --dart-define or assets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print in production (use a logger)                 - pumpAndSettle with infinite spinners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shrinkWrap ListView for long lists                 - key.properties or keystores in git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catch-all `catch (e) {}` that swallows errors       - hot reload after adding a native plugin</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Print it; pin it next to the PR template. Every line came up this week.</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2011680" cy="292608"/>
          </a:xfrm>
          <a:prstGeom prst="roundRect">
            <a:avLst>
              <a:gd name="adj" fmla="val 50000"/>
            </a:avLst>
          </a:prstGeom>
          <a:solidFill>
            <a:srgbClr val="0B2545"/>
          </a:solidFill>
          <a:ln w="12700">
            <a:solidFill>
              <a:srgbClr val="0B2545"/>
            </a:solidFill>
            <a:prstDash val="solid"/>
          </a:ln>
        </p:spPr>
      </p:sp>
      <p:sp>
        <p:nvSpPr>
          <p:cNvPr id="3" name="Text 1"/>
          <p:cNvSpPr txBox="1"/>
          <p:nvPr/>
        </p:nvSpPr>
        <p:spPr>
          <a:xfrm>
            <a:off x="548640" y="457200"/>
            <a:ext cx="20116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 &amp; BREAK DOWN</a:t>
            </a:r>
            <a:endParaRPr lang="en-US" sz="1000" dirty="0"/>
          </a:p>
        </p:txBody>
      </p:sp>
      <p:sp>
        <p:nvSpPr>
          <p:cNvPr id="4" name="Text 2"/>
          <p:cNvSpPr txBox="1"/>
          <p:nvPr/>
        </p:nvSpPr>
        <p:spPr>
          <a:xfrm>
            <a:off x="9811512" y="457200"/>
            <a:ext cx="1828800" cy="292608"/>
          </a:xfrm>
          <a:prstGeom prst="rect">
            <a:avLst/>
          </a:prstGeom>
          <a:noFill/>
          <a:ln/>
        </p:spPr>
        <p:txBody>
          <a:bodyPr wrap="square" lIns="0" tIns="0" rIns="0" bIns="0" rtlCol="0" anchor="ctr"/>
          <a:lstStyle/>
          <a:p>
            <a:pPr algn="r" indent="0" marL="0">
              <a:buNone/>
            </a:pPr>
            <a:r>
              <a:rPr lang="en-US" sz="1200" dirty="0">
                <a:solidFill>
                  <a:srgbClr val="5B6773"/>
                </a:solidFill>
                <a:latin typeface="Calibri" pitchFamily="34" charset="0"/>
                <a:ea typeface="Calibri" pitchFamily="34" charset="-122"/>
                <a:cs typeface="Calibri" pitchFamily="34" charset="-120"/>
              </a:rPr>
              <a:t>12 min read + 8 min debrief</a:t>
            </a:r>
            <a:endParaRPr lang="en-US" sz="1200" dirty="0"/>
          </a:p>
        </p:txBody>
      </p:sp>
      <p:sp>
        <p:nvSpPr>
          <p:cNvPr id="5" name="Text 3"/>
          <p:cNvSpPr txBox="1"/>
          <p:nvPr/>
        </p:nvSpPr>
        <p:spPr>
          <a:xfrm>
            <a:off x="548640" y="868680"/>
            <a:ext cx="11091672" cy="640080"/>
          </a:xfrm>
          <a:prstGeom prst="rect">
            <a:avLst/>
          </a:prstGeom>
          <a:noFill/>
          <a:ln/>
        </p:spPr>
        <p:txBody>
          <a:bodyPr wrap="square" lIns="0" tIns="0" rIns="0" bIns="0" rtlCol="0" anchor="ctr"/>
          <a:lstStyle/>
          <a:p>
            <a:pPr indent="0" marL="0">
              <a:buNone/>
            </a:pPr>
            <a:r>
              <a:rPr lang="en-US" sz="2800" b="1" dirty="0">
                <a:solidFill>
                  <a:srgbClr val="0B2545"/>
                </a:solidFill>
                <a:latin typeface="Calibri" pitchFamily="34" charset="0"/>
                <a:ea typeface="Calibri" pitchFamily="34" charset="-122"/>
                <a:cs typeface="Calibri" pitchFamily="34" charset="-120"/>
              </a:rPr>
              <a:t>Read: Flutter's "Best practices for accessibility" and "Performance best practices" - pick your top three</a:t>
            </a:r>
            <a:endParaRPr lang="en-US" sz="2800" dirty="0"/>
          </a:p>
        </p:txBody>
      </p:sp>
      <p:sp>
        <p:nvSpPr>
          <p:cNvPr id="6" name="Shape 4"/>
          <p:cNvSpPr/>
          <p:nvPr/>
        </p:nvSpPr>
        <p:spPr>
          <a:xfrm>
            <a:off x="548640" y="1691640"/>
            <a:ext cx="11091672" cy="960120"/>
          </a:xfrm>
          <a:prstGeom prst="roundRect">
            <a:avLst>
              <a:gd name="adj" fmla="val 9524"/>
            </a:avLst>
          </a:prstGeom>
          <a:solidFill>
            <a:srgbClr val="EAF0F7"/>
          </a:solidFill>
          <a:ln w="6350">
            <a:solidFill>
              <a:srgbClr val="EAF0F7"/>
            </a:solidFill>
            <a:prstDash val="solid"/>
          </a:ln>
          <a:effectLst>
            <a:outerShdw sx="100000" sy="100000" kx="0" ky="0" algn="bl" rotWithShape="0" blurRad="38100" dist="12700" dir="5400000">
              <a:srgbClr val="000000">
                <a:alpha val="8000"/>
              </a:srgbClr>
            </a:outerShdw>
          </a:effectLst>
        </p:spPr>
      </p:sp>
      <p:sp>
        <p:nvSpPr>
          <p:cNvPr id="7" name="Text 5"/>
          <p:cNvSpPr txBox="1"/>
          <p:nvPr/>
        </p:nvSpPr>
        <p:spPr>
          <a:xfrm>
            <a:off x="822960" y="1783080"/>
            <a:ext cx="10543032" cy="457200"/>
          </a:xfrm>
          <a:prstGeom prst="rect">
            <a:avLst/>
          </a:prstGeom>
          <a:noFill/>
          <a:ln/>
        </p:spPr>
        <p:txBody>
          <a:bodyPr wrap="square" lIns="0" tIns="0" rIns="0" bIns="0" rtlCol="0" anchor="ctr"/>
          <a:lstStyle/>
          <a:p>
            <a:pPr indent="0" marL="0">
              <a:buNone/>
            </a:pPr>
            <a:r>
              <a:rPr lang="en-US" sz="1800" b="1" dirty="0">
                <a:solidFill>
                  <a:srgbClr val="0B2545"/>
                </a:solidFill>
                <a:latin typeface="Courier New" pitchFamily="34" charset="0"/>
                <a:ea typeface="Courier New" pitchFamily="34" charset="-122"/>
                <a:cs typeface="Courier New" pitchFamily="34" charset="-120"/>
              </a:rPr>
              <a:t>docs.flutter.dev/ui/accessibility-and-internationalization/accessibility</a:t>
            </a:r>
            <a:endParaRPr lang="en-US" sz="1800" dirty="0"/>
          </a:p>
        </p:txBody>
      </p:sp>
      <p:sp>
        <p:nvSpPr>
          <p:cNvPr id="8" name="Text 6"/>
          <p:cNvSpPr txBox="1"/>
          <p:nvPr/>
        </p:nvSpPr>
        <p:spPr>
          <a:xfrm>
            <a:off x="822960" y="2212848"/>
            <a:ext cx="10543032" cy="365760"/>
          </a:xfrm>
          <a:prstGeom prst="rect">
            <a:avLst/>
          </a:prstGeom>
          <a:noFill/>
          <a:ln/>
        </p:spPr>
        <p:txBody>
          <a:bodyPr wrap="square" lIns="0" tIns="0" rIns="0" bIns="0" rtlCol="0" anchor="ctr"/>
          <a:lstStyle/>
          <a:p>
            <a:pPr indent="0" marL="0">
              <a:buNone/>
            </a:pPr>
            <a:r>
              <a:rPr lang="en-US" sz="1200" dirty="0">
                <a:solidFill>
                  <a:srgbClr val="5B6773"/>
                </a:solidFill>
                <a:latin typeface="Calibri" pitchFamily="34" charset="0"/>
                <a:ea typeface="Calibri" pitchFamily="34" charset="-122"/>
                <a:cs typeface="Calibri" pitchFamily="34" charset="-120"/>
              </a:rPr>
              <a:t>Whole page; then docs.flutter.dev/perf/best-practices (about 12 minutes)</a:t>
            </a:r>
            <a:endParaRPr lang="en-US" sz="1200" dirty="0"/>
          </a:p>
        </p:txBody>
      </p:sp>
      <p:sp>
        <p:nvSpPr>
          <p:cNvPr id="9" name="Text 7"/>
          <p:cNvSpPr txBox="1"/>
          <p:nvPr/>
        </p:nvSpPr>
        <p:spPr>
          <a:xfrm>
            <a:off x="548640" y="2880360"/>
            <a:ext cx="6655003"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Answer these as you read</a:t>
            </a:r>
            <a:endParaRPr lang="en-US" sz="1400" dirty="0"/>
          </a:p>
        </p:txBody>
      </p:sp>
      <p:sp>
        <p:nvSpPr>
          <p:cNvPr id="10" name="Text 8"/>
          <p:cNvSpPr txBox="1"/>
          <p:nvPr/>
        </p:nvSpPr>
        <p:spPr>
          <a:xfrm>
            <a:off x="548640" y="3291840"/>
            <a:ext cx="6655003" cy="2743200"/>
          </a:xfrm>
          <a:prstGeom prst="rect">
            <a:avLst/>
          </a:prstGeom>
          <a:noFill/>
          <a:ln/>
        </p:spPr>
        <p:txBody>
          <a:bodyPr wrap="square" lIns="0" tIns="0" rIns="0" bIns="0" rtlCol="0" anchor="t"/>
          <a:lstStyle/>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Which three accessibility items would you enforce in code review for the insurance app, and how would you test each?</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The performance page lists things to avoid in build(); which one is most likely in our capture screen today?</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What does "avoid Opacity" actually recommend instead, and why?</a:t>
            </a:r>
            <a:endParaRPr lang="en-US" sz="1400" dirty="0"/>
          </a:p>
          <a:p>
            <a:pPr marL="279400" indent="-279400">
              <a:spcAft>
                <a:spcPts val="800"/>
              </a:spcAft>
              <a:buSzPct val="100000"/>
              <a:buFont typeface="+mj-lt"/>
              <a:buAutoNum type="arabicPeriod" startAt="1"/>
            </a:pPr>
            <a:r>
              <a:rPr lang="en-US" sz="1400" dirty="0">
                <a:solidFill>
                  <a:srgbClr val="1F2933"/>
                </a:solidFill>
                <a:latin typeface="Calibri" pitchFamily="34" charset="0"/>
                <a:ea typeface="Calibri" pitchFamily="34" charset="-122"/>
                <a:cs typeface="Calibri" pitchFamily="34" charset="-120"/>
              </a:rPr>
              <a:t>One thing on either page you think is over-cautious for a form-heavy business app - and why.</a:t>
            </a:r>
            <a:endParaRPr lang="en-US" sz="1400" dirty="0"/>
          </a:p>
        </p:txBody>
      </p:sp>
      <p:sp>
        <p:nvSpPr>
          <p:cNvPr id="11" name="Shape 9"/>
          <p:cNvSpPr/>
          <p:nvPr/>
        </p:nvSpPr>
        <p:spPr>
          <a:xfrm>
            <a:off x="7477963" y="2880360"/>
            <a:ext cx="4162349" cy="3154680"/>
          </a:xfrm>
          <a:prstGeom prst="roundRect">
            <a:avLst>
              <a:gd name="adj" fmla="val 2899"/>
            </a:avLst>
          </a:prstGeom>
          <a:solidFill>
            <a:srgbClr val="FBF6E3"/>
          </a:solidFill>
          <a:ln w="6350">
            <a:solidFill>
              <a:srgbClr val="FBF6E3"/>
            </a:solidFill>
            <a:prstDash val="solid"/>
          </a:ln>
          <a:effectLst>
            <a:outerShdw sx="100000" sy="100000" kx="0" ky="0" algn="bl" rotWithShape="0" blurRad="38100" dist="12700" dir="5400000">
              <a:srgbClr val="000000">
                <a:alpha val="8000"/>
              </a:srgbClr>
            </a:outerShdw>
          </a:effectLst>
        </p:spPr>
      </p:sp>
      <p:sp>
        <p:nvSpPr>
          <p:cNvPr id="12" name="Text 10"/>
          <p:cNvSpPr txBox="1"/>
          <p:nvPr/>
        </p:nvSpPr>
        <p:spPr>
          <a:xfrm>
            <a:off x="7706563" y="3017520"/>
            <a:ext cx="3705149" cy="3657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Then</a:t>
            </a:r>
            <a:endParaRPr lang="en-US" sz="1400" dirty="0"/>
          </a:p>
        </p:txBody>
      </p:sp>
      <p:sp>
        <p:nvSpPr>
          <p:cNvPr id="13" name="Text 11"/>
          <p:cNvSpPr txBox="1"/>
          <p:nvPr/>
        </p:nvSpPr>
        <p:spPr>
          <a:xfrm>
            <a:off x="7706563" y="3429000"/>
            <a:ext cx="3705149" cy="251460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Each person writes their top three a11y items on a sticky note; cluster on the whiteboard; the top cluster becomes the client's definition of done.</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One person answers Q2-Q3.</a:t>
            </a:r>
            <a:endParaRPr lang="en-US" sz="1250" dirty="0"/>
          </a:p>
          <a:p>
            <a:pPr marL="177800" indent="-177800">
              <a:spcAft>
                <a:spcPts val="700"/>
              </a:spcAft>
              <a:buSzPct val="100000"/>
              <a:buChar char="•"/>
            </a:pPr>
            <a:r>
              <a:rPr lang="en-US" sz="1250" dirty="0">
                <a:solidFill>
                  <a:srgbClr val="1F2933"/>
                </a:solidFill>
                <a:latin typeface="Calibri" pitchFamily="34" charset="0"/>
                <a:ea typeface="Calibri" pitchFamily="34" charset="-122"/>
                <a:cs typeface="Calibri" pitchFamily="34" charset="-120"/>
              </a:rPr>
              <a:t>Then the project clinic.</a:t>
            </a:r>
            <a:endParaRPr lang="en-US" sz="1250" dirty="0"/>
          </a:p>
        </p:txBody>
      </p:sp>
      <p:sp>
        <p:nvSpPr>
          <p:cNvPr id="14" name="Text 12"/>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15" name="Text 13"/>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Project clinic: your insurance app on the whiteboard</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facilitation</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Project clinic - questions to open with (write the client's answers on the board)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1. Brands: how many now, how many in 12 months, do they need separate store listings or one app with a picker?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2. Quote engine: on-device rules, API, or both (offline quote, online bind)? Who owns the pricing rules?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3. Auth: broker login? OTP? SSO with an existing identity provider?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4. Existing forms: Form.io schemas to reuse? → WebView + JS channel, or native rebuild?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5. Documents: policy PDFs to download/display/sign? Storage and encryption requirements?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6. Offline: which screens must work without signal? Cache strategy?</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7. Compliance: POPIA/FSCA logging, audit trail of quote changes → ProviderObserver / event log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8. Release cadence: OTA patches (Shorebird) vs store releases; who owns the Apple account?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9. Team: who reviews Dart? Lint + CI gates from day one?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10. Testing: which flows must have integration tests before the first production release?</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Open Q&amp;A against the real project. Write decisions on the board; photograph it; it becomes the first page of the project's ARCHITECTURE.md.</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9445752" y="-1371600"/>
            <a:ext cx="4572000" cy="4572000"/>
          </a:xfrm>
          <a:prstGeom prst="ellipse">
            <a:avLst/>
          </a:prstGeom>
          <a:solidFill>
            <a:srgbClr val="13315C"/>
          </a:solidFill>
          <a:ln w="12700">
            <a:solidFill>
              <a:srgbClr val="13315C"/>
            </a:solidFill>
            <a:prstDash val="solid"/>
          </a:ln>
        </p:spPr>
      </p:sp>
      <p:sp>
        <p:nvSpPr>
          <p:cNvPr id="3" name="Text 1"/>
          <p:cNvSpPr txBox="1"/>
          <p:nvPr/>
        </p:nvSpPr>
        <p:spPr>
          <a:xfrm>
            <a:off x="548640" y="548640"/>
            <a:ext cx="82296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Course close</a:t>
            </a:r>
            <a:endParaRPr lang="en-US" sz="3400" dirty="0"/>
          </a:p>
        </p:txBody>
      </p:sp>
      <p:sp>
        <p:nvSpPr>
          <p:cNvPr id="4" name="Text 2"/>
          <p:cNvSpPr txBox="1"/>
          <p:nvPr/>
        </p:nvSpPr>
        <p:spPr>
          <a:xfrm>
            <a:off x="548640" y="1554480"/>
            <a:ext cx="6583680" cy="41148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Day 1: Dart, async, first app.  Day 2: layout, forms, BrandTheme.  Day 3: Riverpod, sealed state, DI.  Day 4: go_router, dio, SQLite.  Day 5: tests, flavours, signing, CI, stores.</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You built one app end to end and it is signed, tested and in a pipeline.</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The course repo is your template: core + pipeline + lints; delete the quote feature and start.</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Reading habit: the official doc first, then the package README, then Stack Overflow - in that order.</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Definition of done for the insurance app is on the whiteboard photo.</a:t>
            </a:r>
            <a:endParaRPr lang="en-US" sz="1500" dirty="0"/>
          </a:p>
          <a:p>
            <a:pPr marL="177800" indent="-1778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Thank you - and ship something to internal testing within two weeks while it is fresh.</a:t>
            </a:r>
            <a:endParaRPr lang="en-US" sz="1500" dirty="0"/>
          </a:p>
        </p:txBody>
      </p:sp>
      <p:sp>
        <p:nvSpPr>
          <p:cNvPr id="5" name="Shape 3"/>
          <p:cNvSpPr/>
          <p:nvPr/>
        </p:nvSpPr>
        <p:spPr>
          <a:xfrm>
            <a:off x="7589520" y="1554480"/>
            <a:ext cx="4023360" cy="3840480"/>
          </a:xfrm>
          <a:prstGeom prst="roundRect">
            <a:avLst>
              <a:gd name="adj" fmla="val 2381"/>
            </a:avLst>
          </a:prstGeom>
          <a:solidFill>
            <a:srgbClr val="13315C"/>
          </a:solidFill>
          <a:ln w="6350">
            <a:solidFill>
              <a:srgbClr val="13315C"/>
            </a:solidFill>
            <a:prstDash val="solid"/>
          </a:ln>
          <a:effectLst>
            <a:outerShdw sx="100000" sy="100000" kx="0" ky="0" algn="bl" rotWithShape="0" blurRad="38100" dist="12700" dir="5400000">
              <a:srgbClr val="000000">
                <a:alpha val="8000"/>
              </a:srgbClr>
            </a:outerShdw>
          </a:effectLst>
        </p:spPr>
      </p:sp>
      <p:sp>
        <p:nvSpPr>
          <p:cNvPr id="6" name="Text 4"/>
          <p:cNvSpPr txBox="1"/>
          <p:nvPr/>
        </p:nvSpPr>
        <p:spPr>
          <a:xfrm>
            <a:off x="7818120" y="1691640"/>
            <a:ext cx="3657600" cy="365760"/>
          </a:xfrm>
          <a:prstGeom prst="rect">
            <a:avLst/>
          </a:prstGeom>
          <a:noFill/>
          <a:ln/>
        </p:spPr>
        <p:txBody>
          <a:bodyPr wrap="square" lIns="0" tIns="0" rIns="0" bIns="0" rtlCol="0" anchor="ctr"/>
          <a:lstStyle/>
          <a:p>
            <a:pPr indent="0" marL="0">
              <a:buNone/>
            </a:pPr>
            <a:r>
              <a:rPr lang="en-US" sz="1100" dirty="0">
                <a:solidFill>
                  <a:srgbClr val="E3C766"/>
                </a:solidFill>
                <a:latin typeface="Calibri" pitchFamily="34" charset="0"/>
                <a:ea typeface="Calibri" pitchFamily="34" charset="-122"/>
                <a:cs typeface="Calibri" pitchFamily="34" charset="-120"/>
              </a:rPr>
              <a:t>Tomorrow</a:t>
            </a:r>
            <a:endParaRPr lang="en-US" sz="1100" dirty="0"/>
          </a:p>
        </p:txBody>
      </p:sp>
      <p:sp>
        <p:nvSpPr>
          <p:cNvPr id="7" name="Text 5"/>
          <p:cNvSpPr txBox="1"/>
          <p:nvPr/>
        </p:nvSpPr>
        <p:spPr>
          <a:xfrm>
            <a:off x="7818120" y="2103120"/>
            <a:ext cx="3657600" cy="310896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Riverpod: riverpod.dev/docs (code-gen next)</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Flutter docs: docs.flutter.dev/get-started/fwe (Flutter for web/experienced devs)</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Shorebird for OTA patches</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Codemagic docs for iOS from CI</a:t>
            </a:r>
            <a:endParaRPr lang="en-US" sz="1300" dirty="0"/>
          </a:p>
          <a:p>
            <a:pPr marL="177800" indent="-1778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Community: flutter.dev/community, r/FlutterDev, Flutter Forward talks</a:t>
            </a:r>
            <a:endParaRPr lang="en-US" sz="1300" dirty="0"/>
          </a:p>
        </p:txBody>
      </p:sp>
      <p:sp>
        <p:nvSpPr>
          <p:cNvPr id="8" name="Text 6"/>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9" name="Text 7"/>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PLAN B · When it breaks in class</a:t>
            </a:r>
            <a:endParaRPr lang="en-US" sz="3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993002"/>
                <a:gridCol w="709867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If this happens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Do this instead</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GitHub blocked, or a delegate has no account</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Show your own green Actions run on the projector. Delegates commit ci.yml locally and validate the YAML in the editor. Understanding the pipeline is the objective; running it is a bonus.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Keystore or Gradle signing edit fails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950" dirty="0">
                          <a:solidFill>
                            <a:srgbClr val="1F2933"/>
                          </a:solidFill>
                          <a:latin typeface="Courier New" pitchFamily="34" charset="0"/>
                          <a:ea typeface="Courier New" pitchFamily="34" charset="-122"/>
                          <a:cs typeface="Courier New" pitchFamily="34" charset="-120"/>
                        </a:rPr>
                        <a:t>git checkout lab-5-3-solution for the Gradle block, then build. The deliverable is a signed AAB in their hands, not a hand-typed Gradle file.</a:t>
                      </a:r>
                      <a:endParaRPr lang="en-US" sz="95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Play Console / App Store Connect blocked at the venue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Use the screenshot walkthrough in your slides. Capture those screenshots BEFORE Monday from your own consoles - do not rely on live access.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A test will not pass and you cannot see why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Run flutter test --reporter expanded for the full stack. If it is a pumpAndSettle hang, it is the spinner - swap to pump(Duration). That single fix covers most test failures in this course.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Integration test cannot run (no emulator)</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Run it on your machine on the projector; delegates read the test and write it without running. Unit and widget tests are the ones that matter for their daily work.</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Nobody has an Apple Developer account</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The iOS half is view-only from your Mac plus the Codemagic YAML. That is exactly the situation their team is in, so it is a realistic demo, not a compromise.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The clinic dries up / nobody talks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Start with question 1 on the clinic slide and go round the table by name. Then ask the two people who named the insurance project to sketch their current architecture - the room joins in once someone draws.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C9A227"/>
        </a:solidFill>
      </p:bgPr>
    </p:bg>
    <p:spTree>
      <p:nvGrpSpPr>
        <p:cNvPr id="1" name=""/>
        <p:cNvGrpSpPr/>
        <p:nvPr/>
      </p:nvGrpSpPr>
      <p:grpSpPr>
        <a:xfrm>
          <a:off x="0" y="0"/>
          <a:ext cx="0" cy="0"/>
          <a:chOff x="0" y="0"/>
          <a:chExt cx="0" cy="0"/>
        </a:xfrm>
      </p:grpSpPr>
      <p:sp>
        <p:nvSpPr>
          <p:cNvPr id="2" name="Text 0"/>
          <p:cNvSpPr txBox="1"/>
          <p:nvPr/>
        </p:nvSpPr>
        <p:spPr>
          <a:xfrm>
            <a:off x="548640" y="2011680"/>
            <a:ext cx="7315200" cy="457200"/>
          </a:xfrm>
          <a:prstGeom prst="rect">
            <a:avLst/>
          </a:prstGeom>
          <a:noFill/>
          <a:ln/>
        </p:spPr>
        <p:txBody>
          <a:bodyPr wrap="square" lIns="0" tIns="0" rIns="0" bIns="0" rtlCol="0" anchor="ctr"/>
          <a:lstStyle/>
          <a:p>
            <a:pPr indent="0" marL="0">
              <a:buNone/>
            </a:pPr>
            <a:r>
              <a:rPr lang="en-US" sz="1400" spc="400" kern="0" dirty="0">
                <a:solidFill>
                  <a:srgbClr val="0B2545"/>
                </a:solidFill>
                <a:latin typeface="Calibri" pitchFamily="34" charset="0"/>
                <a:ea typeface="Calibri" pitchFamily="34" charset="-122"/>
                <a:cs typeface="Calibri" pitchFamily="34" charset="-120"/>
              </a:rPr>
              <a:t>APPENDIX</a:t>
            </a:r>
            <a:endParaRPr lang="en-US" sz="1400" dirty="0"/>
          </a:p>
        </p:txBody>
      </p:sp>
      <p:sp>
        <p:nvSpPr>
          <p:cNvPr id="3" name="Text 1"/>
          <p:cNvSpPr txBox="1"/>
          <p:nvPr/>
        </p:nvSpPr>
        <p:spPr>
          <a:xfrm>
            <a:off x="548640" y="2468880"/>
            <a:ext cx="10058400" cy="1097280"/>
          </a:xfrm>
          <a:prstGeom prst="rect">
            <a:avLst/>
          </a:prstGeom>
          <a:noFill/>
          <a:ln/>
        </p:spPr>
        <p:txBody>
          <a:bodyPr wrap="square" lIns="0" tIns="0" rIns="0" bIns="0" rtlCol="0" anchor="ctr"/>
          <a:lstStyle/>
          <a:p>
            <a:pPr indent="0" marL="0">
              <a:buNone/>
            </a:pPr>
            <a:r>
              <a:rPr lang="en-US" sz="4000" b="1" dirty="0">
                <a:solidFill>
                  <a:srgbClr val="0B2545"/>
                </a:solidFill>
                <a:latin typeface="Calibri" pitchFamily="34" charset="0"/>
                <a:ea typeface="Calibri" pitchFamily="34" charset="-122"/>
                <a:cs typeface="Calibri" pitchFamily="34" charset="-120"/>
              </a:rPr>
              <a:t>Day 5 reference</a:t>
            </a:r>
            <a:endParaRPr lang="en-US" sz="4000" dirty="0"/>
          </a:p>
        </p:txBody>
      </p:sp>
      <p:sp>
        <p:nvSpPr>
          <p:cNvPr id="4" name="Text 2"/>
          <p:cNvSpPr txBox="1"/>
          <p:nvPr/>
        </p:nvSpPr>
        <p:spPr>
          <a:xfrm>
            <a:off x="548640" y="3566160"/>
            <a:ext cx="10058400" cy="731520"/>
          </a:xfrm>
          <a:prstGeom prst="rect">
            <a:avLst/>
          </a:prstGeom>
          <a:noFill/>
          <a:ln/>
        </p:spPr>
        <p:txBody>
          <a:bodyPr wrap="square" lIns="0" tIns="0" rIns="0" bIns="0" rtlCol="0" anchor="ctr"/>
          <a:lstStyle/>
          <a:p>
            <a:pPr indent="0" marL="0">
              <a:buNone/>
            </a:pPr>
            <a:r>
              <a:rPr lang="en-US" sz="1600" dirty="0">
                <a:solidFill>
                  <a:srgbClr val="0B2545"/>
                </a:solidFill>
                <a:latin typeface="Calibri" pitchFamily="34" charset="0"/>
                <a:ea typeface="Calibri" pitchFamily="34" charset="-122"/>
                <a:cs typeface="Calibri" pitchFamily="34" charset="-120"/>
              </a:rPr>
              <a:t>A · Test solutions   B · Flavour files   C · iOS release from the Mac   D · Groovy signing   E · CI extras   F · Form.io bridge   G · Troubleshooting   H · Links</a:t>
            </a:r>
            <a:endParaRPr lang="en-US" sz="1600" dirty="0"/>
          </a:p>
        </p:txBody>
      </p:sp>
      <p:sp>
        <p:nvSpPr>
          <p:cNvPr id="5" name="Text 3"/>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6" name="Text 4"/>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 · Lab 5.1 - widget test with Riverpod overrides (full)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test/capture_screen_test.dart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Widget test with Riverpod: override the service, drive the whole 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The Day 4 CaptureScreen navigates on QuoteLoaded, so give it a small test router.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testWidgets('submit navigates to the result with a PremiumCard', (tester) async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SharedPreferences.setMockInitialValues({'onboarded': true});   // no platform channel in tests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final router = GoRouter(routes: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GoRoute(path: '/', builder: (_, __) =&gt; const CaptureScreen()),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GoRoute(path: '/quote/result/:id', builder: (_, s) =&gt; ResultScreen(id: s.pathParameters['id']!)),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tester.pumpWidget(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ProviderScope(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overrides: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quoteServiceProvider.overrideWithValue(FakeQuoteService()),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sharedPrefsProvider.overrideWithValue(await SharedPreferences.getInstance()),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routerProvider.overrideWithValue(router),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child: MaterialApp.router(routerConfig: router),</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A · Lab 5.1 - widget test with Riverpod overrides (full)  (2/2)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test/capture_screen_test.dart</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'Vehicle make'), 'VW');</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tester.enterText(find.widgetWithText(TextFormField, 'Year'), '2020');</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…date…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tester.tap(find.text('Get quote'));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                                      // Loading</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expect(find.byType(CircularProgressIndicator), findsOneWidget);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tester.pump(const Duration(seconds: 2));            // let the fake's delay elapse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await tester.pumpAndSettle();                             // route transition (finite animation)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expect(find.byType(PremiumCard), findsOneWidget);         // now on ResultScreen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pumpAndSettle hangs while an infinite spinner is on screen - pump(duration) past it first.</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B · Lab 5.2 - icons and splash per brand</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pubspec.yaml · terminal</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App icons and splash without opening Xcode / Android Studio</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 pub add --dev flutter_launcher_icons flutter_native_splash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pubspec.yaml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flutter_launcher_icons: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android: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ios: true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image_path: "assets/brands/alpha_icon.png"      # 1024×1024 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adaptive_icon_background: "#0B2545"</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adaptive_icon_foreground: "assets/brands/alpha_fg.png"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flutter_native_splash:</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 "#0B2545"</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image: assets/brands/alpha_logo.png</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android_12:</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color: "#0B2545"</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dart run flutter_launcher_icons</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dart run flutter_native_splash:create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per brand: keep one config file per flavour, e.g. flutter_launcher_icons-alpha.yaml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dart run flutter_launcher_icons -f flutter_launcher_icons-alpha.yaml</a:t>
            </a:r>
            <a:endParaRPr lang="en-US" sz="10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C · iOS release from the Mac</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terminal (macOS)</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From the Mac only (Windows cannot do this step)</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open ios/Runner.xcworkspace                 # set Team + Bundle ID under Signing &amp; Capabilities once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flutter build ipa --release --flavor alpha --dart-define-from-file=config/alpha.json</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 build/ios/ipa/quote_app.ipa  and  build/ios/archive/Runner.xcarchive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Upload: Xcode → Window → Organizer → Distribute App → App Store Connect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or the Transporter app (Mac App Store) - drag the .ipa in. (altool upload is deprecated.)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TestFlight processes in ~10-30 min, then testers get the build.</a:t>
            </a:r>
            <a:endParaRPr lang="en-US" sz="11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Windows cannot run this. Codemagic or a GitHub Actions macos runner replaces it for the team.</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D · Groovy signing block (older build.gradle)  (1/2)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android/app/build.gradle · .gitignore</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android/app/build.gradle (Groovy)</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def keystoreProperties = new Properties()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def keystorePropertiesFile = rootProject.file('key.properties')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if (keystorePropertiesFile.exists())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keystoreProperties.load(new FileInputStream(keystorePropertiesFile))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android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signingConfigs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release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keyAlias keystoreProperties['keyAlias']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keyPassword keystoreProperties['keyPassword']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storeFile keystoreProperties['storeFile'] ? file(keystoreProperties['storeFile']) : null</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storePassword keystoreProperties['storePassword']</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D · Groovy signing block (older build.gradle)  (2/2)</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android/app/build.gradle · .gitignore</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buildTypes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release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signingConfig signingConfigs.release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minifyEnabled true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shrinkResources true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proguardFiles getDefaultProguardFile('proguard-android-optimize.txt'), 'proguard-rules.pro'</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 .gitignore additions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android/key.properties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*.jks</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*.keystore</a:t>
            </a:r>
            <a:endParaRPr lang="en-US" sz="1100" dirty="0"/>
          </a:p>
          <a:p>
            <a:pPr indent="0" marL="0">
              <a:lnSpc>
                <a:spcPct val="105000"/>
              </a:lnSpc>
              <a:buNone/>
            </a:pPr>
            <a:r>
              <a:rPr lang="en-US" sz="1100" dirty="0">
                <a:solidFill>
                  <a:srgbClr val="E2E8F0"/>
                </a:solidFill>
                <a:latin typeface="Courier New" pitchFamily="34" charset="0"/>
                <a:ea typeface="Courier New" pitchFamily="34" charset="-122"/>
                <a:cs typeface="Courier New" pitchFamily="34" charset="-120"/>
              </a:rPr>
              <a:t>config/*.local.json</a:t>
            </a:r>
            <a:endParaRPr lang="en-US" sz="11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E · CI extras: emulator integration tests, Play upload</a:t>
            </a:r>
            <a:endParaRPr lang="en-US" sz="3000" dirty="0"/>
          </a:p>
        </p:txBody>
      </p:sp>
      <p:sp>
        <p:nvSpPr>
          <p:cNvPr id="3" name="Shape 1"/>
          <p:cNvSpPr/>
          <p:nvPr/>
        </p:nvSpPr>
        <p:spPr>
          <a:xfrm>
            <a:off x="548640" y="1325880"/>
            <a:ext cx="11091672" cy="4846320"/>
          </a:xfrm>
          <a:prstGeom prst="roundRect">
            <a:avLst>
              <a:gd name="adj" fmla="val 150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.github/workflows/ci.yml (additions)</a:t>
            </a:r>
            <a:endParaRPr lang="en-US" sz="800" dirty="0"/>
          </a:p>
        </p:txBody>
      </p:sp>
      <p:sp>
        <p:nvSpPr>
          <p:cNvPr id="5" name="Text 3"/>
          <p:cNvSpPr txBox="1"/>
          <p:nvPr/>
        </p:nvSpPr>
        <p:spPr>
          <a:xfrm>
            <a:off x="685800" y="1435608"/>
            <a:ext cx="10817352" cy="4626864"/>
          </a:xfrm>
          <a:prstGeom prst="rect">
            <a:avLst/>
          </a:prstGeom>
          <a:noFill/>
          <a:ln/>
        </p:spPr>
        <p:txBody>
          <a:bodyPr wrap="square" lIns="0" tIns="0" rIns="0" bIns="0" rtlCol="0" anchor="t"/>
          <a:lstStyle/>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Integration tests on an emulator in GitHub Actions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integration:</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runs-on: ubuntu-latest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steps: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actions/checkout@v4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subosito/flutter-action@v2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with: { channel: stable, cache: true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name: Enable KVM</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run: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echo 'KERNEL=="kvm", GROUP="kvm", MODE="0666", OPTIONS+="static_node=kvm"' | sudo tee /etc/udev/rules.d/99-kvm4all.rules</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sudo udevadm control --reload-rules &amp;&amp; sudo udevadm trigger --name-match=kvm</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reactivecircus/android-emulator-runner@v2</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with:</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api-level: 34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arch: x86_64</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script: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dart run tool/mock_server.dart &amp;</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flutter test integration_test --dart-define=API_URL=http://10.0.2.2:8080</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Upload to Play internal testing (service account JSON in a secret)</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 uses: r0adkll/upload-google-play@v1</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with:</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serviceAccountJsonPlainText: ${{ secrets.PLAY_SERVICE_ACCOUNT_JSON }}</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packageName: za.co.moint.quote_app.alpha</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releaseFiles: build/app/outputs/bundle/alphaRelease/app-alpha-release.aab</a:t>
            </a:r>
            <a:endParaRPr lang="en-US" sz="900" dirty="0"/>
          </a:p>
          <a:p>
            <a:pPr indent="0" marL="0">
              <a:lnSpc>
                <a:spcPct val="105000"/>
              </a:lnSpc>
              <a:buNone/>
            </a:pPr>
            <a:r>
              <a:rPr lang="en-US" sz="900" dirty="0">
                <a:solidFill>
                  <a:srgbClr val="E2E8F0"/>
                </a:solidFill>
                <a:latin typeface="Courier New" pitchFamily="34" charset="0"/>
                <a:ea typeface="Courier New" pitchFamily="34" charset="-122"/>
                <a:cs typeface="Courier New" pitchFamily="34" charset="-120"/>
              </a:rPr>
              <a:t>          track: internal</a:t>
            </a:r>
            <a:endParaRPr lang="en-US" sz="900" dirty="0"/>
          </a:p>
        </p:txBody>
      </p:sp>
      <p:sp>
        <p:nvSpPr>
          <p:cNvPr id="6" name="Text 4"/>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7" name="Text 5"/>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F · Form.io in a WebView with a JavaScript bridge (stretch)</a:t>
            </a:r>
            <a:endParaRPr lang="en-US" sz="3000" dirty="0"/>
          </a:p>
        </p:txBody>
      </p:sp>
      <p:sp>
        <p:nvSpPr>
          <p:cNvPr id="3" name="Shape 1"/>
          <p:cNvSpPr/>
          <p:nvPr/>
        </p:nvSpPr>
        <p:spPr>
          <a:xfrm>
            <a:off x="548640" y="1325880"/>
            <a:ext cx="11091672" cy="4206240"/>
          </a:xfrm>
          <a:prstGeom prst="roundRect">
            <a:avLst>
              <a:gd name="adj" fmla="val 1739"/>
            </a:avLst>
          </a:prstGeom>
          <a:solidFill>
            <a:srgbClr val="0F172A"/>
          </a:solidFill>
          <a:ln w="12700">
            <a:solidFill>
              <a:srgbClr val="0F172A"/>
            </a:solidFill>
            <a:prstDash val="solid"/>
          </a:ln>
        </p:spPr>
      </p:sp>
      <p:sp>
        <p:nvSpPr>
          <p:cNvPr id="4" name="Text 2"/>
          <p:cNvSpPr txBox="1"/>
          <p:nvPr/>
        </p:nvSpPr>
        <p:spPr>
          <a:xfrm>
            <a:off x="10177272" y="1380744"/>
            <a:ext cx="1371600" cy="228600"/>
          </a:xfrm>
          <a:prstGeom prst="rect">
            <a:avLst/>
          </a:prstGeom>
          <a:noFill/>
          <a:ln/>
        </p:spPr>
        <p:txBody>
          <a:bodyPr wrap="square" lIns="0" tIns="0" rIns="0" bIns="0" rtlCol="0" anchor="ctr"/>
          <a:lstStyle/>
          <a:p>
            <a:pPr algn="r" indent="0" marL="0">
              <a:buNone/>
            </a:pPr>
            <a:r>
              <a:rPr lang="en-US" sz="800" dirty="0">
                <a:solidFill>
                  <a:srgbClr val="E3C766"/>
                </a:solidFill>
                <a:latin typeface="Calibri" pitchFamily="34" charset="0"/>
                <a:ea typeface="Calibri" pitchFamily="34" charset="-122"/>
                <a:cs typeface="Calibri" pitchFamily="34" charset="-120"/>
              </a:rPr>
              <a:t>Dart (webview_flutter)</a:t>
            </a:r>
            <a:endParaRPr lang="en-US" sz="800" dirty="0"/>
          </a:p>
        </p:txBody>
      </p:sp>
      <p:sp>
        <p:nvSpPr>
          <p:cNvPr id="5" name="Text 3"/>
          <p:cNvSpPr txBox="1"/>
          <p:nvPr/>
        </p:nvSpPr>
        <p:spPr>
          <a:xfrm>
            <a:off x="685800" y="1435608"/>
            <a:ext cx="10817352" cy="3986784"/>
          </a:xfrm>
          <a:prstGeom prst="rect">
            <a:avLst/>
          </a:prstGeom>
          <a:noFill/>
          <a:ln/>
        </p:spPr>
        <p:txBody>
          <a:bodyPr wrap="square" lIns="0" tIns="0" rIns="0" bIns="0" rtlCol="0" anchor="t"/>
          <a:lstStyle/>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Stretch: render an existing Form.io form in a WebView and receive the submission in Dart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flutter pub add webview_flutter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late final WebViewController _ctrl;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@override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void initState()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super.initState();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_ctrl = WebViewController()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..setJavaScriptMode(JavaScriptMode.unrestricted)</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..addJavaScriptChannel('FlutterBridge', onMessageReceived: (msg)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final submission = jsonDecode(msg.message) as Map&lt;String, dynamic&gt;;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widget.onSubmitted(submission);                 // hand to a notifier</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..loadHtmlString(_html);                          // or loadRequest(Uri.parse(formUrl))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inside the page's JS after Formio.createForm(...):</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form.on('submit', s =&gt; FlutterBridge.postMessage(JSON.stringify(s.data)));</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@override</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Widget build(BuildContext context) =&gt; WebViewWidget(controller: _ctrl);</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a:t>
            </a:r>
            <a:endParaRPr lang="en-US" sz="1000" dirty="0"/>
          </a:p>
          <a:p>
            <a:pPr indent="0" marL="0">
              <a:lnSpc>
                <a:spcPct val="105000"/>
              </a:lnSpc>
              <a:buNone/>
            </a:pPr>
            <a:r>
              <a:rPr lang="en-US" sz="1000" dirty="0">
                <a:solidFill>
                  <a:srgbClr val="E2E8F0"/>
                </a:solidFill>
                <a:latin typeface="Courier New" pitchFamily="34" charset="0"/>
                <a:ea typeface="Courier New" pitchFamily="34" charset="-122"/>
                <a:cs typeface="Courier New" pitchFamily="34" charset="-120"/>
              </a:rPr>
              <a:t>// Headless rules engine instead: flutter_js (QuickJS) to run the same JS pricing rules on-device.</a:t>
            </a:r>
            <a:endParaRPr lang="en-US" sz="1000" dirty="0"/>
          </a:p>
        </p:txBody>
      </p:sp>
      <p:sp>
        <p:nvSpPr>
          <p:cNvPr id="6" name="Text 4"/>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200" dirty="0">
                <a:solidFill>
                  <a:srgbClr val="5B6773"/>
                </a:solidFill>
                <a:latin typeface="Calibri" pitchFamily="34" charset="0"/>
                <a:ea typeface="Calibri" pitchFamily="34" charset="-122"/>
                <a:cs typeface="Calibri" pitchFamily="34" charset="-120"/>
              </a:rPr>
              <a:t>Renders existing Form.io forms unchanged and hands the submission JSON to Dart. flutter_js for a headless rules engine if pricing rules live in JS.</a:t>
            </a:r>
            <a:endParaRPr lang="en-US" sz="1200" dirty="0"/>
          </a:p>
        </p:txBody>
      </p:sp>
      <p:sp>
        <p:nvSpPr>
          <p:cNvPr id="7" name="Text 5"/>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8" name="Text 6"/>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G · Troubleshooting: symptom → fix</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71168"/>
                <a:gridCol w="3105668"/>
                <a:gridCol w="4214835"/>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Symptom</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Cause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Fix</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pumpAndSettle times out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Infinite animation on screen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Use pump(Duration)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"No MaterialLocalizations found" in a test</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No MaterialApp ancestor</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Wrap widget under test in MaterialApp(home: Scaffold(...))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"registerFallbackValue" error</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any() on a custom type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ourier New" pitchFamily="34" charset="0"/>
                          <a:ea typeface="Courier New" pitchFamily="34" charset="-122"/>
                          <a:cs typeface="Courier New" pitchFamily="34" charset="-120"/>
                        </a:rPr>
                        <a:t>setUpAll(() =&gt; registerFallbackValue(FakeX()))</a:t>
                      </a:r>
                      <a:endParaRPr lang="en-US" sz="900" dirty="0">
                        <a:latin typeface="Courier New" charset="0"/>
                        <a:ea typeface="Courier New" charset="0"/>
                        <a:cs typeface="Courier New"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"You must specify a --flavor"</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Flavours defined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Add --flavor alpha</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Kotlin script compile error in build.gradle.kts</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Syntax / wrong DSL</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Match KTS vs Groovy to the file; check braces</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"Keystore file not found"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storeFile path</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Absolute path; Windows: C:\\Users\\... or forward slashes</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Release app crashes, debug works</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Minify stripped a class</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Add keep rules to proguard-rules.pro; or isMinifyEnabled = false to confirm</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CI: "flutter: command not found"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Missing/misordered flutter-action</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Put subosito/flutter-action before any flutter step</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CI: Gradle Java version error</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No JDK 17</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Add actions/setup-java@v4 with temurin 17</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Play: "version code already used"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Same +N uploaded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Bump version: x.y.z+N and rebuild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App Store: "Missing Compliance"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Export compliance</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Add ITSAppUsesNonExemptEncryption = false to Info.plist (if true, it is false for standard https)</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TalkBack stuck on after demo</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Accessibility service left enabled</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Settings → Accessibility → TalkBack off, or adb settings put secure enabled_accessibility_services ""</a:t>
                      </a:r>
                      <a:endParaRPr lang="en-US" sz="100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731520"/>
          </a:xfrm>
          <a:prstGeom prst="rect">
            <a:avLst/>
          </a:prstGeom>
          <a:noFill/>
          <a:ln/>
        </p:spPr>
        <p:txBody>
          <a:bodyPr wrap="square" lIns="0" tIns="0" rIns="0" bIns="0" rtlCol="0" anchor="ctr"/>
          <a:lstStyle/>
          <a:p>
            <a:pPr indent="0" marL="0">
              <a:buNone/>
            </a:pPr>
            <a:r>
              <a:rPr lang="en-US" sz="3000" b="1" dirty="0">
                <a:solidFill>
                  <a:srgbClr val="0B2545"/>
                </a:solidFill>
                <a:latin typeface="Calibri" pitchFamily="34" charset="0"/>
                <a:ea typeface="Calibri" pitchFamily="34" charset="-122"/>
                <a:cs typeface="Calibri" pitchFamily="34" charset="-120"/>
              </a:rPr>
              <a:t>H · Links used today</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327502"/>
                <a:gridCol w="776417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Topic</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0B2545"/>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Testing</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docs.flutter.dev/testing/overview  ·  docs.flutter.dev/cookbook/testing  ·  docs.flutter.dev/testing/integration-tests  ·  pub.dev/packages/mocktail</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Riverpod testing</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riverpod.dev/docs/essentials/testing</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Flavours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docs.flutter.dev/deployment/flavors  ·  pub.dev/packages/flutter_flavorizr  ·  docs.flutter.dev/deployment/flavors-ios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dart-define-from-file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docs.flutter.dev/deployment/flavors (Configuring flavors) · flutter build --help</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Android release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docs.flutter.dev/deployment/android  ·  developer.android.com/studio/publish/app-signing</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iOS release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docs.flutter.dev/deployment/ios  ·  developer.apple.com/app-store/review/guidelines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Play Console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play.google.com/console  ·  support.google.com/googleplay/android-developer/answer/9859152 (data safety)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CI/CD</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docs.flutter.dev/deployment/cd  ·  github.com/subosito/flutter-action  ·  docs.codemagic.io/yaml-quick-start/building-a-flutter-app</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Icons &amp; splash</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pub.dev/packages/flutter_launcher_icons  ·  pub.dev/packages/flutter_native_splash</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Accessibility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docs.flutter.dev/ui/accessibility-and-internationalization/accessibility</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Performance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docs.flutter.dev/perf/best-practices  ·  docs.flutter.dev/tools/devtools/performance</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Lints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dart.dev/tools/linter-rules  ·  pub.dev/packages/riverpod_lint</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OTA &amp; Form.io</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shorebird.dev  ·  pub.dev/packages/webview_flutter  ·  pub.dev/packages/flutter_js</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2933"/>
                          </a:solidFill>
                          <a:latin typeface="Calibri" pitchFamily="34" charset="0"/>
                          <a:ea typeface="Calibri" pitchFamily="34" charset="-122"/>
                          <a:cs typeface="Calibri" pitchFamily="34" charset="-120"/>
                        </a:rPr>
                        <a:t>Course repo</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github.com/&lt;org&gt;/flutter-quote-app - branches lab-5-1-start … lab-5-3-solution</a:t>
                      </a:r>
                      <a:endParaRPr lang="en-US" sz="1050" dirty="0">
                        <a:latin typeface="Calibri" charset="0"/>
                        <a:ea typeface="Calibri" charset="0"/>
                        <a:cs typeface="Calibri" charset="0"/>
                      </a:endParaRPr>
                    </a:p>
                  </a:txBody>
                  <a:tcPr marL="54864" marR="54864" marT="54864" marB="54864"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3F5F8"/>
                    </a:solidFill>
                  </a:tcPr>
                </a:tc>
              </a:tr>
            </a:tbl>
          </a:graphicData>
        </a:graphic>
      </p:graphicFrame>
      <p:sp>
        <p:nvSpPr>
          <p:cNvPr id="4" name="Text 1"/>
          <p:cNvSpPr txBox="1"/>
          <p:nvPr/>
        </p:nvSpPr>
        <p:spPr>
          <a:xfrm>
            <a:off x="548640" y="6473952"/>
            <a:ext cx="9994392" cy="274320"/>
          </a:xfrm>
          <a:prstGeom prst="rect">
            <a:avLst/>
          </a:prstGeom>
          <a:noFill/>
          <a:ln/>
        </p:spPr>
        <p:txBody>
          <a:bodyPr wrap="square" lIns="0" tIns="0" rIns="0" bIns="0" rtlCol="0" anchor="ctr"/>
          <a:lstStyle/>
          <a:p>
            <a:pPr indent="0" marL="0">
              <a:buNone/>
            </a:pPr>
            <a:r>
              <a:rPr lang="en-US" sz="900" dirty="0">
                <a:solidFill>
                  <a:srgbClr val="5B6773"/>
                </a:solidFill>
                <a:latin typeface="Calibri" pitchFamily="34" charset="0"/>
                <a:ea typeface="Calibri" pitchFamily="34" charset="-122"/>
                <a:cs typeface="Calibri" pitchFamily="34" charset="-120"/>
              </a:rPr>
              <a:t>MO Integrations · Flutter Training · Day 5 - Testing, CI/CD &amp; Shipping</a:t>
            </a:r>
            <a:endParaRPr lang="en-US" sz="900" dirty="0"/>
          </a:p>
        </p:txBody>
      </p:sp>
      <p:sp>
        <p:nvSpPr>
          <p:cNvPr id="5" name="Text 2"/>
          <p:cNvSpPr txBox="1"/>
          <p:nvPr/>
        </p:nvSpPr>
        <p:spPr>
          <a:xfrm>
            <a:off x="10543032" y="6473952"/>
            <a:ext cx="1097280" cy="274320"/>
          </a:xfrm>
          <a:prstGeom prst="rect">
            <a:avLst/>
          </a:prstGeom>
          <a:noFill/>
          <a:ln/>
        </p:spPr>
        <p:txBody>
          <a:bodyPr wrap="square" lIns="0" tIns="0" rIns="0" bIns="0" rtlCol="0" anchor="ctr"/>
          <a:lstStyle/>
          <a:p>
            <a:pPr algn="r" indent="0" marL="0">
              <a:buNone/>
            </a:pPr>
            <a:r>
              <a:rPr lang="en-US" sz="900" dirty="0">
                <a:solidFill>
                  <a:srgbClr val="5B6773"/>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Flutter Day 5 - Testing, CI/CD &amp; Shipping</dc:title>
  <dc:subject>MO Integrations Flutter Training</dc:subject>
  <dc:creator>MO Integrations</dc:creator>
  <cp:lastModifiedBy>MO Integrations</cp:lastModifiedBy>
  <cp:revision>1</cp:revision>
  <dcterms:created xsi:type="dcterms:W3CDTF">2026-09-06T15:57:32Z</dcterms:created>
  <dcterms:modified xsi:type="dcterms:W3CDTF">2026-09-06T15:57:32Z</dcterms:modified>
</cp:coreProperties>
</file>