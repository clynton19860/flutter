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Yesterday you learned the language and ran an app. Today is the survey's biggest UI gap: building interfaces confidently. Sixty percent of today is you typing.
OPENER (before this slide is even discussed): the constraints homework. Three delegates at the whiteboard, one question each. Do not open a laptop until that is done. Slide 3 is the debrief.
PRESENTER CHECKLIST: emulator running; quote_app open at lab-2-start; DevTools open on a second display with Layout Explorer tab visible; Windows column ready on each command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Four blocks, three labs, and each lab builds the same screen: the quote capture screen. By 16:00 the app has a real form, validation and two brand themes you can toggle live.
TIMING: block 2 is the one to protect. If block 1 runs long, cut the buttons table (slide 9) - it is reference material. PRE-FLIGHT 08:45: every lab today needs a working build, unlike Day 1 where 1.2 and 1.3 were DartPad. Confirm one machine still builds before you start. If the sdkmanager NDK crash is back, pin ndkVersion in android/app/build.gradle.kts to an NDK version that is actually installed, then flutter clean. Fallback for any machine that will not build: flutter run -d chrome, which works for every lab today. ALSO: Lab 2.3 step 3 is a partial snippet, delegates merge it into their existing capture_screen.dart. Say that from the 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This slide is the debrief AFTER the three delegates have presented. Confirm or correct each answer with the code on the right. Do not lecture the rule again if they got it right - say "correct" and move on. If nobody read the doc, run the first four examples on docs.flutter.dev/ui/layout/constraints live in DartPad instead.
DEMO: Container(color: amber) directly in Scaffold body → fills the screen. Wrap in Center → STILL fills (loose but bounded; a child-less Container expands). Put it inside a Column → disappears (unbounded main axis → 0 height). Give it width/height → shows at that size anywhere. Four hot reloads, whole rule demonstrated. This matches examples 1-3 and the Column examples in the official constraints doc.
LINK: docs.flutter.dev/ui/layout/constraints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Short module; most of these widgets you met yesterday. The value is the button table (which one when) and the Stateless/Stateful decision rule, plus two habits: Extract Widget and const.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Container composes Padding + Align + DecoratedBox + ConstrainedBox. It is convenient, and the analyser will nag you when a simpler widget would do (e.g. "use SizedBox for whitespace").
GOTCHA: color: and decoration: together throws an assertion. Put the color inside BoxDecoration.
GOTCHA: alignment makes Container expand to the parent's max constraints - that surprises people when a "small" card suddenly fills the screen.
DEMO: hot reload each property in turn; keep the emulator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Reference slide. The rule for buttons in Material 3: one FilledButton per screen for the main action, OutlinedButton or FilledButton.tonal for secondary, TextButton for tertiary. That mirrors the capture form: Get quote (filled), Reset (outlined), Terms (text).
onPressed: null disables. That is how we disable "Get quote" until the form is valid if we want to.
tooltip on IconButton: screen readers announce it; also required by the accessibility lint on Day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The question comes up on every screen. Give them the rule: Stateless by default; Stateful only for controllers and purely local UI state; shared/business state goes to state management (Day 3).
The "two widgets" test: if two widgets need the same value, it is not local state. Lift it or provide it.
Tomorrow we move the brand toggle out of QuoteApp's State into a Riverpod provider - that is the worked example of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Demo Extract Widget live on the Day 1 capture screen: select the SegmentedButton, Ctrl+. → Extract Widget → CoverPicker. Show the generated class. Then run dart fix --dry-run in the terminal and show the const suggestions, then dart fix --apply.
CLASS vs METHOD: a senior dev will ask "why not a private method?". Answer: methods rebuild whenever the parent rebuilds and cannot be const; classes get their own element and can skip rebuilds. Also easier to test and to move.
KEYS: preview only; Dismissible in the lists module is where they see the real need.
COMMANDS (identical both OS): dart fix --dry-run · dart fix --apply · dart format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The survey's biggest gap. Slow down here. Every slide has a live demo; every concept gets broken and fixed on the projector before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Flexbox people: Row = flex-direction row; mainAxisAlignment = justify-content; crossAxisAlignment = align-items; Expanded = flex: 1. The difference is that a Row's children with no Expanded get unbounded width - which is why long Text overflows unless wrapped in Expanded.
DEMO: build this Row live; remove Expanded from the Text and show the overflow stripes; put it back.
CrossAxisAlignment.stretch on a Column makes buttons full width - the pattern for every form in this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Break each one live, then fix it. In order:
1. RenderFlex overflowed - Row/Column child bigger than the flex. Fix: Expanded (bounded width) or SingleChildScrollView (make the axis scrollable).
2. Vertical viewport unbounded height - ListView inside Column. The Column offers infinite height; ListView needs a bound. Fix: Expanded; or shrinkWrap for tiny lists (it is O(n) layout; do not use for long lists).
3. ParentDataWidget - Expanded outside a Flex. Fix: move it.
4. Infinite width - TextField in a Row. TextField wants to fill width; Row gives infinity. Fix: Expanded.
LAYOUT EXPLORER: open DevTools → Flutter Inspector → Layout Explorer → select the Row. Show the flex factors and the overflow visually. This is the moment to teach the tool.
PRESENTER: you rehearsed all four on Saturday. Keep the broken versions as separate files so the demo is a file switch, not live typing.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The brand header in Lab 2.1 uses this: a coloured card, a title positioned top-left, a chip hanging off the bottom edge with a negative bottom (needs clipBehavior: Clip.none), and a watermark icon via Positioned.fill + Align.
GOTCHA: a Stack with only Positioned children has no size - give it a SizedBox or use StackFit.expand.
CSS mapping: Stack = position: relative container; Positioned = position: absolute.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MediaQuery gives the screen; LayoutBuilder gives your slot. Inside a Row or a dialog, the screen size is the wrong number - use LayoutBuilder. The capture screen goes two-column at 700 px, which you can demo by rotating the emulator (Ctrl+Left/Right on Windows, Cmd+Left/Right on Mac in the emulator toolbar).
TEXT SCALING: on Day 5 accessibility we test at 200%; anything with a fixed height around text breaks. Say it now.
sizeOf vs of: MediaQuery.of(context) rebuilds on any MediaQuery change (keyboard, padding); sizeOf only on size. Flutter 3.10+.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the catalogue is large and people default to Container for everything. A ten-minute scan with a "find one you did not know" rule builds vocabulary faster than a slide per widget.
EXPECTED: Wrap flows children onto new lines (chips, tags); Row never wraps. Align takes any alignment; Center is Align(center). SizedBox forces a size; ConstrainedBox adds min/max. Q4: GridView.builder with SliverGridDelegateWithMaxCrossAxisExtent (reflowing grid); Scaffold.bottomNavigationBar / persistentFooterButtons or a Column with Expanded body + fixed footer (pinned total).
NO-REPEAT RULE keeps the last people engaged; with 20 delegates cap the round at 12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LAB: 35 minutes. Circulate with one question: "who gave that widget its constraints?" - do not fix layouts for people; ask that question until they fix it.
CHECKPOINTS: 10 min header shows; 20 min LayoutBuilder switching; 30 min the ListView error triggered and fixed.
COMMON ERRORS: Stack with only Positioned children has zero size → give the Container a height. Chip clipped → clipBehavior: Clip.none on the Stack. Landscape emulator does not rotate → enable auto-rotate in the emulator's quick settings, or use Ctrl/Cmd+Left.
EMULATOR ROTATE: toolbar buttons on the right of the emulator window, or Ctrl+Left / Ctrl+Right (Windows), Cmd+Left / Cmd+Right (Mac).
SOLUTION: Appendix B, branch lab-2-1-solution.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Lists first (20 min), then forms (the rest). The form we build is the real capture form; tomorrow it gets a Riverpod notifier, Thursday it hits an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FlatList / RecyclerView / virtual scrolling - same idea. builder creates rows on demand.
DISMISSIBLE GOTCHA: "A dismissed Dismissible widget is still part of the tree" - that assertion fires when you did not remove the item from the list in onDismissed. The key must identify the item (ValueKey(q.id)), never the index.
separated: gives you a separatorBuilder - cleaner than adding SizedBox inside each item.
This widget appears again on Day 4 wired to SQLite.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The grid is the "cover options" answer from the reading slide. MaxCrossAxisExtent means "as many 220-px columns as fit" - phone gets 1-2, tablet 3-4, no breakpoint code.
RefreshIndicator and ScrollController are on the next code; show them briefly in the appendix snippet (Appendix C) if asked.
Slivers: mention that SliverAppBar gives the collapsing header effect; it is a Day-5 stretch, not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React Hook Form / Angular Reactive Forms people: Form + GlobalKey is the form group; validators are per-field functions; controllers are the value accessors.
DISPOSE: every TextEditingController and FocusNode must be disposed, or the debug build asserts and the app leaks. Put dispose() in before build() so nobody forgets.
CALLBACK UP: onSubmit(QuoteRequest) keeps the form ignorant of what happens next - tomorrow the callback calls a Riverpod notifier.
The ! on currentState: justified - the key is attached to the Form in this same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Walk each field. (1) Make: trim, required, textInputAction next moves focus. (2) Year: numeric keyboard, digitsOnly + length 4 formatters, tryParse in the validator, range check with string interpolation. (3) Cover: DropdownButtonFormField with initialValue and onChanged. (4) Licence date: custom FormField on the next slide. (5) Submit: FilledButton.icon.
SDK COMPATIBILITY: DropdownButtonFormField's 'value' parameter was deprecated in favour of 'initialValue' (Flutter 3.33+). If a delegate's older SDK says "The named parameter 'initialValue' isn't defined", tell them to use value: instead, or upgrade with flutter upgrade. If a newer SDK warns 'value' is deprecated, that is the same change in reverse.
IMPORT: FilteringTextInputFormatter lives in package:flutter/services.dart - "Undefined name" means the import is missing.
Validation order: validators run top to bottom; the first error focuses nothing by default - mention that on Day 5 accessibility we scroll to the first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Walk each field. (1) Make: trim, required, textInputAction next moves focus. (2) Year: numeric keyboard, digitsOnly + length 4 formatters, tryParse in the validator, range check with string interpolation. (3) Cover: DropdownButtonFormField with initialValue and onChanged. (4) Licence date: custom FormField on the next slide. (5) Submit: FilledButton.icon.
SDK COMPATIBILITY: DropdownButtonFormField's 'value' parameter was deprecated in favour of 'initialValue' (Flutter 3.33+). If a delegate's older SDK says "The named parameter 'initialValue' isn't defined", tell them to use value: instead, or upgrade with flutter upgrade. If a newer SDK warns 'value' is deprecated, that is the same change in reverse.
IMPORT: FilteringTextInputFormatter lives in package:flutter/services.dart - "Undefined name" means the import is missing.
Validation order: validators run top to bottom; the first error focuses nothing by default - mention that on Day 5 accessibility we scroll to the first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This is the pattern for any non-text field that must validate with the form: wrap it in FormField&lt;T&gt;, call state.didChange when the value changes, render with InputDecorator so it looks like the other fields.
GOTCHA: showDatePicker throws "No MaterialLocalizations found" if you call it from a context above MaterialApp (e.g. in main). Inside a screen it is fine.
STRETCH for the lab: replace MaterialLocalizations formatting with intl DateFormat.yMMMd('en_ZA').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Three APIs, one pattern: they return Futures, so you await, and after the await you check context.mounted before using the context again. The lint use_build_context_synchronously will flag you if you forget.
ctx vs context: inside the dialog builder use ctx to pop; using the outer context pops the wrong route.
Windows/Mac: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Quick reference. Two gotchas: InkWell needs a Material ancestor to paint the ripple (wrap in Material() if you see no ripple); Radio changed API in Flutter 3.32 (RadioGroup) so we use SegmentedButton for single choice - cleaner and M3-native.
KEYBOARD: on Android the keyboard can cover fields; Scaffold resizes the body by default (resizeToAvoidBottomInset: true) - wrap the form in SingleChildScrollView and it scrolls into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the cookbook is what they will Google in three weeks. Reading it now, right after building the richer version, makes the differences stick.
EXPECTED: Q1 controllers, formatters, a dropdown, a custom FormField, callback up, dispose. Q2 controller.text (imperative, on submit) vs onChanged/onSaved (reactive/collected); controller when you need to read or set programmatically. Q3 dispose in dispose() to release resources; debug assertion and leaks otherwise. Q4 typical: autovalidateMode, focus management, accessibility labels, async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LAB: 45 minutes. This is the day's core deliverable; everyone must finish steps 1-4.
CHECKPOINTS: 15 min fields render; 30 min validation works; 45 min SnackBar shows premium.
COMMON ERRORS: "Undefined name FilteringTextInputFormatter" → import services.dart. "initialValue isn't defined" → older SDK, use value: (see slide notes). "No MaterialLocalizations found" → showDatePicker called with a context above MaterialApp. "A TextEditingController was used after being disposed" → controller created in build() instead of State. Keyboard covers the button → SingleChildScrollView around the form.
WINDOWS EMULATOR KEYBOARD: the on-screen keyboard may not appear if hardware keyboard input is enabled; delegates can type with the laptop keyboard anyway. To show the soft keyboard: emulator Settings → disable "Enable keyboard input".
SOLUTION: Appendix D, branch lab-2-2-solution.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The white-label requirement from the survey starts here. Today: BrandTheme value + runtime toggle. Day 3: brand in a Riverpod provider. Day 5: brand from build flavour. Same class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Design tokens, Flutter edition. One seed colour generates the whole scheme, including a dark variant. Widgets read roles - cs.primary, cs.onPrimary, cs.primaryContainer - and text styles by name. That is what makes white-label cheap: change the seed, everything follows.
DEMO: change the seed hex, hot reload, whole app recolours. Then toggle the emulator to dark mode (Settings → Display) and show darkTheme kicking in.
RULE FOR THE ROOM: if you type Colors.blue or fontSize: 18 inside a widget, you have broken white-label. Use the theme.
SDK NOTE: on Flutter 3.35 and newer the component theme types are AppBarThemeData and InputDecorationThemeData. The older names AppBarTheme and InputDecorationTheme still compile because ThemeData accepts both, but the Data names are the current ones and what dart fix will suggest. If a delegate on an older SDK gets "InputDecorationThemeData isn't defined", drop the Data suffix.
LINK: m3.material.io/styles/color/roles for the role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colour roles are where developers freelance and break the design system. Making them argue for a role from the spec, then seeing both on screen, fixes it.
EXPECTED: primary = brand colour for key components (FAB, filled button); onPrimary = text/icons on primary; primaryContainer = softer standout fill (header, chips) with onPrimaryContainer text. Form background = surface (or surfaceContainerLow); header = primaryContainer or primary; not both primary because hierarchy is lost and contrast rules for on-colours differ. Tonal = derived lightness steps from one hue; fromSeed maps tones differently for dark.
PRESENTER: keep the two header variants as two lines you can swap.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This is the class the whole white-label story hangs on. Emphasise that nothing in the widgets knows about brands - they read Theme.of(context). Only app.dart knows which BrandTheme is active.
Component themes live inside toThemeData so every brand shares the same shape (outlined inputs, 48-px buttons) and differs only in colour, name, logo, font.
FUTURE-PROOF QUESTIONS: "Can a brand override a component shape?" Yes - add fields to BrandTheme and use them in toThemeData. "Can brands change without a release?" Fetch the BrandTheme values from an endpoint at startup; Day 4 shows the pattern with 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Demo this. Tap the swap icon in the AppBar, the whole app changes colour and title. That is the moment the white-label requirement becomes concrete for the two people who raised it.
The pattern is deliberately naive (state in the root, callback threaded down) so that tomorrow's Riverpod refactor has an obvious before/after.
The ! on brands[_brandKey]!: acceptable because the keys are constants we control; on Day 4 when the key could come from storage, we guard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Two errors account for 90% of asset problems: YAML indentation (assets: must be nested under flutter: with exactly two spaces) and forgetting to hot restart after adding a file. "Unable to load asset" is almost always one of those, or a typo in the path.
Windows path note: asset paths in pubspec always use forward slashes, even on Windows.
Fonts: google_fonts package can download at runtime, but for an insurance app you ship the .ttf so it works offline and is licence-clean.
Images code: Appendix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LAB: 35 minutes. The grep step (4) is the important one - it teaches the discipline that makes white-label work. On Windows: Select-String -Path lib -Recurse -Pattern "Colors\.|fontSize:" ; on Mac: grep -rn "Colors\.\|fontSize:" lib.
COMMON ERRORS: "Unable to load asset" → pubspec indentation, path typo, or no hot restart. Dark mode text invisible → hard-coded Colors.black somewhere; use onSurface. Emulator dark mode: Settings → Display → Dark theme, or adb shell "cmd uimode night yes".
CLOSE: everyone toggles brand and dark mode on their emulator. That is the Day 2 exit criterion.
SOLUTION: Appendix F, branch lab-2-3-solution.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tomorrow is the lowest-confidence topic. Sending them into the official overview and the Riverpod rationale tonight means Day 3 starts from their classification of today's code, not from theory.
EXPECTED: Q1 ephemeral = local, one widget, nobody else needs it (form field text, dark mode is system-provided); app state = shared across screens (brand, last quote). Q2 InheritedWidget shares data down the tree efficiently; Provider adds lifecycle, DI, and simpler API. Q3 typically: compile-time safety (no ProviderNotFound at runtime), no BuildContext dependency (testable logic), combining providers, auto-dispose. Q4 app state → provider.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recap in three minutes, then the homework slide, then Q&amp;A. Ask: "Which of today's four errors have you already hit?" - it tells you who needs the Layout Explorer walk-through again tomorrow.
PRESENTER: tonight, rebuild the Day 3 reference solution from the room's lab-2-3-solution branch, so the refactor demo starts from exactly their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Today is the survey's biggest gap, so protect lab time over slide time.
PRE-MADE BROKEN FILES: on the USB stick, keep four files each containing one deliberate layout error (overflow, unbounded ListView, misplaced Expanded, TextField in Row). Switching files is faster and safer on a projector than typing a mistake live.
IF YOU FALL BEHIND: the theming module can shrink to the BrandTheme class + toggle demo (10 min) and Lab 2.3 becomes homework. Days 3 and 5 only need BrandTheme to exist, not to be pretty.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the projector when a lab stalls.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on the second display during labs.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Solution. The LayoutBuilder threshold (700) is deliberately above the Material "medium" breakpoint so phones in landscape stay single-column.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Solution. The LayoutBuilder threshold (700) is deliberately above the Material "medium" breakpoint so phones in landscape stay single-column.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version of the ListView slide, used again on Day 4 with SQLite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version of the ListView slide, used again on Day 4 with SQLite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for the GridView slide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import list is the thing people miss; put it on screen if someone has "Undefined name"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file with imports.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file with imports.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the repo placeholder.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545"/>
        </a:solidFill>
      </p:bgPr>
    </p:bg>
    <p:spTree>
      <p:nvGrpSpPr>
        <p:cNvPr id="1" name=""/>
        <p:cNvGrpSpPr/>
        <p:nvPr/>
      </p:nvGrpSpPr>
      <p:grpSpPr>
        <a:xfrm>
          <a:off x="0" y="0"/>
          <a:ext cx="0" cy="0"/>
          <a:chOff x="0" y="0"/>
          <a:chExt cx="0" cy="0"/>
        </a:xfrm>
      </p:grpSpPr>
      <p:sp>
        <p:nvSpPr>
          <p:cNvPr id="2" name="Shape 0"/>
          <p:cNvSpPr/>
          <p:nvPr/>
        </p:nvSpPr>
        <p:spPr>
          <a:xfrm>
            <a:off x="9262872" y="-1463040"/>
            <a:ext cx="4754880" cy="4754880"/>
          </a:xfrm>
          <a:prstGeom prst="ellipse">
            <a:avLst/>
          </a:prstGeom>
          <a:solidFill>
            <a:srgbClr val="13315C"/>
          </a:solidFill>
          <a:ln w="12700">
            <a:solidFill>
              <a:srgbClr val="13315C"/>
            </a:solidFill>
            <a:prstDash val="solid"/>
          </a:ln>
        </p:spPr>
      </p:sp>
      <p:sp>
        <p:nvSpPr>
          <p:cNvPr id="3" name="Shape 1"/>
          <p:cNvSpPr/>
          <p:nvPr/>
        </p:nvSpPr>
        <p:spPr>
          <a:xfrm>
            <a:off x="10543032" y="4480560"/>
            <a:ext cx="3108960" cy="3108960"/>
          </a:xfrm>
          <a:prstGeom prst="ellipse">
            <a:avLst/>
          </a:prstGeom>
          <a:solidFill>
            <a:srgbClr val="C9A227"/>
          </a:solidFill>
          <a:ln w="12700">
            <a:solidFill>
              <a:srgbClr val="C9A227"/>
            </a:solidFill>
            <a:prstDash val="solid"/>
          </a:ln>
        </p:spPr>
      </p:sp>
      <p:sp>
        <p:nvSpPr>
          <p:cNvPr id="4" name="Text 2"/>
          <p:cNvSpPr txBox="1"/>
          <p:nvPr/>
        </p:nvSpPr>
        <p:spPr>
          <a:xfrm>
            <a:off x="548640" y="731520"/>
            <a:ext cx="7315200" cy="365760"/>
          </a:xfrm>
          <a:prstGeom prst="rect">
            <a:avLst/>
          </a:prstGeom>
          <a:noFill/>
          <a:ln/>
        </p:spPr>
        <p:txBody>
          <a:bodyPr wrap="square" lIns="0" tIns="0" rIns="0" bIns="0" rtlCol="0" anchor="ctr"/>
          <a:lstStyle/>
          <a:p>
            <a:pPr indent="0" marL="0">
              <a:buNone/>
            </a:pPr>
            <a:r>
              <a:rPr lang="en-US" sz="1200" spc="400" kern="0" dirty="0">
                <a:solidFill>
                  <a:srgbClr val="E3C766"/>
                </a:solidFill>
                <a:latin typeface="Calibri" pitchFamily="34" charset="0"/>
                <a:ea typeface="Calibri" pitchFamily="34" charset="-122"/>
                <a:cs typeface="Calibri" pitchFamily="34" charset="-120"/>
              </a:rPr>
              <a:t>MO INTEGRATIONS  ·  TECHNICAL TRAINING</a:t>
            </a:r>
            <a:endParaRPr lang="en-US" sz="1200" dirty="0"/>
          </a:p>
        </p:txBody>
      </p:sp>
      <p:sp>
        <p:nvSpPr>
          <p:cNvPr id="5" name="Text 3"/>
          <p:cNvSpPr txBox="1"/>
          <p:nvPr/>
        </p:nvSpPr>
        <p:spPr>
          <a:xfrm>
            <a:off x="548640" y="1371600"/>
            <a:ext cx="8229600" cy="548640"/>
          </a:xfrm>
          <a:prstGeom prst="rect">
            <a:avLst/>
          </a:prstGeom>
          <a:noFill/>
          <a:ln/>
        </p:spPr>
        <p:txBody>
          <a:bodyPr wrap="square" lIns="0" tIns="0" rIns="0" bIns="0" rtlCol="0" anchor="ctr"/>
          <a:lstStyle/>
          <a:p>
            <a:pPr indent="0" marL="0">
              <a:buNone/>
            </a:pPr>
            <a:r>
              <a:rPr lang="en-US" sz="1800" dirty="0">
                <a:solidFill>
                  <a:srgbClr val="D7DEE8"/>
                </a:solidFill>
                <a:latin typeface="Calibri" pitchFamily="34" charset="0"/>
                <a:ea typeface="Calibri" pitchFamily="34" charset="-122"/>
                <a:cs typeface="Calibri" pitchFamily="34" charset="-120"/>
              </a:rPr>
              <a:t>Flutter Mobile Application Development · 5-Day Programme</a:t>
            </a:r>
            <a:endParaRPr lang="en-US" sz="1800" dirty="0"/>
          </a:p>
        </p:txBody>
      </p:sp>
      <p:sp>
        <p:nvSpPr>
          <p:cNvPr id="6" name="Text 4"/>
          <p:cNvSpPr txBox="1"/>
          <p:nvPr/>
        </p:nvSpPr>
        <p:spPr>
          <a:xfrm>
            <a:off x="548640" y="2103120"/>
            <a:ext cx="8686800" cy="146304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Day 2</a:t>
            </a:r>
            <a:endParaRPr lang="en-US" sz="4800" dirty="0"/>
          </a:p>
          <a:p>
            <a:pPr indent="0" marL="0">
              <a:buNone/>
            </a:pPr>
            <a:r>
              <a:rPr lang="en-US" sz="4800" b="1" dirty="0">
                <a:solidFill>
                  <a:srgbClr val="FFFFFF"/>
                </a:solidFill>
                <a:latin typeface="Calibri" pitchFamily="34" charset="0"/>
                <a:ea typeface="Calibri" pitchFamily="34" charset="-122"/>
                <a:cs typeface="Calibri" pitchFamily="34" charset="-120"/>
              </a:rPr>
              <a:t>Widgets &amp; Layout</a:t>
            </a:r>
            <a:endParaRPr lang="en-US" sz="4800" dirty="0"/>
          </a:p>
        </p:txBody>
      </p:sp>
      <p:sp>
        <p:nvSpPr>
          <p:cNvPr id="7" name="Text 5"/>
          <p:cNvSpPr txBox="1"/>
          <p:nvPr/>
        </p:nvSpPr>
        <p:spPr>
          <a:xfrm>
            <a:off x="548640" y="3657600"/>
            <a:ext cx="8229600" cy="731520"/>
          </a:xfrm>
          <a:prstGeom prst="rect">
            <a:avLst/>
          </a:prstGeom>
          <a:noFill/>
          <a:ln/>
        </p:spPr>
        <p:txBody>
          <a:bodyPr wrap="square" lIns="0" tIns="0" rIns="0" bIns="0" rtlCol="0" anchor="ctr"/>
          <a:lstStyle/>
          <a:p>
            <a:pPr indent="0" marL="0">
              <a:buNone/>
            </a:pPr>
            <a:r>
              <a:rPr lang="en-US" sz="2000" dirty="0">
                <a:solidFill>
                  <a:srgbClr val="E3C766"/>
                </a:solidFill>
                <a:latin typeface="Calibri" pitchFamily="34" charset="0"/>
                <a:ea typeface="Calibri" pitchFamily="34" charset="-122"/>
                <a:cs typeface="Calibri" pitchFamily="34" charset="-120"/>
              </a:rPr>
              <a:t>Core widgets · The layout system · Lists &amp; forms · Theming for white-label</a:t>
            </a:r>
            <a:endParaRPr lang="en-US" sz="2000" dirty="0"/>
          </a:p>
        </p:txBody>
      </p:sp>
      <p:sp>
        <p:nvSpPr>
          <p:cNvPr id="8" name="Text 6"/>
          <p:cNvSpPr txBox="1"/>
          <p:nvPr/>
        </p:nvSpPr>
        <p:spPr>
          <a:xfrm>
            <a:off x="548640" y="5760720"/>
            <a:ext cx="8229600" cy="457200"/>
          </a:xfrm>
          <a:prstGeom prst="rect">
            <a:avLst/>
          </a:prstGeom>
          <a:noFill/>
          <a:ln/>
        </p:spPr>
        <p:txBody>
          <a:bodyPr wrap="square" lIns="0" tIns="0" rIns="0" bIns="0" rtlCol="0" anchor="ctr"/>
          <a:lstStyle/>
          <a:p>
            <a:pPr indent="0" marL="0">
              <a:buNone/>
            </a:pPr>
            <a:r>
              <a:rPr lang="en-US" sz="1200" dirty="0">
                <a:solidFill>
                  <a:srgbClr val="AAB6C4"/>
                </a:solidFill>
                <a:latin typeface="Calibri" pitchFamily="34" charset="0"/>
                <a:ea typeface="Calibri" pitchFamily="34" charset="-122"/>
                <a:cs typeface="Calibri" pitchFamily="34" charset="-120"/>
              </a:rPr>
              <a:t>Priority gap from the survey (2.2) - today is mostly hands-on  ·  Instructor: Clynton Botterill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Day 2 agenda</a:t>
            </a:r>
            <a:endParaRPr lang="en-US" sz="3000" dirty="0"/>
          </a:p>
        </p:txBody>
      </p:sp>
      <p:sp>
        <p:nvSpPr>
          <p:cNvPr id="3" name="Shape 1"/>
          <p:cNvSpPr/>
          <p:nvPr/>
        </p:nvSpPr>
        <p:spPr>
          <a:xfrm>
            <a:off x="548640" y="1371600"/>
            <a:ext cx="2567178" cy="4663440"/>
          </a:xfrm>
          <a:prstGeom prst="roundRect">
            <a:avLst>
              <a:gd name="adj" fmla="val 3562"/>
            </a:avLst>
          </a:prstGeom>
          <a:solidFill>
            <a:srgbClr val="F3F5F8"/>
          </a:solidFill>
          <a:ln w="6350">
            <a:solidFill>
              <a:srgbClr val="F3F5F8"/>
            </a:solidFill>
            <a:prstDash val="solid"/>
          </a:ln>
          <a:effectLst>
            <a:outerShdw sx="100000" sy="100000" kx="0" ky="0" algn="bl" rotWithShape="0" blurRad="38100" dist="12700" dir="5400000">
              <a:srgbClr val="000000">
                <a:alpha val="8000"/>
              </a:srgbClr>
            </a:outerShdw>
          </a:effectLst>
        </p:spPr>
      </p:sp>
      <p:sp>
        <p:nvSpPr>
          <p:cNvPr id="4" name="Shape 2"/>
          <p:cNvSpPr/>
          <p:nvPr/>
        </p:nvSpPr>
        <p:spPr>
          <a:xfrm>
            <a:off x="822960" y="1600200"/>
            <a:ext cx="548640" cy="548640"/>
          </a:xfrm>
          <a:prstGeom prst="ellipse">
            <a:avLst/>
          </a:prstGeom>
          <a:solidFill>
            <a:srgbClr val="C9A227"/>
          </a:solidFill>
          <a:ln w="12700">
            <a:solidFill>
              <a:srgbClr val="C9A227"/>
            </a:solidFill>
            <a:prstDash val="solid"/>
          </a:ln>
        </p:spPr>
      </p:sp>
      <p:sp>
        <p:nvSpPr>
          <p:cNvPr id="5" name="Text 3"/>
          <p:cNvSpPr txBox="1"/>
          <p:nvPr/>
        </p:nvSpPr>
        <p:spPr>
          <a:xfrm>
            <a:off x="822960" y="1600200"/>
            <a:ext cx="548640" cy="548640"/>
          </a:xfrm>
          <a:prstGeom prst="rect">
            <a:avLst/>
          </a:prstGeom>
          <a:noFill/>
          <a:ln/>
        </p:spPr>
        <p:txBody>
          <a:bodyPr wrap="square" lIns="0" tIns="0" rIns="0" bIns="0" rtlCol="0" anchor="ctr"/>
          <a:lstStyle/>
          <a:p>
            <a:pPr algn="ctr" indent="0" marL="0">
              <a:buNone/>
            </a:pPr>
            <a:r>
              <a:rPr lang="en-US" sz="1600" b="1" dirty="0">
                <a:solidFill>
                  <a:srgbClr val="0B2545"/>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508760" y="1645920"/>
            <a:ext cx="1378458" cy="274320"/>
          </a:xfrm>
          <a:prstGeom prst="rect">
            <a:avLst/>
          </a:prstGeom>
          <a:noFill/>
          <a:ln/>
        </p:spPr>
        <p:txBody>
          <a:bodyPr wrap="square" lIns="0" tIns="0" rIns="0" bIns="0" rtlCol="0" anchor="ctr"/>
          <a:lstStyle/>
          <a:p>
            <a:pPr indent="0" marL="0">
              <a:buNone/>
            </a:pPr>
            <a:r>
              <a:rPr lang="en-US" sz="1000" dirty="0">
                <a:solidFill>
                  <a:srgbClr val="5B6773"/>
                </a:solidFill>
                <a:latin typeface="Calibri" pitchFamily="34" charset="0"/>
                <a:ea typeface="Calibri" pitchFamily="34" charset="-122"/>
                <a:cs typeface="Calibri" pitchFamily="34" charset="-120"/>
              </a:rPr>
              <a:t>09:00 - 10:30</a:t>
            </a:r>
            <a:endParaRPr lang="en-US" sz="1000" dirty="0"/>
          </a:p>
        </p:txBody>
      </p:sp>
      <p:sp>
        <p:nvSpPr>
          <p:cNvPr id="7" name="Text 5"/>
          <p:cNvSpPr txBox="1"/>
          <p:nvPr/>
        </p:nvSpPr>
        <p:spPr>
          <a:xfrm>
            <a:off x="1508760" y="1874520"/>
            <a:ext cx="1378458" cy="548640"/>
          </a:xfrm>
          <a:prstGeom prst="rect">
            <a:avLst/>
          </a:prstGeom>
          <a:noFill/>
          <a:ln/>
        </p:spPr>
        <p:txBody>
          <a:bodyPr wrap="square" lIns="0" tIns="0" rIns="0" bIns="0" rtlCol="0" anchor="t"/>
          <a:lstStyle/>
          <a:p>
            <a:pPr indent="0" marL="0">
              <a:buNone/>
            </a:pPr>
            <a:r>
              <a:rPr lang="en-US" sz="1500" b="1" dirty="0">
                <a:solidFill>
                  <a:srgbClr val="0B2545"/>
                </a:solidFill>
                <a:latin typeface="Calibri" pitchFamily="34" charset="0"/>
                <a:ea typeface="Calibri" pitchFamily="34" charset="-122"/>
                <a:cs typeface="Calibri" pitchFamily="34" charset="-120"/>
              </a:rPr>
              <a:t>Core widgets</a:t>
            </a:r>
            <a:endParaRPr lang="en-US" sz="1500" dirty="0"/>
          </a:p>
        </p:txBody>
      </p:sp>
      <p:sp>
        <p:nvSpPr>
          <p:cNvPr id="8" name="Text 6"/>
          <p:cNvSpPr txBox="1"/>
          <p:nvPr/>
        </p:nvSpPr>
        <p:spPr>
          <a:xfrm>
            <a:off x="822960" y="2560320"/>
            <a:ext cx="2018538" cy="329184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1F2933"/>
                </a:solidFill>
                <a:latin typeface="Calibri" pitchFamily="34" charset="0"/>
                <a:ea typeface="Calibri" pitchFamily="34" charset="-122"/>
                <a:cs typeface="Calibri" pitchFamily="34" charset="-120"/>
              </a:rPr>
              <a:t>Constraints debrief at the whiteboard</a:t>
            </a:r>
            <a:endParaRPr lang="en-US" sz="1200" dirty="0"/>
          </a:p>
          <a:p>
            <a:pPr marL="177800" indent="-177800">
              <a:spcAft>
                <a:spcPts val="500"/>
              </a:spcAft>
              <a:buSzPct val="100000"/>
              <a:buChar char="•"/>
            </a:pPr>
            <a:r>
              <a:rPr lang="en-US" sz="1200" dirty="0">
                <a:solidFill>
                  <a:srgbClr val="1F2933"/>
                </a:solidFill>
                <a:latin typeface="Calibri" pitchFamily="34" charset="0"/>
                <a:ea typeface="Calibri" pitchFamily="34" charset="-122"/>
                <a:cs typeface="Calibri" pitchFamily="34" charset="-120"/>
              </a:rPr>
              <a:t>Container, Text, Icon, Image, Buttons</a:t>
            </a:r>
            <a:endParaRPr lang="en-US" sz="1200" dirty="0"/>
          </a:p>
          <a:p>
            <a:pPr marL="177800" indent="-177800">
              <a:spcAft>
                <a:spcPts val="500"/>
              </a:spcAft>
              <a:buSzPct val="100000"/>
              <a:buChar char="•"/>
            </a:pPr>
            <a:r>
              <a:rPr lang="en-US" sz="1200" dirty="0">
                <a:solidFill>
                  <a:srgbClr val="1F2933"/>
                </a:solidFill>
                <a:latin typeface="Calibri" pitchFamily="34" charset="0"/>
                <a:ea typeface="Calibri" pitchFamily="34" charset="-122"/>
                <a:cs typeface="Calibri" pitchFamily="34" charset="-120"/>
              </a:rPr>
              <a:t>Stateless vs Stateful in practice</a:t>
            </a:r>
            <a:endParaRPr lang="en-US" sz="1200" dirty="0"/>
          </a:p>
          <a:p>
            <a:pPr marL="177800" indent="-177800">
              <a:spcAft>
                <a:spcPts val="500"/>
              </a:spcAft>
              <a:buSzPct val="100000"/>
              <a:buChar char="•"/>
            </a:pPr>
            <a:r>
              <a:rPr lang="en-US" sz="1200" dirty="0">
                <a:solidFill>
                  <a:srgbClr val="1F2933"/>
                </a:solidFill>
                <a:latin typeface="Calibri" pitchFamily="34" charset="0"/>
                <a:ea typeface="Calibri" pitchFamily="34" charset="-122"/>
                <a:cs typeface="Calibri" pitchFamily="34" charset="-120"/>
              </a:rPr>
              <a:t>Extract Widget, const, keys</a:t>
            </a:r>
            <a:endParaRPr lang="en-US" sz="1200" dirty="0"/>
          </a:p>
        </p:txBody>
      </p:sp>
      <p:sp>
        <p:nvSpPr>
          <p:cNvPr id="9" name="Shape 7"/>
          <p:cNvSpPr/>
          <p:nvPr/>
        </p:nvSpPr>
        <p:spPr>
          <a:xfrm>
            <a:off x="3390138" y="1371600"/>
            <a:ext cx="2567178" cy="4663440"/>
          </a:xfrm>
          <a:prstGeom prst="roundRect">
            <a:avLst>
              <a:gd name="adj" fmla="val 3562"/>
            </a:avLst>
          </a:prstGeom>
          <a:solidFill>
            <a:srgbClr val="F3F5F8"/>
          </a:solidFill>
          <a:ln w="6350">
            <a:solidFill>
              <a:srgbClr val="F3F5F8"/>
            </a:solidFill>
            <a:prstDash val="solid"/>
          </a:ln>
          <a:effectLst>
            <a:outerShdw sx="100000" sy="100000" kx="0" ky="0" algn="bl" rotWithShape="0" blurRad="38100" dist="12700" dir="5400000">
              <a:srgbClr val="000000">
                <a:alpha val="8000"/>
              </a:srgbClr>
            </a:outerShdw>
          </a:effectLst>
        </p:spPr>
      </p:sp>
      <p:sp>
        <p:nvSpPr>
          <p:cNvPr id="10" name="Shape 8"/>
          <p:cNvSpPr/>
          <p:nvPr/>
        </p:nvSpPr>
        <p:spPr>
          <a:xfrm>
            <a:off x="3664458" y="1600200"/>
            <a:ext cx="548640" cy="548640"/>
          </a:xfrm>
          <a:prstGeom prst="ellipse">
            <a:avLst/>
          </a:prstGeom>
          <a:solidFill>
            <a:srgbClr val="C9A227"/>
          </a:solidFill>
          <a:ln w="12700">
            <a:solidFill>
              <a:srgbClr val="C9A227"/>
            </a:solidFill>
            <a:prstDash val="solid"/>
          </a:ln>
        </p:spPr>
      </p:sp>
      <p:sp>
        <p:nvSpPr>
          <p:cNvPr id="11" name="Text 9"/>
          <p:cNvSpPr txBox="1"/>
          <p:nvPr/>
        </p:nvSpPr>
        <p:spPr>
          <a:xfrm>
            <a:off x="3664458" y="1600200"/>
            <a:ext cx="548640" cy="548640"/>
          </a:xfrm>
          <a:prstGeom prst="rect">
            <a:avLst/>
          </a:prstGeom>
          <a:noFill/>
          <a:ln/>
        </p:spPr>
        <p:txBody>
          <a:bodyPr wrap="square" lIns="0" tIns="0" rIns="0" bIns="0" rtlCol="0" anchor="ctr"/>
          <a:lstStyle/>
          <a:p>
            <a:pPr algn="ctr" indent="0" marL="0">
              <a:buNone/>
            </a:pPr>
            <a:r>
              <a:rPr lang="en-US" sz="1600" b="1" dirty="0">
                <a:solidFill>
                  <a:srgbClr val="0B2545"/>
                </a:solidFill>
                <a:latin typeface="Calibri" pitchFamily="34" charset="0"/>
                <a:ea typeface="Calibri" pitchFamily="34" charset="-122"/>
                <a:cs typeface="Calibri" pitchFamily="34" charset="-120"/>
              </a:rPr>
              <a:t>2</a:t>
            </a:r>
            <a:endParaRPr lang="en-US" sz="1600" dirty="0"/>
          </a:p>
        </p:txBody>
      </p:sp>
      <p:sp>
        <p:nvSpPr>
          <p:cNvPr id="12" name="Text 10"/>
          <p:cNvSpPr txBox="1"/>
          <p:nvPr/>
        </p:nvSpPr>
        <p:spPr>
          <a:xfrm>
            <a:off x="4350258" y="1645920"/>
            <a:ext cx="1378458" cy="274320"/>
          </a:xfrm>
          <a:prstGeom prst="rect">
            <a:avLst/>
          </a:prstGeom>
          <a:noFill/>
          <a:ln/>
        </p:spPr>
        <p:txBody>
          <a:bodyPr wrap="square" lIns="0" tIns="0" rIns="0" bIns="0" rtlCol="0" anchor="ctr"/>
          <a:lstStyle/>
          <a:p>
            <a:pPr indent="0" marL="0">
              <a:buNone/>
            </a:pPr>
            <a:r>
              <a:rPr lang="en-US" sz="1000" dirty="0">
                <a:solidFill>
                  <a:srgbClr val="5B6773"/>
                </a:solidFill>
                <a:latin typeface="Calibri" pitchFamily="34" charset="0"/>
                <a:ea typeface="Calibri" pitchFamily="34" charset="-122"/>
                <a:cs typeface="Calibri" pitchFamily="34" charset="-120"/>
              </a:rPr>
              <a:t>10:45 - 12:30</a:t>
            </a:r>
            <a:endParaRPr lang="en-US" sz="1000" dirty="0"/>
          </a:p>
        </p:txBody>
      </p:sp>
      <p:sp>
        <p:nvSpPr>
          <p:cNvPr id="13" name="Text 11"/>
          <p:cNvSpPr txBox="1"/>
          <p:nvPr/>
        </p:nvSpPr>
        <p:spPr>
          <a:xfrm>
            <a:off x="4350258" y="1874520"/>
            <a:ext cx="1378458" cy="548640"/>
          </a:xfrm>
          <a:prstGeom prst="rect">
            <a:avLst/>
          </a:prstGeom>
          <a:noFill/>
          <a:ln/>
        </p:spPr>
        <p:txBody>
          <a:bodyPr wrap="square" lIns="0" tIns="0" rIns="0" bIns="0" rtlCol="0" anchor="t"/>
          <a:lstStyle/>
          <a:p>
            <a:pPr indent="0" marL="0">
              <a:buNone/>
            </a:pPr>
            <a:r>
              <a:rPr lang="en-US" sz="1500" b="1" dirty="0">
                <a:solidFill>
                  <a:srgbClr val="0B2545"/>
                </a:solidFill>
                <a:latin typeface="Calibri" pitchFamily="34" charset="0"/>
                <a:ea typeface="Calibri" pitchFamily="34" charset="-122"/>
                <a:cs typeface="Calibri" pitchFamily="34" charset="-120"/>
              </a:rPr>
              <a:t>Layout system</a:t>
            </a:r>
            <a:endParaRPr lang="en-US" sz="1500" dirty="0"/>
          </a:p>
        </p:txBody>
      </p:sp>
      <p:sp>
        <p:nvSpPr>
          <p:cNvPr id="14" name="Text 12"/>
          <p:cNvSpPr txBox="1"/>
          <p:nvPr/>
        </p:nvSpPr>
        <p:spPr>
          <a:xfrm>
            <a:off x="3664458" y="2560320"/>
            <a:ext cx="2018538" cy="329184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1F2933"/>
                </a:solidFill>
                <a:latin typeface="Calibri" pitchFamily="34" charset="0"/>
                <a:ea typeface="Calibri" pitchFamily="34" charset="-122"/>
                <a:cs typeface="Calibri" pitchFamily="34" charset="-120"/>
              </a:rPr>
              <a:t>Row / Column / Expanded / Flexible</a:t>
            </a:r>
            <a:endParaRPr lang="en-US" sz="1200" dirty="0"/>
          </a:p>
          <a:p>
            <a:pPr marL="177800" indent="-177800">
              <a:spcAft>
                <a:spcPts val="500"/>
              </a:spcAft>
              <a:buSzPct val="100000"/>
              <a:buChar char="•"/>
            </a:pPr>
            <a:r>
              <a:rPr lang="en-US" sz="1200" dirty="0">
                <a:solidFill>
                  <a:srgbClr val="1F2933"/>
                </a:solidFill>
                <a:latin typeface="Calibri" pitchFamily="34" charset="0"/>
                <a:ea typeface="Calibri" pitchFamily="34" charset="-122"/>
                <a:cs typeface="Calibri" pitchFamily="34" charset="-120"/>
              </a:rPr>
              <a:t>The four overflow errors and their fixes</a:t>
            </a:r>
            <a:endParaRPr lang="en-US" sz="1200" dirty="0"/>
          </a:p>
          <a:p>
            <a:pPr marL="177800" indent="-177800">
              <a:spcAft>
                <a:spcPts val="500"/>
              </a:spcAft>
              <a:buSzPct val="100000"/>
              <a:buChar char="•"/>
            </a:pPr>
            <a:r>
              <a:rPr lang="en-US" sz="1200" dirty="0">
                <a:solidFill>
                  <a:srgbClr val="1F2933"/>
                </a:solidFill>
                <a:latin typeface="Calibri" pitchFamily="34" charset="0"/>
                <a:ea typeface="Calibri" pitchFamily="34" charset="-122"/>
                <a:cs typeface="Calibri" pitchFamily="34" charset="-120"/>
              </a:rPr>
              <a:t>Stack, Positioned, responsive layouts</a:t>
            </a:r>
            <a:endParaRPr lang="en-US" sz="1200" dirty="0"/>
          </a:p>
          <a:p>
            <a:pPr marL="177800" indent="-177800">
              <a:spcAft>
                <a:spcPts val="500"/>
              </a:spcAft>
              <a:buSzPct val="100000"/>
              <a:buChar char="•"/>
            </a:pPr>
            <a:r>
              <a:rPr lang="en-US" sz="1200" dirty="0">
                <a:solidFill>
                  <a:srgbClr val="1F2933"/>
                </a:solidFill>
                <a:latin typeface="Calibri" pitchFamily="34" charset="0"/>
                <a:ea typeface="Calibri" pitchFamily="34" charset="-122"/>
                <a:cs typeface="Calibri" pitchFamily="34" charset="-120"/>
              </a:rPr>
              <a:t>Lab 2.1 - brand header + responsive shell</a:t>
            </a:r>
            <a:endParaRPr lang="en-US" sz="1200" dirty="0"/>
          </a:p>
        </p:txBody>
      </p:sp>
      <p:sp>
        <p:nvSpPr>
          <p:cNvPr id="15" name="Shape 13"/>
          <p:cNvSpPr/>
          <p:nvPr/>
        </p:nvSpPr>
        <p:spPr>
          <a:xfrm>
            <a:off x="6231636" y="1371600"/>
            <a:ext cx="2567178" cy="4663440"/>
          </a:xfrm>
          <a:prstGeom prst="roundRect">
            <a:avLst>
              <a:gd name="adj" fmla="val 3562"/>
            </a:avLst>
          </a:prstGeom>
          <a:solidFill>
            <a:srgbClr val="F3F5F8"/>
          </a:solidFill>
          <a:ln w="6350">
            <a:solidFill>
              <a:srgbClr val="F3F5F8"/>
            </a:solidFill>
            <a:prstDash val="solid"/>
          </a:ln>
          <a:effectLst>
            <a:outerShdw sx="100000" sy="100000" kx="0" ky="0" algn="bl" rotWithShape="0" blurRad="38100" dist="12700" dir="5400000">
              <a:srgbClr val="000000">
                <a:alpha val="8000"/>
              </a:srgbClr>
            </a:outerShdw>
          </a:effectLst>
        </p:spPr>
      </p:sp>
      <p:sp>
        <p:nvSpPr>
          <p:cNvPr id="16" name="Shape 14"/>
          <p:cNvSpPr/>
          <p:nvPr/>
        </p:nvSpPr>
        <p:spPr>
          <a:xfrm>
            <a:off x="6505956" y="1600200"/>
            <a:ext cx="548640" cy="548640"/>
          </a:xfrm>
          <a:prstGeom prst="ellipse">
            <a:avLst/>
          </a:prstGeom>
          <a:solidFill>
            <a:srgbClr val="C9A227"/>
          </a:solidFill>
          <a:ln w="12700">
            <a:solidFill>
              <a:srgbClr val="C9A227"/>
            </a:solidFill>
            <a:prstDash val="solid"/>
          </a:ln>
        </p:spPr>
      </p:sp>
      <p:sp>
        <p:nvSpPr>
          <p:cNvPr id="17" name="Text 15"/>
          <p:cNvSpPr txBox="1"/>
          <p:nvPr/>
        </p:nvSpPr>
        <p:spPr>
          <a:xfrm>
            <a:off x="6505956" y="1600200"/>
            <a:ext cx="548640" cy="548640"/>
          </a:xfrm>
          <a:prstGeom prst="rect">
            <a:avLst/>
          </a:prstGeom>
          <a:noFill/>
          <a:ln/>
        </p:spPr>
        <p:txBody>
          <a:bodyPr wrap="square" lIns="0" tIns="0" rIns="0" bIns="0" rtlCol="0" anchor="ctr"/>
          <a:lstStyle/>
          <a:p>
            <a:pPr algn="ctr" indent="0" marL="0">
              <a:buNone/>
            </a:pPr>
            <a:r>
              <a:rPr lang="en-US" sz="1600" b="1" dirty="0">
                <a:solidFill>
                  <a:srgbClr val="0B2545"/>
                </a:solidFill>
                <a:latin typeface="Calibri" pitchFamily="34" charset="0"/>
                <a:ea typeface="Calibri" pitchFamily="34" charset="-122"/>
                <a:cs typeface="Calibri" pitchFamily="34" charset="-120"/>
              </a:rPr>
              <a:t>3</a:t>
            </a:r>
            <a:endParaRPr lang="en-US" sz="1600" dirty="0"/>
          </a:p>
        </p:txBody>
      </p:sp>
      <p:sp>
        <p:nvSpPr>
          <p:cNvPr id="18" name="Text 16"/>
          <p:cNvSpPr txBox="1"/>
          <p:nvPr/>
        </p:nvSpPr>
        <p:spPr>
          <a:xfrm>
            <a:off x="7191756" y="1645920"/>
            <a:ext cx="1378458" cy="274320"/>
          </a:xfrm>
          <a:prstGeom prst="rect">
            <a:avLst/>
          </a:prstGeom>
          <a:noFill/>
          <a:ln/>
        </p:spPr>
        <p:txBody>
          <a:bodyPr wrap="square" lIns="0" tIns="0" rIns="0" bIns="0" rtlCol="0" anchor="ctr"/>
          <a:lstStyle/>
          <a:p>
            <a:pPr indent="0" marL="0">
              <a:buNone/>
            </a:pPr>
            <a:r>
              <a:rPr lang="en-US" sz="1000" dirty="0">
                <a:solidFill>
                  <a:srgbClr val="5B6773"/>
                </a:solidFill>
                <a:latin typeface="Calibri" pitchFamily="34" charset="0"/>
                <a:ea typeface="Calibri" pitchFamily="34" charset="-122"/>
                <a:cs typeface="Calibri" pitchFamily="34" charset="-120"/>
              </a:rPr>
              <a:t>13:15 - 14:45</a:t>
            </a:r>
            <a:endParaRPr lang="en-US" sz="1000" dirty="0"/>
          </a:p>
        </p:txBody>
      </p:sp>
      <p:sp>
        <p:nvSpPr>
          <p:cNvPr id="19" name="Text 17"/>
          <p:cNvSpPr txBox="1"/>
          <p:nvPr/>
        </p:nvSpPr>
        <p:spPr>
          <a:xfrm>
            <a:off x="7191756" y="1874520"/>
            <a:ext cx="1378458" cy="548640"/>
          </a:xfrm>
          <a:prstGeom prst="rect">
            <a:avLst/>
          </a:prstGeom>
          <a:noFill/>
          <a:ln/>
        </p:spPr>
        <p:txBody>
          <a:bodyPr wrap="square" lIns="0" tIns="0" rIns="0" bIns="0" rtlCol="0" anchor="t"/>
          <a:lstStyle/>
          <a:p>
            <a:pPr indent="0" marL="0">
              <a:buNone/>
            </a:pPr>
            <a:r>
              <a:rPr lang="en-US" sz="1500" b="1" dirty="0">
                <a:solidFill>
                  <a:srgbClr val="0B2545"/>
                </a:solidFill>
                <a:latin typeface="Calibri" pitchFamily="34" charset="0"/>
                <a:ea typeface="Calibri" pitchFamily="34" charset="-122"/>
                <a:cs typeface="Calibri" pitchFamily="34" charset="-120"/>
              </a:rPr>
              <a:t>Lists &amp; forms</a:t>
            </a:r>
            <a:endParaRPr lang="en-US" sz="1500" dirty="0"/>
          </a:p>
        </p:txBody>
      </p:sp>
      <p:sp>
        <p:nvSpPr>
          <p:cNvPr id="20" name="Text 18"/>
          <p:cNvSpPr txBox="1"/>
          <p:nvPr/>
        </p:nvSpPr>
        <p:spPr>
          <a:xfrm>
            <a:off x="6505956" y="2560320"/>
            <a:ext cx="2018538" cy="329184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1F2933"/>
                </a:solidFill>
                <a:latin typeface="Calibri" pitchFamily="34" charset="0"/>
                <a:ea typeface="Calibri" pitchFamily="34" charset="-122"/>
                <a:cs typeface="Calibri" pitchFamily="34" charset="-120"/>
              </a:rPr>
              <a:t>ListView.builder, GridView, Dismissible</a:t>
            </a:r>
            <a:endParaRPr lang="en-US" sz="1200" dirty="0"/>
          </a:p>
          <a:p>
            <a:pPr marL="177800" indent="-177800">
              <a:spcAft>
                <a:spcPts val="500"/>
              </a:spcAft>
              <a:buSzPct val="100000"/>
              <a:buChar char="•"/>
            </a:pPr>
            <a:r>
              <a:rPr lang="en-US" sz="1200" dirty="0">
                <a:solidFill>
                  <a:srgbClr val="1F2933"/>
                </a:solidFill>
                <a:latin typeface="Calibri" pitchFamily="34" charset="0"/>
                <a:ea typeface="Calibri" pitchFamily="34" charset="-122"/>
                <a:cs typeface="Calibri" pitchFamily="34" charset="-120"/>
              </a:rPr>
              <a:t>Form, TextFormField, validators</a:t>
            </a:r>
            <a:endParaRPr lang="en-US" sz="1200" dirty="0"/>
          </a:p>
          <a:p>
            <a:pPr marL="177800" indent="-177800">
              <a:spcAft>
                <a:spcPts val="500"/>
              </a:spcAft>
              <a:buSzPct val="100000"/>
              <a:buChar char="•"/>
            </a:pPr>
            <a:r>
              <a:rPr lang="en-US" sz="1200" dirty="0">
                <a:solidFill>
                  <a:srgbClr val="1F2933"/>
                </a:solidFill>
                <a:latin typeface="Calibri" pitchFamily="34" charset="0"/>
                <a:ea typeface="Calibri" pitchFamily="34" charset="-122"/>
                <a:cs typeface="Calibri" pitchFamily="34" charset="-120"/>
              </a:rPr>
              <a:t>Date picker, dialogs, snackbars</a:t>
            </a:r>
            <a:endParaRPr lang="en-US" sz="1200" dirty="0"/>
          </a:p>
          <a:p>
            <a:pPr marL="177800" indent="-177800">
              <a:spcAft>
                <a:spcPts val="500"/>
              </a:spcAft>
              <a:buSzPct val="100000"/>
              <a:buChar char="•"/>
            </a:pPr>
            <a:r>
              <a:rPr lang="en-US" sz="1200" dirty="0">
                <a:solidFill>
                  <a:srgbClr val="1F2933"/>
                </a:solidFill>
                <a:latin typeface="Calibri" pitchFamily="34" charset="0"/>
                <a:ea typeface="Calibri" pitchFamily="34" charset="-122"/>
                <a:cs typeface="Calibri" pitchFamily="34" charset="-120"/>
              </a:rPr>
              <a:t>Lab 2.2 - quote capture form</a:t>
            </a:r>
            <a:endParaRPr lang="en-US" sz="1200" dirty="0"/>
          </a:p>
        </p:txBody>
      </p:sp>
      <p:sp>
        <p:nvSpPr>
          <p:cNvPr id="21" name="Shape 19"/>
          <p:cNvSpPr/>
          <p:nvPr/>
        </p:nvSpPr>
        <p:spPr>
          <a:xfrm>
            <a:off x="9073134" y="1371600"/>
            <a:ext cx="2567178" cy="4663440"/>
          </a:xfrm>
          <a:prstGeom prst="roundRect">
            <a:avLst>
              <a:gd name="adj" fmla="val 3562"/>
            </a:avLst>
          </a:prstGeom>
          <a:solidFill>
            <a:srgbClr val="F3F5F8"/>
          </a:solidFill>
          <a:ln w="6350">
            <a:solidFill>
              <a:srgbClr val="F3F5F8"/>
            </a:solidFill>
            <a:prstDash val="solid"/>
          </a:ln>
          <a:effectLst>
            <a:outerShdw sx="100000" sy="100000" kx="0" ky="0" algn="bl" rotWithShape="0" blurRad="38100" dist="12700" dir="5400000">
              <a:srgbClr val="000000">
                <a:alpha val="8000"/>
              </a:srgbClr>
            </a:outerShdw>
          </a:effectLst>
        </p:spPr>
      </p:sp>
      <p:sp>
        <p:nvSpPr>
          <p:cNvPr id="22" name="Shape 20"/>
          <p:cNvSpPr/>
          <p:nvPr/>
        </p:nvSpPr>
        <p:spPr>
          <a:xfrm>
            <a:off x="9347454" y="1600200"/>
            <a:ext cx="548640" cy="548640"/>
          </a:xfrm>
          <a:prstGeom prst="ellipse">
            <a:avLst/>
          </a:prstGeom>
          <a:solidFill>
            <a:srgbClr val="C9A227"/>
          </a:solidFill>
          <a:ln w="12700">
            <a:solidFill>
              <a:srgbClr val="C9A227"/>
            </a:solidFill>
            <a:prstDash val="solid"/>
          </a:ln>
        </p:spPr>
      </p:sp>
      <p:sp>
        <p:nvSpPr>
          <p:cNvPr id="23" name="Text 21"/>
          <p:cNvSpPr txBox="1"/>
          <p:nvPr/>
        </p:nvSpPr>
        <p:spPr>
          <a:xfrm>
            <a:off x="9347454" y="1600200"/>
            <a:ext cx="548640" cy="548640"/>
          </a:xfrm>
          <a:prstGeom prst="rect">
            <a:avLst/>
          </a:prstGeom>
          <a:noFill/>
          <a:ln/>
        </p:spPr>
        <p:txBody>
          <a:bodyPr wrap="square" lIns="0" tIns="0" rIns="0" bIns="0" rtlCol="0" anchor="ctr"/>
          <a:lstStyle/>
          <a:p>
            <a:pPr algn="ctr" indent="0" marL="0">
              <a:buNone/>
            </a:pPr>
            <a:r>
              <a:rPr lang="en-US" sz="1600" b="1" dirty="0">
                <a:solidFill>
                  <a:srgbClr val="0B2545"/>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10033254" y="1645920"/>
            <a:ext cx="1378458" cy="274320"/>
          </a:xfrm>
          <a:prstGeom prst="rect">
            <a:avLst/>
          </a:prstGeom>
          <a:noFill/>
          <a:ln/>
        </p:spPr>
        <p:txBody>
          <a:bodyPr wrap="square" lIns="0" tIns="0" rIns="0" bIns="0" rtlCol="0" anchor="ctr"/>
          <a:lstStyle/>
          <a:p>
            <a:pPr indent="0" marL="0">
              <a:buNone/>
            </a:pPr>
            <a:r>
              <a:rPr lang="en-US" sz="1000" dirty="0">
                <a:solidFill>
                  <a:srgbClr val="5B6773"/>
                </a:solidFill>
                <a:latin typeface="Calibri" pitchFamily="34" charset="0"/>
                <a:ea typeface="Calibri" pitchFamily="34" charset="-122"/>
                <a:cs typeface="Calibri" pitchFamily="34" charset="-120"/>
              </a:rPr>
              <a:t>15:00 - 16:00</a:t>
            </a:r>
            <a:endParaRPr lang="en-US" sz="1000" dirty="0"/>
          </a:p>
        </p:txBody>
      </p:sp>
      <p:sp>
        <p:nvSpPr>
          <p:cNvPr id="25" name="Text 23"/>
          <p:cNvSpPr txBox="1"/>
          <p:nvPr/>
        </p:nvSpPr>
        <p:spPr>
          <a:xfrm>
            <a:off x="10033254" y="1874520"/>
            <a:ext cx="1378458" cy="548640"/>
          </a:xfrm>
          <a:prstGeom prst="rect">
            <a:avLst/>
          </a:prstGeom>
          <a:noFill/>
          <a:ln/>
        </p:spPr>
        <p:txBody>
          <a:bodyPr wrap="square" lIns="0" tIns="0" rIns="0" bIns="0" rtlCol="0" anchor="t"/>
          <a:lstStyle/>
          <a:p>
            <a:pPr indent="0" marL="0">
              <a:buNone/>
            </a:pPr>
            <a:r>
              <a:rPr lang="en-US" sz="1500" b="1" dirty="0">
                <a:solidFill>
                  <a:srgbClr val="0B2545"/>
                </a:solidFill>
                <a:latin typeface="Calibri" pitchFamily="34" charset="0"/>
                <a:ea typeface="Calibri" pitchFamily="34" charset="-122"/>
                <a:cs typeface="Calibri" pitchFamily="34" charset="-120"/>
              </a:rPr>
              <a:t>Styling &amp; theming</a:t>
            </a:r>
            <a:endParaRPr lang="en-US" sz="1500" dirty="0"/>
          </a:p>
        </p:txBody>
      </p:sp>
      <p:sp>
        <p:nvSpPr>
          <p:cNvPr id="26" name="Text 24"/>
          <p:cNvSpPr txBox="1"/>
          <p:nvPr/>
        </p:nvSpPr>
        <p:spPr>
          <a:xfrm>
            <a:off x="9347454" y="2560320"/>
            <a:ext cx="2018538" cy="329184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1F2933"/>
                </a:solidFill>
                <a:latin typeface="Calibri" pitchFamily="34" charset="0"/>
                <a:ea typeface="Calibri" pitchFamily="34" charset="-122"/>
                <a:cs typeface="Calibri" pitchFamily="34" charset="-120"/>
              </a:rPr>
              <a:t>ThemeData, ColorScheme.fromSeed, Material 3</a:t>
            </a:r>
            <a:endParaRPr lang="en-US" sz="1200" dirty="0"/>
          </a:p>
          <a:p>
            <a:pPr marL="177800" indent="-177800">
              <a:spcAft>
                <a:spcPts val="500"/>
              </a:spcAft>
              <a:buSzPct val="100000"/>
              <a:buChar char="•"/>
            </a:pPr>
            <a:r>
              <a:rPr lang="en-US" sz="1200" dirty="0">
                <a:solidFill>
                  <a:srgbClr val="1F2933"/>
                </a:solidFill>
                <a:latin typeface="Calibri" pitchFamily="34" charset="0"/>
                <a:ea typeface="Calibri" pitchFamily="34" charset="-122"/>
                <a:cs typeface="Calibri" pitchFamily="34" charset="-120"/>
              </a:rPr>
              <a:t>BrandTheme - the white-label seed</a:t>
            </a:r>
            <a:endParaRPr lang="en-US" sz="1200" dirty="0"/>
          </a:p>
          <a:p>
            <a:pPr marL="177800" indent="-177800">
              <a:spcAft>
                <a:spcPts val="500"/>
              </a:spcAft>
              <a:buSzPct val="100000"/>
              <a:buChar char="•"/>
            </a:pPr>
            <a:r>
              <a:rPr lang="en-US" sz="1200" dirty="0">
                <a:solidFill>
                  <a:srgbClr val="1F2933"/>
                </a:solidFill>
                <a:latin typeface="Calibri" pitchFamily="34" charset="0"/>
                <a:ea typeface="Calibri" pitchFamily="34" charset="-122"/>
                <a:cs typeface="Calibri" pitchFamily="34" charset="-120"/>
              </a:rPr>
              <a:t>Assets, fonts, images</a:t>
            </a:r>
            <a:endParaRPr lang="en-US" sz="1200" dirty="0"/>
          </a:p>
          <a:p>
            <a:pPr marL="177800" indent="-177800">
              <a:spcAft>
                <a:spcPts val="500"/>
              </a:spcAft>
              <a:buSzPct val="100000"/>
              <a:buChar char="•"/>
            </a:pPr>
            <a:r>
              <a:rPr lang="en-US" sz="1200" dirty="0">
                <a:solidFill>
                  <a:srgbClr val="1F2933"/>
                </a:solidFill>
                <a:latin typeface="Calibri" pitchFamily="34" charset="0"/>
                <a:ea typeface="Calibri" pitchFamily="34" charset="-122"/>
                <a:cs typeface="Calibri" pitchFamily="34" charset="-120"/>
              </a:rPr>
              <a:t>Lab 2.3 - two brands, one app</a:t>
            </a:r>
            <a:endParaRPr lang="en-US" sz="1200" dirty="0"/>
          </a:p>
        </p:txBody>
      </p:sp>
      <p:sp>
        <p:nvSpPr>
          <p:cNvPr id="27" name="Text 2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28" name="Text 2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Whiteboard debrief: constraints down, sizes up, parent positions</a:t>
            </a:r>
            <a:endParaRPr lang="en-US" sz="3000" dirty="0"/>
          </a:p>
        </p:txBody>
      </p:sp>
      <p:sp>
        <p:nvSpPr>
          <p:cNvPr id="3" name="Text 1"/>
          <p:cNvSpPr txBox="1"/>
          <p:nvPr/>
        </p:nvSpPr>
        <p:spPr>
          <a:xfrm>
            <a:off x="548640" y="1325880"/>
            <a:ext cx="4965009" cy="475488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Q1 - the rule.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Parent gives min/max width and height. Child chooses a size inside them. Parent places the child.</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Q2 - Container with no child.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Tries to be as big as allowed. Under bounded constraints (Center, Scaffold body) it fills them; under an unbounded axis (Column main axis, ListView) "as big as possible" is undefined and it collapses to zero.</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Q3 - unbounded.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max = infinity on one axis. ListView, SingleChildScrollView, and Column/Row main axis hand out infinity; children that want "as big as possible" then fail.</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Q4 - the surprising example.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Usually #20-#24: ConstrainedBox / UnconstrainedBox / OverflowBox. Run it in DartPad on the projector.</a:t>
            </a:r>
            <a:endParaRPr lang="en-US" sz="1400" dirty="0"/>
          </a:p>
        </p:txBody>
      </p:sp>
      <p:sp>
        <p:nvSpPr>
          <p:cNvPr id="4" name="Shape 2"/>
          <p:cNvSpPr/>
          <p:nvPr/>
        </p:nvSpPr>
        <p:spPr>
          <a:xfrm>
            <a:off x="5787969" y="1325880"/>
            <a:ext cx="5852343" cy="3931920"/>
          </a:xfrm>
          <a:prstGeom prst="roundRect">
            <a:avLst>
              <a:gd name="adj" fmla="val 1860"/>
            </a:avLst>
          </a:prstGeom>
          <a:solidFill>
            <a:srgbClr val="0F172A"/>
          </a:solidFill>
          <a:ln w="12700">
            <a:solidFill>
              <a:srgbClr val="0F172A"/>
            </a:solidFill>
            <a:prstDash val="solid"/>
          </a:ln>
        </p:spPr>
      </p:sp>
      <p:sp>
        <p:nvSpPr>
          <p:cNvPr id="5" name="Text 3"/>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Dart</a:t>
            </a:r>
            <a:endParaRPr lang="en-US" sz="800" dirty="0"/>
          </a:p>
        </p:txBody>
      </p:sp>
      <p:sp>
        <p:nvSpPr>
          <p:cNvPr id="6" name="Text 4"/>
          <p:cNvSpPr txBox="1"/>
          <p:nvPr/>
        </p:nvSpPr>
        <p:spPr>
          <a:xfrm>
            <a:off x="5925129" y="1435608"/>
            <a:ext cx="5578023" cy="3712464"/>
          </a:xfrm>
          <a:prstGeom prst="rect">
            <a:avLst/>
          </a:prstGeom>
          <a:noFill/>
          <a:ln/>
        </p:spPr>
        <p:txBody>
          <a:bodyPr wrap="square" lIns="0" tIns="0" rIns="0" bIns="0" rtlCol="0" anchor="t"/>
          <a:lstStyle/>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Parent → child: "you may be between minW..maxW and minH..maxH"</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Child → parent: "I am w × h"</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Parent: "then you sit at (x, y)"</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Tight constraints: min == max (e.g. SizedBox(width: 100, height: 40))</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Loose constraints: min 0, max N (e.g. inside Center or Align)</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Unbounded: max = infinity (inside ListView / Column main axis)</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Center(                     // loose but BOUNDED (0..screen)</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child: Container(         // no child, no size → be as BIG as allowed</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color: Colors.amber,    // → fills the whole Center</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Column(children: [          // main axis UNBOUNDED (0..infinity)</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Container(color: Colors.amber),   // "as big as allowed" is undefined → 0 height, invisible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SizedBox(width: 100, height: 40, child: Container(color: Colors.amber))  // tight → exactly 100×40</a:t>
            </a:r>
            <a:endParaRPr lang="en-US" sz="1000" dirty="0"/>
          </a:p>
        </p:txBody>
      </p:sp>
      <p:sp>
        <p:nvSpPr>
          <p:cNvPr id="7" name="Shape 5"/>
          <p:cNvSpPr/>
          <p:nvPr/>
        </p:nvSpPr>
        <p:spPr>
          <a:xfrm>
            <a:off x="5787969" y="5394960"/>
            <a:ext cx="5852343" cy="685800"/>
          </a:xfrm>
          <a:prstGeom prst="roundRect">
            <a:avLst>
              <a:gd name="adj" fmla="val 13333"/>
            </a:avLst>
          </a:prstGeom>
          <a:solidFill>
            <a:srgbClr val="FBF6E3"/>
          </a:solidFill>
          <a:ln w="6350">
            <a:solidFill>
              <a:srgbClr val="FBF6E3"/>
            </a:solidFill>
            <a:prstDash val="solid"/>
          </a:ln>
          <a:effectLst>
            <a:outerShdw sx="100000" sy="100000" kx="0" ky="0" algn="bl" rotWithShape="0" blurRad="38100" dist="12700" dir="5400000">
              <a:srgbClr val="000000">
                <a:alpha val="8000"/>
              </a:srgbClr>
            </a:outerShdw>
          </a:effectLst>
        </p:spPr>
      </p:sp>
      <p:sp>
        <p:nvSpPr>
          <p:cNvPr id="8" name="Text 6"/>
          <p:cNvSpPr txBox="1"/>
          <p:nvPr/>
        </p:nvSpPr>
        <p:spPr>
          <a:xfrm>
            <a:off x="5925129" y="5440680"/>
            <a:ext cx="5578023" cy="594360"/>
          </a:xfrm>
          <a:prstGeom prst="rect">
            <a:avLst/>
          </a:prstGeom>
          <a:noFill/>
          <a:ln/>
        </p:spPr>
        <p:txBody>
          <a:bodyPr wrap="square" lIns="0" tIns="0" rIns="0" bIns="0" rtlCol="0" anchor="ctr"/>
          <a:lstStyle/>
          <a:p>
            <a:pPr indent="0" marL="0">
              <a:buNone/>
            </a:pPr>
            <a:r>
              <a:rPr lang="en-US" sz="1100" dirty="0">
                <a:solidFill>
                  <a:srgbClr val="1F2933"/>
                </a:solidFill>
                <a:latin typeface="Calibri" pitchFamily="34" charset="0"/>
                <a:ea typeface="Calibri" pitchFamily="34" charset="-122"/>
                <a:cs typeface="Calibri" pitchFamily="34" charset="-120"/>
              </a:rPr>
              <a:t>Every layout error today is one of these three: too tight, too loose, or unbounded. When you see red and yellow stripes, ask "who gave whom which constraint?"</a:t>
            </a:r>
            <a:endParaRPr lang="en-US" sz="1100" dirty="0"/>
          </a:p>
        </p:txBody>
      </p:sp>
      <p:sp>
        <p:nvSpPr>
          <p:cNvPr id="9" name="Text 7"/>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10" name="Text 8"/>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2545"/>
        </a:solidFill>
      </p:bgPr>
    </p:bg>
    <p:spTree>
      <p:nvGrpSpPr>
        <p:cNvPr id="1" name=""/>
        <p:cNvGrpSpPr/>
        <p:nvPr/>
      </p:nvGrpSpPr>
      <p:grpSpPr>
        <a:xfrm>
          <a:off x="0" y="0"/>
          <a:ext cx="0" cy="0"/>
          <a:chOff x="0" y="0"/>
          <a:chExt cx="0" cy="0"/>
        </a:xfrm>
      </p:grpSpPr>
      <p:sp>
        <p:nvSpPr>
          <p:cNvPr id="2" name="Shape 0"/>
          <p:cNvSpPr/>
          <p:nvPr/>
        </p:nvSpPr>
        <p:spPr>
          <a:xfrm>
            <a:off x="-1371600" y="3840480"/>
            <a:ext cx="4572000" cy="4572000"/>
          </a:xfrm>
          <a:prstGeom prst="ellipse">
            <a:avLst/>
          </a:prstGeom>
          <a:solidFill>
            <a:srgbClr val="13315C"/>
          </a:solidFill>
          <a:ln w="12700">
            <a:solidFill>
              <a:srgbClr val="13315C"/>
            </a:solidFill>
            <a:prstDash val="solid"/>
          </a:ln>
        </p:spPr>
      </p:sp>
      <p:sp>
        <p:nvSpPr>
          <p:cNvPr id="3" name="Text 1"/>
          <p:cNvSpPr txBox="1"/>
          <p:nvPr/>
        </p:nvSpPr>
        <p:spPr>
          <a:xfrm>
            <a:off x="548640" y="1097280"/>
            <a:ext cx="5486400" cy="457200"/>
          </a:xfrm>
          <a:prstGeom prst="rect">
            <a:avLst/>
          </a:prstGeom>
          <a:noFill/>
          <a:ln/>
        </p:spPr>
        <p:txBody>
          <a:bodyPr wrap="square" lIns="0" tIns="0" rIns="0" bIns="0" rtlCol="0" anchor="ctr"/>
          <a:lstStyle/>
          <a:p>
            <a:pPr indent="0" marL="0">
              <a:buNone/>
            </a:pPr>
            <a:r>
              <a:rPr lang="en-US" sz="1400" spc="300" kern="0" dirty="0">
                <a:solidFill>
                  <a:srgbClr val="E3C766"/>
                </a:solidFill>
                <a:latin typeface="Calibri" pitchFamily="34" charset="0"/>
                <a:ea typeface="Calibri" pitchFamily="34" charset="-122"/>
                <a:cs typeface="Calibri" pitchFamily="34" charset="-120"/>
              </a:rPr>
              <a:t>MODULE 5  ·  09:20 - 10:30</a:t>
            </a:r>
            <a:endParaRPr lang="en-US" sz="1400" dirty="0"/>
          </a:p>
        </p:txBody>
      </p:sp>
      <p:sp>
        <p:nvSpPr>
          <p:cNvPr id="4" name="Text 2"/>
          <p:cNvSpPr txBox="1"/>
          <p:nvPr/>
        </p:nvSpPr>
        <p:spPr>
          <a:xfrm>
            <a:off x="548640" y="1554480"/>
            <a:ext cx="6400800" cy="164592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Core widgets</a:t>
            </a:r>
            <a:endParaRPr lang="en-US" sz="4000" dirty="0"/>
          </a:p>
        </p:txBody>
      </p:sp>
      <p:sp>
        <p:nvSpPr>
          <p:cNvPr id="5" name="Shape 3"/>
          <p:cNvSpPr/>
          <p:nvPr/>
        </p:nvSpPr>
        <p:spPr>
          <a:xfrm>
            <a:off x="6949440" y="1188720"/>
            <a:ext cx="4663440" cy="4389120"/>
          </a:xfrm>
          <a:prstGeom prst="roundRect">
            <a:avLst>
              <a:gd name="adj" fmla="val 2083"/>
            </a:avLst>
          </a:prstGeom>
          <a:solidFill>
            <a:srgbClr val="13315C"/>
          </a:solidFill>
          <a:ln w="6350">
            <a:solidFill>
              <a:srgbClr val="13315C"/>
            </a:solidFill>
            <a:prstDash val="solid"/>
          </a:ln>
          <a:effectLst>
            <a:outerShdw sx="100000" sy="100000" kx="0" ky="0" algn="bl" rotWithShape="0" blurRad="38100" dist="12700" dir="5400000">
              <a:srgbClr val="000000">
                <a:alpha val="8000"/>
              </a:srgbClr>
            </a:outerShdw>
          </a:effectLst>
        </p:spPr>
      </p:sp>
      <p:sp>
        <p:nvSpPr>
          <p:cNvPr id="6" name="Text 4"/>
          <p:cNvSpPr txBox="1"/>
          <p:nvPr/>
        </p:nvSpPr>
        <p:spPr>
          <a:xfrm>
            <a:off x="7223760" y="1371600"/>
            <a:ext cx="4206240" cy="365760"/>
          </a:xfrm>
          <a:prstGeom prst="rect">
            <a:avLst/>
          </a:prstGeom>
          <a:noFill/>
          <a:ln/>
        </p:spPr>
        <p:txBody>
          <a:bodyPr wrap="square" lIns="0" tIns="0" rIns="0" bIns="0" rtlCol="0" anchor="ctr"/>
          <a:lstStyle/>
          <a:p>
            <a:pPr indent="0" marL="0">
              <a:buNone/>
            </a:pPr>
            <a:r>
              <a:rPr lang="en-US" sz="1100" dirty="0">
                <a:solidFill>
                  <a:srgbClr val="E3C766"/>
                </a:solidFill>
                <a:latin typeface="Calibri" pitchFamily="34" charset="0"/>
                <a:ea typeface="Calibri" pitchFamily="34" charset="-122"/>
                <a:cs typeface="Calibri" pitchFamily="34" charset="-120"/>
              </a:rPr>
              <a:t>By the end of this module you can</a:t>
            </a:r>
            <a:endParaRPr lang="en-US" sz="1100" dirty="0"/>
          </a:p>
        </p:txBody>
      </p:sp>
      <p:sp>
        <p:nvSpPr>
          <p:cNvPr id="7" name="Text 5"/>
          <p:cNvSpPr txBox="1"/>
          <p:nvPr/>
        </p:nvSpPr>
        <p:spPr>
          <a:xfrm>
            <a:off x="7223760" y="1783080"/>
            <a:ext cx="4206240" cy="365760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Use Container, Text, Icon, Image and the Material 3 button family correctly</a:t>
            </a:r>
            <a:endParaRPr lang="en-US" sz="1400" dirty="0"/>
          </a:p>
          <a:p>
            <a:pPr marL="177800" indent="-1778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Decide Stateless vs Stateful for a given piece of UI</a:t>
            </a:r>
            <a:endParaRPr lang="en-US" sz="1400" dirty="0"/>
          </a:p>
          <a:p>
            <a:pPr marL="177800" indent="-1778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Split large build methods with Extract Widget</a:t>
            </a:r>
            <a:endParaRPr lang="en-US" sz="1400" dirty="0"/>
          </a:p>
          <a:p>
            <a:pPr marL="177800" indent="-1778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Explain what const and Keys do for rebuilds</a:t>
            </a:r>
            <a:endParaRPr lang="en-US" sz="1400" dirty="0"/>
          </a:p>
        </p:txBody>
      </p:sp>
      <p:sp>
        <p:nvSpPr>
          <p:cNvPr id="8" name="Text 6"/>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9" name="Text 7"/>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Container: the Swiss-army box</a:t>
            </a:r>
            <a:endParaRPr lang="en-US" sz="3000" dirty="0"/>
          </a:p>
        </p:txBody>
      </p:sp>
      <p:sp>
        <p:nvSpPr>
          <p:cNvPr id="3" name="Text 1"/>
          <p:cNvSpPr txBox="1"/>
          <p:nvPr/>
        </p:nvSpPr>
        <p:spPr>
          <a:xfrm>
            <a:off x="548640" y="1325880"/>
            <a:ext cx="4965009" cy="475488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Sizing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width/height are preferences; constraints from the parent win.</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padding / margin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EdgeInsets.all, symmetric, only, fromLTRB. margin is outside the decoration, padding inside.</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decoration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BoxDecoration: color, borderRadius, border, boxShadow, gradient, image. Use color OR decoration, not both.</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alignment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positions the child inside the box; also makes the Container expand to fill.</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Prefer specific widgets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Padding, SizedBox, DecoratedBox, Align are cheaper and clearer when you only need one thing.</a:t>
            </a:r>
            <a:endParaRPr lang="en-US" sz="1400" dirty="0"/>
          </a:p>
        </p:txBody>
      </p:sp>
      <p:sp>
        <p:nvSpPr>
          <p:cNvPr id="4" name="Shape 2"/>
          <p:cNvSpPr/>
          <p:nvPr/>
        </p:nvSpPr>
        <p:spPr>
          <a:xfrm>
            <a:off x="5787969" y="1325880"/>
            <a:ext cx="5852343" cy="4754880"/>
          </a:xfrm>
          <a:prstGeom prst="roundRect">
            <a:avLst>
              <a:gd name="adj" fmla="val 1538"/>
            </a:avLst>
          </a:prstGeom>
          <a:solidFill>
            <a:srgbClr val="0F172A"/>
          </a:solidFill>
          <a:ln w="12700">
            <a:solidFill>
              <a:srgbClr val="0F172A"/>
            </a:solidFill>
            <a:prstDash val="solid"/>
          </a:ln>
        </p:spPr>
      </p:sp>
      <p:sp>
        <p:nvSpPr>
          <p:cNvPr id="5" name="Text 3"/>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Dart</a:t>
            </a:r>
            <a:endParaRPr lang="en-US" sz="800" dirty="0"/>
          </a:p>
        </p:txBody>
      </p:sp>
      <p:sp>
        <p:nvSpPr>
          <p:cNvPr id="6" name="Text 4"/>
          <p:cNvSpPr txBox="1"/>
          <p:nvPr/>
        </p:nvSpPr>
        <p:spPr>
          <a:xfrm>
            <a:off x="5925129" y="1435608"/>
            <a:ext cx="5578023" cy="4535424"/>
          </a:xfrm>
          <a:prstGeom prst="rect">
            <a:avLst/>
          </a:prstGeom>
          <a:noFill/>
          <a:ln/>
        </p:spPr>
        <p:txBody>
          <a:bodyPr wrap="square" lIns="0" tIns="0" rIns="0" bIns="0" rtlCol="0" anchor="t"/>
          <a:lstStyle/>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Scaffold(</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body: Center(</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child: Container(</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width: 200,                     // preferred size - honoured only if constraints allow</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height: 120,</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padding: const EdgeInsets.all(16),</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margin: const EdgeInsets.symmetric(horizontal: 24),</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alignment: Alignment.bottomRight,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decoration: BoxDecoration(</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color: Theme.of(context).colorScheme.primaryContainer,</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borderRadius: BorderRadius.circular(12),</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border: Border.all(color: Colors.black12),</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boxShadow: const [BoxShadow(blurRadius: 8, color: Colors.black26)],</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child: const Text('R 1 450 / month'),</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a:t>
            </a:r>
            <a:endParaRPr lang="en-US" sz="10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Text, Icon, Image, and the Material 3 button family</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3105668"/>
                <a:gridCol w="3993002"/>
                <a:gridCol w="3993002"/>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Widget</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0B2545"/>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Use it for</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0B2545"/>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Notes</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0B2545"/>
                    </a:solidFill>
                  </a:tcPr>
                </a:tc>
              </a:tr>
              <a:tr h="0">
                <a:tc>
                  <a:txBody>
                    <a:bodyPr/>
                    <a:lstStyle/>
                    <a:p>
                      <a:pPr indent="0" marL="0">
                        <a:buNone/>
                      </a:pPr>
                      <a:r>
                        <a:rPr lang="en-US" sz="950" b="1" dirty="0">
                          <a:solidFill>
                            <a:srgbClr val="1F2933"/>
                          </a:solidFill>
                          <a:latin typeface="Courier New" pitchFamily="34" charset="0"/>
                          <a:ea typeface="Courier New" pitchFamily="34" charset="-122"/>
                          <a:cs typeface="Courier New" pitchFamily="34" charset="-120"/>
                        </a:rPr>
                        <a:t>Text('…', style:, maxLines:, overflow:)</a:t>
                      </a:r>
                      <a:endParaRPr lang="en-US" sz="950" dirty="0">
                        <a:latin typeface="Courier New" charset="0"/>
                        <a:ea typeface="Courier New" charset="0"/>
                        <a:cs typeface="Courier New"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All text</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Style from Theme.of(context).textTheme; ellipsis needs bounded width</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950" b="1" dirty="0">
                          <a:solidFill>
                            <a:srgbClr val="1F2933"/>
                          </a:solidFill>
                          <a:latin typeface="Courier New" pitchFamily="34" charset="0"/>
                          <a:ea typeface="Courier New" pitchFamily="34" charset="-122"/>
                          <a:cs typeface="Courier New" pitchFamily="34" charset="-120"/>
                        </a:rPr>
                        <a:t>RichText / Text.rich(TextSpan(…))</a:t>
                      </a:r>
                      <a:endParaRPr lang="en-US" sz="950" dirty="0">
                        <a:latin typeface="Courier New" charset="0"/>
                        <a:ea typeface="Courier New" charset="0"/>
                        <a:cs typeface="Courier New"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Mixed styles in one run</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Links via TapGestureRecognizer (dispose it)</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950" b="1" dirty="0">
                          <a:solidFill>
                            <a:srgbClr val="1F2933"/>
                          </a:solidFill>
                          <a:latin typeface="Courier New" pitchFamily="34" charset="0"/>
                          <a:ea typeface="Courier New" pitchFamily="34" charset="-122"/>
                          <a:cs typeface="Courier New" pitchFamily="34" charset="-120"/>
                        </a:rPr>
                        <a:t>Icon(Icons.shield)</a:t>
                      </a:r>
                      <a:endParaRPr lang="en-US" sz="950" dirty="0">
                        <a:latin typeface="Courier New" charset="0"/>
                        <a:ea typeface="Courier New" charset="0"/>
                        <a:cs typeface="Courier New"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Material icons</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Size and color from IconTheme; semanticLabel for a11y</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950" b="1" dirty="0">
                          <a:solidFill>
                            <a:srgbClr val="1F2933"/>
                          </a:solidFill>
                          <a:latin typeface="Courier New" pitchFamily="34" charset="0"/>
                          <a:ea typeface="Courier New" pitchFamily="34" charset="-122"/>
                          <a:cs typeface="Courier New" pitchFamily="34" charset="-120"/>
                        </a:rPr>
                        <a:t>Image.asset / Image.network</a:t>
                      </a:r>
                      <a:endParaRPr lang="en-US" sz="950" dirty="0">
                        <a:latin typeface="Courier New" charset="0"/>
                        <a:ea typeface="Courier New" charset="0"/>
                        <a:cs typeface="Courier New"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Bitmaps</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fit: BoxFit.cover; declare assets in pubspec; hot restart after adding</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950" b="1" dirty="0">
                          <a:solidFill>
                            <a:srgbClr val="1F2933"/>
                          </a:solidFill>
                          <a:latin typeface="Courier New" pitchFamily="34" charset="0"/>
                          <a:ea typeface="Courier New" pitchFamily="34" charset="-122"/>
                          <a:cs typeface="Courier New" pitchFamily="34" charset="-120"/>
                        </a:rPr>
                        <a:t>FilledButton</a:t>
                      </a:r>
                      <a:endParaRPr lang="en-US" sz="950" dirty="0">
                        <a:latin typeface="Courier New" charset="0"/>
                        <a:ea typeface="Courier New" charset="0"/>
                        <a:cs typeface="Courier New"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Primary action (one per screen)</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M3 default; .icon variant; .tonal for secondary emphasis</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950" b="1" dirty="0">
                          <a:solidFill>
                            <a:srgbClr val="1F2933"/>
                          </a:solidFill>
                          <a:latin typeface="Courier New" pitchFamily="34" charset="0"/>
                          <a:ea typeface="Courier New" pitchFamily="34" charset="-122"/>
                          <a:cs typeface="Courier New" pitchFamily="34" charset="-120"/>
                        </a:rPr>
                        <a:t>ElevatedButton</a:t>
                      </a:r>
                      <a:endParaRPr lang="en-US" sz="950" dirty="0">
                        <a:latin typeface="Courier New" charset="0"/>
                        <a:ea typeface="Courier New" charset="0"/>
                        <a:cs typeface="Courier New"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Legacy primary look</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Still fine; prefer FilledButton in M3</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950" b="1" dirty="0">
                          <a:solidFill>
                            <a:srgbClr val="1F2933"/>
                          </a:solidFill>
                          <a:latin typeface="Courier New" pitchFamily="34" charset="0"/>
                          <a:ea typeface="Courier New" pitchFamily="34" charset="-122"/>
                          <a:cs typeface="Courier New" pitchFamily="34" charset="-120"/>
                        </a:rPr>
                        <a:t>OutlinedButton</a:t>
                      </a:r>
                      <a:endParaRPr lang="en-US" sz="950" dirty="0">
                        <a:latin typeface="Courier New" charset="0"/>
                        <a:ea typeface="Courier New" charset="0"/>
                        <a:cs typeface="Courier New"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Secondary action</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Same API as FilledButton</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950" b="1" dirty="0">
                          <a:solidFill>
                            <a:srgbClr val="1F2933"/>
                          </a:solidFill>
                          <a:latin typeface="Courier New" pitchFamily="34" charset="0"/>
                          <a:ea typeface="Courier New" pitchFamily="34" charset="-122"/>
                          <a:cs typeface="Courier New" pitchFamily="34" charset="-120"/>
                        </a:rPr>
                        <a:t>TextButton</a:t>
                      </a:r>
                      <a:endParaRPr lang="en-US" sz="950" dirty="0">
                        <a:latin typeface="Courier New" charset="0"/>
                        <a:ea typeface="Courier New" charset="0"/>
                        <a:cs typeface="Courier New"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Low emphasis (dialog actions, links)</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950" b="1" dirty="0">
                          <a:solidFill>
                            <a:srgbClr val="1F2933"/>
                          </a:solidFill>
                          <a:latin typeface="Courier New" pitchFamily="34" charset="0"/>
                          <a:ea typeface="Courier New" pitchFamily="34" charset="-122"/>
                          <a:cs typeface="Courier New" pitchFamily="34" charset="-120"/>
                        </a:rPr>
                        <a:t>IconButton</a:t>
                      </a:r>
                      <a:endParaRPr lang="en-US" sz="950" dirty="0">
                        <a:latin typeface="Courier New" charset="0"/>
                        <a:ea typeface="Courier New" charset="0"/>
                        <a:cs typeface="Courier New"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Icon-only, toolbar/app bar</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Always set tooltip: for accessibility</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950" b="1" dirty="0">
                          <a:solidFill>
                            <a:srgbClr val="1F2933"/>
                          </a:solidFill>
                          <a:latin typeface="Courier New" pitchFamily="34" charset="0"/>
                          <a:ea typeface="Courier New" pitchFamily="34" charset="-122"/>
                          <a:cs typeface="Courier New" pitchFamily="34" charset="-120"/>
                        </a:rPr>
                        <a:t>FloatingActionButton</a:t>
                      </a:r>
                      <a:endParaRPr lang="en-US" sz="950" dirty="0">
                        <a:latin typeface="Courier New" charset="0"/>
                        <a:ea typeface="Courier New" charset="0"/>
                        <a:cs typeface="Courier New"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One screen-level action</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Scaffold.floatingActionButton</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950" b="1" dirty="0">
                          <a:solidFill>
                            <a:srgbClr val="1F2933"/>
                          </a:solidFill>
                          <a:latin typeface="Courier New" pitchFamily="34" charset="0"/>
                          <a:ea typeface="Courier New" pitchFamily="34" charset="-122"/>
                          <a:cs typeface="Courier New" pitchFamily="34" charset="-120"/>
                        </a:rPr>
                        <a:t>SegmentedButton&lt;T&gt;</a:t>
                      </a:r>
                      <a:endParaRPr lang="en-US" sz="950" dirty="0">
                        <a:latin typeface="Courier New" charset="0"/>
                        <a:ea typeface="Courier New" charset="0"/>
                        <a:cs typeface="Courier New"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Pick one/many of 2-5 options</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Replaces ToggleButtons in M3</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Disable any button</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950" dirty="0">
                          <a:solidFill>
                            <a:srgbClr val="1F2933"/>
                          </a:solidFill>
                          <a:latin typeface="Courier New" pitchFamily="34" charset="0"/>
                          <a:ea typeface="Courier New" pitchFamily="34" charset="-122"/>
                          <a:cs typeface="Courier New" pitchFamily="34" charset="-120"/>
                        </a:rPr>
                        <a:t>onPressed: null</a:t>
                      </a:r>
                      <a:endParaRPr lang="en-US" sz="950" dirty="0">
                        <a:latin typeface="Courier New" charset="0"/>
                        <a:ea typeface="Courier New" charset="0"/>
                        <a:cs typeface="Courier New"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Widget greys out automatically</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bl>
          </a:graphicData>
        </a:graphic>
      </p:graphicFrame>
      <p:sp>
        <p:nvSpPr>
          <p:cNvPr id="4" name="Text 1"/>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5" name="Text 2"/>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Stateless vs Stateful: the decision rule</a:t>
            </a:r>
            <a:endParaRPr lang="en-US" sz="3000" dirty="0"/>
          </a:p>
        </p:txBody>
      </p:sp>
      <p:sp>
        <p:nvSpPr>
          <p:cNvPr id="3" name="Shape 1"/>
          <p:cNvSpPr/>
          <p:nvPr/>
        </p:nvSpPr>
        <p:spPr>
          <a:xfrm>
            <a:off x="548640" y="1325880"/>
            <a:ext cx="5408676" cy="4023360"/>
          </a:xfrm>
          <a:prstGeom prst="roundRect">
            <a:avLst>
              <a:gd name="adj" fmla="val 2273"/>
            </a:avLst>
          </a:prstGeom>
          <a:solidFill>
            <a:srgbClr val="F3F5F8"/>
          </a:solidFill>
          <a:ln w="6350">
            <a:solidFill>
              <a:srgbClr val="F3F5F8"/>
            </a:solidFill>
            <a:prstDash val="solid"/>
          </a:ln>
          <a:effectLst>
            <a:outerShdw sx="100000" sy="100000" kx="0" ky="0" algn="bl" rotWithShape="0" blurRad="38100" dist="12700" dir="5400000">
              <a:srgbClr val="000000">
                <a:alpha val="8000"/>
              </a:srgbClr>
            </a:outerShdw>
          </a:effectLst>
        </p:spPr>
      </p:sp>
      <p:sp>
        <p:nvSpPr>
          <p:cNvPr id="4" name="Text 2"/>
          <p:cNvSpPr txBox="1"/>
          <p:nvPr/>
        </p:nvSpPr>
        <p:spPr>
          <a:xfrm>
            <a:off x="777240" y="1463040"/>
            <a:ext cx="4951476" cy="41148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Make it Stateless when…</a:t>
            </a:r>
            <a:endParaRPr lang="en-US" sz="1700" dirty="0"/>
          </a:p>
        </p:txBody>
      </p:sp>
      <p:sp>
        <p:nvSpPr>
          <p:cNvPr id="5" name="Text 3"/>
          <p:cNvSpPr txBox="1"/>
          <p:nvPr/>
        </p:nvSpPr>
        <p:spPr>
          <a:xfrm>
            <a:off x="777240" y="1965960"/>
            <a:ext cx="4951476" cy="320040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Everything it shows comes from constructor arguments</a:t>
            </a:r>
            <a:endParaRPr lang="en-US" sz="1300" dirty="0"/>
          </a:p>
          <a:p>
            <a:pPr marL="177800" indent="-177800">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It reacts to nothing except a rebuild from its parent</a:t>
            </a:r>
            <a:endParaRPr lang="en-US" sz="1300" dirty="0"/>
          </a:p>
          <a:p>
            <a:pPr marL="177800" indent="-177800">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Examples today: BrandHeader, PremiumBadge, QuoteTile, most cards and rows</a:t>
            </a:r>
            <a:endParaRPr lang="en-US" sz="1300" dirty="0"/>
          </a:p>
          <a:p>
            <a:pPr marL="177800" indent="-177800">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Default choice. Cheap, testable, composable.</a:t>
            </a:r>
            <a:endParaRPr lang="en-US" sz="1300" dirty="0"/>
          </a:p>
        </p:txBody>
      </p:sp>
      <p:sp>
        <p:nvSpPr>
          <p:cNvPr id="6" name="Shape 4"/>
          <p:cNvSpPr/>
          <p:nvPr/>
        </p:nvSpPr>
        <p:spPr>
          <a:xfrm>
            <a:off x="6231636" y="1325880"/>
            <a:ext cx="5408676" cy="4023360"/>
          </a:xfrm>
          <a:prstGeom prst="roundRect">
            <a:avLst>
              <a:gd name="adj" fmla="val 2273"/>
            </a:avLst>
          </a:prstGeom>
          <a:solidFill>
            <a:srgbClr val="EAF0F7"/>
          </a:solidFill>
          <a:ln w="6350">
            <a:solidFill>
              <a:srgbClr val="EAF0F7"/>
            </a:solidFill>
            <a:prstDash val="solid"/>
          </a:ln>
          <a:effectLst>
            <a:outerShdw sx="100000" sy="100000" kx="0" ky="0" algn="bl" rotWithShape="0" blurRad="38100" dist="12700" dir="5400000">
              <a:srgbClr val="000000">
                <a:alpha val="8000"/>
              </a:srgbClr>
            </a:outerShdw>
          </a:effectLst>
        </p:spPr>
      </p:sp>
      <p:sp>
        <p:nvSpPr>
          <p:cNvPr id="7" name="Text 5"/>
          <p:cNvSpPr txBox="1"/>
          <p:nvPr/>
        </p:nvSpPr>
        <p:spPr>
          <a:xfrm>
            <a:off x="6460236" y="1463040"/>
            <a:ext cx="4951476" cy="41148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Make it Stateful when…</a:t>
            </a:r>
            <a:endParaRPr lang="en-US" sz="1700" dirty="0"/>
          </a:p>
        </p:txBody>
      </p:sp>
      <p:sp>
        <p:nvSpPr>
          <p:cNvPr id="8" name="Text 6"/>
          <p:cNvSpPr txBox="1"/>
          <p:nvPr/>
        </p:nvSpPr>
        <p:spPr>
          <a:xfrm>
            <a:off x="6460236" y="1965960"/>
            <a:ext cx="4951476" cy="320040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It owns a controller: TextEditingController, ScrollController, AnimationController, FocusNode</a:t>
            </a:r>
            <a:endParaRPr lang="en-US" sz="1300" dirty="0"/>
          </a:p>
          <a:p>
            <a:pPr marL="177800" indent="-177800">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It has local UI state nobody else needs: toggle, expanded/collapsed, current tab, form field values</a:t>
            </a:r>
            <a:endParaRPr lang="en-US" sz="1300" dirty="0"/>
          </a:p>
          <a:p>
            <a:pPr marL="177800" indent="-177800">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It needs initState / dispose lifecycle</a:t>
            </a:r>
            <a:endParaRPr lang="en-US" sz="1300" dirty="0"/>
          </a:p>
          <a:p>
            <a:pPr marL="177800" indent="-177800">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Examples today: CaptureForm, brand toggle (until Riverpod replaces it tomorrow)</a:t>
            </a:r>
            <a:endParaRPr lang="en-US" sz="1300" dirty="0"/>
          </a:p>
        </p:txBody>
      </p:sp>
      <p:sp>
        <p:nvSpPr>
          <p:cNvPr id="9" name="Text 7"/>
          <p:cNvSpPr txBox="1"/>
          <p:nvPr/>
        </p:nvSpPr>
        <p:spPr>
          <a:xfrm>
            <a:off x="548640" y="5486400"/>
            <a:ext cx="11091672" cy="640080"/>
          </a:xfrm>
          <a:prstGeom prst="rect">
            <a:avLst/>
          </a:prstGeom>
          <a:noFill/>
          <a:ln/>
        </p:spPr>
        <p:txBody>
          <a:bodyPr wrap="square" lIns="0" tIns="0" rIns="0" bIns="0" rtlCol="0" anchor="ctr"/>
          <a:lstStyle/>
          <a:p>
            <a:pPr indent="0" marL="0">
              <a:buNone/>
            </a:pPr>
            <a:r>
              <a:rPr lang="en-US" sz="1300" i="1" dirty="0">
                <a:solidFill>
                  <a:srgbClr val="1F2933"/>
                </a:solidFill>
                <a:latin typeface="Calibri" pitchFamily="34" charset="0"/>
                <a:ea typeface="Calibri" pitchFamily="34" charset="-122"/>
                <a:cs typeface="Calibri" pitchFamily="34" charset="-120"/>
              </a:rPr>
              <a:t>Business state (the quote, the user, the cart) is neither - it goes to Riverpod tomorrow. If two widgets need the same state, it does not belong in either of them.</a:t>
            </a:r>
            <a:endParaRPr lang="en-US" sz="1300" dirty="0"/>
          </a:p>
        </p:txBody>
      </p:sp>
      <p:sp>
        <p:nvSpPr>
          <p:cNvPr id="10" name="Text 8"/>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11" name="Text 9"/>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Three habits that keep build() readable and fast</a:t>
            </a:r>
            <a:endParaRPr lang="en-US" sz="3000" dirty="0"/>
          </a:p>
        </p:txBody>
      </p:sp>
      <p:sp>
        <p:nvSpPr>
          <p:cNvPr id="3" name="Text 1"/>
          <p:cNvSpPr txBox="1"/>
          <p:nvPr/>
        </p:nvSpPr>
        <p:spPr>
          <a:xfrm>
            <a:off x="548640" y="1325880"/>
            <a:ext cx="11091672" cy="4754880"/>
          </a:xfrm>
          <a:prstGeom prst="rect">
            <a:avLst/>
          </a:prstGeom>
          <a:noFill/>
          <a:ln/>
        </p:spPr>
        <p:txBody>
          <a:bodyPr wrap="square" lIns="0" tIns="0" rIns="0" bIns="0" rtlCol="0" anchor="t"/>
          <a:lstStyle/>
          <a:p>
            <a:pPr marL="177800" indent="-177800">
              <a:spcAft>
                <a:spcPts val="1000"/>
              </a:spcAft>
              <a:buSzPct val="100000"/>
              <a:buChar char="•"/>
            </a:pPr>
            <a:r>
              <a:rPr lang="en-US" sz="1600" b="1" dirty="0">
                <a:solidFill>
                  <a:srgbClr val="0B2545"/>
                </a:solidFill>
                <a:latin typeface="Calibri" pitchFamily="34" charset="0"/>
                <a:ea typeface="Calibri" pitchFamily="34" charset="-122"/>
                <a:cs typeface="Calibri" pitchFamily="34" charset="-120"/>
              </a:rPr>
              <a:t>1. Extract Widget </a:t>
            </a:r>
            <a:pPr indent="0" marL="0">
              <a:spcAft>
                <a:spcPts val="1000"/>
              </a:spcAft>
              <a:buNone/>
            </a:pPr>
            <a:r>
              <a:rPr lang="en-US" sz="1600" dirty="0">
                <a:solidFill>
                  <a:srgbClr val="1F2933"/>
                </a:solidFill>
                <a:latin typeface="Calibri" pitchFamily="34" charset="0"/>
                <a:ea typeface="Calibri" pitchFamily="34" charset="-122"/>
                <a:cs typeface="Calibri" pitchFamily="34" charset="-120"/>
              </a:rPr>
              <a:t>cursor on a subtree → Ctrl/Cmd+. → Extract Widget → name it. Prefer a new class over a helper method: classes get their own element, const, and rebuild scope.</a:t>
            </a:r>
            <a:endParaRPr lang="en-US" sz="1600" dirty="0"/>
          </a:p>
          <a:p>
            <a:pPr marL="177800" indent="-177800">
              <a:spcAft>
                <a:spcPts val="1000"/>
              </a:spcAft>
              <a:buSzPct val="100000"/>
              <a:buChar char="•"/>
            </a:pPr>
            <a:r>
              <a:rPr lang="en-US" sz="1600" b="1" dirty="0">
                <a:solidFill>
                  <a:srgbClr val="0B2545"/>
                </a:solidFill>
                <a:latin typeface="Calibri" pitchFamily="34" charset="0"/>
                <a:ea typeface="Calibri" pitchFamily="34" charset="-122"/>
                <a:cs typeface="Calibri" pitchFamily="34" charset="-120"/>
              </a:rPr>
              <a:t>2. const constructors </a:t>
            </a:r>
            <a:pPr indent="0" marL="0">
              <a:spcAft>
                <a:spcPts val="1000"/>
              </a:spcAft>
              <a:buNone/>
            </a:pPr>
            <a:r>
              <a:rPr lang="en-US" sz="1600" dirty="0">
                <a:solidFill>
                  <a:srgbClr val="1F2933"/>
                </a:solidFill>
                <a:latin typeface="Calibri" pitchFamily="34" charset="0"/>
                <a:ea typeface="Calibri" pitchFamily="34" charset="-122"/>
                <a:cs typeface="Calibri" pitchFamily="34" charset="-120"/>
              </a:rPr>
              <a:t>a const widget is created once and skipped on every rebuild. The analyser suggests them; dart fix --apply adds them project-wide.</a:t>
            </a:r>
            <a:endParaRPr lang="en-US" sz="1600" dirty="0"/>
          </a:p>
          <a:p>
            <a:pPr marL="177800" indent="-177800">
              <a:spcAft>
                <a:spcPts val="1000"/>
              </a:spcAft>
              <a:buSzPct val="100000"/>
              <a:buChar char="•"/>
            </a:pPr>
            <a:r>
              <a:rPr lang="en-US" sz="1600" b="1" dirty="0">
                <a:solidFill>
                  <a:srgbClr val="0B2545"/>
                </a:solidFill>
                <a:latin typeface="Calibri" pitchFamily="34" charset="0"/>
                <a:ea typeface="Calibri" pitchFamily="34" charset="-122"/>
                <a:cs typeface="Calibri" pitchFamily="34" charset="-120"/>
              </a:rPr>
              <a:t>3. Keys </a:t>
            </a:r>
            <a:pPr indent="0" marL="0">
              <a:spcAft>
                <a:spcPts val="1000"/>
              </a:spcAft>
              <a:buNone/>
            </a:pPr>
            <a:r>
              <a:rPr lang="en-US" sz="1600" dirty="0">
                <a:solidFill>
                  <a:srgbClr val="1F2933"/>
                </a:solidFill>
                <a:latin typeface="Calibri" pitchFamily="34" charset="0"/>
                <a:ea typeface="Calibri" pitchFamily="34" charset="-122"/>
                <a:cs typeface="Calibri" pitchFamily="34" charset="-120"/>
              </a:rPr>
              <a:t>only needed when siblings of the same type are reordered, inserted or removed (lists, Dismissible, AnimatedList). Use ValueKey(id), never index.</a:t>
            </a:r>
            <a:endParaRPr lang="en-US" sz="1600" dirty="0"/>
          </a:p>
          <a:p>
            <a:pPr marL="177800" indent="-177800">
              <a:spcAft>
                <a:spcPts val="1000"/>
              </a:spcAft>
              <a:buSzPct val="100000"/>
              <a:buChar char="•"/>
            </a:pPr>
            <a:r>
              <a:rPr lang="en-US" sz="1600" b="1" dirty="0">
                <a:solidFill>
                  <a:srgbClr val="0B2545"/>
                </a:solidFill>
                <a:latin typeface="Calibri" pitchFamily="34" charset="0"/>
                <a:ea typeface="Calibri" pitchFamily="34" charset="-122"/>
                <a:cs typeface="Calibri" pitchFamily="34" charset="-120"/>
              </a:rPr>
              <a:t>Anti-pattern </a:t>
            </a:r>
            <a:pPr indent="0" marL="0">
              <a:spcAft>
                <a:spcPts val="1000"/>
              </a:spcAft>
              <a:buNone/>
            </a:pPr>
            <a:r>
              <a:rPr lang="en-US" sz="1600" dirty="0">
                <a:solidFill>
                  <a:srgbClr val="1F2933"/>
                </a:solidFill>
                <a:latin typeface="Calibri" pitchFamily="34" charset="0"/>
                <a:ea typeface="Calibri" pitchFamily="34" charset="-122"/>
                <a:cs typeface="Calibri" pitchFamily="34" charset="-120"/>
              </a:rPr>
              <a:t>Widget _buildHeader() helper methods returning widgets. They work, but they rebuild with the parent and cannot be const.</a:t>
            </a:r>
            <a:endParaRPr lang="en-US" sz="1600" dirty="0"/>
          </a:p>
        </p:txBody>
      </p:sp>
      <p:sp>
        <p:nvSpPr>
          <p:cNvPr id="4" name="Shape 2"/>
          <p:cNvSpPr/>
          <p:nvPr/>
        </p:nvSpPr>
        <p:spPr>
          <a:xfrm>
            <a:off x="548640" y="5394960"/>
            <a:ext cx="11091672" cy="685800"/>
          </a:xfrm>
          <a:prstGeom prst="roundRect">
            <a:avLst>
              <a:gd name="adj" fmla="val 13333"/>
            </a:avLst>
          </a:prstGeom>
          <a:solidFill>
            <a:srgbClr val="FBF6E3"/>
          </a:solidFill>
          <a:ln w="6350">
            <a:solidFill>
              <a:srgbClr val="FBF6E3"/>
            </a:solidFill>
            <a:prstDash val="solid"/>
          </a:ln>
          <a:effectLst>
            <a:outerShdw sx="100000" sy="100000" kx="0" ky="0" algn="bl" rotWithShape="0" blurRad="38100" dist="12700" dir="5400000">
              <a:srgbClr val="000000">
                <a:alpha val="8000"/>
              </a:srgbClr>
            </a:outerShdw>
          </a:effectLst>
        </p:spPr>
      </p:sp>
      <p:sp>
        <p:nvSpPr>
          <p:cNvPr id="5" name="Text 3"/>
          <p:cNvSpPr txBox="1"/>
          <p:nvPr/>
        </p:nvSpPr>
        <p:spPr>
          <a:xfrm>
            <a:off x="685800" y="5440680"/>
            <a:ext cx="10817352" cy="594360"/>
          </a:xfrm>
          <a:prstGeom prst="rect">
            <a:avLst/>
          </a:prstGeom>
          <a:noFill/>
          <a:ln/>
        </p:spPr>
        <p:txBody>
          <a:bodyPr wrap="square" lIns="0" tIns="0" rIns="0" bIns="0" rtlCol="0" anchor="ctr"/>
          <a:lstStyle/>
          <a:p>
            <a:pPr indent="0" marL="0">
              <a:buNone/>
            </a:pPr>
            <a:r>
              <a:rPr lang="en-US" sz="1200" dirty="0">
                <a:solidFill>
                  <a:srgbClr val="1F2933"/>
                </a:solidFill>
                <a:latin typeface="Calibri" pitchFamily="34" charset="0"/>
                <a:ea typeface="Calibri" pitchFamily="34" charset="-122"/>
                <a:cs typeface="Calibri" pitchFamily="34" charset="-120"/>
              </a:rPr>
              <a:t>Rule of thumb: if a build() method does not fit on one screen, extract. If a widget takes no parameters that change, make it const.</a:t>
            </a:r>
            <a:endParaRPr lang="en-US" sz="1200" dirty="0"/>
          </a:p>
        </p:txBody>
      </p:sp>
      <p:sp>
        <p:nvSpPr>
          <p:cNvPr id="6" name="Text 4"/>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7" name="Text 5"/>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2545"/>
        </a:solidFill>
      </p:bgPr>
    </p:bg>
    <p:spTree>
      <p:nvGrpSpPr>
        <p:cNvPr id="1" name=""/>
        <p:cNvGrpSpPr/>
        <p:nvPr/>
      </p:nvGrpSpPr>
      <p:grpSpPr>
        <a:xfrm>
          <a:off x="0" y="0"/>
          <a:ext cx="0" cy="0"/>
          <a:chOff x="0" y="0"/>
          <a:chExt cx="0" cy="0"/>
        </a:xfrm>
      </p:grpSpPr>
      <p:sp>
        <p:nvSpPr>
          <p:cNvPr id="2" name="Shape 0"/>
          <p:cNvSpPr/>
          <p:nvPr/>
        </p:nvSpPr>
        <p:spPr>
          <a:xfrm>
            <a:off x="-1371600" y="3840480"/>
            <a:ext cx="4572000" cy="4572000"/>
          </a:xfrm>
          <a:prstGeom prst="ellipse">
            <a:avLst/>
          </a:prstGeom>
          <a:solidFill>
            <a:srgbClr val="13315C"/>
          </a:solidFill>
          <a:ln w="12700">
            <a:solidFill>
              <a:srgbClr val="13315C"/>
            </a:solidFill>
            <a:prstDash val="solid"/>
          </a:ln>
        </p:spPr>
      </p:sp>
      <p:sp>
        <p:nvSpPr>
          <p:cNvPr id="3" name="Text 1"/>
          <p:cNvSpPr txBox="1"/>
          <p:nvPr/>
        </p:nvSpPr>
        <p:spPr>
          <a:xfrm>
            <a:off x="548640" y="1097280"/>
            <a:ext cx="5486400" cy="457200"/>
          </a:xfrm>
          <a:prstGeom prst="rect">
            <a:avLst/>
          </a:prstGeom>
          <a:noFill/>
          <a:ln/>
        </p:spPr>
        <p:txBody>
          <a:bodyPr wrap="square" lIns="0" tIns="0" rIns="0" bIns="0" rtlCol="0" anchor="ctr"/>
          <a:lstStyle/>
          <a:p>
            <a:pPr indent="0" marL="0">
              <a:buNone/>
            </a:pPr>
            <a:r>
              <a:rPr lang="en-US" sz="1400" spc="300" kern="0" dirty="0">
                <a:solidFill>
                  <a:srgbClr val="E3C766"/>
                </a:solidFill>
                <a:latin typeface="Calibri" pitchFamily="34" charset="0"/>
                <a:ea typeface="Calibri" pitchFamily="34" charset="-122"/>
                <a:cs typeface="Calibri" pitchFamily="34" charset="-120"/>
              </a:rPr>
              <a:t>MODULE 6  ·  10:45 - 12:30</a:t>
            </a:r>
            <a:endParaRPr lang="en-US" sz="1400" dirty="0"/>
          </a:p>
        </p:txBody>
      </p:sp>
      <p:sp>
        <p:nvSpPr>
          <p:cNvPr id="4" name="Text 2"/>
          <p:cNvSpPr txBox="1"/>
          <p:nvPr/>
        </p:nvSpPr>
        <p:spPr>
          <a:xfrm>
            <a:off x="548640" y="1554480"/>
            <a:ext cx="6400800" cy="164592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The layout system</a:t>
            </a:r>
            <a:endParaRPr lang="en-US" sz="4000" dirty="0"/>
          </a:p>
        </p:txBody>
      </p:sp>
      <p:sp>
        <p:nvSpPr>
          <p:cNvPr id="5" name="Shape 3"/>
          <p:cNvSpPr/>
          <p:nvPr/>
        </p:nvSpPr>
        <p:spPr>
          <a:xfrm>
            <a:off x="6949440" y="1188720"/>
            <a:ext cx="4663440" cy="4389120"/>
          </a:xfrm>
          <a:prstGeom prst="roundRect">
            <a:avLst>
              <a:gd name="adj" fmla="val 2083"/>
            </a:avLst>
          </a:prstGeom>
          <a:solidFill>
            <a:srgbClr val="13315C"/>
          </a:solidFill>
          <a:ln w="6350">
            <a:solidFill>
              <a:srgbClr val="13315C"/>
            </a:solidFill>
            <a:prstDash val="solid"/>
          </a:ln>
          <a:effectLst>
            <a:outerShdw sx="100000" sy="100000" kx="0" ky="0" algn="bl" rotWithShape="0" blurRad="38100" dist="12700" dir="5400000">
              <a:srgbClr val="000000">
                <a:alpha val="8000"/>
              </a:srgbClr>
            </a:outerShdw>
          </a:effectLst>
        </p:spPr>
      </p:sp>
      <p:sp>
        <p:nvSpPr>
          <p:cNvPr id="6" name="Text 4"/>
          <p:cNvSpPr txBox="1"/>
          <p:nvPr/>
        </p:nvSpPr>
        <p:spPr>
          <a:xfrm>
            <a:off x="7223760" y="1371600"/>
            <a:ext cx="4206240" cy="365760"/>
          </a:xfrm>
          <a:prstGeom prst="rect">
            <a:avLst/>
          </a:prstGeom>
          <a:noFill/>
          <a:ln/>
        </p:spPr>
        <p:txBody>
          <a:bodyPr wrap="square" lIns="0" tIns="0" rIns="0" bIns="0" rtlCol="0" anchor="ctr"/>
          <a:lstStyle/>
          <a:p>
            <a:pPr indent="0" marL="0">
              <a:buNone/>
            </a:pPr>
            <a:r>
              <a:rPr lang="en-US" sz="1100" dirty="0">
                <a:solidFill>
                  <a:srgbClr val="E3C766"/>
                </a:solidFill>
                <a:latin typeface="Calibri" pitchFamily="34" charset="0"/>
                <a:ea typeface="Calibri" pitchFamily="34" charset="-122"/>
                <a:cs typeface="Calibri" pitchFamily="34" charset="-120"/>
              </a:rPr>
              <a:t>By the end of this module you can</a:t>
            </a:r>
            <a:endParaRPr lang="en-US" sz="1100" dirty="0"/>
          </a:p>
        </p:txBody>
      </p:sp>
      <p:sp>
        <p:nvSpPr>
          <p:cNvPr id="7" name="Text 5"/>
          <p:cNvSpPr txBox="1"/>
          <p:nvPr/>
        </p:nvSpPr>
        <p:spPr>
          <a:xfrm>
            <a:off x="7223760" y="1783080"/>
            <a:ext cx="4206240" cy="365760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Build any screen from Row, Column, Stack, Expanded and SizedBox</a:t>
            </a:r>
            <a:endParaRPr lang="en-US" sz="1400" dirty="0"/>
          </a:p>
          <a:p>
            <a:pPr marL="177800" indent="-1778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Diagnose and fix the four overflow / constraint errors on sight</a:t>
            </a:r>
            <a:endParaRPr lang="en-US" sz="1400" dirty="0"/>
          </a:p>
          <a:p>
            <a:pPr marL="177800" indent="-1778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Make a layout respond to width, orientation and safe areas</a:t>
            </a:r>
            <a:endParaRPr lang="en-US" sz="1400" dirty="0"/>
          </a:p>
          <a:p>
            <a:pPr marL="177800" indent="-1778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Read a layout in the DevTools Layout Explorer</a:t>
            </a:r>
            <a:endParaRPr lang="en-US" sz="1400" dirty="0"/>
          </a:p>
        </p:txBody>
      </p:sp>
      <p:sp>
        <p:nvSpPr>
          <p:cNvPr id="8" name="Text 6"/>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9" name="Text 7"/>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Row and Column: main axis, cross axis, and who gets the space</a:t>
            </a:r>
            <a:endParaRPr lang="en-US" sz="3000" dirty="0"/>
          </a:p>
        </p:txBody>
      </p:sp>
      <p:sp>
        <p:nvSpPr>
          <p:cNvPr id="3" name="Text 1"/>
          <p:cNvSpPr txBox="1"/>
          <p:nvPr/>
        </p:nvSpPr>
        <p:spPr>
          <a:xfrm>
            <a:off x="548640" y="1325880"/>
            <a:ext cx="4521342" cy="475488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Main axis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Row → horizontal, Column → vertical. mainAxisAlignment spaces children along it.</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Cross axis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the other one. crossAxisAlignment: start / center / end / stretch.</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mainAxisSize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max (fill the parent, default) or min (shrink-wrap).</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Expanded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child must take exactly its share of leftover space (flex).</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Flexible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child may take up to its share; FlexFit.loose.</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Spacer / SizedBox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empty flexible gap / fixed gap. Prefer SizedBox(height: 12) over Padding for gaps.</a:t>
            </a:r>
            <a:endParaRPr lang="en-US" sz="1400" dirty="0"/>
          </a:p>
        </p:txBody>
      </p:sp>
      <p:sp>
        <p:nvSpPr>
          <p:cNvPr id="4" name="Shape 2"/>
          <p:cNvSpPr/>
          <p:nvPr/>
        </p:nvSpPr>
        <p:spPr>
          <a:xfrm>
            <a:off x="5344302" y="1325880"/>
            <a:ext cx="6296010" cy="4754880"/>
          </a:xfrm>
          <a:prstGeom prst="roundRect">
            <a:avLst>
              <a:gd name="adj" fmla="val 1538"/>
            </a:avLst>
          </a:prstGeom>
          <a:solidFill>
            <a:srgbClr val="0F172A"/>
          </a:solidFill>
          <a:ln w="12700">
            <a:solidFill>
              <a:srgbClr val="0F172A"/>
            </a:solidFill>
            <a:prstDash val="solid"/>
          </a:ln>
        </p:spPr>
      </p:sp>
      <p:sp>
        <p:nvSpPr>
          <p:cNvPr id="5" name="Text 3"/>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Dart</a:t>
            </a:r>
            <a:endParaRPr lang="en-US" sz="800" dirty="0"/>
          </a:p>
        </p:txBody>
      </p:sp>
      <p:sp>
        <p:nvSpPr>
          <p:cNvPr id="6" name="Text 4"/>
          <p:cNvSpPr txBox="1"/>
          <p:nvPr/>
        </p:nvSpPr>
        <p:spPr>
          <a:xfrm>
            <a:off x="5481462" y="1435608"/>
            <a:ext cx="6021690" cy="4535424"/>
          </a:xfrm>
          <a:prstGeom prst="rect">
            <a:avLst/>
          </a:prstGeom>
          <a:noFill/>
          <a:ln/>
        </p:spPr>
        <p:txBody>
          <a:bodyPr wrap="square" lIns="0" tIns="0" rIns="0" bIns="0" rtlCol="0" anchor="t"/>
          <a:lstStyle/>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Column(</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mainAxisAlignment: MainAxisAlignment.start,       // main axis = vertical</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crossAxisAlignment: CrossAxisAlignment.stretch,   // cross axis = horizontal</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mainAxisSize: MainAxisSize.min,                   // shrink-wrap vs fill</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children: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Row(</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children: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const Icon(Icons.directions_car),</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const SizedBox(width: 8),</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Expanded(child: Text('VW Polo 2020', overflow: TextOverflow.ellipsis)),</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Text('R 1 450', style: Theme.of(context).textTheme.titleMedium),</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const SizedBox(height: 12),</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Row(</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children: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Expanded(flex: 2, child: FilledButton(onPressed: () {}, child: const Text('Accept'))),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const SizedBox(width: 8),</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Expanded(flex: 1, child: OutlinedButton(onPressed: () {}, child: const Text('Edit'))),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a:t>
            </a:r>
            <a:endParaRPr lang="en-US" sz="9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The four errors you will see today, and their fixes</a:t>
            </a:r>
            <a:endParaRPr lang="en-US" sz="3000" dirty="0"/>
          </a:p>
        </p:txBody>
      </p:sp>
      <p:sp>
        <p:nvSpPr>
          <p:cNvPr id="3" name="Shape 1"/>
          <p:cNvSpPr/>
          <p:nvPr/>
        </p:nvSpPr>
        <p:spPr>
          <a:xfrm>
            <a:off x="548640" y="1325880"/>
            <a:ext cx="11091672" cy="4206240"/>
          </a:xfrm>
          <a:prstGeom prst="roundRect">
            <a:avLst>
              <a:gd name="adj" fmla="val 173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Dart</a:t>
            </a:r>
            <a:endParaRPr lang="en-US" sz="800" dirty="0"/>
          </a:p>
        </p:txBody>
      </p:sp>
      <p:sp>
        <p:nvSpPr>
          <p:cNvPr id="5" name="Text 3"/>
          <p:cNvSpPr txBox="1"/>
          <p:nvPr/>
        </p:nvSpPr>
        <p:spPr>
          <a:xfrm>
            <a:off x="685800" y="1435608"/>
            <a:ext cx="10817352" cy="3986784"/>
          </a:xfrm>
          <a:prstGeom prst="rect">
            <a:avLst/>
          </a:prstGeom>
          <a:noFill/>
          <a:ln/>
        </p:spPr>
        <p:txBody>
          <a:bodyPr wrap="square" lIns="0" tIns="0" rIns="0" bIns="0" rtlCol="0" anchor="t"/>
          <a:lstStyle/>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1) "A RenderFlex overflowed by 42 pixels on the right"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Row(children: [Text('A very long vehicle description that will not fit')])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FIX: give the text bounded width</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Row(children: [Expanded(child: Text('A very long…', overflow: TextOverflow.ellipsis))])</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2) "Vertical viewport was given unbounded height"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Column(children: [ListView(children: const [Text('a')])])</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FIX: bound the ListView</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Column(children: [Expanded(child: ListView(children: const [Text('a')]))])</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or (short lists only): ListView(shrinkWrap: true, physics: NeverScrollableScrollPhysics())</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3) "Incorrect use of ParentDataWidget"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Container(child: Expanded(child: Text('x')))</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FIX: Expanded/Flexible only directly inside Row / Column / Flex</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Column(children: [Expanded(child: Text('x'))])</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4) "BoxConstraints forces an infinite width"</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Row(children: [TextField()])</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FIX: Row(children: [Expanded(child: TextField())])</a:t>
            </a:r>
            <a:endParaRPr lang="en-US" sz="1000" dirty="0"/>
          </a:p>
        </p:txBody>
      </p:sp>
      <p:sp>
        <p:nvSpPr>
          <p:cNvPr id="6" name="Text 4"/>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200" dirty="0">
                <a:solidFill>
                  <a:srgbClr val="5B6773"/>
                </a:solidFill>
                <a:latin typeface="Calibri" pitchFamily="34" charset="0"/>
                <a:ea typeface="Calibri" pitchFamily="34" charset="-122"/>
                <a:cs typeface="Calibri" pitchFamily="34" charset="-120"/>
              </a:rPr>
              <a:t>Read the first line of the red error text. It names the widget and the axis. Then ask who gave it unbounded or too-tight constraints.</a:t>
            </a:r>
            <a:endParaRPr lang="en-US" sz="12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Stack and Positioned: layering</a:t>
            </a:r>
            <a:endParaRPr lang="en-US" sz="3000" dirty="0"/>
          </a:p>
        </p:txBody>
      </p:sp>
      <p:sp>
        <p:nvSpPr>
          <p:cNvPr id="3" name="Text 1"/>
          <p:cNvSpPr txBox="1"/>
          <p:nvPr/>
        </p:nvSpPr>
        <p:spPr>
          <a:xfrm>
            <a:off x="548640" y="1325880"/>
            <a:ext cx="4965009" cy="475488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Stack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children painted in order; later ones on top. Non-positioned children are aligned by alignment:.</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Positioned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left/top/right/bottom/width/height relative to the Stack. Negative values allowed with clipBehavior: Clip.none.</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Positioned.fill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covers the whole Stack - overlays, scrims, tap targets.</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Stack sizing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fits its non-positioned children (fit: StackFit.loose) or expands (StackFit.expand).</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Use for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brand header with overlapping chip, badges on icons, image with caption overlay, loading overlay.</a:t>
            </a:r>
            <a:endParaRPr lang="en-US" sz="1400" dirty="0"/>
          </a:p>
        </p:txBody>
      </p:sp>
      <p:sp>
        <p:nvSpPr>
          <p:cNvPr id="4" name="Shape 2"/>
          <p:cNvSpPr/>
          <p:nvPr/>
        </p:nvSpPr>
        <p:spPr>
          <a:xfrm>
            <a:off x="5787969" y="1325880"/>
            <a:ext cx="5852343" cy="4754880"/>
          </a:xfrm>
          <a:prstGeom prst="roundRect">
            <a:avLst>
              <a:gd name="adj" fmla="val 1538"/>
            </a:avLst>
          </a:prstGeom>
          <a:solidFill>
            <a:srgbClr val="0F172A"/>
          </a:solidFill>
          <a:ln w="12700">
            <a:solidFill>
              <a:srgbClr val="0F172A"/>
            </a:solidFill>
            <a:prstDash val="solid"/>
          </a:ln>
        </p:spPr>
      </p:sp>
      <p:sp>
        <p:nvSpPr>
          <p:cNvPr id="5" name="Text 3"/>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Dart</a:t>
            </a:r>
            <a:endParaRPr lang="en-US" sz="800" dirty="0"/>
          </a:p>
        </p:txBody>
      </p:sp>
      <p:sp>
        <p:nvSpPr>
          <p:cNvPr id="6" name="Text 4"/>
          <p:cNvSpPr txBox="1"/>
          <p:nvPr/>
        </p:nvSpPr>
        <p:spPr>
          <a:xfrm>
            <a:off x="5925129" y="1435608"/>
            <a:ext cx="5578023" cy="4535424"/>
          </a:xfrm>
          <a:prstGeom prst="rect">
            <a:avLst/>
          </a:prstGeom>
          <a:noFill/>
          <a:ln/>
        </p:spPr>
        <p:txBody>
          <a:bodyPr wrap="square" lIns="0" tIns="0" rIns="0" bIns="0" rtlCol="0" anchor="t"/>
          <a:lstStyle/>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Stack(</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clipBehavior: Clip.none,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children: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Container(</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height: 160,</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decoration: BoxDecoration(</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color: Theme.of(context).colorScheme.primary,</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borderRadius: BorderRadius.circular(16),</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Positioned(</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left: 16, top: 16,</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child: Text('Alpha Insure',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style: Theme.of(context).textTheme.titleLarge?.copyWith(color: Colors.white)),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Positioned(</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right: 16, bottom: -20,               // overlaps the card edge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child: Chip(label: const Text('Comprehensive'), backgroundColor: Colors.white),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const Positioned.fill(</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child: Align(alignment: Alignment.center, child: Icon(Icons.shield, size: 48, color: Colors.white24)),</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a:t>
            </a:r>
            <a:endParaRPr lang="en-US" sz="9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Responsive: MediaQuery, LayoutBuilder, OrientationBuilder, SafeArea</a:t>
            </a:r>
            <a:endParaRPr lang="en-US" sz="3000" dirty="0"/>
          </a:p>
        </p:txBody>
      </p:sp>
      <p:sp>
        <p:nvSpPr>
          <p:cNvPr id="3" name="Text 1"/>
          <p:cNvSpPr txBox="1"/>
          <p:nvPr/>
        </p:nvSpPr>
        <p:spPr>
          <a:xfrm>
            <a:off x="548640" y="1325880"/>
            <a:ext cx="4965009" cy="475488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MediaQuery.sizeOf(context)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screen size; sizeOf (not .of) rebuilds only when size changes.</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LayoutBuilder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the constraints the PARENT gives you - the right tool inside a layout; works in split panes and dialogs.</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Breakpoints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Material: compact &lt; 600, medium 600-840, expanded ≥ 840. Two-column form at ≥ 700 in our app.</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SafeArea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pads for notch, status bar, gesture bar. Put it inside Scaffold body, not around Scaffold.</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Text scaling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users set 130% fonts. Never fix a height around text; let it grow.</a:t>
            </a:r>
            <a:endParaRPr lang="en-US" sz="1400" dirty="0"/>
          </a:p>
        </p:txBody>
      </p:sp>
      <p:sp>
        <p:nvSpPr>
          <p:cNvPr id="4" name="Shape 2"/>
          <p:cNvSpPr/>
          <p:nvPr/>
        </p:nvSpPr>
        <p:spPr>
          <a:xfrm>
            <a:off x="5787969" y="1325880"/>
            <a:ext cx="5852343" cy="4754880"/>
          </a:xfrm>
          <a:prstGeom prst="roundRect">
            <a:avLst>
              <a:gd name="adj" fmla="val 1538"/>
            </a:avLst>
          </a:prstGeom>
          <a:solidFill>
            <a:srgbClr val="0F172A"/>
          </a:solidFill>
          <a:ln w="12700">
            <a:solidFill>
              <a:srgbClr val="0F172A"/>
            </a:solidFill>
            <a:prstDash val="solid"/>
          </a:ln>
        </p:spPr>
      </p:sp>
      <p:sp>
        <p:nvSpPr>
          <p:cNvPr id="5" name="Text 3"/>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Dart</a:t>
            </a:r>
            <a:endParaRPr lang="en-US" sz="800" dirty="0"/>
          </a:p>
        </p:txBody>
      </p:sp>
      <p:sp>
        <p:nvSpPr>
          <p:cNvPr id="6" name="Text 4"/>
          <p:cNvSpPr txBox="1"/>
          <p:nvPr/>
        </p:nvSpPr>
        <p:spPr>
          <a:xfrm>
            <a:off x="5925129" y="1435608"/>
            <a:ext cx="5578023" cy="4535424"/>
          </a:xfrm>
          <a:prstGeom prst="rect">
            <a:avLst/>
          </a:prstGeom>
          <a:noFill/>
          <a:ln/>
        </p:spPr>
        <p:txBody>
          <a:bodyPr wrap="square" lIns="0" tIns="0" rIns="0" bIns="0" rtlCol="0" anchor="t"/>
          <a:lstStyle/>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1) Screen size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final size = MediaQuery.sizeOf(context);          // rebuilds only on size change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final isWide = size.width &gt;= 600;</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2) Parent constraints (preferred inside layouts)</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LayoutBuilder(</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builder: (context, constraints)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final twoColumn = constraints.maxWidth &gt;= 600;</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return twoColumn</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 Row(children: [Expanded(child: form), Expanded(child: summary)])</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 Column(children: [form, summary]);</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3) Orientation</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OrientationBuilder(builder: (context, o) =&gt; o == Orientation.portrait ? portrait : landscape)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4) Safe areas (notch, status bar, gesture bar)</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SafeArea(child: body)</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5) Text scaling accessibility - never hard-code heights around text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final scale = MediaQuery.textScalerOf(context);</a:t>
            </a:r>
            <a:endParaRPr lang="en-US" sz="10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2011680" cy="292608"/>
          </a:xfrm>
          <a:prstGeom prst="roundRect">
            <a:avLst>
              <a:gd name="adj" fmla="val 50000"/>
            </a:avLst>
          </a:prstGeom>
          <a:solidFill>
            <a:srgbClr val="0B2545"/>
          </a:solidFill>
          <a:ln w="12700">
            <a:solidFill>
              <a:srgbClr val="0B2545"/>
            </a:solidFill>
            <a:prstDash val="solid"/>
          </a:ln>
        </p:spPr>
      </p:sp>
      <p:sp>
        <p:nvSpPr>
          <p:cNvPr id="3" name="Text 1"/>
          <p:cNvSpPr txBox="1"/>
          <p:nvPr/>
        </p:nvSpPr>
        <p:spPr>
          <a:xfrm>
            <a:off x="548640" y="457200"/>
            <a:ext cx="201168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READ &amp; BREAK DOWN</a:t>
            </a:r>
            <a:endParaRPr lang="en-US" sz="1000" dirty="0"/>
          </a:p>
        </p:txBody>
      </p:sp>
      <p:sp>
        <p:nvSpPr>
          <p:cNvPr id="4" name="Text 2"/>
          <p:cNvSpPr txBox="1"/>
          <p:nvPr/>
        </p:nvSpPr>
        <p:spPr>
          <a:xfrm>
            <a:off x="9811512" y="457200"/>
            <a:ext cx="1828800" cy="292608"/>
          </a:xfrm>
          <a:prstGeom prst="rect">
            <a:avLst/>
          </a:prstGeom>
          <a:noFill/>
          <a:ln/>
        </p:spPr>
        <p:txBody>
          <a:bodyPr wrap="square" lIns="0" tIns="0" rIns="0" bIns="0" rtlCol="0" anchor="ctr"/>
          <a:lstStyle/>
          <a:p>
            <a:pPr algn="r" indent="0" marL="0">
              <a:buNone/>
            </a:pPr>
            <a:r>
              <a:rPr lang="en-US" sz="1200" dirty="0">
                <a:solidFill>
                  <a:srgbClr val="5B6773"/>
                </a:solidFill>
                <a:latin typeface="Calibri" pitchFamily="34" charset="0"/>
                <a:ea typeface="Calibri" pitchFamily="34" charset="-122"/>
                <a:cs typeface="Calibri" pitchFamily="34" charset="-120"/>
              </a:rPr>
              <a:t>10 min read + 5 min debrief</a:t>
            </a:r>
            <a:endParaRPr lang="en-US" sz="1200" dirty="0"/>
          </a:p>
        </p:txBody>
      </p:sp>
      <p:sp>
        <p:nvSpPr>
          <p:cNvPr id="5" name="Text 3"/>
          <p:cNvSpPr txBox="1"/>
          <p:nvPr/>
        </p:nvSpPr>
        <p:spPr>
          <a:xfrm>
            <a:off x="548640" y="868680"/>
            <a:ext cx="11091672" cy="640080"/>
          </a:xfrm>
          <a:prstGeom prst="rect">
            <a:avLst/>
          </a:prstGeom>
          <a:noFill/>
          <a:ln/>
        </p:spPr>
        <p:txBody>
          <a:bodyPr wrap="square" lIns="0" tIns="0" rIns="0" bIns="0" rtlCol="0" anchor="ctr"/>
          <a:lstStyle/>
          <a:p>
            <a:pPr indent="0" marL="0">
              <a:buNone/>
            </a:pPr>
            <a:r>
              <a:rPr lang="en-US" sz="2800" b="1" dirty="0">
                <a:solidFill>
                  <a:srgbClr val="0B2545"/>
                </a:solidFill>
                <a:latin typeface="Calibri" pitchFamily="34" charset="0"/>
                <a:ea typeface="Calibri" pitchFamily="34" charset="-122"/>
                <a:cs typeface="Calibri" pitchFamily="34" charset="-120"/>
              </a:rPr>
              <a:t>Read: "Layouts in Flutter" - find the widget you did not know existed</a:t>
            </a:r>
            <a:endParaRPr lang="en-US" sz="2800" dirty="0"/>
          </a:p>
        </p:txBody>
      </p:sp>
      <p:sp>
        <p:nvSpPr>
          <p:cNvPr id="6" name="Shape 4"/>
          <p:cNvSpPr/>
          <p:nvPr/>
        </p:nvSpPr>
        <p:spPr>
          <a:xfrm>
            <a:off x="548640" y="1691640"/>
            <a:ext cx="11091672" cy="960120"/>
          </a:xfrm>
          <a:prstGeom prst="roundRect">
            <a:avLst>
              <a:gd name="adj" fmla="val 9524"/>
            </a:avLst>
          </a:prstGeom>
          <a:solidFill>
            <a:srgbClr val="EAF0F7"/>
          </a:solidFill>
          <a:ln w="6350">
            <a:solidFill>
              <a:srgbClr val="EAF0F7"/>
            </a:solidFill>
            <a:prstDash val="solid"/>
          </a:ln>
          <a:effectLst>
            <a:outerShdw sx="100000" sy="100000" kx="0" ky="0" algn="bl" rotWithShape="0" blurRad="38100" dist="12700" dir="5400000">
              <a:srgbClr val="000000">
                <a:alpha val="8000"/>
              </a:srgbClr>
            </a:outerShdw>
          </a:effectLst>
        </p:spPr>
      </p:sp>
      <p:sp>
        <p:nvSpPr>
          <p:cNvPr id="7" name="Text 5"/>
          <p:cNvSpPr txBox="1"/>
          <p:nvPr/>
        </p:nvSpPr>
        <p:spPr>
          <a:xfrm>
            <a:off x="822960" y="1783080"/>
            <a:ext cx="10543032" cy="457200"/>
          </a:xfrm>
          <a:prstGeom prst="rect">
            <a:avLst/>
          </a:prstGeom>
          <a:noFill/>
          <a:ln/>
        </p:spPr>
        <p:txBody>
          <a:bodyPr wrap="square" lIns="0" tIns="0" rIns="0" bIns="0" rtlCol="0" anchor="ctr"/>
          <a:lstStyle/>
          <a:p>
            <a:pPr indent="0" marL="0">
              <a:buNone/>
            </a:pPr>
            <a:r>
              <a:rPr lang="en-US" sz="1800" b="1" dirty="0">
                <a:solidFill>
                  <a:srgbClr val="0B2545"/>
                </a:solidFill>
                <a:latin typeface="Courier New" pitchFamily="34" charset="0"/>
                <a:ea typeface="Courier New" pitchFamily="34" charset="-122"/>
                <a:cs typeface="Courier New" pitchFamily="34" charset="-120"/>
              </a:rPr>
              <a:t>docs.flutter.dev/ui/layout</a:t>
            </a:r>
            <a:endParaRPr lang="en-US" sz="1800" dirty="0"/>
          </a:p>
        </p:txBody>
      </p:sp>
      <p:sp>
        <p:nvSpPr>
          <p:cNvPr id="8" name="Text 6"/>
          <p:cNvSpPr txBox="1"/>
          <p:nvPr/>
        </p:nvSpPr>
        <p:spPr>
          <a:xfrm>
            <a:off x="822960" y="2212848"/>
            <a:ext cx="10543032" cy="365760"/>
          </a:xfrm>
          <a:prstGeom prst="rect">
            <a:avLst/>
          </a:prstGeom>
          <a:noFill/>
          <a:ln/>
        </p:spPr>
        <p:txBody>
          <a:bodyPr wrap="square" lIns="0" tIns="0" rIns="0" bIns="0" rtlCol="0" anchor="ctr"/>
          <a:lstStyle/>
          <a:p>
            <a:pPr indent="0" marL="0">
              <a:buNone/>
            </a:pPr>
            <a:r>
              <a:rPr lang="en-US" sz="1200" dirty="0">
                <a:solidFill>
                  <a:srgbClr val="5B6773"/>
                </a:solidFill>
                <a:latin typeface="Calibri" pitchFamily="34" charset="0"/>
                <a:ea typeface="Calibri" pitchFamily="34" charset="-122"/>
                <a:cs typeface="Calibri" pitchFamily="34" charset="-120"/>
              </a:rPr>
              <a:t>Whole page plus the "Common layout widgets" section; skim the widget catalogue at docs.flutter.dev/ui/widgets/layout (about 10 minutes)</a:t>
            </a:r>
            <a:endParaRPr lang="en-US" sz="1200" dirty="0"/>
          </a:p>
        </p:txBody>
      </p:sp>
      <p:sp>
        <p:nvSpPr>
          <p:cNvPr id="9" name="Text 7"/>
          <p:cNvSpPr txBox="1"/>
          <p:nvPr/>
        </p:nvSpPr>
        <p:spPr>
          <a:xfrm>
            <a:off x="548640" y="2880360"/>
            <a:ext cx="6655003" cy="3657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Answer these as you read</a:t>
            </a:r>
            <a:endParaRPr lang="en-US" sz="1400" dirty="0"/>
          </a:p>
        </p:txBody>
      </p:sp>
      <p:sp>
        <p:nvSpPr>
          <p:cNvPr id="10" name="Text 8"/>
          <p:cNvSpPr txBox="1"/>
          <p:nvPr/>
        </p:nvSpPr>
        <p:spPr>
          <a:xfrm>
            <a:off x="548640" y="3291840"/>
            <a:ext cx="6655003" cy="2743200"/>
          </a:xfrm>
          <a:prstGeom prst="rect">
            <a:avLst/>
          </a:prstGeom>
          <a:noFill/>
          <a:ln/>
        </p:spPr>
        <p:txBody>
          <a:bodyPr wrap="square" lIns="0" tIns="0" rIns="0" bIns="0" rtlCol="0" anchor="t"/>
          <a:lstStyle/>
          <a:p>
            <a:pPr marL="279400" indent="-279400">
              <a:spcAft>
                <a:spcPts val="800"/>
              </a:spcAft>
              <a:buSzPct val="100000"/>
              <a:buFont typeface="+mj-lt"/>
              <a:buAutoNum type="arabicPeriod" startAt="1"/>
            </a:pPr>
            <a:r>
              <a:rPr lang="en-US" sz="1400" dirty="0">
                <a:solidFill>
                  <a:srgbClr val="1F2933"/>
                </a:solidFill>
                <a:latin typeface="Calibri" pitchFamily="34" charset="0"/>
                <a:ea typeface="Calibri" pitchFamily="34" charset="-122"/>
                <a:cs typeface="Calibri" pitchFamily="34" charset="-120"/>
              </a:rPr>
              <a:t>Name one single-child and one multi-child layout widget you had not heard of, and what problem each solves.</a:t>
            </a:r>
            <a:endParaRPr lang="en-US" sz="1400" dirty="0"/>
          </a:p>
          <a:p>
            <a:pPr marL="279400" indent="-279400">
              <a:spcAft>
                <a:spcPts val="800"/>
              </a:spcAft>
              <a:buSzPct val="100000"/>
              <a:buFont typeface="+mj-lt"/>
              <a:buAutoNum type="arabicPeriod" startAt="1"/>
            </a:pPr>
            <a:r>
              <a:rPr lang="en-US" sz="1400" dirty="0">
                <a:solidFill>
                  <a:srgbClr val="1F2933"/>
                </a:solidFill>
                <a:latin typeface="Calibri" pitchFamily="34" charset="0"/>
                <a:ea typeface="Calibri" pitchFamily="34" charset="-122"/>
                <a:cs typeface="Calibri" pitchFamily="34" charset="-120"/>
              </a:rPr>
              <a:t>When would you choose Wrap over Row? What does Wrap do that Row cannot?</a:t>
            </a:r>
            <a:endParaRPr lang="en-US" sz="1400" dirty="0"/>
          </a:p>
          <a:p>
            <a:pPr marL="279400" indent="-279400">
              <a:spcAft>
                <a:spcPts val="800"/>
              </a:spcAft>
              <a:buSzPct val="100000"/>
              <a:buFont typeface="+mj-lt"/>
              <a:buAutoNum type="arabicPeriod" startAt="1"/>
            </a:pPr>
            <a:r>
              <a:rPr lang="en-US" sz="1400" dirty="0">
                <a:solidFill>
                  <a:srgbClr val="1F2933"/>
                </a:solidFill>
                <a:latin typeface="Calibri" pitchFamily="34" charset="0"/>
                <a:ea typeface="Calibri" pitchFamily="34" charset="-122"/>
                <a:cs typeface="Calibri" pitchFamily="34" charset="-120"/>
              </a:rPr>
              <a:t>What is the difference between Align and Center, and between SizedBox and ConstrainedBox?</a:t>
            </a:r>
            <a:endParaRPr lang="en-US" sz="1400" dirty="0"/>
          </a:p>
          <a:p>
            <a:pPr marL="279400" indent="-279400">
              <a:spcAft>
                <a:spcPts val="800"/>
              </a:spcAft>
              <a:buSzPct val="100000"/>
              <a:buFont typeface="+mj-lt"/>
              <a:buAutoNum type="arabicPeriod" startAt="1"/>
            </a:pPr>
            <a:r>
              <a:rPr lang="en-US" sz="1400" dirty="0">
                <a:solidFill>
                  <a:srgbClr val="1F2933"/>
                </a:solidFill>
                <a:latin typeface="Calibri" pitchFamily="34" charset="0"/>
                <a:ea typeface="Calibri" pitchFamily="34" charset="-122"/>
                <a:cs typeface="Calibri" pitchFamily="34" charset="-120"/>
              </a:rPr>
              <a:t>Find the widget you would use for "a grid of cover options that reflows on tablets" - and the one for "pin a total to the bottom".</a:t>
            </a:r>
            <a:endParaRPr lang="en-US" sz="1400" dirty="0"/>
          </a:p>
        </p:txBody>
      </p:sp>
      <p:sp>
        <p:nvSpPr>
          <p:cNvPr id="11" name="Shape 9"/>
          <p:cNvSpPr/>
          <p:nvPr/>
        </p:nvSpPr>
        <p:spPr>
          <a:xfrm>
            <a:off x="7477963" y="2880360"/>
            <a:ext cx="4162349" cy="3154680"/>
          </a:xfrm>
          <a:prstGeom prst="roundRect">
            <a:avLst>
              <a:gd name="adj" fmla="val 2899"/>
            </a:avLst>
          </a:prstGeom>
          <a:solidFill>
            <a:srgbClr val="FBF6E3"/>
          </a:solidFill>
          <a:ln w="6350">
            <a:solidFill>
              <a:srgbClr val="FBF6E3"/>
            </a:solidFill>
            <a:prstDash val="solid"/>
          </a:ln>
          <a:effectLst>
            <a:outerShdw sx="100000" sy="100000" kx="0" ky="0" algn="bl" rotWithShape="0" blurRad="38100" dist="12700" dir="5400000">
              <a:srgbClr val="000000">
                <a:alpha val="8000"/>
              </a:srgbClr>
            </a:outerShdw>
          </a:effectLst>
        </p:spPr>
      </p:sp>
      <p:sp>
        <p:nvSpPr>
          <p:cNvPr id="12" name="Text 10"/>
          <p:cNvSpPr txBox="1"/>
          <p:nvPr/>
        </p:nvSpPr>
        <p:spPr>
          <a:xfrm>
            <a:off x="7706563" y="3017520"/>
            <a:ext cx="3705149" cy="3657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Then</a:t>
            </a:r>
            <a:endParaRPr lang="en-US" sz="1400" dirty="0"/>
          </a:p>
        </p:txBody>
      </p:sp>
      <p:sp>
        <p:nvSpPr>
          <p:cNvPr id="13" name="Text 11"/>
          <p:cNvSpPr txBox="1"/>
          <p:nvPr/>
        </p:nvSpPr>
        <p:spPr>
          <a:xfrm>
            <a:off x="7706563" y="3429000"/>
            <a:ext cx="3705149" cy="2514600"/>
          </a:xfrm>
          <a:prstGeom prst="rect">
            <a:avLst/>
          </a:prstGeom>
          <a:noFill/>
          <a:ln/>
        </p:spPr>
        <p:txBody>
          <a:bodyPr wrap="square" lIns="0" tIns="0" rIns="0" bIns="0" rtlCol="0" anchor="t"/>
          <a:lstStyle/>
          <a:p>
            <a:pPr marL="177800" indent="-177800">
              <a:spcAft>
                <a:spcPts val="700"/>
              </a:spcAft>
              <a:buSzPct val="100000"/>
              <a:buChar char="•"/>
            </a:pPr>
            <a:r>
              <a:rPr lang="en-US" sz="1250" dirty="0">
                <a:solidFill>
                  <a:srgbClr val="1F2933"/>
                </a:solidFill>
                <a:latin typeface="Calibri" pitchFamily="34" charset="0"/>
                <a:ea typeface="Calibri" pitchFamily="34" charset="-122"/>
                <a:cs typeface="Calibri" pitchFamily="34" charset="-120"/>
              </a:rPr>
              <a:t>Round the room: each person names one widget and one sentence on what it is for. No repeats.</a:t>
            </a:r>
            <a:endParaRPr lang="en-US" sz="1250" dirty="0"/>
          </a:p>
          <a:p>
            <a:pPr marL="177800" indent="-177800">
              <a:spcAft>
                <a:spcPts val="700"/>
              </a:spcAft>
              <a:buSzPct val="100000"/>
              <a:buChar char="•"/>
            </a:pPr>
            <a:r>
              <a:rPr lang="en-US" sz="1250" dirty="0">
                <a:solidFill>
                  <a:srgbClr val="1F2933"/>
                </a:solidFill>
                <a:latin typeface="Calibri" pitchFamily="34" charset="0"/>
                <a:ea typeface="Calibri" pitchFamily="34" charset="-122"/>
                <a:cs typeface="Calibri" pitchFamily="34" charset="-120"/>
              </a:rPr>
              <a:t>Instructor writes them on the whiteboard as a catalogue for the week.</a:t>
            </a:r>
            <a:endParaRPr lang="en-US" sz="1250" dirty="0"/>
          </a:p>
          <a:p>
            <a:pPr marL="177800" indent="-177800">
              <a:spcAft>
                <a:spcPts val="700"/>
              </a:spcAft>
              <a:buSzPct val="100000"/>
              <a:buChar char="•"/>
            </a:pPr>
            <a:r>
              <a:rPr lang="en-US" sz="1250" dirty="0">
                <a:solidFill>
                  <a:srgbClr val="1F2933"/>
                </a:solidFill>
                <a:latin typeface="Calibri" pitchFamily="34" charset="0"/>
                <a:ea typeface="Calibri" pitchFamily="34" charset="-122"/>
                <a:cs typeface="Calibri" pitchFamily="34" charset="-120"/>
              </a:rPr>
              <a:t>Q4 answers feed directly into Lab 2.1 and the GridView slide after lunch.</a:t>
            </a:r>
            <a:endParaRPr lang="en-US" sz="1250" dirty="0"/>
          </a:p>
        </p:txBody>
      </p:sp>
      <p:sp>
        <p:nvSpPr>
          <p:cNvPr id="14" name="Text 12"/>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15" name="Text 13"/>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188720" cy="457200"/>
          </a:xfrm>
          <a:prstGeom prst="roundRect">
            <a:avLst>
              <a:gd name="adj" fmla="val 20000"/>
            </a:avLst>
          </a:prstGeom>
          <a:solidFill>
            <a:srgbClr val="C9A227"/>
          </a:solidFill>
          <a:ln w="12700">
            <a:solidFill>
              <a:srgbClr val="C9A227"/>
            </a:solidFill>
            <a:prstDash val="solid"/>
          </a:ln>
        </p:spPr>
      </p:sp>
      <p:sp>
        <p:nvSpPr>
          <p:cNvPr id="3" name="Text 1"/>
          <p:cNvSpPr txBox="1"/>
          <p:nvPr/>
        </p:nvSpPr>
        <p:spPr>
          <a:xfrm>
            <a:off x="548640" y="411480"/>
            <a:ext cx="1188720" cy="457200"/>
          </a:xfrm>
          <a:prstGeom prst="rect">
            <a:avLst/>
          </a:prstGeom>
          <a:noFill/>
          <a:ln/>
        </p:spPr>
        <p:txBody>
          <a:bodyPr wrap="square" lIns="0" tIns="0" rIns="0" bIns="0" rtlCol="0" anchor="ctr"/>
          <a:lstStyle/>
          <a:p>
            <a:pPr algn="ctr" indent="0" marL="0">
              <a:buNone/>
            </a:pPr>
            <a:r>
              <a:rPr lang="en-US" sz="1400" b="1" dirty="0">
                <a:solidFill>
                  <a:srgbClr val="0B2545"/>
                </a:solidFill>
                <a:latin typeface="Calibri" pitchFamily="34" charset="0"/>
                <a:ea typeface="Calibri" pitchFamily="34" charset="-122"/>
                <a:cs typeface="Calibri" pitchFamily="34" charset="-120"/>
              </a:rPr>
              <a:t>LAB 2.1</a:t>
            </a:r>
            <a:endParaRPr lang="en-US" sz="1400" dirty="0"/>
          </a:p>
        </p:txBody>
      </p:sp>
      <p:sp>
        <p:nvSpPr>
          <p:cNvPr id="4" name="Text 2"/>
          <p:cNvSpPr txBox="1"/>
          <p:nvPr/>
        </p:nvSpPr>
        <p:spPr>
          <a:xfrm>
            <a:off x="1920240" y="365760"/>
            <a:ext cx="8165592" cy="548640"/>
          </a:xfrm>
          <a:prstGeom prst="rect">
            <a:avLst/>
          </a:prstGeom>
          <a:noFill/>
          <a:ln/>
        </p:spPr>
        <p:txBody>
          <a:bodyPr wrap="square" lIns="0" tIns="0" rIns="0" bIns="0" rtlCol="0" anchor="ctr"/>
          <a:lstStyle/>
          <a:p>
            <a:pPr indent="0" marL="0">
              <a:buNone/>
            </a:pPr>
            <a:r>
              <a:rPr lang="en-US" sz="2600" b="1" dirty="0">
                <a:solidFill>
                  <a:srgbClr val="0B2545"/>
                </a:solidFill>
                <a:latin typeface="Calibri" pitchFamily="34" charset="0"/>
                <a:ea typeface="Calibri" pitchFamily="34" charset="-122"/>
                <a:cs typeface="Calibri" pitchFamily="34" charset="-120"/>
              </a:rPr>
              <a:t>Brand header and responsive shell</a:t>
            </a:r>
            <a:endParaRPr lang="en-US" sz="2600" dirty="0"/>
          </a:p>
        </p:txBody>
      </p:sp>
      <p:sp>
        <p:nvSpPr>
          <p:cNvPr id="5" name="Text 3"/>
          <p:cNvSpPr txBox="1"/>
          <p:nvPr/>
        </p:nvSpPr>
        <p:spPr>
          <a:xfrm>
            <a:off x="10177272" y="411480"/>
            <a:ext cx="1463040" cy="457200"/>
          </a:xfrm>
          <a:prstGeom prst="rect">
            <a:avLst/>
          </a:prstGeom>
          <a:noFill/>
          <a:ln/>
        </p:spPr>
        <p:txBody>
          <a:bodyPr wrap="square" lIns="0" tIns="0" rIns="0" bIns="0" rtlCol="0" anchor="ctr"/>
          <a:lstStyle/>
          <a:p>
            <a:pPr algn="r" indent="0" marL="0">
              <a:buNone/>
            </a:pPr>
            <a:r>
              <a:rPr lang="en-US" sz="1200" dirty="0">
                <a:solidFill>
                  <a:srgbClr val="5B6773"/>
                </a:solidFill>
                <a:latin typeface="Calibri" pitchFamily="34" charset="0"/>
                <a:ea typeface="Calibri" pitchFamily="34" charset="-122"/>
                <a:cs typeface="Calibri" pitchFamily="34" charset="-120"/>
              </a:rPr>
              <a:t>35 min</a:t>
            </a:r>
            <a:endParaRPr lang="en-US" sz="1200" dirty="0"/>
          </a:p>
        </p:txBody>
      </p:sp>
      <p:sp>
        <p:nvSpPr>
          <p:cNvPr id="6" name="Text 4"/>
          <p:cNvSpPr txBox="1"/>
          <p:nvPr/>
        </p:nvSpPr>
        <p:spPr>
          <a:xfrm>
            <a:off x="548640" y="1097280"/>
            <a:ext cx="11091672" cy="502920"/>
          </a:xfrm>
          <a:prstGeom prst="rect">
            <a:avLst/>
          </a:prstGeom>
          <a:noFill/>
          <a:ln/>
        </p:spPr>
        <p:txBody>
          <a:bodyPr wrap="square" lIns="0" tIns="0" rIns="0" bIns="0" rtlCol="0" anchor="t"/>
          <a:lstStyle/>
          <a:p>
            <a:pPr indent="0" marL="0">
              <a:buNone/>
            </a:pPr>
            <a:r>
              <a:rPr lang="en-US" sz="1400" b="1" dirty="0">
                <a:solidFill>
                  <a:srgbClr val="0B2545"/>
                </a:solidFill>
                <a:latin typeface="Calibri" pitchFamily="34" charset="0"/>
                <a:ea typeface="Calibri" pitchFamily="34" charset="-122"/>
                <a:cs typeface="Calibri" pitchFamily="34" charset="-120"/>
              </a:rPr>
              <a:t>Goal  </a:t>
            </a:r>
            <a:pPr indent="0" marL="0">
              <a:buNone/>
            </a:pPr>
            <a:r>
              <a:rPr lang="en-US" sz="1400" dirty="0">
                <a:solidFill>
                  <a:srgbClr val="1F2933"/>
                </a:solidFill>
                <a:latin typeface="Calibri" pitchFamily="34" charset="0"/>
                <a:ea typeface="Calibri" pitchFamily="34" charset="-122"/>
                <a:cs typeface="Calibri" pitchFamily="34" charset="-120"/>
              </a:rPr>
              <a:t>CaptureScreen has a brand header (Stack) and switches to a two-column layout above 700 px, with no overflow at any width.</a:t>
            </a:r>
            <a:endParaRPr lang="en-US" sz="1400" dirty="0"/>
          </a:p>
        </p:txBody>
      </p:sp>
      <p:sp>
        <p:nvSpPr>
          <p:cNvPr id="7" name="Text 5"/>
          <p:cNvSpPr txBox="1"/>
          <p:nvPr/>
        </p:nvSpPr>
        <p:spPr>
          <a:xfrm>
            <a:off x="548640" y="1691640"/>
            <a:ext cx="7098670" cy="4389120"/>
          </a:xfrm>
          <a:prstGeom prst="rect">
            <a:avLst/>
          </a:prstGeom>
          <a:noFill/>
          <a:ln/>
        </p:spPr>
        <p:txBody>
          <a:bodyPr wrap="square" lIns="0" tIns="0" rIns="0" bIns="0" rtlCol="0" anchor="t"/>
          <a:lstStyle/>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git checkout lab-2-1-start (or continue from your Day 1 code). Add features/quote/domain/cover.dart label getter from Appendix.</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Create _BrandHeader (Stateless): Container with primaryContainer background, Row with Icon + brand name (titleLarge), tagline below. Use theme colours only.</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Upgrade it to a Stack: coloured card, title Positioned top-left, a Chip("Comprehensive") hanging off the bottom-right edge with clipBehavior: Clip.none.</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CaptureScreen body: SafeArea → LayoutBuilder. Below 700 px: SingleChildScrollView(Column[header, placeholder form]). At ≥ 700: Row[SizedBox(280, header), Expanded(scrollable form)].</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Rotate the emulator (landscape) and confirm the layout switches. Resize the window if running in Chrome.</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Deliberately put a ListView in the Column and read the error. Fix it with Expanded. Remove it again.</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Open DevTools → Layout Explorer, select the Row, screenshot the flex view for your notes.</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flutter analyze clean, dart fix --apply, commit "Day 2: header + responsive shell".</a:t>
            </a:r>
            <a:endParaRPr lang="en-US" sz="1300" dirty="0"/>
          </a:p>
        </p:txBody>
      </p:sp>
      <p:sp>
        <p:nvSpPr>
          <p:cNvPr id="8" name="Shape 6"/>
          <p:cNvSpPr/>
          <p:nvPr/>
        </p:nvSpPr>
        <p:spPr>
          <a:xfrm>
            <a:off x="7921630" y="1691640"/>
            <a:ext cx="3718682" cy="4389120"/>
          </a:xfrm>
          <a:prstGeom prst="roundRect">
            <a:avLst>
              <a:gd name="adj" fmla="val 2459"/>
            </a:avLst>
          </a:prstGeom>
          <a:solidFill>
            <a:srgbClr val="EAF2EC"/>
          </a:solidFill>
          <a:ln w="6350">
            <a:solidFill>
              <a:srgbClr val="EAF2EC"/>
            </a:solidFill>
            <a:prstDash val="solid"/>
          </a:ln>
          <a:effectLst>
            <a:outerShdw sx="100000" sy="100000" kx="0" ky="0" algn="bl" rotWithShape="0" blurRad="38100" dist="12700" dir="5400000">
              <a:srgbClr val="000000">
                <a:alpha val="8000"/>
              </a:srgbClr>
            </a:outerShdw>
          </a:effectLst>
        </p:spPr>
      </p:sp>
      <p:sp>
        <p:nvSpPr>
          <p:cNvPr id="9" name="Text 7"/>
          <p:cNvSpPr txBox="1"/>
          <p:nvPr/>
        </p:nvSpPr>
        <p:spPr>
          <a:xfrm>
            <a:off x="8104510" y="1828800"/>
            <a:ext cx="3352922" cy="365760"/>
          </a:xfrm>
          <a:prstGeom prst="rect">
            <a:avLst/>
          </a:prstGeom>
          <a:noFill/>
          <a:ln/>
        </p:spPr>
        <p:txBody>
          <a:bodyPr wrap="square" lIns="0" tIns="0" rIns="0" bIns="0" rtlCol="0" anchor="ctr"/>
          <a:lstStyle/>
          <a:p>
            <a:pPr indent="0" marL="0">
              <a:buNone/>
            </a:pPr>
            <a:r>
              <a:rPr lang="en-US" sz="1300" b="1" dirty="0">
                <a:solidFill>
                  <a:srgbClr val="1F7A5C"/>
                </a:solidFill>
                <a:latin typeface="Calibri" pitchFamily="34" charset="0"/>
                <a:ea typeface="Calibri" pitchFamily="34" charset="-122"/>
                <a:cs typeface="Calibri" pitchFamily="34" charset="-120"/>
              </a:rPr>
              <a:t>Stretch (fast lane)</a:t>
            </a:r>
            <a:endParaRPr lang="en-US" sz="1300" dirty="0"/>
          </a:p>
        </p:txBody>
      </p:sp>
      <p:sp>
        <p:nvSpPr>
          <p:cNvPr id="10" name="Text 8"/>
          <p:cNvSpPr txBox="1"/>
          <p:nvPr/>
        </p:nvSpPr>
        <p:spPr>
          <a:xfrm>
            <a:off x="8104510" y="2240280"/>
            <a:ext cx="3352922" cy="36576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rgbClr val="1F2933"/>
                </a:solidFill>
                <a:latin typeface="Calibri" pitchFamily="34" charset="0"/>
                <a:ea typeface="Calibri" pitchFamily="34" charset="-122"/>
                <a:cs typeface="Calibri" pitchFamily="34" charset="-120"/>
              </a:rPr>
              <a:t>Add a Hero-style watermark Icon via Positioned.fill + Align + Opacity.</a:t>
            </a:r>
            <a:endParaRPr lang="en-US" sz="1200" dirty="0"/>
          </a:p>
          <a:p>
            <a:pPr marL="177800" indent="-177800">
              <a:spcAft>
                <a:spcPts val="600"/>
              </a:spcAft>
              <a:buSzPct val="100000"/>
              <a:buChar char="•"/>
            </a:pPr>
            <a:r>
              <a:rPr lang="en-US" sz="1200" dirty="0">
                <a:solidFill>
                  <a:srgbClr val="1F2933"/>
                </a:solidFill>
                <a:latin typeface="Calibri" pitchFamily="34" charset="0"/>
                <a:ea typeface="Calibri" pitchFamily="34" charset="-122"/>
                <a:cs typeface="Calibri" pitchFamily="34" charset="-120"/>
              </a:rPr>
              <a:t>Use Wrap to show three cover Chips under the tagline that reflow at narrow widths.</a:t>
            </a:r>
            <a:endParaRPr lang="en-US" sz="1200" dirty="0"/>
          </a:p>
          <a:p>
            <a:pPr marL="177800" indent="-177800">
              <a:spcAft>
                <a:spcPts val="600"/>
              </a:spcAft>
              <a:buSzPct val="100000"/>
              <a:buChar char="•"/>
            </a:pPr>
            <a:r>
              <a:rPr lang="en-US" sz="1200" dirty="0">
                <a:solidFill>
                  <a:srgbClr val="1F2933"/>
                </a:solidFill>
                <a:latin typeface="Calibri" pitchFamily="34" charset="0"/>
                <a:ea typeface="Calibri" pitchFamily="34" charset="-122"/>
                <a:cs typeface="Calibri" pitchFamily="34" charset="-120"/>
              </a:rPr>
              <a:t>Make the header collapse to a single row when constraints.maxHeight &lt; 500 (landscape phone).</a:t>
            </a:r>
            <a:endParaRPr lang="en-US" sz="1200" dirty="0"/>
          </a:p>
        </p:txBody>
      </p:sp>
      <p:sp>
        <p:nvSpPr>
          <p:cNvPr id="11" name="Text 9"/>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12" name="Text 10"/>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2545"/>
        </a:solidFill>
      </p:bgPr>
    </p:bg>
    <p:spTree>
      <p:nvGrpSpPr>
        <p:cNvPr id="1" name=""/>
        <p:cNvGrpSpPr/>
        <p:nvPr/>
      </p:nvGrpSpPr>
      <p:grpSpPr>
        <a:xfrm>
          <a:off x="0" y="0"/>
          <a:ext cx="0" cy="0"/>
          <a:chOff x="0" y="0"/>
          <a:chExt cx="0" cy="0"/>
        </a:xfrm>
      </p:grpSpPr>
      <p:sp>
        <p:nvSpPr>
          <p:cNvPr id="2" name="Shape 0"/>
          <p:cNvSpPr/>
          <p:nvPr/>
        </p:nvSpPr>
        <p:spPr>
          <a:xfrm>
            <a:off x="-1371600" y="3840480"/>
            <a:ext cx="4572000" cy="4572000"/>
          </a:xfrm>
          <a:prstGeom prst="ellipse">
            <a:avLst/>
          </a:prstGeom>
          <a:solidFill>
            <a:srgbClr val="13315C"/>
          </a:solidFill>
          <a:ln w="12700">
            <a:solidFill>
              <a:srgbClr val="13315C"/>
            </a:solidFill>
            <a:prstDash val="solid"/>
          </a:ln>
        </p:spPr>
      </p:sp>
      <p:sp>
        <p:nvSpPr>
          <p:cNvPr id="3" name="Text 1"/>
          <p:cNvSpPr txBox="1"/>
          <p:nvPr/>
        </p:nvSpPr>
        <p:spPr>
          <a:xfrm>
            <a:off x="548640" y="1097280"/>
            <a:ext cx="5486400" cy="457200"/>
          </a:xfrm>
          <a:prstGeom prst="rect">
            <a:avLst/>
          </a:prstGeom>
          <a:noFill/>
          <a:ln/>
        </p:spPr>
        <p:txBody>
          <a:bodyPr wrap="square" lIns="0" tIns="0" rIns="0" bIns="0" rtlCol="0" anchor="ctr"/>
          <a:lstStyle/>
          <a:p>
            <a:pPr indent="0" marL="0">
              <a:buNone/>
            </a:pPr>
            <a:r>
              <a:rPr lang="en-US" sz="1400" spc="300" kern="0" dirty="0">
                <a:solidFill>
                  <a:srgbClr val="E3C766"/>
                </a:solidFill>
                <a:latin typeface="Calibri" pitchFamily="34" charset="0"/>
                <a:ea typeface="Calibri" pitchFamily="34" charset="-122"/>
                <a:cs typeface="Calibri" pitchFamily="34" charset="-120"/>
              </a:rPr>
              <a:t>MODULE 7  ·  13:15 - 14:45</a:t>
            </a:r>
            <a:endParaRPr lang="en-US" sz="1400" dirty="0"/>
          </a:p>
        </p:txBody>
      </p:sp>
      <p:sp>
        <p:nvSpPr>
          <p:cNvPr id="4" name="Text 2"/>
          <p:cNvSpPr txBox="1"/>
          <p:nvPr/>
        </p:nvSpPr>
        <p:spPr>
          <a:xfrm>
            <a:off x="548640" y="1554480"/>
            <a:ext cx="6400800" cy="164592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Lists &amp; forms</a:t>
            </a:r>
            <a:endParaRPr lang="en-US" sz="4000" dirty="0"/>
          </a:p>
        </p:txBody>
      </p:sp>
      <p:sp>
        <p:nvSpPr>
          <p:cNvPr id="5" name="Shape 3"/>
          <p:cNvSpPr/>
          <p:nvPr/>
        </p:nvSpPr>
        <p:spPr>
          <a:xfrm>
            <a:off x="6949440" y="1188720"/>
            <a:ext cx="4663440" cy="4389120"/>
          </a:xfrm>
          <a:prstGeom prst="roundRect">
            <a:avLst>
              <a:gd name="adj" fmla="val 2083"/>
            </a:avLst>
          </a:prstGeom>
          <a:solidFill>
            <a:srgbClr val="13315C"/>
          </a:solidFill>
          <a:ln w="6350">
            <a:solidFill>
              <a:srgbClr val="13315C"/>
            </a:solidFill>
            <a:prstDash val="solid"/>
          </a:ln>
          <a:effectLst>
            <a:outerShdw sx="100000" sy="100000" kx="0" ky="0" algn="bl" rotWithShape="0" blurRad="38100" dist="12700" dir="5400000">
              <a:srgbClr val="000000">
                <a:alpha val="8000"/>
              </a:srgbClr>
            </a:outerShdw>
          </a:effectLst>
        </p:spPr>
      </p:sp>
      <p:sp>
        <p:nvSpPr>
          <p:cNvPr id="6" name="Text 4"/>
          <p:cNvSpPr txBox="1"/>
          <p:nvPr/>
        </p:nvSpPr>
        <p:spPr>
          <a:xfrm>
            <a:off x="7223760" y="1371600"/>
            <a:ext cx="4206240" cy="365760"/>
          </a:xfrm>
          <a:prstGeom prst="rect">
            <a:avLst/>
          </a:prstGeom>
          <a:noFill/>
          <a:ln/>
        </p:spPr>
        <p:txBody>
          <a:bodyPr wrap="square" lIns="0" tIns="0" rIns="0" bIns="0" rtlCol="0" anchor="ctr"/>
          <a:lstStyle/>
          <a:p>
            <a:pPr indent="0" marL="0">
              <a:buNone/>
            </a:pPr>
            <a:r>
              <a:rPr lang="en-US" sz="1100" dirty="0">
                <a:solidFill>
                  <a:srgbClr val="E3C766"/>
                </a:solidFill>
                <a:latin typeface="Calibri" pitchFamily="34" charset="0"/>
                <a:ea typeface="Calibri" pitchFamily="34" charset="-122"/>
                <a:cs typeface="Calibri" pitchFamily="34" charset="-120"/>
              </a:rPr>
              <a:t>By the end of this module you can</a:t>
            </a:r>
            <a:endParaRPr lang="en-US" sz="1100" dirty="0"/>
          </a:p>
        </p:txBody>
      </p:sp>
      <p:sp>
        <p:nvSpPr>
          <p:cNvPr id="7" name="Text 5"/>
          <p:cNvSpPr txBox="1"/>
          <p:nvPr/>
        </p:nvSpPr>
        <p:spPr>
          <a:xfrm>
            <a:off x="7223760" y="1783080"/>
            <a:ext cx="4206240" cy="365760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Render long lists lazily with ListView.builder and GridView.builder</a:t>
            </a:r>
            <a:endParaRPr lang="en-US" sz="1400" dirty="0"/>
          </a:p>
          <a:p>
            <a:pPr marL="177800" indent="-1778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Add swipe-to-delete and pull-to-refresh</a:t>
            </a:r>
            <a:endParaRPr lang="en-US" sz="1400" dirty="0"/>
          </a:p>
          <a:p>
            <a:pPr marL="177800" indent="-1778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Build a validated Form with text, number, dropdown and date fields</a:t>
            </a:r>
            <a:endParaRPr lang="en-US" sz="1400" dirty="0"/>
          </a:p>
          <a:p>
            <a:pPr marL="177800" indent="-1778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Show dialogs, bottom sheets and snackbars safely after an await</a:t>
            </a:r>
            <a:endParaRPr lang="en-US" sz="1400" dirty="0"/>
          </a:p>
        </p:txBody>
      </p:sp>
      <p:sp>
        <p:nvSpPr>
          <p:cNvPr id="8" name="Text 6"/>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9" name="Text 7"/>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ListView.builder: lazy lists, keys, and swipe-to-delete</a:t>
            </a:r>
            <a:endParaRPr lang="en-US" sz="3000" dirty="0"/>
          </a:p>
        </p:txBody>
      </p:sp>
      <p:sp>
        <p:nvSpPr>
          <p:cNvPr id="3" name="Text 1"/>
          <p:cNvSpPr txBox="1"/>
          <p:nvPr/>
        </p:nvSpPr>
        <p:spPr>
          <a:xfrm>
            <a:off x="548640" y="1325880"/>
            <a:ext cx="3855842" cy="475488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ListView(children: [...])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builds everything up front - fine for &lt; 20 fixed items.</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ListView.builder / .separated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builds only visible rows; itemCount + itemBuilder. Use for anything data-driven.</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ListTile + Card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the standard row: leading, title, subtitle, trailing, onTap.</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Dismissible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swipe to delete; needs a unique key per item; you remove the item in onDismissed or it throws.</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Empty state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always handle the empty list explicitly.</a:t>
            </a:r>
            <a:endParaRPr lang="en-US" sz="1400" dirty="0"/>
          </a:p>
        </p:txBody>
      </p:sp>
      <p:sp>
        <p:nvSpPr>
          <p:cNvPr id="4" name="Shape 2"/>
          <p:cNvSpPr/>
          <p:nvPr/>
        </p:nvSpPr>
        <p:spPr>
          <a:xfrm>
            <a:off x="4678802" y="1325880"/>
            <a:ext cx="6961510" cy="4754880"/>
          </a:xfrm>
          <a:prstGeom prst="roundRect">
            <a:avLst>
              <a:gd name="adj" fmla="val 1538"/>
            </a:avLst>
          </a:prstGeom>
          <a:solidFill>
            <a:srgbClr val="0F172A"/>
          </a:solidFill>
          <a:ln w="12700">
            <a:solidFill>
              <a:srgbClr val="0F172A"/>
            </a:solidFill>
            <a:prstDash val="solid"/>
          </a:ln>
        </p:spPr>
      </p:sp>
      <p:sp>
        <p:nvSpPr>
          <p:cNvPr id="5" name="Text 3"/>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saved_quotes_list.dart</a:t>
            </a:r>
            <a:endParaRPr lang="en-US" sz="800" dirty="0"/>
          </a:p>
        </p:txBody>
      </p:sp>
      <p:sp>
        <p:nvSpPr>
          <p:cNvPr id="6" name="Text 4"/>
          <p:cNvSpPr txBox="1"/>
          <p:nvPr/>
        </p:nvSpPr>
        <p:spPr>
          <a:xfrm>
            <a:off x="4815962" y="1435608"/>
            <a:ext cx="6687190" cy="4535424"/>
          </a:xfrm>
          <a:prstGeom prst="rect">
            <a:avLst/>
          </a:prstGeom>
          <a:noFill/>
          <a:ln/>
        </p:spPr>
        <p:txBody>
          <a:bodyPr wrap="square" lIns="0" tIns="0" rIns="0" bIns="0" rtlCol="0" anchor="t"/>
          <a:lstStyle/>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ListView.separated(</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padding: const EdgeInsets.all(16),</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itemCount: quotes.length,</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separatorBuilder: (_, __) =&gt; const SizedBox(height: 8),</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itemBuilder: (context, i)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final q = quotes[i];</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return Dismissible(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key: ValueKey(q.id),                    // stable key per item, never the index</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direction: DismissDirection.endToStart,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background: Container(</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alignment: Alignment.centerRight,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padding: const EdgeInsets.only(right: 16),</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color: Theme.of(context).colorScheme.error,</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child: const Icon(Icons.delete, color: Colors.white),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onDismissed: (_) =&gt; onDelete(q),        // MUST remove the item from the list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child: Card(</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child: ListTile(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leading: const Icon(Icons.description_outlined),</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title: Text(q.display),</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subtitle: Text('Quote ${q.id}'),</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trailing: const Icon(Icons.chevron_right),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onTap: ()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a:t>
            </a:r>
            <a:endParaRPr lang="en-US" sz="9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GridView, RefreshIndicator, scroll control</a:t>
            </a:r>
            <a:endParaRPr lang="en-US" sz="3000" dirty="0"/>
          </a:p>
        </p:txBody>
      </p:sp>
      <p:sp>
        <p:nvSpPr>
          <p:cNvPr id="3" name="Text 1"/>
          <p:cNvSpPr txBox="1"/>
          <p:nvPr/>
        </p:nvSpPr>
        <p:spPr>
          <a:xfrm>
            <a:off x="548640" y="1325880"/>
            <a:ext cx="4965009" cy="475488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GridView.builder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with SliverGridDelegateWithMaxCrossAxisExtent for responsive columns, or WithFixedCrossAxisCount.</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RefreshIndicator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wraps a scrollable; onRefresh returns a Future. AlwaysScrollableScrollPhysics lets short lists pull.</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ScrollController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jumpTo / animateTo, listen for position (infinite scroll). Dispose it.</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SingleChildScrollView vs ListView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one child, builds all vs lazy rows. Forms use the former; data uses the latter.</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Slivers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CustomScrollView + SliverAppBar for collapsing headers. Show, do not teach.</a:t>
            </a:r>
            <a:endParaRPr lang="en-US" sz="1400" dirty="0"/>
          </a:p>
        </p:txBody>
      </p:sp>
      <p:sp>
        <p:nvSpPr>
          <p:cNvPr id="4" name="Shape 2"/>
          <p:cNvSpPr/>
          <p:nvPr/>
        </p:nvSpPr>
        <p:spPr>
          <a:xfrm>
            <a:off x="5787969" y="1325880"/>
            <a:ext cx="5852343" cy="4754880"/>
          </a:xfrm>
          <a:prstGeom prst="roundRect">
            <a:avLst>
              <a:gd name="adj" fmla="val 1538"/>
            </a:avLst>
          </a:prstGeom>
          <a:solidFill>
            <a:srgbClr val="0F172A"/>
          </a:solidFill>
          <a:ln w="12700">
            <a:solidFill>
              <a:srgbClr val="0F172A"/>
            </a:solidFill>
            <a:prstDash val="solid"/>
          </a:ln>
        </p:spPr>
      </p:sp>
      <p:sp>
        <p:nvSpPr>
          <p:cNvPr id="5" name="Text 3"/>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cover_grid.dart</a:t>
            </a:r>
            <a:endParaRPr lang="en-US" sz="800" dirty="0"/>
          </a:p>
        </p:txBody>
      </p:sp>
      <p:sp>
        <p:nvSpPr>
          <p:cNvPr id="6" name="Text 4"/>
          <p:cNvSpPr txBox="1"/>
          <p:nvPr/>
        </p:nvSpPr>
        <p:spPr>
          <a:xfrm>
            <a:off x="5925129" y="1435608"/>
            <a:ext cx="5578023" cy="4535424"/>
          </a:xfrm>
          <a:prstGeom prst="rect">
            <a:avLst/>
          </a:prstGeom>
          <a:noFill/>
          <a:ln/>
        </p:spPr>
        <p:txBody>
          <a:bodyPr wrap="square" lIns="0" tIns="0" rIns="0" bIns="0" rtlCol="0" anchor="t"/>
          <a:lstStyle/>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GridView.builder(</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padding: const EdgeInsets.all(16),</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gridDelegate: const SliverGridDelegateWithMaxCrossAxisExtent(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maxCrossAxisExtent: 220,      // responsive: as many columns as fit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mainAxisSpacing: 12,</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crossAxisSpacing: 12,</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childAspectRatio: 1.2,</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itemCount: Cover.values.length,</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itemBuilder: (context, i)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final c = Cover.values[i];</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return Card(</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child: InkWell(</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onTap: () =&gt; onSelect(c),</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child: Padding(</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padding: const EdgeInsets.all(12),</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child: Column(</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crossAxisAlignment: CrossAxisAlignment.start,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children: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const Icon(Icons.shield_outlined),</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const Spacer(),</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Text(c.label, style: Theme.of(context).textTheme.titleMedium),</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Text('× ${c.factor}'),</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a:t>
            </a:r>
            <a:endParaRPr lang="en-US" sz="9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Form, FormState, and controllers</a:t>
            </a:r>
            <a:endParaRPr lang="en-US" sz="3000" dirty="0"/>
          </a:p>
        </p:txBody>
      </p:sp>
      <p:sp>
        <p:nvSpPr>
          <p:cNvPr id="3" name="Text 1"/>
          <p:cNvSpPr txBox="1"/>
          <p:nvPr/>
        </p:nvSpPr>
        <p:spPr>
          <a:xfrm>
            <a:off x="548640" y="1325880"/>
            <a:ext cx="4299509" cy="475488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Form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groups fields; GlobalKey&lt;FormState&gt; is your handle. validate() runs every validator and shows errors; save() calls every onSaved; reset() clears.</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TextEditingController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read/write a field's text; create in State, dispose in dispose().</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Validation returns String?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null means valid; a String is the error message shown under the field.</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autovalidateMode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onUserInteraction validates as they type after first submit - the friendliest setting.</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The State owns the form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CaptureForm is Stateful because of the controllers; the submitted QuoteRequest goes UP via a callback.</a:t>
            </a:r>
            <a:endParaRPr lang="en-US" sz="1400" dirty="0"/>
          </a:p>
        </p:txBody>
      </p:sp>
      <p:sp>
        <p:nvSpPr>
          <p:cNvPr id="4" name="Shape 2"/>
          <p:cNvSpPr/>
          <p:nvPr/>
        </p:nvSpPr>
        <p:spPr>
          <a:xfrm>
            <a:off x="5122469" y="1325880"/>
            <a:ext cx="6517843" cy="4754880"/>
          </a:xfrm>
          <a:prstGeom prst="roundRect">
            <a:avLst>
              <a:gd name="adj" fmla="val 1538"/>
            </a:avLst>
          </a:prstGeom>
          <a:solidFill>
            <a:srgbClr val="0F172A"/>
          </a:solidFill>
          <a:ln w="12700">
            <a:solidFill>
              <a:srgbClr val="0F172A"/>
            </a:solidFill>
            <a:prstDash val="solid"/>
          </a:ln>
        </p:spPr>
      </p:sp>
      <p:sp>
        <p:nvSpPr>
          <p:cNvPr id="5" name="Text 3"/>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capture_form.dart (1/3)</a:t>
            </a:r>
            <a:endParaRPr lang="en-US" sz="800" dirty="0"/>
          </a:p>
        </p:txBody>
      </p:sp>
      <p:sp>
        <p:nvSpPr>
          <p:cNvPr id="6" name="Text 4"/>
          <p:cNvSpPr txBox="1"/>
          <p:nvPr/>
        </p:nvSpPr>
        <p:spPr>
          <a:xfrm>
            <a:off x="5259629" y="1435608"/>
            <a:ext cx="6243523" cy="4535424"/>
          </a:xfrm>
          <a:prstGeom prst="rect">
            <a:avLst/>
          </a:prstGeom>
          <a:noFill/>
          <a:ln/>
        </p:spPr>
        <p:txBody>
          <a:bodyPr wrap="square" lIns="0" tIns="0" rIns="0" bIns="0" rtlCol="0" anchor="t"/>
          <a:lstStyle/>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class CaptureForm extends StatefulWidget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const CaptureForm({super.key, required this.onSubmit});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final void Function(QuoteRequest) onSubmit;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@override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State&lt;CaptureForm&gt; createState() =&gt; _CaptureFormState();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class _CaptureFormState extends State&lt;CaptureForm&gt;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final _formKey = GlobalKey&lt;FormState&gt;();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final _makeCtrl = TextEditingController();</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final _yearCtrl = TextEditingController();</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Cover _cover = Cover.comprehensive;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DateTime? _licenceDate;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@override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void dispose()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_makeCtrl.dispose();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_yearCtrl.dispose();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super.dispose();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void _submit()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if (!_formKey.currentState!.validate()) return;   // runs every validator</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final year = int.parse(_yearCtrl.text);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final age = DateTime.now().year - (_licenceDate?.year ?? DateTime.now().year) + 18;</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widget.onSubmit(QuoteRequest(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make: _makeCtrl.text.trim(), year: year, driverAge: age, cover: _cover));</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@override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Widget build(BuildContext context) =&gt; Form(key: _formKey, child: _fields(context));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 _fields() on the next slide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a:t>
            </a:r>
            <a:endParaRPr lang="en-US" sz="9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The fields: text, number, dropdown, date, submit  (1/2)</a:t>
            </a:r>
            <a:endParaRPr lang="en-US" sz="3000" dirty="0"/>
          </a:p>
        </p:txBody>
      </p:sp>
      <p:sp>
        <p:nvSpPr>
          <p:cNvPr id="3" name="Shape 1"/>
          <p:cNvSpPr/>
          <p:nvPr/>
        </p:nvSpPr>
        <p:spPr>
          <a:xfrm>
            <a:off x="548640" y="1325880"/>
            <a:ext cx="11091672" cy="4846320"/>
          </a:xfrm>
          <a:prstGeom prst="roundRect">
            <a:avLst>
              <a:gd name="adj" fmla="val 150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capture_form.dart (2/3)</a:t>
            </a:r>
            <a:endParaRPr lang="en-US" sz="800" dirty="0"/>
          </a:p>
        </p:txBody>
      </p:sp>
      <p:sp>
        <p:nvSpPr>
          <p:cNvPr id="5" name="Text 3"/>
          <p:cNvSpPr txBox="1"/>
          <p:nvPr/>
        </p:nvSpPr>
        <p:spPr>
          <a:xfrm>
            <a:off x="685800" y="1435608"/>
            <a:ext cx="10817352" cy="4626864"/>
          </a:xfrm>
          <a:prstGeom prst="rect">
            <a:avLst/>
          </a:prstGeom>
          <a:noFill/>
          <a:ln/>
        </p:spPr>
        <p:txBody>
          <a:bodyPr wrap="square" lIns="0" tIns="0" rIns="0" bIns="0" rtlCol="0" anchor="t"/>
          <a:lstStyle/>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Widget _fields(BuildContext context) =&gt; Column(</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crossAxisAlignment: CrossAxisAlignment.stretch,</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children: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TextFormField(</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controller: _makeCtrl,</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decoration: const InputDecoration(labelText: 'Vehicle make', hintText: 'e.g. VW'),</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textInputAction: TextInputAction.next,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textCapitalization: TextCapitalization.words,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validator: (v) =&gt; (v == null || v.trim().isEmpty) ? 'Make is required' : null,</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const SizedBox(height: 12),</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TextFormField(</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controller: _yearCtrl,</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decoration: const InputDecoration(labelText: 'Year'),</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keyboardType: TextInputType.number,</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inputFormatters: [FilteringTextInputFormatter.digitsOnly, LengthLimitingTextInputFormatter(4)],</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validator: (v)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final y = int.tryParse(v ?? '');</a:t>
            </a:r>
            <a:endParaRPr lang="en-US" sz="1100" dirty="0"/>
          </a:p>
        </p:txBody>
      </p:sp>
      <p:sp>
        <p:nvSpPr>
          <p:cNvPr id="6" name="Text 4"/>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7" name="Text 5"/>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The fields: text, number, dropdown, date, submit  (2/2)</a:t>
            </a:r>
            <a:endParaRPr lang="en-US" sz="3000" dirty="0"/>
          </a:p>
        </p:txBody>
      </p:sp>
      <p:sp>
        <p:nvSpPr>
          <p:cNvPr id="3" name="Shape 1"/>
          <p:cNvSpPr/>
          <p:nvPr/>
        </p:nvSpPr>
        <p:spPr>
          <a:xfrm>
            <a:off x="548640" y="1325880"/>
            <a:ext cx="11091672" cy="4206240"/>
          </a:xfrm>
          <a:prstGeom prst="roundRect">
            <a:avLst>
              <a:gd name="adj" fmla="val 173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capture_form.dart (2/3)</a:t>
            </a:r>
            <a:endParaRPr lang="en-US" sz="800" dirty="0"/>
          </a:p>
        </p:txBody>
      </p:sp>
      <p:sp>
        <p:nvSpPr>
          <p:cNvPr id="5" name="Text 3"/>
          <p:cNvSpPr txBox="1"/>
          <p:nvPr/>
        </p:nvSpPr>
        <p:spPr>
          <a:xfrm>
            <a:off x="685800" y="1435608"/>
            <a:ext cx="10817352" cy="3986784"/>
          </a:xfrm>
          <a:prstGeom prst="rect">
            <a:avLst/>
          </a:prstGeom>
          <a:noFill/>
          <a:ln/>
        </p:spPr>
        <p:txBody>
          <a:bodyPr wrap="square" lIns="0" tIns="0" rIns="0" bIns="0" rtlCol="0" anchor="t"/>
          <a:lstStyle/>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if (y == null) return 'Enter a 4-digit year';</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if (y &lt; 1990 || y &gt; DateTime.now().year) return 'Year must be 1990-${DateTime.now().year}';</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return null;</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const SizedBox(height: 12),</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DropdownButtonFormField&lt;Cover&gt;(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initialValue: _cover,</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decoration: const InputDecoration(labelText: 'Cover'),</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items: [for (final c in Cover.values) DropdownMenuItem(value: c, child: Text(c.label))],</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onChanged: (c) =&gt; setState(() =&gt; _cover = c ?? _cover),</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const SizedBox(height: 12),</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_LicenceDateField(value: _licenceDate, onChanged: (d) =&gt; setState(() =&gt; _licenceDate = d)),</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const SizedBox(height: 24),</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FilledButton.icon(onPressed: _submit, icon: const Icon(Icons.calculate), label: const Text('Get quote')),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a:t>
            </a:r>
            <a:endParaRPr lang="en-US" sz="1100" dirty="0"/>
          </a:p>
        </p:txBody>
      </p:sp>
      <p:sp>
        <p:nvSpPr>
          <p:cNvPr id="6" name="Text 4"/>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200" dirty="0">
                <a:solidFill>
                  <a:srgbClr val="5B6773"/>
                </a:solidFill>
                <a:latin typeface="Calibri" pitchFamily="34" charset="0"/>
                <a:ea typeface="Calibri" pitchFamily="34" charset="-122"/>
                <a:cs typeface="Calibri" pitchFamily="34" charset="-120"/>
              </a:rPr>
              <a:t>Formatters need import package:flutter/services.dart. DropdownButtonFormField uses initialValue on current Flutter (value is deprecated since 3.33); see notes if your SDK is older.</a:t>
            </a:r>
            <a:endParaRPr lang="en-US" sz="12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A custom FormField: the date picker</a:t>
            </a:r>
            <a:endParaRPr lang="en-US" sz="3000" dirty="0"/>
          </a:p>
        </p:txBody>
      </p:sp>
      <p:sp>
        <p:nvSpPr>
          <p:cNvPr id="3" name="Text 1"/>
          <p:cNvSpPr txBox="1"/>
          <p:nvPr/>
        </p:nvSpPr>
        <p:spPr>
          <a:xfrm>
            <a:off x="548640" y="1325880"/>
            <a:ext cx="3855842" cy="475488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showDatePicker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returns Future&lt;DateTime?&gt;; null if cancelled. Needs MaterialLocalizations (MaterialApp provides it).</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FormField&lt;T&gt;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wrap any widget so it participates in validate()/save(). state.didChange(value) updates it.</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InputDecorator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draws the label/border/error like a TextFormField around any child.</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Formatting dates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MaterialLocalizations.of(context).formatMediumDate, or the intl package for full control.</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Time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showTimePicker has the same shape.</a:t>
            </a:r>
            <a:endParaRPr lang="en-US" sz="1400" dirty="0"/>
          </a:p>
        </p:txBody>
      </p:sp>
      <p:sp>
        <p:nvSpPr>
          <p:cNvPr id="4" name="Shape 2"/>
          <p:cNvSpPr/>
          <p:nvPr/>
        </p:nvSpPr>
        <p:spPr>
          <a:xfrm>
            <a:off x="4678802" y="1325880"/>
            <a:ext cx="6961510" cy="4754880"/>
          </a:xfrm>
          <a:prstGeom prst="roundRect">
            <a:avLst>
              <a:gd name="adj" fmla="val 1538"/>
            </a:avLst>
          </a:prstGeom>
          <a:solidFill>
            <a:srgbClr val="0F172A"/>
          </a:solidFill>
          <a:ln w="12700">
            <a:solidFill>
              <a:srgbClr val="0F172A"/>
            </a:solidFill>
            <a:prstDash val="solid"/>
          </a:ln>
        </p:spPr>
      </p:sp>
      <p:sp>
        <p:nvSpPr>
          <p:cNvPr id="5" name="Text 3"/>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capture_form.dart (3/3)</a:t>
            </a:r>
            <a:endParaRPr lang="en-US" sz="800" dirty="0"/>
          </a:p>
        </p:txBody>
      </p:sp>
      <p:sp>
        <p:nvSpPr>
          <p:cNvPr id="6" name="Text 4"/>
          <p:cNvSpPr txBox="1"/>
          <p:nvPr/>
        </p:nvSpPr>
        <p:spPr>
          <a:xfrm>
            <a:off x="4815962" y="1435608"/>
            <a:ext cx="6687190" cy="4535424"/>
          </a:xfrm>
          <a:prstGeom prst="rect">
            <a:avLst/>
          </a:prstGeom>
          <a:noFill/>
          <a:ln/>
        </p:spPr>
        <p:txBody>
          <a:bodyPr wrap="square" lIns="0" tIns="0" rIns="0" bIns="0" rtlCol="0" anchor="t"/>
          <a:lstStyle/>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class _LicenceDateField extends StatelessWidget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const _LicenceDateField({required this.value, required this.onChanged});</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final DateTime? value;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final ValueChanged&lt;DateTime?&gt; onChanged;</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@override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Widget build(BuildContext context)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final text = value == null</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 'Select date'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 MaterialLocalizations.of(context).formatMediumDate(value!);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return FormField&lt;DateTime&gt;(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initialValue: value,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validator: (d) =&gt; d == null ? 'Licence date is required' : null,</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builder: (state) =&gt; InputDecorator(</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decoration: InputDecoration(</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labelText: 'Licence issue date',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errorText: state.errorText,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suffixIcon: const Icon(Icons.calendar_today),</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child: InkWell(</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onTap: () async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final now = DateTime.now();</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final picked = await showDatePicker(</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context: context, initialDate: value ?? DateTime(now.year - 5),</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firstDate: DateTime(1950), lastDate: now);</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if (picked != null) { state.didChange(picked); onChanged(picked);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child: Text(text),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a:t>
            </a:r>
            <a:endParaRPr lang="en-US" sz="9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Dialogs, bottom sheets, snackbars - and the mounted check</a:t>
            </a:r>
            <a:endParaRPr lang="en-US" sz="3000" dirty="0"/>
          </a:p>
        </p:txBody>
      </p:sp>
      <p:sp>
        <p:nvSpPr>
          <p:cNvPr id="3" name="Text 1"/>
          <p:cNvSpPr txBox="1"/>
          <p:nvPr/>
        </p:nvSpPr>
        <p:spPr>
          <a:xfrm>
            <a:off x="548640" y="1325880"/>
            <a:ext cx="4077675" cy="475488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ScaffoldMessenger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shows SnackBars; survives navigation; needs a Scaffold somewhere above.</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showDialog&lt;T&gt;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returns whatever Navigator.pop(ctx, value) sends back. Use the dialog's own ctx to pop.</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showModalBottomSheet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same pattern; showDragHandle: true in M3.</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After every await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if (!context.mounted) return; - the user may have left the screen while you waited.</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Never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show a dialog from build(). Trigger from callbacks or post-frame.</a:t>
            </a:r>
            <a:endParaRPr lang="en-US" sz="1400" dirty="0"/>
          </a:p>
        </p:txBody>
      </p:sp>
      <p:sp>
        <p:nvSpPr>
          <p:cNvPr id="4" name="Shape 2"/>
          <p:cNvSpPr/>
          <p:nvPr/>
        </p:nvSpPr>
        <p:spPr>
          <a:xfrm>
            <a:off x="4900635" y="1325880"/>
            <a:ext cx="6739677" cy="4754880"/>
          </a:xfrm>
          <a:prstGeom prst="roundRect">
            <a:avLst>
              <a:gd name="adj" fmla="val 1538"/>
            </a:avLst>
          </a:prstGeom>
          <a:solidFill>
            <a:srgbClr val="0F172A"/>
          </a:solidFill>
          <a:ln w="12700">
            <a:solidFill>
              <a:srgbClr val="0F172A"/>
            </a:solidFill>
            <a:prstDash val="solid"/>
          </a:ln>
        </p:spPr>
      </p:sp>
      <p:sp>
        <p:nvSpPr>
          <p:cNvPr id="5" name="Text 3"/>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Dart</a:t>
            </a:r>
            <a:endParaRPr lang="en-US" sz="800" dirty="0"/>
          </a:p>
        </p:txBody>
      </p:sp>
      <p:sp>
        <p:nvSpPr>
          <p:cNvPr id="6" name="Text 4"/>
          <p:cNvSpPr txBox="1"/>
          <p:nvPr/>
        </p:nvSpPr>
        <p:spPr>
          <a:xfrm>
            <a:off x="5037795" y="1435608"/>
            <a:ext cx="6465357" cy="4535424"/>
          </a:xfrm>
          <a:prstGeom prst="rect">
            <a:avLst/>
          </a:prstGeom>
          <a:noFill/>
          <a:ln/>
        </p:spPr>
        <p:txBody>
          <a:bodyPr wrap="square" lIns="0" tIns="0" rIns="0" bIns="0" rtlCol="0" anchor="t"/>
          <a:lstStyle/>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SnackBar - needs a Scaffold ancestor</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ScaffoldMessenger.of(context).showSnackBar(</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const SnackBar(content: Text('Quote saved'), behavior: SnackBarBehavior.floating),</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Confirmation dialog - returns a Future of the popped value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final confirmed = await showDialog&lt;bool&gt;(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context: context,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builder: (ctx) =&gt; AlertDialog(</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title: const Text('Discard changes?'),</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content: const Text('Your unsaved quote will be lost.'),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actions: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TextButton(onPressed: () =&gt; Navigator.pop(ctx, false), child: const Text('Cancel')),</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FilledButton(onPressed: () =&gt; Navigator.pop(ctx, true), child: const Text('Discard')),</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if (!context.mounted) return;                 // after any await in a widget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if (confirmed == true) { /* … */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Bottom sheet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showModalBottomSheet(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context: context,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showDragHandle: true,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builder: (ctx) =&gt; const CoverPickerSheet(),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a:t>
            </a:r>
            <a:endParaRPr lang="en-US" sz="9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Other inputs, gestures, focus and the keyboard</a:t>
            </a:r>
            <a:endParaRPr lang="en-US" sz="3000" dirty="0"/>
          </a:p>
        </p:txBody>
      </p:sp>
      <p:sp>
        <p:nvSpPr>
          <p:cNvPr id="3" name="Shape 1"/>
          <p:cNvSpPr/>
          <p:nvPr/>
        </p:nvSpPr>
        <p:spPr>
          <a:xfrm>
            <a:off x="548640" y="1325880"/>
            <a:ext cx="11091672" cy="4206240"/>
          </a:xfrm>
          <a:prstGeom prst="roundRect">
            <a:avLst>
              <a:gd name="adj" fmla="val 173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Dart</a:t>
            </a:r>
            <a:endParaRPr lang="en-US" sz="800" dirty="0"/>
          </a:p>
        </p:txBody>
      </p:sp>
      <p:sp>
        <p:nvSpPr>
          <p:cNvPr id="5" name="Text 3"/>
          <p:cNvSpPr txBox="1"/>
          <p:nvPr/>
        </p:nvSpPr>
        <p:spPr>
          <a:xfrm>
            <a:off x="685800" y="1435608"/>
            <a:ext cx="10817352" cy="3986784"/>
          </a:xfrm>
          <a:prstGeom prst="rect">
            <a:avLst/>
          </a:prstGeom>
          <a:noFill/>
          <a:ln/>
        </p:spPr>
        <p:txBody>
          <a:bodyPr wrap="square" lIns="0" tIns="0" rIns="0" bIns="0" rtlCol="0" anchor="t"/>
          <a:lstStyle/>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Tappable anything - InkWell gives Material ripple; GestureDetector gives raw gestures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InkWell(onTap: () {}, borderRadius: BorderRadius.circular(12), child: card)</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GestureDetector(onLongPress: () {}, onHorizontalDragEnd: (d) {}, child: card)</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Other inputs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Switch(value: _extras, onChanged: (v) =&gt; setState(() =&gt; _extras = v))</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SwitchListTile(title: const Text('Roadside assist'), value: _ra, onChanged: (v) =&gt; setState(() =&gt; _ra = v))</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CheckboxListTile(title: const Text('Accept terms'), value: _ok, onChanged: (v) =&gt; setState(() =&gt; _ok = v ?? false))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Slider(value: _excess, min: 0, max: 10000, divisions: 20, label: 'R ${_excess.round()}', onChanged: (v) =&gt; setState(() =&gt; _excess = v))</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SegmentedButton&lt;Cover&gt;(segments: [...], selected: {_cover}, onSelectionChanged: (s) =&gt; setState(() =&gt; _cover = s.first))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Focus &amp; keyboard</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FocusScope.of(context).unfocus();            // dismiss keyboard</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final _yearFocus = FocusNode();               // dispose() it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TextFormField(focusNode: _yearFocus, onFieldSubmitted: (_) =&gt; _submit())</a:t>
            </a:r>
            <a:endParaRPr lang="en-US" sz="1100" dirty="0"/>
          </a:p>
        </p:txBody>
      </p:sp>
      <p:sp>
        <p:nvSpPr>
          <p:cNvPr id="6" name="Text 4"/>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200" dirty="0">
                <a:solidFill>
                  <a:srgbClr val="5B6773"/>
                </a:solidFill>
                <a:latin typeface="Calibri" pitchFamily="34" charset="0"/>
                <a:ea typeface="Calibri" pitchFamily="34" charset="-122"/>
                <a:cs typeface="Calibri" pitchFamily="34" charset="-120"/>
              </a:rPr>
              <a:t>InkWell inside a Material ancestor (Card, Scaffold) gives the ripple; GestureDetector is for raw gestures with no visual. FocusScope.unfocus() dismisses the keyboard.</a:t>
            </a:r>
            <a:endParaRPr lang="en-US" sz="12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2011680" cy="292608"/>
          </a:xfrm>
          <a:prstGeom prst="roundRect">
            <a:avLst>
              <a:gd name="adj" fmla="val 50000"/>
            </a:avLst>
          </a:prstGeom>
          <a:solidFill>
            <a:srgbClr val="0B2545"/>
          </a:solidFill>
          <a:ln w="12700">
            <a:solidFill>
              <a:srgbClr val="0B2545"/>
            </a:solidFill>
            <a:prstDash val="solid"/>
          </a:ln>
        </p:spPr>
      </p:sp>
      <p:sp>
        <p:nvSpPr>
          <p:cNvPr id="3" name="Text 1"/>
          <p:cNvSpPr txBox="1"/>
          <p:nvPr/>
        </p:nvSpPr>
        <p:spPr>
          <a:xfrm>
            <a:off x="548640" y="457200"/>
            <a:ext cx="201168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READ &amp; BREAK DOWN</a:t>
            </a:r>
            <a:endParaRPr lang="en-US" sz="1000" dirty="0"/>
          </a:p>
        </p:txBody>
      </p:sp>
      <p:sp>
        <p:nvSpPr>
          <p:cNvPr id="4" name="Text 2"/>
          <p:cNvSpPr txBox="1"/>
          <p:nvPr/>
        </p:nvSpPr>
        <p:spPr>
          <a:xfrm>
            <a:off x="9811512" y="457200"/>
            <a:ext cx="1828800" cy="292608"/>
          </a:xfrm>
          <a:prstGeom prst="rect">
            <a:avLst/>
          </a:prstGeom>
          <a:noFill/>
          <a:ln/>
        </p:spPr>
        <p:txBody>
          <a:bodyPr wrap="square" lIns="0" tIns="0" rIns="0" bIns="0" rtlCol="0" anchor="ctr"/>
          <a:lstStyle/>
          <a:p>
            <a:pPr algn="r" indent="0" marL="0">
              <a:buNone/>
            </a:pPr>
            <a:r>
              <a:rPr lang="en-US" sz="1200" dirty="0">
                <a:solidFill>
                  <a:srgbClr val="5B6773"/>
                </a:solidFill>
                <a:latin typeface="Calibri" pitchFamily="34" charset="0"/>
                <a:ea typeface="Calibri" pitchFamily="34" charset="-122"/>
                <a:cs typeface="Calibri" pitchFamily="34" charset="-120"/>
              </a:rPr>
              <a:t>8 min read + 5 min debrief</a:t>
            </a:r>
            <a:endParaRPr lang="en-US" sz="1200" dirty="0"/>
          </a:p>
        </p:txBody>
      </p:sp>
      <p:sp>
        <p:nvSpPr>
          <p:cNvPr id="5" name="Text 3"/>
          <p:cNvSpPr txBox="1"/>
          <p:nvPr/>
        </p:nvSpPr>
        <p:spPr>
          <a:xfrm>
            <a:off x="548640" y="868680"/>
            <a:ext cx="11091672" cy="640080"/>
          </a:xfrm>
          <a:prstGeom prst="rect">
            <a:avLst/>
          </a:prstGeom>
          <a:noFill/>
          <a:ln/>
        </p:spPr>
        <p:txBody>
          <a:bodyPr wrap="square" lIns="0" tIns="0" rIns="0" bIns="0" rtlCol="0" anchor="ctr"/>
          <a:lstStyle/>
          <a:p>
            <a:pPr indent="0" marL="0">
              <a:buNone/>
            </a:pPr>
            <a:r>
              <a:rPr lang="en-US" sz="2800" b="1" dirty="0">
                <a:solidFill>
                  <a:srgbClr val="0B2545"/>
                </a:solidFill>
                <a:latin typeface="Calibri" pitchFamily="34" charset="0"/>
                <a:ea typeface="Calibri" pitchFamily="34" charset="-122"/>
                <a:cs typeface="Calibri" pitchFamily="34" charset="-120"/>
              </a:rPr>
              <a:t>Read: the official form validation cookbook - compare it to what we built</a:t>
            </a:r>
            <a:endParaRPr lang="en-US" sz="2800" dirty="0"/>
          </a:p>
        </p:txBody>
      </p:sp>
      <p:sp>
        <p:nvSpPr>
          <p:cNvPr id="6" name="Shape 4"/>
          <p:cNvSpPr/>
          <p:nvPr/>
        </p:nvSpPr>
        <p:spPr>
          <a:xfrm>
            <a:off x="548640" y="1691640"/>
            <a:ext cx="11091672" cy="960120"/>
          </a:xfrm>
          <a:prstGeom prst="roundRect">
            <a:avLst>
              <a:gd name="adj" fmla="val 9524"/>
            </a:avLst>
          </a:prstGeom>
          <a:solidFill>
            <a:srgbClr val="EAF0F7"/>
          </a:solidFill>
          <a:ln w="6350">
            <a:solidFill>
              <a:srgbClr val="EAF0F7"/>
            </a:solidFill>
            <a:prstDash val="solid"/>
          </a:ln>
          <a:effectLst>
            <a:outerShdw sx="100000" sy="100000" kx="0" ky="0" algn="bl" rotWithShape="0" blurRad="38100" dist="12700" dir="5400000">
              <a:srgbClr val="000000">
                <a:alpha val="8000"/>
              </a:srgbClr>
            </a:outerShdw>
          </a:effectLst>
        </p:spPr>
      </p:sp>
      <p:sp>
        <p:nvSpPr>
          <p:cNvPr id="7" name="Text 5"/>
          <p:cNvSpPr txBox="1"/>
          <p:nvPr/>
        </p:nvSpPr>
        <p:spPr>
          <a:xfrm>
            <a:off x="822960" y="1783080"/>
            <a:ext cx="10543032" cy="457200"/>
          </a:xfrm>
          <a:prstGeom prst="rect">
            <a:avLst/>
          </a:prstGeom>
          <a:noFill/>
          <a:ln/>
        </p:spPr>
        <p:txBody>
          <a:bodyPr wrap="square" lIns="0" tIns="0" rIns="0" bIns="0" rtlCol="0" anchor="ctr"/>
          <a:lstStyle/>
          <a:p>
            <a:pPr indent="0" marL="0">
              <a:buNone/>
            </a:pPr>
            <a:r>
              <a:rPr lang="en-US" sz="1800" b="1" dirty="0">
                <a:solidFill>
                  <a:srgbClr val="0B2545"/>
                </a:solidFill>
                <a:latin typeface="Courier New" pitchFamily="34" charset="0"/>
                <a:ea typeface="Courier New" pitchFamily="34" charset="-122"/>
                <a:cs typeface="Courier New" pitchFamily="34" charset="-120"/>
              </a:rPr>
              <a:t>docs.flutter.dev/cookbook/forms/validation</a:t>
            </a:r>
            <a:endParaRPr lang="en-US" sz="1800" dirty="0"/>
          </a:p>
        </p:txBody>
      </p:sp>
      <p:sp>
        <p:nvSpPr>
          <p:cNvPr id="8" name="Text 6"/>
          <p:cNvSpPr txBox="1"/>
          <p:nvPr/>
        </p:nvSpPr>
        <p:spPr>
          <a:xfrm>
            <a:off x="822960" y="2212848"/>
            <a:ext cx="10543032" cy="365760"/>
          </a:xfrm>
          <a:prstGeom prst="rect">
            <a:avLst/>
          </a:prstGeom>
          <a:noFill/>
          <a:ln/>
        </p:spPr>
        <p:txBody>
          <a:bodyPr wrap="square" lIns="0" tIns="0" rIns="0" bIns="0" rtlCol="0" anchor="ctr"/>
          <a:lstStyle/>
          <a:p>
            <a:pPr indent="0" marL="0">
              <a:buNone/>
            </a:pPr>
            <a:r>
              <a:rPr lang="en-US" sz="1200" dirty="0">
                <a:solidFill>
                  <a:srgbClr val="5B6773"/>
                </a:solidFill>
                <a:latin typeface="Calibri" pitchFamily="34" charset="0"/>
                <a:ea typeface="Calibri" pitchFamily="34" charset="-122"/>
                <a:cs typeface="Calibri" pitchFamily="34" charset="-120"/>
              </a:rPr>
              <a:t>Whole recipe, then "Retrieve the value of a text field" and "Handle changes to a text field" from the same cookbook (about 8 minutes)</a:t>
            </a:r>
            <a:endParaRPr lang="en-US" sz="1200" dirty="0"/>
          </a:p>
        </p:txBody>
      </p:sp>
      <p:sp>
        <p:nvSpPr>
          <p:cNvPr id="9" name="Text 7"/>
          <p:cNvSpPr txBox="1"/>
          <p:nvPr/>
        </p:nvSpPr>
        <p:spPr>
          <a:xfrm>
            <a:off x="548640" y="2880360"/>
            <a:ext cx="6655003" cy="3657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Answer these as you read</a:t>
            </a:r>
            <a:endParaRPr lang="en-US" sz="1400" dirty="0"/>
          </a:p>
        </p:txBody>
      </p:sp>
      <p:sp>
        <p:nvSpPr>
          <p:cNvPr id="10" name="Text 8"/>
          <p:cNvSpPr txBox="1"/>
          <p:nvPr/>
        </p:nvSpPr>
        <p:spPr>
          <a:xfrm>
            <a:off x="548640" y="3291840"/>
            <a:ext cx="6655003" cy="2743200"/>
          </a:xfrm>
          <a:prstGeom prst="rect">
            <a:avLst/>
          </a:prstGeom>
          <a:noFill/>
          <a:ln/>
        </p:spPr>
        <p:txBody>
          <a:bodyPr wrap="square" lIns="0" tIns="0" rIns="0" bIns="0" rtlCol="0" anchor="t"/>
          <a:lstStyle/>
          <a:p>
            <a:pPr marL="279400" indent="-279400">
              <a:spcAft>
                <a:spcPts val="800"/>
              </a:spcAft>
              <a:buSzPct val="100000"/>
              <a:buFont typeface="+mj-lt"/>
              <a:buAutoNum type="arabicPeriod" startAt="1"/>
            </a:pPr>
            <a:r>
              <a:rPr lang="en-US" sz="1400" dirty="0">
                <a:solidFill>
                  <a:srgbClr val="1F2933"/>
                </a:solidFill>
                <a:latin typeface="Calibri" pitchFamily="34" charset="0"/>
                <a:ea typeface="Calibri" pitchFamily="34" charset="-122"/>
                <a:cs typeface="Calibri" pitchFamily="34" charset="-120"/>
              </a:rPr>
              <a:t>The cookbook uses a GlobalKey and validate(); what does our CaptureForm add on top, and why?</a:t>
            </a:r>
            <a:endParaRPr lang="en-US" sz="1400" dirty="0"/>
          </a:p>
          <a:p>
            <a:pPr marL="279400" indent="-279400">
              <a:spcAft>
                <a:spcPts val="800"/>
              </a:spcAft>
              <a:buSzPct val="100000"/>
              <a:buFont typeface="+mj-lt"/>
              <a:buAutoNum type="arabicPeriod" startAt="1"/>
            </a:pPr>
            <a:r>
              <a:rPr lang="en-US" sz="1400" dirty="0">
                <a:solidFill>
                  <a:srgbClr val="1F2933"/>
                </a:solidFill>
                <a:latin typeface="Calibri" pitchFamily="34" charset="0"/>
                <a:ea typeface="Calibri" pitchFamily="34" charset="-122"/>
                <a:cs typeface="Calibri" pitchFamily="34" charset="-120"/>
              </a:rPr>
              <a:t>What are the two ways to read a text field's value, and when would you pick each?</a:t>
            </a:r>
            <a:endParaRPr lang="en-US" sz="1400" dirty="0"/>
          </a:p>
          <a:p>
            <a:pPr marL="279400" indent="-279400">
              <a:spcAft>
                <a:spcPts val="800"/>
              </a:spcAft>
              <a:buSzPct val="100000"/>
              <a:buFont typeface="+mj-lt"/>
              <a:buAutoNum type="arabicPeriod" startAt="1"/>
            </a:pPr>
            <a:r>
              <a:rPr lang="en-US" sz="1400" dirty="0">
                <a:solidFill>
                  <a:srgbClr val="1F2933"/>
                </a:solidFill>
                <a:latin typeface="Calibri" pitchFamily="34" charset="0"/>
                <a:ea typeface="Calibri" pitchFamily="34" charset="-122"/>
                <a:cs typeface="Calibri" pitchFamily="34" charset="-120"/>
              </a:rPr>
              <a:t>What does the cookbook say about disposing controllers? What happens if you don't?</a:t>
            </a:r>
            <a:endParaRPr lang="en-US" sz="1400" dirty="0"/>
          </a:p>
          <a:p>
            <a:pPr marL="279400" indent="-279400">
              <a:spcAft>
                <a:spcPts val="800"/>
              </a:spcAft>
              <a:buSzPct val="100000"/>
              <a:buFont typeface="+mj-lt"/>
              <a:buAutoNum type="arabicPeriod" startAt="1"/>
            </a:pPr>
            <a:r>
              <a:rPr lang="en-US" sz="1400" dirty="0">
                <a:solidFill>
                  <a:srgbClr val="1F2933"/>
                </a:solidFill>
                <a:latin typeface="Calibri" pitchFamily="34" charset="0"/>
                <a:ea typeface="Calibri" pitchFamily="34" charset="-122"/>
                <a:cs typeface="Calibri" pitchFamily="34" charset="-120"/>
              </a:rPr>
              <a:t>One thing you would change in the cookbook's example for a production insurance form.</a:t>
            </a:r>
            <a:endParaRPr lang="en-US" sz="1400" dirty="0"/>
          </a:p>
        </p:txBody>
      </p:sp>
      <p:sp>
        <p:nvSpPr>
          <p:cNvPr id="11" name="Shape 9"/>
          <p:cNvSpPr/>
          <p:nvPr/>
        </p:nvSpPr>
        <p:spPr>
          <a:xfrm>
            <a:off x="7477963" y="2880360"/>
            <a:ext cx="4162349" cy="3154680"/>
          </a:xfrm>
          <a:prstGeom prst="roundRect">
            <a:avLst>
              <a:gd name="adj" fmla="val 2899"/>
            </a:avLst>
          </a:prstGeom>
          <a:solidFill>
            <a:srgbClr val="FBF6E3"/>
          </a:solidFill>
          <a:ln w="6350">
            <a:solidFill>
              <a:srgbClr val="FBF6E3"/>
            </a:solidFill>
            <a:prstDash val="solid"/>
          </a:ln>
          <a:effectLst>
            <a:outerShdw sx="100000" sy="100000" kx="0" ky="0" algn="bl" rotWithShape="0" blurRad="38100" dist="12700" dir="5400000">
              <a:srgbClr val="000000">
                <a:alpha val="8000"/>
              </a:srgbClr>
            </a:outerShdw>
          </a:effectLst>
        </p:spPr>
      </p:sp>
      <p:sp>
        <p:nvSpPr>
          <p:cNvPr id="12" name="Text 10"/>
          <p:cNvSpPr txBox="1"/>
          <p:nvPr/>
        </p:nvSpPr>
        <p:spPr>
          <a:xfrm>
            <a:off x="7706563" y="3017520"/>
            <a:ext cx="3705149" cy="3657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Then</a:t>
            </a:r>
            <a:endParaRPr lang="en-US" sz="1400" dirty="0"/>
          </a:p>
        </p:txBody>
      </p:sp>
      <p:sp>
        <p:nvSpPr>
          <p:cNvPr id="13" name="Text 11"/>
          <p:cNvSpPr txBox="1"/>
          <p:nvPr/>
        </p:nvSpPr>
        <p:spPr>
          <a:xfrm>
            <a:off x="7706563" y="3429000"/>
            <a:ext cx="3705149" cy="2514600"/>
          </a:xfrm>
          <a:prstGeom prst="rect">
            <a:avLst/>
          </a:prstGeom>
          <a:noFill/>
          <a:ln/>
        </p:spPr>
        <p:txBody>
          <a:bodyPr wrap="square" lIns="0" tIns="0" rIns="0" bIns="0" rtlCol="0" anchor="t"/>
          <a:lstStyle/>
          <a:p>
            <a:pPr marL="177800" indent="-177800">
              <a:spcAft>
                <a:spcPts val="700"/>
              </a:spcAft>
              <a:buSzPct val="100000"/>
              <a:buChar char="•"/>
            </a:pPr>
            <a:r>
              <a:rPr lang="en-US" sz="1250" dirty="0">
                <a:solidFill>
                  <a:srgbClr val="1F2933"/>
                </a:solidFill>
                <a:latin typeface="Calibri" pitchFamily="34" charset="0"/>
                <a:ea typeface="Calibri" pitchFamily="34" charset="-122"/>
                <a:cs typeface="Calibri" pitchFamily="34" charset="-120"/>
              </a:rPr>
              <a:t>One person answers Q1 and Q3; another answers Q2 and Q4.</a:t>
            </a:r>
            <a:endParaRPr lang="en-US" sz="1250" dirty="0"/>
          </a:p>
          <a:p>
            <a:pPr marL="177800" indent="-177800">
              <a:spcAft>
                <a:spcPts val="700"/>
              </a:spcAft>
              <a:buSzPct val="100000"/>
              <a:buChar char="•"/>
            </a:pPr>
            <a:r>
              <a:rPr lang="en-US" sz="1250" dirty="0">
                <a:solidFill>
                  <a:srgbClr val="1F2933"/>
                </a:solidFill>
                <a:latin typeface="Calibri" pitchFamily="34" charset="0"/>
                <a:ea typeface="Calibri" pitchFamily="34" charset="-122"/>
                <a:cs typeface="Calibri" pitchFamily="34" charset="-120"/>
              </a:rPr>
              <a:t>Anyone who found a mistake or an omission in the doc says so - official docs are not scripture.</a:t>
            </a:r>
            <a:endParaRPr lang="en-US" sz="1250" dirty="0"/>
          </a:p>
          <a:p>
            <a:pPr marL="177800" indent="-177800">
              <a:spcAft>
                <a:spcPts val="700"/>
              </a:spcAft>
              <a:buSzPct val="100000"/>
              <a:buChar char="•"/>
            </a:pPr>
            <a:r>
              <a:rPr lang="en-US" sz="1250" dirty="0">
                <a:solidFill>
                  <a:srgbClr val="1F2933"/>
                </a:solidFill>
                <a:latin typeface="Calibri" pitchFamily="34" charset="0"/>
                <a:ea typeface="Calibri" pitchFamily="34" charset="-122"/>
                <a:cs typeface="Calibri" pitchFamily="34" charset="-120"/>
              </a:rPr>
              <a:t>Then straight into Lab 2.2.</a:t>
            </a:r>
            <a:endParaRPr lang="en-US" sz="1250" dirty="0"/>
          </a:p>
        </p:txBody>
      </p:sp>
      <p:sp>
        <p:nvSpPr>
          <p:cNvPr id="14" name="Text 12"/>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15" name="Text 13"/>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188720" cy="457200"/>
          </a:xfrm>
          <a:prstGeom prst="roundRect">
            <a:avLst>
              <a:gd name="adj" fmla="val 20000"/>
            </a:avLst>
          </a:prstGeom>
          <a:solidFill>
            <a:srgbClr val="C9A227"/>
          </a:solidFill>
          <a:ln w="12700">
            <a:solidFill>
              <a:srgbClr val="C9A227"/>
            </a:solidFill>
            <a:prstDash val="solid"/>
          </a:ln>
        </p:spPr>
      </p:sp>
      <p:sp>
        <p:nvSpPr>
          <p:cNvPr id="3" name="Text 1"/>
          <p:cNvSpPr txBox="1"/>
          <p:nvPr/>
        </p:nvSpPr>
        <p:spPr>
          <a:xfrm>
            <a:off x="548640" y="411480"/>
            <a:ext cx="1188720" cy="457200"/>
          </a:xfrm>
          <a:prstGeom prst="rect">
            <a:avLst/>
          </a:prstGeom>
          <a:noFill/>
          <a:ln/>
        </p:spPr>
        <p:txBody>
          <a:bodyPr wrap="square" lIns="0" tIns="0" rIns="0" bIns="0" rtlCol="0" anchor="ctr"/>
          <a:lstStyle/>
          <a:p>
            <a:pPr algn="ctr" indent="0" marL="0">
              <a:buNone/>
            </a:pPr>
            <a:r>
              <a:rPr lang="en-US" sz="1400" b="1" dirty="0">
                <a:solidFill>
                  <a:srgbClr val="0B2545"/>
                </a:solidFill>
                <a:latin typeface="Calibri" pitchFamily="34" charset="0"/>
                <a:ea typeface="Calibri" pitchFamily="34" charset="-122"/>
                <a:cs typeface="Calibri" pitchFamily="34" charset="-120"/>
              </a:rPr>
              <a:t>LAB 2.2</a:t>
            </a:r>
            <a:endParaRPr lang="en-US" sz="1400" dirty="0"/>
          </a:p>
        </p:txBody>
      </p:sp>
      <p:sp>
        <p:nvSpPr>
          <p:cNvPr id="4" name="Text 2"/>
          <p:cNvSpPr txBox="1"/>
          <p:nvPr/>
        </p:nvSpPr>
        <p:spPr>
          <a:xfrm>
            <a:off x="1920240" y="365760"/>
            <a:ext cx="8165592" cy="548640"/>
          </a:xfrm>
          <a:prstGeom prst="rect">
            <a:avLst/>
          </a:prstGeom>
          <a:noFill/>
          <a:ln/>
        </p:spPr>
        <p:txBody>
          <a:bodyPr wrap="square" lIns="0" tIns="0" rIns="0" bIns="0" rtlCol="0" anchor="ctr"/>
          <a:lstStyle/>
          <a:p>
            <a:pPr indent="0" marL="0">
              <a:buNone/>
            </a:pPr>
            <a:r>
              <a:rPr lang="en-US" sz="2600" b="1" dirty="0">
                <a:solidFill>
                  <a:srgbClr val="0B2545"/>
                </a:solidFill>
                <a:latin typeface="Calibri" pitchFamily="34" charset="0"/>
                <a:ea typeface="Calibri" pitchFamily="34" charset="-122"/>
                <a:cs typeface="Calibri" pitchFamily="34" charset="-120"/>
              </a:rPr>
              <a:t>The quote capture form</a:t>
            </a:r>
            <a:endParaRPr lang="en-US" sz="2600" dirty="0"/>
          </a:p>
        </p:txBody>
      </p:sp>
      <p:sp>
        <p:nvSpPr>
          <p:cNvPr id="5" name="Text 3"/>
          <p:cNvSpPr txBox="1"/>
          <p:nvPr/>
        </p:nvSpPr>
        <p:spPr>
          <a:xfrm>
            <a:off x="10177272" y="411480"/>
            <a:ext cx="1463040" cy="457200"/>
          </a:xfrm>
          <a:prstGeom prst="rect">
            <a:avLst/>
          </a:prstGeom>
          <a:noFill/>
          <a:ln/>
        </p:spPr>
        <p:txBody>
          <a:bodyPr wrap="square" lIns="0" tIns="0" rIns="0" bIns="0" rtlCol="0" anchor="ctr"/>
          <a:lstStyle/>
          <a:p>
            <a:pPr algn="r" indent="0" marL="0">
              <a:buNone/>
            </a:pPr>
            <a:r>
              <a:rPr lang="en-US" sz="1200" dirty="0">
                <a:solidFill>
                  <a:srgbClr val="5B6773"/>
                </a:solidFill>
                <a:latin typeface="Calibri" pitchFamily="34" charset="0"/>
                <a:ea typeface="Calibri" pitchFamily="34" charset="-122"/>
                <a:cs typeface="Calibri" pitchFamily="34" charset="-120"/>
              </a:rPr>
              <a:t>45 min</a:t>
            </a:r>
            <a:endParaRPr lang="en-US" sz="1200" dirty="0"/>
          </a:p>
        </p:txBody>
      </p:sp>
      <p:sp>
        <p:nvSpPr>
          <p:cNvPr id="6" name="Text 4"/>
          <p:cNvSpPr txBox="1"/>
          <p:nvPr/>
        </p:nvSpPr>
        <p:spPr>
          <a:xfrm>
            <a:off x="548640" y="1097280"/>
            <a:ext cx="11091672" cy="502920"/>
          </a:xfrm>
          <a:prstGeom prst="rect">
            <a:avLst/>
          </a:prstGeom>
          <a:noFill/>
          <a:ln/>
        </p:spPr>
        <p:txBody>
          <a:bodyPr wrap="square" lIns="0" tIns="0" rIns="0" bIns="0" rtlCol="0" anchor="t"/>
          <a:lstStyle/>
          <a:p>
            <a:pPr indent="0" marL="0">
              <a:buNone/>
            </a:pPr>
            <a:r>
              <a:rPr lang="en-US" sz="1400" b="1" dirty="0">
                <a:solidFill>
                  <a:srgbClr val="0B2545"/>
                </a:solidFill>
                <a:latin typeface="Calibri" pitchFamily="34" charset="0"/>
                <a:ea typeface="Calibri" pitchFamily="34" charset="-122"/>
                <a:cs typeface="Calibri" pitchFamily="34" charset="-120"/>
              </a:rPr>
              <a:t>Goal  </a:t>
            </a:r>
            <a:pPr indent="0" marL="0">
              <a:buNone/>
            </a:pPr>
            <a:r>
              <a:rPr lang="en-US" sz="1400" dirty="0">
                <a:solidFill>
                  <a:srgbClr val="1F2933"/>
                </a:solidFill>
                <a:latin typeface="Calibri" pitchFamily="34" charset="0"/>
                <a:ea typeface="Calibri" pitchFamily="34" charset="-122"/>
                <a:cs typeface="Calibri" pitchFamily="34" charset="-120"/>
              </a:rPr>
              <a:t>A validated CaptureForm (make, year, cover, licence date) that hands a QuoteRequest up to CaptureScreen, which shows the premium in a SnackBar.</a:t>
            </a:r>
            <a:endParaRPr lang="en-US" sz="1400" dirty="0"/>
          </a:p>
        </p:txBody>
      </p:sp>
      <p:sp>
        <p:nvSpPr>
          <p:cNvPr id="7" name="Text 5"/>
          <p:cNvSpPr txBox="1"/>
          <p:nvPr/>
        </p:nvSpPr>
        <p:spPr>
          <a:xfrm>
            <a:off x="548640" y="1691640"/>
            <a:ext cx="7098670" cy="4389120"/>
          </a:xfrm>
          <a:prstGeom prst="rect">
            <a:avLst/>
          </a:prstGeom>
          <a:noFill/>
          <a:ln/>
        </p:spPr>
        <p:txBody>
          <a:bodyPr wrap="square" lIns="0" tIns="0" rIns="0" bIns="0" rtlCol="0" anchor="t"/>
          <a:lstStyle/>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Create features/quote/presentation/capture_form.dart with CaptureForm (Stateful): GlobalKey&lt;FormState&gt;, two controllers, Cover, DateTime?; dispose the controllers.</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Fields: make (required, TextCapitalization.words, next action), year (digits only, 4 chars, 1990-current), cover (DropdownButtonFormField), licence date (custom FormField + showDatePicker), Get quote (FilledButton.icon).</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On submit: validate → build QuoteRequest → widget.onSubmit(request).</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In CaptureScreen replace the placeholder with CaptureForm(onSubmit: …) and show the premium via ScaffoldMessenger SnackBar.</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Add a Reset OutlinedButton that calls _formKey.currentState!.reset() and clears controllers.</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Test: empty submit shows four errors; year 1985 shows the range error; valid input shows the premium.</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Add a confirmation AlertDialog on Reset when any field is filled; check context.mounted after the await.</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flutter analyze clean, commit "Day 2: capture form".</a:t>
            </a:r>
            <a:endParaRPr lang="en-US" sz="1300" dirty="0"/>
          </a:p>
        </p:txBody>
      </p:sp>
      <p:sp>
        <p:nvSpPr>
          <p:cNvPr id="8" name="Shape 6"/>
          <p:cNvSpPr/>
          <p:nvPr/>
        </p:nvSpPr>
        <p:spPr>
          <a:xfrm>
            <a:off x="7921630" y="1691640"/>
            <a:ext cx="3718682" cy="4389120"/>
          </a:xfrm>
          <a:prstGeom prst="roundRect">
            <a:avLst>
              <a:gd name="adj" fmla="val 2459"/>
            </a:avLst>
          </a:prstGeom>
          <a:solidFill>
            <a:srgbClr val="EAF2EC"/>
          </a:solidFill>
          <a:ln w="6350">
            <a:solidFill>
              <a:srgbClr val="EAF2EC"/>
            </a:solidFill>
            <a:prstDash val="solid"/>
          </a:ln>
          <a:effectLst>
            <a:outerShdw sx="100000" sy="100000" kx="0" ky="0" algn="bl" rotWithShape="0" blurRad="38100" dist="12700" dir="5400000">
              <a:srgbClr val="000000">
                <a:alpha val="8000"/>
              </a:srgbClr>
            </a:outerShdw>
          </a:effectLst>
        </p:spPr>
      </p:sp>
      <p:sp>
        <p:nvSpPr>
          <p:cNvPr id="9" name="Text 7"/>
          <p:cNvSpPr txBox="1"/>
          <p:nvPr/>
        </p:nvSpPr>
        <p:spPr>
          <a:xfrm>
            <a:off x="8104510" y="1828800"/>
            <a:ext cx="3352922" cy="365760"/>
          </a:xfrm>
          <a:prstGeom prst="rect">
            <a:avLst/>
          </a:prstGeom>
          <a:noFill/>
          <a:ln/>
        </p:spPr>
        <p:txBody>
          <a:bodyPr wrap="square" lIns="0" tIns="0" rIns="0" bIns="0" rtlCol="0" anchor="ctr"/>
          <a:lstStyle/>
          <a:p>
            <a:pPr indent="0" marL="0">
              <a:buNone/>
            </a:pPr>
            <a:r>
              <a:rPr lang="en-US" sz="1300" b="1" dirty="0">
                <a:solidFill>
                  <a:srgbClr val="1F7A5C"/>
                </a:solidFill>
                <a:latin typeface="Calibri" pitchFamily="34" charset="0"/>
                <a:ea typeface="Calibri" pitchFamily="34" charset="-122"/>
                <a:cs typeface="Calibri" pitchFamily="34" charset="-120"/>
              </a:rPr>
              <a:t>Stretch (fast lane)</a:t>
            </a:r>
            <a:endParaRPr lang="en-US" sz="1300" dirty="0"/>
          </a:p>
        </p:txBody>
      </p:sp>
      <p:sp>
        <p:nvSpPr>
          <p:cNvPr id="10" name="Text 8"/>
          <p:cNvSpPr txBox="1"/>
          <p:nvPr/>
        </p:nvSpPr>
        <p:spPr>
          <a:xfrm>
            <a:off x="8104510" y="2240280"/>
            <a:ext cx="3352922" cy="36576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rgbClr val="1F2933"/>
                </a:solidFill>
                <a:latin typeface="Calibri" pitchFamily="34" charset="0"/>
                <a:ea typeface="Calibri" pitchFamily="34" charset="-122"/>
                <a:cs typeface="Calibri" pitchFamily="34" charset="-120"/>
              </a:rPr>
              <a:t>autovalidateMode: AutovalidateMode.onUserInteraction after the first submit attempt (use a bool in State).</a:t>
            </a:r>
            <a:endParaRPr lang="en-US" sz="1200" dirty="0"/>
          </a:p>
          <a:p>
            <a:pPr marL="177800" indent="-177800">
              <a:spcAft>
                <a:spcPts val="600"/>
              </a:spcAft>
              <a:buSzPct val="100000"/>
              <a:buChar char="•"/>
            </a:pPr>
            <a:r>
              <a:rPr lang="en-US" sz="1200" dirty="0">
                <a:solidFill>
                  <a:srgbClr val="1F2933"/>
                </a:solidFill>
                <a:latin typeface="Calibri" pitchFamily="34" charset="0"/>
                <a:ea typeface="Calibri" pitchFamily="34" charset="-122"/>
                <a:cs typeface="Calibri" pitchFamily="34" charset="-120"/>
              </a:rPr>
              <a:t>Replace the cover dropdown with the GridView of cover cards from the slide; keep it inside the Form via FormField&lt;Cover&gt;.</a:t>
            </a:r>
            <a:endParaRPr lang="en-US" sz="1200" dirty="0"/>
          </a:p>
          <a:p>
            <a:pPr marL="177800" indent="-177800">
              <a:spcAft>
                <a:spcPts val="600"/>
              </a:spcAft>
              <a:buSzPct val="100000"/>
              <a:buChar char="•"/>
            </a:pPr>
            <a:r>
              <a:rPr lang="en-US" sz="1200" dirty="0">
                <a:solidFill>
                  <a:srgbClr val="1F2933"/>
                </a:solidFill>
                <a:latin typeface="Calibri" pitchFamily="34" charset="0"/>
                <a:ea typeface="Calibri" pitchFamily="34" charset="-122"/>
                <a:cs typeface="Calibri" pitchFamily="34" charset="-120"/>
              </a:rPr>
              <a:t>Use intl: flutter pub add intl, DateFormat.yMMMd('en_ZA').format(date).</a:t>
            </a:r>
            <a:endParaRPr lang="en-US" sz="1200" dirty="0"/>
          </a:p>
        </p:txBody>
      </p:sp>
      <p:sp>
        <p:nvSpPr>
          <p:cNvPr id="11" name="Text 9"/>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12" name="Text 10"/>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2545"/>
        </a:solidFill>
      </p:bgPr>
    </p:bg>
    <p:spTree>
      <p:nvGrpSpPr>
        <p:cNvPr id="1" name=""/>
        <p:cNvGrpSpPr/>
        <p:nvPr/>
      </p:nvGrpSpPr>
      <p:grpSpPr>
        <a:xfrm>
          <a:off x="0" y="0"/>
          <a:ext cx="0" cy="0"/>
          <a:chOff x="0" y="0"/>
          <a:chExt cx="0" cy="0"/>
        </a:xfrm>
      </p:grpSpPr>
      <p:sp>
        <p:nvSpPr>
          <p:cNvPr id="2" name="Shape 0"/>
          <p:cNvSpPr/>
          <p:nvPr/>
        </p:nvSpPr>
        <p:spPr>
          <a:xfrm>
            <a:off x="-1371600" y="3840480"/>
            <a:ext cx="4572000" cy="4572000"/>
          </a:xfrm>
          <a:prstGeom prst="ellipse">
            <a:avLst/>
          </a:prstGeom>
          <a:solidFill>
            <a:srgbClr val="13315C"/>
          </a:solidFill>
          <a:ln w="12700">
            <a:solidFill>
              <a:srgbClr val="13315C"/>
            </a:solidFill>
            <a:prstDash val="solid"/>
          </a:ln>
        </p:spPr>
      </p:sp>
      <p:sp>
        <p:nvSpPr>
          <p:cNvPr id="3" name="Text 1"/>
          <p:cNvSpPr txBox="1"/>
          <p:nvPr/>
        </p:nvSpPr>
        <p:spPr>
          <a:xfrm>
            <a:off x="548640" y="1097280"/>
            <a:ext cx="5486400" cy="457200"/>
          </a:xfrm>
          <a:prstGeom prst="rect">
            <a:avLst/>
          </a:prstGeom>
          <a:noFill/>
          <a:ln/>
        </p:spPr>
        <p:txBody>
          <a:bodyPr wrap="square" lIns="0" tIns="0" rIns="0" bIns="0" rtlCol="0" anchor="ctr"/>
          <a:lstStyle/>
          <a:p>
            <a:pPr indent="0" marL="0">
              <a:buNone/>
            </a:pPr>
            <a:r>
              <a:rPr lang="en-US" sz="1400" spc="300" kern="0" dirty="0">
                <a:solidFill>
                  <a:srgbClr val="E3C766"/>
                </a:solidFill>
                <a:latin typeface="Calibri" pitchFamily="34" charset="0"/>
                <a:ea typeface="Calibri" pitchFamily="34" charset="-122"/>
                <a:cs typeface="Calibri" pitchFamily="34" charset="-120"/>
              </a:rPr>
              <a:t>MODULE 8  ·  15:00 - 16:00</a:t>
            </a:r>
            <a:endParaRPr lang="en-US" sz="1400" dirty="0"/>
          </a:p>
        </p:txBody>
      </p:sp>
      <p:sp>
        <p:nvSpPr>
          <p:cNvPr id="4" name="Text 2"/>
          <p:cNvSpPr txBox="1"/>
          <p:nvPr/>
        </p:nvSpPr>
        <p:spPr>
          <a:xfrm>
            <a:off x="548640" y="1554480"/>
            <a:ext cx="6400800" cy="164592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Styling &amp; theming for white-label</a:t>
            </a:r>
            <a:endParaRPr lang="en-US" sz="4000" dirty="0"/>
          </a:p>
        </p:txBody>
      </p:sp>
      <p:sp>
        <p:nvSpPr>
          <p:cNvPr id="5" name="Shape 3"/>
          <p:cNvSpPr/>
          <p:nvPr/>
        </p:nvSpPr>
        <p:spPr>
          <a:xfrm>
            <a:off x="6949440" y="1188720"/>
            <a:ext cx="4663440" cy="4389120"/>
          </a:xfrm>
          <a:prstGeom prst="roundRect">
            <a:avLst>
              <a:gd name="adj" fmla="val 2083"/>
            </a:avLst>
          </a:prstGeom>
          <a:solidFill>
            <a:srgbClr val="13315C"/>
          </a:solidFill>
          <a:ln w="6350">
            <a:solidFill>
              <a:srgbClr val="13315C"/>
            </a:solidFill>
            <a:prstDash val="solid"/>
          </a:ln>
          <a:effectLst>
            <a:outerShdw sx="100000" sy="100000" kx="0" ky="0" algn="bl" rotWithShape="0" blurRad="38100" dist="12700" dir="5400000">
              <a:srgbClr val="000000">
                <a:alpha val="8000"/>
              </a:srgbClr>
            </a:outerShdw>
          </a:effectLst>
        </p:spPr>
      </p:sp>
      <p:sp>
        <p:nvSpPr>
          <p:cNvPr id="6" name="Text 4"/>
          <p:cNvSpPr txBox="1"/>
          <p:nvPr/>
        </p:nvSpPr>
        <p:spPr>
          <a:xfrm>
            <a:off x="7223760" y="1371600"/>
            <a:ext cx="4206240" cy="365760"/>
          </a:xfrm>
          <a:prstGeom prst="rect">
            <a:avLst/>
          </a:prstGeom>
          <a:noFill/>
          <a:ln/>
        </p:spPr>
        <p:txBody>
          <a:bodyPr wrap="square" lIns="0" tIns="0" rIns="0" bIns="0" rtlCol="0" anchor="ctr"/>
          <a:lstStyle/>
          <a:p>
            <a:pPr indent="0" marL="0">
              <a:buNone/>
            </a:pPr>
            <a:r>
              <a:rPr lang="en-US" sz="1100" dirty="0">
                <a:solidFill>
                  <a:srgbClr val="E3C766"/>
                </a:solidFill>
                <a:latin typeface="Calibri" pitchFamily="34" charset="0"/>
                <a:ea typeface="Calibri" pitchFamily="34" charset="-122"/>
                <a:cs typeface="Calibri" pitchFamily="34" charset="-120"/>
              </a:rPr>
              <a:t>By the end of this module you can</a:t>
            </a:r>
            <a:endParaRPr lang="en-US" sz="1100" dirty="0"/>
          </a:p>
        </p:txBody>
      </p:sp>
      <p:sp>
        <p:nvSpPr>
          <p:cNvPr id="7" name="Text 5"/>
          <p:cNvSpPr txBox="1"/>
          <p:nvPr/>
        </p:nvSpPr>
        <p:spPr>
          <a:xfrm>
            <a:off x="7223760" y="1783080"/>
            <a:ext cx="4206240" cy="365760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Configure ThemeData with ColorScheme.fromSeed and Material 3 component themes</a:t>
            </a:r>
            <a:endParaRPr lang="en-US" sz="1400" dirty="0"/>
          </a:p>
          <a:p>
            <a:pPr marL="177800" indent="-1778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Read colours and text styles from the theme instead of hard-coding</a:t>
            </a:r>
            <a:endParaRPr lang="en-US" sz="1400" dirty="0"/>
          </a:p>
          <a:p>
            <a:pPr marL="177800" indent="-1778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Encapsulate a brand as a BrandTheme value and switch brands at runtime</a:t>
            </a:r>
            <a:endParaRPr lang="en-US" sz="1400" dirty="0"/>
          </a:p>
          <a:p>
            <a:pPr marL="177800" indent="-1778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Register assets and fonts and load images correctly</a:t>
            </a:r>
            <a:endParaRPr lang="en-US" sz="1400" dirty="0"/>
          </a:p>
        </p:txBody>
      </p:sp>
      <p:sp>
        <p:nvSpPr>
          <p:cNvPr id="8" name="Text 6"/>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9" name="Text 7"/>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ThemeData and Material 3 colour roles</a:t>
            </a:r>
            <a:endParaRPr lang="en-US" sz="3000" dirty="0"/>
          </a:p>
        </p:txBody>
      </p:sp>
      <p:sp>
        <p:nvSpPr>
          <p:cNvPr id="3" name="Text 1"/>
          <p:cNvSpPr txBox="1"/>
          <p:nvPr/>
        </p:nvSpPr>
        <p:spPr>
          <a:xfrm>
            <a:off x="548640" y="1325880"/>
            <a:ext cx="4299509" cy="475488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ColorScheme.fromSeed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one brand colour → full tonal palette: primary, onPrimary, primaryContainer, secondary, surface, error… light and dark.</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useMaterial3: true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default on current Flutter; components pick roles automatically.</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Component themes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inputDecorationTheme, filledButtonTheme, appBarTheme, cardTheme… set once, applied everywhere.</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textTheme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displayLarge … bodySmall … labelSmall. Use these names; never hard-code font sizes in widgets.</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darkTheme + themeMode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ship dark mode for free with the same seed.</a:t>
            </a:r>
            <a:endParaRPr lang="en-US" sz="1400" dirty="0"/>
          </a:p>
        </p:txBody>
      </p:sp>
      <p:sp>
        <p:nvSpPr>
          <p:cNvPr id="4" name="Shape 2"/>
          <p:cNvSpPr/>
          <p:nvPr/>
        </p:nvSpPr>
        <p:spPr>
          <a:xfrm>
            <a:off x="5122469" y="1325880"/>
            <a:ext cx="6517843" cy="4754880"/>
          </a:xfrm>
          <a:prstGeom prst="roundRect">
            <a:avLst>
              <a:gd name="adj" fmla="val 1538"/>
            </a:avLst>
          </a:prstGeom>
          <a:solidFill>
            <a:srgbClr val="0F172A"/>
          </a:solidFill>
          <a:ln w="12700">
            <a:solidFill>
              <a:srgbClr val="0F172A"/>
            </a:solidFill>
            <a:prstDash val="solid"/>
          </a:ln>
        </p:spPr>
      </p:sp>
      <p:sp>
        <p:nvSpPr>
          <p:cNvPr id="5" name="Text 3"/>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Dart</a:t>
            </a:r>
            <a:endParaRPr lang="en-US" sz="800" dirty="0"/>
          </a:p>
        </p:txBody>
      </p:sp>
      <p:sp>
        <p:nvSpPr>
          <p:cNvPr id="6" name="Text 4"/>
          <p:cNvSpPr txBox="1"/>
          <p:nvPr/>
        </p:nvSpPr>
        <p:spPr>
          <a:xfrm>
            <a:off x="5259629" y="1435608"/>
            <a:ext cx="6243523" cy="4535424"/>
          </a:xfrm>
          <a:prstGeom prst="rect">
            <a:avLst/>
          </a:prstGeom>
          <a:noFill/>
          <a:ln/>
        </p:spPr>
        <p:txBody>
          <a:bodyPr wrap="square" lIns="0" tIns="0" rIns="0" bIns="0" rtlCol="0" anchor="t"/>
          <a:lstStyle/>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MaterialApp(</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theme: ThemeData(</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colorScheme: ColorScheme.fromSeed(seedColor: const Color(0xFF0B2545)),</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useMaterial3: true,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inputDecorationTheme: const InputDecorationThemeData(border: OutlineInputBorder()),</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filledButtonTheme: FilledButtonThemeData(</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style: FilledButton.styleFrom(minimumSize: const Size.fromHeight(48)),</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darkTheme: ThemeData(</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colorScheme: ColorScheme.fromSeed(seedColor: const Color(0xFF0B2545), brightness: Brightness.dark),</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useMaterial3: true,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themeMode: ThemeMode.system,</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home: const CaptureScreen(),</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Use theme values - never hard-code colours in widgets</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final cs = Theme.of(context).colorScheme;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final tt = Theme.of(context).textTheme;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Container(color: cs.primaryContainer, child: Text('Premium', style: tt.titleLarge?.copyWith(color: cs.onPrimaryContainer)));</a:t>
            </a:r>
            <a:endParaRPr lang="en-US" sz="10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2011680" cy="292608"/>
          </a:xfrm>
          <a:prstGeom prst="roundRect">
            <a:avLst>
              <a:gd name="adj" fmla="val 50000"/>
            </a:avLst>
          </a:prstGeom>
          <a:solidFill>
            <a:srgbClr val="0B2545"/>
          </a:solidFill>
          <a:ln w="12700">
            <a:solidFill>
              <a:srgbClr val="0B2545"/>
            </a:solidFill>
            <a:prstDash val="solid"/>
          </a:ln>
        </p:spPr>
      </p:sp>
      <p:sp>
        <p:nvSpPr>
          <p:cNvPr id="3" name="Text 1"/>
          <p:cNvSpPr txBox="1"/>
          <p:nvPr/>
        </p:nvSpPr>
        <p:spPr>
          <a:xfrm>
            <a:off x="548640" y="457200"/>
            <a:ext cx="201168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READ &amp; BREAK DOWN</a:t>
            </a:r>
            <a:endParaRPr lang="en-US" sz="1000" dirty="0"/>
          </a:p>
        </p:txBody>
      </p:sp>
      <p:sp>
        <p:nvSpPr>
          <p:cNvPr id="4" name="Text 2"/>
          <p:cNvSpPr txBox="1"/>
          <p:nvPr/>
        </p:nvSpPr>
        <p:spPr>
          <a:xfrm>
            <a:off x="9811512" y="457200"/>
            <a:ext cx="1828800" cy="292608"/>
          </a:xfrm>
          <a:prstGeom prst="rect">
            <a:avLst/>
          </a:prstGeom>
          <a:noFill/>
          <a:ln/>
        </p:spPr>
        <p:txBody>
          <a:bodyPr wrap="square" lIns="0" tIns="0" rIns="0" bIns="0" rtlCol="0" anchor="ctr"/>
          <a:lstStyle/>
          <a:p>
            <a:pPr algn="r" indent="0" marL="0">
              <a:buNone/>
            </a:pPr>
            <a:r>
              <a:rPr lang="en-US" sz="1200" dirty="0">
                <a:solidFill>
                  <a:srgbClr val="5B6773"/>
                </a:solidFill>
                <a:latin typeface="Calibri" pitchFamily="34" charset="0"/>
                <a:ea typeface="Calibri" pitchFamily="34" charset="-122"/>
                <a:cs typeface="Calibri" pitchFamily="34" charset="-120"/>
              </a:rPr>
              <a:t>10 min read + 5 min debrief</a:t>
            </a:r>
            <a:endParaRPr lang="en-US" sz="1200" dirty="0"/>
          </a:p>
        </p:txBody>
      </p:sp>
      <p:sp>
        <p:nvSpPr>
          <p:cNvPr id="5" name="Text 3"/>
          <p:cNvSpPr txBox="1"/>
          <p:nvPr/>
        </p:nvSpPr>
        <p:spPr>
          <a:xfrm>
            <a:off x="548640" y="868680"/>
            <a:ext cx="11091672" cy="640080"/>
          </a:xfrm>
          <a:prstGeom prst="rect">
            <a:avLst/>
          </a:prstGeom>
          <a:noFill/>
          <a:ln/>
        </p:spPr>
        <p:txBody>
          <a:bodyPr wrap="square" lIns="0" tIns="0" rIns="0" bIns="0" rtlCol="0" anchor="ctr"/>
          <a:lstStyle/>
          <a:p>
            <a:pPr indent="0" marL="0">
              <a:buNone/>
            </a:pPr>
            <a:r>
              <a:rPr lang="en-US" sz="2800" b="1" dirty="0">
                <a:solidFill>
                  <a:srgbClr val="0B2545"/>
                </a:solidFill>
                <a:latin typeface="Calibri" pitchFamily="34" charset="0"/>
                <a:ea typeface="Calibri" pitchFamily="34" charset="-122"/>
                <a:cs typeface="Calibri" pitchFamily="34" charset="-120"/>
              </a:rPr>
              <a:t>Read: Material 3 colour roles - then defend a colour choice</a:t>
            </a:r>
            <a:endParaRPr lang="en-US" sz="2800" dirty="0"/>
          </a:p>
        </p:txBody>
      </p:sp>
      <p:sp>
        <p:nvSpPr>
          <p:cNvPr id="6" name="Shape 4"/>
          <p:cNvSpPr/>
          <p:nvPr/>
        </p:nvSpPr>
        <p:spPr>
          <a:xfrm>
            <a:off x="548640" y="1691640"/>
            <a:ext cx="11091672" cy="960120"/>
          </a:xfrm>
          <a:prstGeom prst="roundRect">
            <a:avLst>
              <a:gd name="adj" fmla="val 9524"/>
            </a:avLst>
          </a:prstGeom>
          <a:solidFill>
            <a:srgbClr val="EAF0F7"/>
          </a:solidFill>
          <a:ln w="6350">
            <a:solidFill>
              <a:srgbClr val="EAF0F7"/>
            </a:solidFill>
            <a:prstDash val="solid"/>
          </a:ln>
          <a:effectLst>
            <a:outerShdw sx="100000" sy="100000" kx="0" ky="0" algn="bl" rotWithShape="0" blurRad="38100" dist="12700" dir="5400000">
              <a:srgbClr val="000000">
                <a:alpha val="8000"/>
              </a:srgbClr>
            </a:outerShdw>
          </a:effectLst>
        </p:spPr>
      </p:sp>
      <p:sp>
        <p:nvSpPr>
          <p:cNvPr id="7" name="Text 5"/>
          <p:cNvSpPr txBox="1"/>
          <p:nvPr/>
        </p:nvSpPr>
        <p:spPr>
          <a:xfrm>
            <a:off x="822960" y="1783080"/>
            <a:ext cx="10543032" cy="457200"/>
          </a:xfrm>
          <a:prstGeom prst="rect">
            <a:avLst/>
          </a:prstGeom>
          <a:noFill/>
          <a:ln/>
        </p:spPr>
        <p:txBody>
          <a:bodyPr wrap="square" lIns="0" tIns="0" rIns="0" bIns="0" rtlCol="0" anchor="ctr"/>
          <a:lstStyle/>
          <a:p>
            <a:pPr indent="0" marL="0">
              <a:buNone/>
            </a:pPr>
            <a:r>
              <a:rPr lang="en-US" sz="1800" b="1" dirty="0">
                <a:solidFill>
                  <a:srgbClr val="0B2545"/>
                </a:solidFill>
                <a:latin typeface="Courier New" pitchFamily="34" charset="0"/>
                <a:ea typeface="Courier New" pitchFamily="34" charset="-122"/>
                <a:cs typeface="Courier New" pitchFamily="34" charset="-120"/>
              </a:rPr>
              <a:t>m3.material.io/styles/color/roles</a:t>
            </a:r>
            <a:endParaRPr lang="en-US" sz="1800" dirty="0"/>
          </a:p>
        </p:txBody>
      </p:sp>
      <p:sp>
        <p:nvSpPr>
          <p:cNvPr id="8" name="Text 6"/>
          <p:cNvSpPr txBox="1"/>
          <p:nvPr/>
        </p:nvSpPr>
        <p:spPr>
          <a:xfrm>
            <a:off x="822960" y="2212848"/>
            <a:ext cx="10543032" cy="365760"/>
          </a:xfrm>
          <a:prstGeom prst="rect">
            <a:avLst/>
          </a:prstGeom>
          <a:noFill/>
          <a:ln/>
        </p:spPr>
        <p:txBody>
          <a:bodyPr wrap="square" lIns="0" tIns="0" rIns="0" bIns="0" rtlCol="0" anchor="ctr"/>
          <a:lstStyle/>
          <a:p>
            <a:pPr indent="0" marL="0">
              <a:buNone/>
            </a:pPr>
            <a:r>
              <a:rPr lang="en-US" sz="1200" dirty="0">
                <a:solidFill>
                  <a:srgbClr val="5B6773"/>
                </a:solidFill>
                <a:latin typeface="Calibri" pitchFamily="34" charset="0"/>
                <a:ea typeface="Calibri" pitchFamily="34" charset="-122"/>
                <a:cs typeface="Calibri" pitchFamily="34" charset="-120"/>
              </a:rPr>
              <a:t>"Color roles" overview and the "Primary", "Surface" and "Error" sections; then docs.flutter.dev/cookbook/design/themes (about 10 minutes)</a:t>
            </a:r>
            <a:endParaRPr lang="en-US" sz="1200" dirty="0"/>
          </a:p>
        </p:txBody>
      </p:sp>
      <p:sp>
        <p:nvSpPr>
          <p:cNvPr id="9" name="Text 7"/>
          <p:cNvSpPr txBox="1"/>
          <p:nvPr/>
        </p:nvSpPr>
        <p:spPr>
          <a:xfrm>
            <a:off x="548640" y="2880360"/>
            <a:ext cx="6655003" cy="3657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Answer these as you read</a:t>
            </a:r>
            <a:endParaRPr lang="en-US" sz="1400" dirty="0"/>
          </a:p>
        </p:txBody>
      </p:sp>
      <p:sp>
        <p:nvSpPr>
          <p:cNvPr id="10" name="Text 8"/>
          <p:cNvSpPr txBox="1"/>
          <p:nvPr/>
        </p:nvSpPr>
        <p:spPr>
          <a:xfrm>
            <a:off x="548640" y="3291840"/>
            <a:ext cx="6655003" cy="2743200"/>
          </a:xfrm>
          <a:prstGeom prst="rect">
            <a:avLst/>
          </a:prstGeom>
          <a:noFill/>
          <a:ln/>
        </p:spPr>
        <p:txBody>
          <a:bodyPr wrap="square" lIns="0" tIns="0" rIns="0" bIns="0" rtlCol="0" anchor="t"/>
          <a:lstStyle/>
          <a:p>
            <a:pPr marL="279400" indent="-279400">
              <a:spcAft>
                <a:spcPts val="800"/>
              </a:spcAft>
              <a:buSzPct val="100000"/>
              <a:buFont typeface="+mj-lt"/>
              <a:buAutoNum type="arabicPeriod" startAt="1"/>
            </a:pPr>
            <a:r>
              <a:rPr lang="en-US" sz="1400" dirty="0">
                <a:solidFill>
                  <a:srgbClr val="1F2933"/>
                </a:solidFill>
                <a:latin typeface="Calibri" pitchFamily="34" charset="0"/>
                <a:ea typeface="Calibri" pitchFamily="34" charset="-122"/>
                <a:cs typeface="Calibri" pitchFamily="34" charset="-120"/>
              </a:rPr>
              <a:t>What is the difference between primary, onPrimary and primaryContainer? Give a UI element for each.</a:t>
            </a:r>
            <a:endParaRPr lang="en-US" sz="1400" dirty="0"/>
          </a:p>
          <a:p>
            <a:pPr marL="279400" indent="-279400">
              <a:spcAft>
                <a:spcPts val="800"/>
              </a:spcAft>
              <a:buSzPct val="100000"/>
              <a:buFont typeface="+mj-lt"/>
              <a:buAutoNum type="arabicPeriod" startAt="1"/>
            </a:pPr>
            <a:r>
              <a:rPr lang="en-US" sz="1400" dirty="0">
                <a:solidFill>
                  <a:srgbClr val="1F2933"/>
                </a:solidFill>
                <a:latin typeface="Calibri" pitchFamily="34" charset="0"/>
                <a:ea typeface="Calibri" pitchFamily="34" charset="-122"/>
                <a:cs typeface="Calibri" pitchFamily="34" charset="-120"/>
              </a:rPr>
              <a:t>Which role should the capture form's background use, and which for the brand header? Why not primary for both?</a:t>
            </a:r>
            <a:endParaRPr lang="en-US" sz="1400" dirty="0"/>
          </a:p>
          <a:p>
            <a:pPr marL="279400" indent="-279400">
              <a:spcAft>
                <a:spcPts val="800"/>
              </a:spcAft>
              <a:buSzPct val="100000"/>
              <a:buFont typeface="+mj-lt"/>
              <a:buAutoNum type="arabicPeriod" startAt="1"/>
            </a:pPr>
            <a:r>
              <a:rPr lang="en-US" sz="1400" dirty="0">
                <a:solidFill>
                  <a:srgbClr val="1F2933"/>
                </a:solidFill>
                <a:latin typeface="Calibri" pitchFamily="34" charset="0"/>
                <a:ea typeface="Calibri" pitchFamily="34" charset="-122"/>
                <a:cs typeface="Calibri" pitchFamily="34" charset="-120"/>
              </a:rPr>
              <a:t>What does "tonal" mean in fromSeed, and why does a red seed still give a usable dark theme?</a:t>
            </a:r>
            <a:endParaRPr lang="en-US" sz="1400" dirty="0"/>
          </a:p>
          <a:p>
            <a:pPr marL="279400" indent="-279400">
              <a:spcAft>
                <a:spcPts val="800"/>
              </a:spcAft>
              <a:buSzPct val="100000"/>
              <a:buFont typeface="+mj-lt"/>
              <a:buAutoNum type="arabicPeriod" startAt="1"/>
            </a:pPr>
            <a:r>
              <a:rPr lang="en-US" sz="1400" dirty="0">
                <a:solidFill>
                  <a:srgbClr val="1F2933"/>
                </a:solidFill>
                <a:latin typeface="Calibri" pitchFamily="34" charset="0"/>
                <a:ea typeface="Calibri" pitchFamily="34" charset="-122"/>
                <a:cs typeface="Calibri" pitchFamily="34" charset="-120"/>
              </a:rPr>
              <a:t>Where in the Flutter cookbook does it say to read styles from Theme.of(context)? What is the one-line reason?</a:t>
            </a:r>
            <a:endParaRPr lang="en-US" sz="1400" dirty="0"/>
          </a:p>
        </p:txBody>
      </p:sp>
      <p:sp>
        <p:nvSpPr>
          <p:cNvPr id="11" name="Shape 9"/>
          <p:cNvSpPr/>
          <p:nvPr/>
        </p:nvSpPr>
        <p:spPr>
          <a:xfrm>
            <a:off x="7477963" y="2880360"/>
            <a:ext cx="4162349" cy="3154680"/>
          </a:xfrm>
          <a:prstGeom prst="roundRect">
            <a:avLst>
              <a:gd name="adj" fmla="val 2899"/>
            </a:avLst>
          </a:prstGeom>
          <a:solidFill>
            <a:srgbClr val="FBF6E3"/>
          </a:solidFill>
          <a:ln w="6350">
            <a:solidFill>
              <a:srgbClr val="FBF6E3"/>
            </a:solidFill>
            <a:prstDash val="solid"/>
          </a:ln>
          <a:effectLst>
            <a:outerShdw sx="100000" sy="100000" kx="0" ky="0" algn="bl" rotWithShape="0" blurRad="38100" dist="12700" dir="5400000">
              <a:srgbClr val="000000">
                <a:alpha val="8000"/>
              </a:srgbClr>
            </a:outerShdw>
          </a:effectLst>
        </p:spPr>
      </p:sp>
      <p:sp>
        <p:nvSpPr>
          <p:cNvPr id="12" name="Text 10"/>
          <p:cNvSpPr txBox="1"/>
          <p:nvPr/>
        </p:nvSpPr>
        <p:spPr>
          <a:xfrm>
            <a:off x="7706563" y="3017520"/>
            <a:ext cx="3705149" cy="3657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Then</a:t>
            </a:r>
            <a:endParaRPr lang="en-US" sz="1400" dirty="0"/>
          </a:p>
        </p:txBody>
      </p:sp>
      <p:sp>
        <p:nvSpPr>
          <p:cNvPr id="13" name="Text 11"/>
          <p:cNvSpPr txBox="1"/>
          <p:nvPr/>
        </p:nvSpPr>
        <p:spPr>
          <a:xfrm>
            <a:off x="7706563" y="3429000"/>
            <a:ext cx="3705149" cy="2514600"/>
          </a:xfrm>
          <a:prstGeom prst="rect">
            <a:avLst/>
          </a:prstGeom>
          <a:noFill/>
          <a:ln/>
        </p:spPr>
        <p:txBody>
          <a:bodyPr wrap="square" lIns="0" tIns="0" rIns="0" bIns="0" rtlCol="0" anchor="t"/>
          <a:lstStyle/>
          <a:p>
            <a:pPr marL="177800" indent="-177800">
              <a:spcAft>
                <a:spcPts val="700"/>
              </a:spcAft>
              <a:buSzPct val="100000"/>
              <a:buChar char="•"/>
            </a:pPr>
            <a:r>
              <a:rPr lang="en-US" sz="1250" dirty="0">
                <a:solidFill>
                  <a:srgbClr val="1F2933"/>
                </a:solidFill>
                <a:latin typeface="Calibri" pitchFamily="34" charset="0"/>
                <a:ea typeface="Calibri" pitchFamily="34" charset="-122"/>
                <a:cs typeface="Calibri" pitchFamily="34" charset="-120"/>
              </a:rPr>
              <a:t>Pairs: one person picks a role for the header, the other argues for a different one. 60 seconds each.</a:t>
            </a:r>
            <a:endParaRPr lang="en-US" sz="1250" dirty="0"/>
          </a:p>
          <a:p>
            <a:pPr marL="177800" indent="-177800">
              <a:spcAft>
                <a:spcPts val="700"/>
              </a:spcAft>
              <a:buSzPct val="100000"/>
              <a:buChar char="•"/>
            </a:pPr>
            <a:r>
              <a:rPr lang="en-US" sz="1250" dirty="0">
                <a:solidFill>
                  <a:srgbClr val="1F2933"/>
                </a:solidFill>
                <a:latin typeface="Calibri" pitchFamily="34" charset="0"/>
                <a:ea typeface="Calibri" pitchFamily="34" charset="-122"/>
                <a:cs typeface="Calibri" pitchFamily="34" charset="-120"/>
              </a:rPr>
              <a:t>Room votes. Instructor shows both on the emulator by changing one line.</a:t>
            </a:r>
            <a:endParaRPr lang="en-US" sz="1250" dirty="0"/>
          </a:p>
          <a:p>
            <a:pPr marL="177800" indent="-177800">
              <a:spcAft>
                <a:spcPts val="700"/>
              </a:spcAft>
              <a:buSzPct val="100000"/>
              <a:buChar char="•"/>
            </a:pPr>
            <a:r>
              <a:rPr lang="en-US" sz="1250" dirty="0">
                <a:solidFill>
                  <a:srgbClr val="1F2933"/>
                </a:solidFill>
                <a:latin typeface="Calibri" pitchFamily="34" charset="0"/>
                <a:ea typeface="Calibri" pitchFamily="34" charset="-122"/>
                <a:cs typeface="Calibri" pitchFamily="34" charset="-120"/>
              </a:rPr>
              <a:t>Winner's choice goes into Lab 2.3.</a:t>
            </a:r>
            <a:endParaRPr lang="en-US" sz="1250" dirty="0"/>
          </a:p>
        </p:txBody>
      </p:sp>
      <p:sp>
        <p:nvSpPr>
          <p:cNvPr id="14" name="Text 12"/>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15" name="Text 13"/>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BrandTheme: one value object per brand</a:t>
            </a:r>
            <a:endParaRPr lang="en-US" sz="3000" dirty="0"/>
          </a:p>
        </p:txBody>
      </p:sp>
      <p:sp>
        <p:nvSpPr>
          <p:cNvPr id="3" name="Text 1"/>
          <p:cNvSpPr txBox="1"/>
          <p:nvPr/>
        </p:nvSpPr>
        <p:spPr>
          <a:xfrm>
            <a:off x="548640" y="1325880"/>
            <a:ext cx="3855842" cy="475488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A plain Dart class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key, display name, seed colour, logo asset, optional font. const, immutable.</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toThemeData(brightness)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builds the full ThemeData from the seed plus shared component themes.</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A registry map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brands['alpha'], brands['beta']. Adding a brand = adding one entry + assets.</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Today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a runtime toggle in QuoteApp state.</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Day 5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String.fromEnvironment('BRAND') + flavours set the key at build time; same class, zero UI changes.</a:t>
            </a:r>
            <a:endParaRPr lang="en-US" sz="1400" dirty="0"/>
          </a:p>
        </p:txBody>
      </p:sp>
      <p:sp>
        <p:nvSpPr>
          <p:cNvPr id="4" name="Shape 2"/>
          <p:cNvSpPr/>
          <p:nvPr/>
        </p:nvSpPr>
        <p:spPr>
          <a:xfrm>
            <a:off x="4678802" y="1325880"/>
            <a:ext cx="6961510" cy="4754880"/>
          </a:xfrm>
          <a:prstGeom prst="roundRect">
            <a:avLst>
              <a:gd name="adj" fmla="val 1538"/>
            </a:avLst>
          </a:prstGeom>
          <a:solidFill>
            <a:srgbClr val="0F172A"/>
          </a:solidFill>
          <a:ln w="12700">
            <a:solidFill>
              <a:srgbClr val="0F172A"/>
            </a:solidFill>
            <a:prstDash val="solid"/>
          </a:ln>
        </p:spPr>
      </p:sp>
      <p:sp>
        <p:nvSpPr>
          <p:cNvPr id="5" name="Text 3"/>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core/theme/brand_theme.dart</a:t>
            </a:r>
            <a:endParaRPr lang="en-US" sz="800" dirty="0"/>
          </a:p>
        </p:txBody>
      </p:sp>
      <p:sp>
        <p:nvSpPr>
          <p:cNvPr id="6" name="Text 4"/>
          <p:cNvSpPr txBox="1"/>
          <p:nvPr/>
        </p:nvSpPr>
        <p:spPr>
          <a:xfrm>
            <a:off x="4815962" y="1435608"/>
            <a:ext cx="6687190" cy="4535424"/>
          </a:xfrm>
          <a:prstGeom prst="rect">
            <a:avLst/>
          </a:prstGeom>
          <a:noFill/>
          <a:ln/>
        </p:spPr>
        <p:txBody>
          <a:bodyPr wrap="square" lIns="0" tIns="0" rIns="0" bIns="0" rtlCol="0" anchor="t"/>
          <a:lstStyle/>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class BrandTheme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const BrandTheme({required this.key, required this.name, required this.seed,</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required this.logoAsset, this.fontFamily});</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final String key, name, logoAsset;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final Color seed;</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final String? fontFamily;</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ThemeData toThemeData(Brightness brightness)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final scheme = ColorScheme.fromSeed(seedColor: seed, brightness: brightness);</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return ThemeData(</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colorScheme: scheme,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useMaterial3: true,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fontFamily: fontFamily,</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appBarTheme: AppBarThemeData(</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backgroundColor: scheme.primary, foregroundColor: scheme.onPrimary),</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inputDecorationTheme: const InputDecorationThemeData(border: OutlineInputBorder()),</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filledButtonTheme: FilledButtonThemeData(</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style: FilledButton.styleFrom(minimumSize: const Size.fromHeight(48))),</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const brands = &lt;String, BrandTheme&gt;{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'alpha': BrandTheme(key: 'alpha', name: 'Alpha Insure',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seed: Color(0xFF0B2545), logoAsset: 'assets/brands/alpha.png'),</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'beta': BrandTheme(key: 'beta', name: 'Beta Cover',</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seed: Color(0xFF8B1E3F), logoAsset: 'assets/brands/beta.png'),</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a:t>
            </a:r>
            <a:endParaRPr lang="en-US" sz="9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Switching brands at runtime (today's version)</a:t>
            </a:r>
            <a:endParaRPr lang="en-US" sz="3000" dirty="0"/>
          </a:p>
        </p:txBody>
      </p:sp>
      <p:sp>
        <p:nvSpPr>
          <p:cNvPr id="3" name="Text 1"/>
          <p:cNvSpPr txBox="1"/>
          <p:nvPr/>
        </p:nvSpPr>
        <p:spPr>
          <a:xfrm>
            <a:off x="548640" y="1325880"/>
            <a:ext cx="4299509" cy="475488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QuoteApp becomes Stateful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holds the current brand key; setState swaps it; MaterialApp rebuilds with the new theme.</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CaptureScreen receives the brand and a callback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it does not own the choice.</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Everything below recolours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because every widget reads Theme.of(context).</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Tomorrow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the same key moves into a Riverpod provider and the callback disappears - the worked example of "lift state".</a:t>
            </a:r>
            <a:endParaRPr lang="en-US" sz="1400" dirty="0"/>
          </a:p>
        </p:txBody>
      </p:sp>
      <p:sp>
        <p:nvSpPr>
          <p:cNvPr id="4" name="Shape 2"/>
          <p:cNvSpPr/>
          <p:nvPr/>
        </p:nvSpPr>
        <p:spPr>
          <a:xfrm>
            <a:off x="5122469" y="1325880"/>
            <a:ext cx="6517843" cy="4754880"/>
          </a:xfrm>
          <a:prstGeom prst="roundRect">
            <a:avLst>
              <a:gd name="adj" fmla="val 1538"/>
            </a:avLst>
          </a:prstGeom>
          <a:solidFill>
            <a:srgbClr val="0F172A"/>
          </a:solidFill>
          <a:ln w="12700">
            <a:solidFill>
              <a:srgbClr val="0F172A"/>
            </a:solidFill>
            <a:prstDash val="solid"/>
          </a:ln>
        </p:spPr>
      </p:sp>
      <p:sp>
        <p:nvSpPr>
          <p:cNvPr id="5" name="Text 3"/>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app.dart</a:t>
            </a:r>
            <a:endParaRPr lang="en-US" sz="800" dirty="0"/>
          </a:p>
        </p:txBody>
      </p:sp>
      <p:sp>
        <p:nvSpPr>
          <p:cNvPr id="6" name="Text 4"/>
          <p:cNvSpPr txBox="1"/>
          <p:nvPr/>
        </p:nvSpPr>
        <p:spPr>
          <a:xfrm>
            <a:off x="5259629" y="1435608"/>
            <a:ext cx="6243523" cy="4535424"/>
          </a:xfrm>
          <a:prstGeom prst="rect">
            <a:avLst/>
          </a:prstGeom>
          <a:noFill/>
          <a:ln/>
        </p:spPr>
        <p:txBody>
          <a:bodyPr wrap="square" lIns="0" tIns="0" rIns="0" bIns="0" rtlCol="0" anchor="t"/>
          <a:lstStyle/>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lib/app.dart - runtime brand toggle for today's demo (Riverpod replaces this on Day 3)</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class QuoteApp extends StatefulWidget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const QuoteApp({super.key});</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@override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State&lt;QuoteApp&gt; createState() =&gt; _QuoteAppState();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class _QuoteAppState extends State&lt;QuoteApp&gt;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String _brandKey = 'alpha';</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@override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Widget build(BuildContext context)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final brand = brands[_brandKey]!;</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return MaterialApp(</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title: brand.name,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theme: brand.toThemeData(Brightness.light),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darkTheme: brand.toThemeData(Brightness.dark),</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themeMode: ThemeMode.system,</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home: CaptureScreen(</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brand: brand,</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onSwitchBrand: () =&gt; setState(() =&gt; _brandKey = _brandKey == 'alpha' ? 'beta' : 'alpha'),</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a:t>
            </a:r>
            <a:endParaRPr lang="en-US" sz="9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Assets, fonts and images</a:t>
            </a:r>
            <a:endParaRPr lang="en-US" sz="3000" dirty="0"/>
          </a:p>
        </p:txBody>
      </p:sp>
      <p:sp>
        <p:nvSpPr>
          <p:cNvPr id="3" name="Text 1"/>
          <p:cNvSpPr txBox="1"/>
          <p:nvPr/>
        </p:nvSpPr>
        <p:spPr>
          <a:xfrm>
            <a:off x="548640" y="1325880"/>
            <a:ext cx="4743176" cy="475488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Declare in pubspec.yaml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under flutter: assets: and fonts:. Indentation is significant (two spaces). Folder entries include direct children only.</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After editing pubspec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flutter pub get, then HOT RESTART. Assets are bundled at build time, not hot-reloaded.</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Image.asset / Image.network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fit: BoxFit.cover for photos; provide errorBuilder for network; cached_network_image for lists.</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Per-brand assets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assets/brands/&lt;key&gt;.png; BrandTheme.logoAsset points at it.</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Fonts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ship .ttf files, register under a family, set fontFamily in ThemeData or per brand.</a:t>
            </a:r>
            <a:endParaRPr lang="en-US" sz="1400" dirty="0"/>
          </a:p>
        </p:txBody>
      </p:sp>
      <p:sp>
        <p:nvSpPr>
          <p:cNvPr id="4" name="Shape 2"/>
          <p:cNvSpPr/>
          <p:nvPr/>
        </p:nvSpPr>
        <p:spPr>
          <a:xfrm>
            <a:off x="5566136" y="1325880"/>
            <a:ext cx="6074176" cy="4754880"/>
          </a:xfrm>
          <a:prstGeom prst="roundRect">
            <a:avLst>
              <a:gd name="adj" fmla="val 1538"/>
            </a:avLst>
          </a:prstGeom>
          <a:solidFill>
            <a:srgbClr val="0F172A"/>
          </a:solidFill>
          <a:ln w="12700">
            <a:solidFill>
              <a:srgbClr val="0F172A"/>
            </a:solidFill>
            <a:prstDash val="solid"/>
          </a:ln>
        </p:spPr>
      </p:sp>
      <p:sp>
        <p:nvSpPr>
          <p:cNvPr id="5" name="Text 3"/>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pubspec.yaml</a:t>
            </a:r>
            <a:endParaRPr lang="en-US" sz="800" dirty="0"/>
          </a:p>
        </p:txBody>
      </p:sp>
      <p:sp>
        <p:nvSpPr>
          <p:cNvPr id="6" name="Text 4"/>
          <p:cNvSpPr txBox="1"/>
          <p:nvPr/>
        </p:nvSpPr>
        <p:spPr>
          <a:xfrm>
            <a:off x="5703296" y="1435608"/>
            <a:ext cx="5799856" cy="4535424"/>
          </a:xfrm>
          <a:prstGeom prst="rect">
            <a:avLst/>
          </a:prstGeom>
          <a:noFill/>
          <a:ln/>
        </p:spPr>
        <p:txBody>
          <a:bodyPr wrap="square" lIns="0" tIns="0" rIns="0" bIns="0" rtlCol="0" anchor="t"/>
          <a:lstStyle/>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pubspec.yaml</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flutter:</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uses-material-design: true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assets: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 assets/brands/          # whole folder (not recursive)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 assets/images/hero.png</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fonts: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 family: Inter</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fonts: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 asset: assets/fonts/Inter-Regular.ttf</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 asset: assets/fonts/Inter-Bold.ttf</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weight: 700</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after editing: flutter pub get, then HOT RESTART (assets are not hot-reloaded)</a:t>
            </a:r>
            <a:endParaRPr lang="en-US" sz="11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188720" cy="457200"/>
          </a:xfrm>
          <a:prstGeom prst="roundRect">
            <a:avLst>
              <a:gd name="adj" fmla="val 20000"/>
            </a:avLst>
          </a:prstGeom>
          <a:solidFill>
            <a:srgbClr val="C9A227"/>
          </a:solidFill>
          <a:ln w="12700">
            <a:solidFill>
              <a:srgbClr val="C9A227"/>
            </a:solidFill>
            <a:prstDash val="solid"/>
          </a:ln>
        </p:spPr>
      </p:sp>
      <p:sp>
        <p:nvSpPr>
          <p:cNvPr id="3" name="Text 1"/>
          <p:cNvSpPr txBox="1"/>
          <p:nvPr/>
        </p:nvSpPr>
        <p:spPr>
          <a:xfrm>
            <a:off x="548640" y="411480"/>
            <a:ext cx="1188720" cy="457200"/>
          </a:xfrm>
          <a:prstGeom prst="rect">
            <a:avLst/>
          </a:prstGeom>
          <a:noFill/>
          <a:ln/>
        </p:spPr>
        <p:txBody>
          <a:bodyPr wrap="square" lIns="0" tIns="0" rIns="0" bIns="0" rtlCol="0" anchor="ctr"/>
          <a:lstStyle/>
          <a:p>
            <a:pPr algn="ctr" indent="0" marL="0">
              <a:buNone/>
            </a:pPr>
            <a:r>
              <a:rPr lang="en-US" sz="1400" b="1" dirty="0">
                <a:solidFill>
                  <a:srgbClr val="0B2545"/>
                </a:solidFill>
                <a:latin typeface="Calibri" pitchFamily="34" charset="0"/>
                <a:ea typeface="Calibri" pitchFamily="34" charset="-122"/>
                <a:cs typeface="Calibri" pitchFamily="34" charset="-120"/>
              </a:rPr>
              <a:t>LAB 2.3</a:t>
            </a:r>
            <a:endParaRPr lang="en-US" sz="1400" dirty="0"/>
          </a:p>
        </p:txBody>
      </p:sp>
      <p:sp>
        <p:nvSpPr>
          <p:cNvPr id="4" name="Text 2"/>
          <p:cNvSpPr txBox="1"/>
          <p:nvPr/>
        </p:nvSpPr>
        <p:spPr>
          <a:xfrm>
            <a:off x="1920240" y="365760"/>
            <a:ext cx="8165592" cy="548640"/>
          </a:xfrm>
          <a:prstGeom prst="rect">
            <a:avLst/>
          </a:prstGeom>
          <a:noFill/>
          <a:ln/>
        </p:spPr>
        <p:txBody>
          <a:bodyPr wrap="square" lIns="0" tIns="0" rIns="0" bIns="0" rtlCol="0" anchor="ctr"/>
          <a:lstStyle/>
          <a:p>
            <a:pPr indent="0" marL="0">
              <a:buNone/>
            </a:pPr>
            <a:r>
              <a:rPr lang="en-US" sz="2600" b="1" dirty="0">
                <a:solidFill>
                  <a:srgbClr val="0B2545"/>
                </a:solidFill>
                <a:latin typeface="Calibri" pitchFamily="34" charset="0"/>
                <a:ea typeface="Calibri" pitchFamily="34" charset="-122"/>
                <a:cs typeface="Calibri" pitchFamily="34" charset="-120"/>
              </a:rPr>
              <a:t>Two brands, one app</a:t>
            </a:r>
            <a:endParaRPr lang="en-US" sz="2600" dirty="0"/>
          </a:p>
        </p:txBody>
      </p:sp>
      <p:sp>
        <p:nvSpPr>
          <p:cNvPr id="5" name="Text 3"/>
          <p:cNvSpPr txBox="1"/>
          <p:nvPr/>
        </p:nvSpPr>
        <p:spPr>
          <a:xfrm>
            <a:off x="10177272" y="411480"/>
            <a:ext cx="1463040" cy="457200"/>
          </a:xfrm>
          <a:prstGeom prst="rect">
            <a:avLst/>
          </a:prstGeom>
          <a:noFill/>
          <a:ln/>
        </p:spPr>
        <p:txBody>
          <a:bodyPr wrap="square" lIns="0" tIns="0" rIns="0" bIns="0" rtlCol="0" anchor="ctr"/>
          <a:lstStyle/>
          <a:p>
            <a:pPr algn="r" indent="0" marL="0">
              <a:buNone/>
            </a:pPr>
            <a:r>
              <a:rPr lang="en-US" sz="1200" dirty="0">
                <a:solidFill>
                  <a:srgbClr val="5B6773"/>
                </a:solidFill>
                <a:latin typeface="Calibri" pitchFamily="34" charset="0"/>
                <a:ea typeface="Calibri" pitchFamily="34" charset="-122"/>
                <a:cs typeface="Calibri" pitchFamily="34" charset="-120"/>
              </a:rPr>
              <a:t>35 min</a:t>
            </a:r>
            <a:endParaRPr lang="en-US" sz="1200" dirty="0"/>
          </a:p>
        </p:txBody>
      </p:sp>
      <p:sp>
        <p:nvSpPr>
          <p:cNvPr id="6" name="Text 4"/>
          <p:cNvSpPr txBox="1"/>
          <p:nvPr/>
        </p:nvSpPr>
        <p:spPr>
          <a:xfrm>
            <a:off x="548640" y="1097280"/>
            <a:ext cx="11091672" cy="502920"/>
          </a:xfrm>
          <a:prstGeom prst="rect">
            <a:avLst/>
          </a:prstGeom>
          <a:noFill/>
          <a:ln/>
        </p:spPr>
        <p:txBody>
          <a:bodyPr wrap="square" lIns="0" tIns="0" rIns="0" bIns="0" rtlCol="0" anchor="t"/>
          <a:lstStyle/>
          <a:p>
            <a:pPr indent="0" marL="0">
              <a:buNone/>
            </a:pPr>
            <a:r>
              <a:rPr lang="en-US" sz="1400" b="1" dirty="0">
                <a:solidFill>
                  <a:srgbClr val="0B2545"/>
                </a:solidFill>
                <a:latin typeface="Calibri" pitchFamily="34" charset="0"/>
                <a:ea typeface="Calibri" pitchFamily="34" charset="-122"/>
                <a:cs typeface="Calibri" pitchFamily="34" charset="-120"/>
              </a:rPr>
              <a:t>Goal  </a:t>
            </a:r>
            <a:pPr indent="0" marL="0">
              <a:buNone/>
            </a:pPr>
            <a:r>
              <a:rPr lang="en-US" sz="1400" dirty="0">
                <a:solidFill>
                  <a:srgbClr val="1F2933"/>
                </a:solidFill>
                <a:latin typeface="Calibri" pitchFamily="34" charset="0"/>
                <a:ea typeface="Calibri" pitchFamily="34" charset="-122"/>
                <a:cs typeface="Calibri" pitchFamily="34" charset="-120"/>
              </a:rPr>
              <a:t>BrandTheme with two brands, a runtime toggle, dark mode, and a logo asset per brand - nothing hard-coded in widgets.</a:t>
            </a:r>
            <a:endParaRPr lang="en-US" sz="1400" dirty="0"/>
          </a:p>
        </p:txBody>
      </p:sp>
      <p:sp>
        <p:nvSpPr>
          <p:cNvPr id="7" name="Text 5"/>
          <p:cNvSpPr txBox="1"/>
          <p:nvPr/>
        </p:nvSpPr>
        <p:spPr>
          <a:xfrm>
            <a:off x="548640" y="1691640"/>
            <a:ext cx="7098670" cy="4389120"/>
          </a:xfrm>
          <a:prstGeom prst="rect">
            <a:avLst/>
          </a:prstGeom>
          <a:noFill/>
          <a:ln/>
        </p:spPr>
        <p:txBody>
          <a:bodyPr wrap="square" lIns="0" tIns="0" rIns="0" bIns="0" rtlCol="0" anchor="t"/>
          <a:lstStyle/>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Create lib/core/theme/brand_theme.dart from the slide (BrandTheme + brands map). Pick your own two seed colours.</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Make QuoteApp Stateful with _brandKey; theme/darkTheme from brand.toThemeData; themeMode: ThemeMode.system.</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Pass brand and onSwitchBrand into CaptureScreen; add the swap IconButton in the AppBar; header shows brand.name.</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Grep your widgets for Colors. and fontSize: - replace every one with a theme role or textTheme style.</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Add assets/brands/alpha.png and beta.png (any two PNGs), declare assets/brands/ in pubspec, flutter pub get, HOT RESTART, show the logo in the header via Image.asset(brand.logoAsset).</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Toggle the emulator to dark mode and confirm both brands are readable.</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Commit "Day 2: brand theme".</a:t>
            </a:r>
            <a:endParaRPr lang="en-US" sz="1300" dirty="0"/>
          </a:p>
        </p:txBody>
      </p:sp>
      <p:sp>
        <p:nvSpPr>
          <p:cNvPr id="8" name="Shape 6"/>
          <p:cNvSpPr/>
          <p:nvPr/>
        </p:nvSpPr>
        <p:spPr>
          <a:xfrm>
            <a:off x="7921630" y="1691640"/>
            <a:ext cx="3718682" cy="4389120"/>
          </a:xfrm>
          <a:prstGeom prst="roundRect">
            <a:avLst>
              <a:gd name="adj" fmla="val 2459"/>
            </a:avLst>
          </a:prstGeom>
          <a:solidFill>
            <a:srgbClr val="EAF2EC"/>
          </a:solidFill>
          <a:ln w="6350">
            <a:solidFill>
              <a:srgbClr val="EAF2EC"/>
            </a:solidFill>
            <a:prstDash val="solid"/>
          </a:ln>
          <a:effectLst>
            <a:outerShdw sx="100000" sy="100000" kx="0" ky="0" algn="bl" rotWithShape="0" blurRad="38100" dist="12700" dir="5400000">
              <a:srgbClr val="000000">
                <a:alpha val="8000"/>
              </a:srgbClr>
            </a:outerShdw>
          </a:effectLst>
        </p:spPr>
      </p:sp>
      <p:sp>
        <p:nvSpPr>
          <p:cNvPr id="9" name="Text 7"/>
          <p:cNvSpPr txBox="1"/>
          <p:nvPr/>
        </p:nvSpPr>
        <p:spPr>
          <a:xfrm>
            <a:off x="8104510" y="1828800"/>
            <a:ext cx="3352922" cy="365760"/>
          </a:xfrm>
          <a:prstGeom prst="rect">
            <a:avLst/>
          </a:prstGeom>
          <a:noFill/>
          <a:ln/>
        </p:spPr>
        <p:txBody>
          <a:bodyPr wrap="square" lIns="0" tIns="0" rIns="0" bIns="0" rtlCol="0" anchor="ctr"/>
          <a:lstStyle/>
          <a:p>
            <a:pPr indent="0" marL="0">
              <a:buNone/>
            </a:pPr>
            <a:r>
              <a:rPr lang="en-US" sz="1300" b="1" dirty="0">
                <a:solidFill>
                  <a:srgbClr val="1F7A5C"/>
                </a:solidFill>
                <a:latin typeface="Calibri" pitchFamily="34" charset="0"/>
                <a:ea typeface="Calibri" pitchFamily="34" charset="-122"/>
                <a:cs typeface="Calibri" pitchFamily="34" charset="-120"/>
              </a:rPr>
              <a:t>Stretch (fast lane)</a:t>
            </a:r>
            <a:endParaRPr lang="en-US" sz="1300" dirty="0"/>
          </a:p>
        </p:txBody>
      </p:sp>
      <p:sp>
        <p:nvSpPr>
          <p:cNvPr id="10" name="Text 8"/>
          <p:cNvSpPr txBox="1"/>
          <p:nvPr/>
        </p:nvSpPr>
        <p:spPr>
          <a:xfrm>
            <a:off x="8104510" y="2240280"/>
            <a:ext cx="3352922" cy="36576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rgbClr val="1F2933"/>
                </a:solidFill>
                <a:latin typeface="Calibri" pitchFamily="34" charset="0"/>
                <a:ea typeface="Calibri" pitchFamily="34" charset="-122"/>
                <a:cs typeface="Calibri" pitchFamily="34" charset="-120"/>
              </a:rPr>
              <a:t>Add a fontFamily per brand with a bundled .ttf (fonts.google.com → download → assets/fonts/).</a:t>
            </a:r>
            <a:endParaRPr lang="en-US" sz="1200" dirty="0"/>
          </a:p>
          <a:p>
            <a:pPr marL="177800" indent="-177800">
              <a:spcAft>
                <a:spcPts val="600"/>
              </a:spcAft>
              <a:buSzPct val="100000"/>
              <a:buChar char="•"/>
            </a:pPr>
            <a:r>
              <a:rPr lang="en-US" sz="1200" dirty="0">
                <a:solidFill>
                  <a:srgbClr val="1F2933"/>
                </a:solidFill>
                <a:latin typeface="Calibri" pitchFamily="34" charset="0"/>
                <a:ea typeface="Calibri" pitchFamily="34" charset="-122"/>
                <a:cs typeface="Calibri" pitchFamily="34" charset="-120"/>
              </a:rPr>
              <a:t>Add a third brand without touching any widget file - prove the point.</a:t>
            </a:r>
            <a:endParaRPr lang="en-US" sz="1200" dirty="0"/>
          </a:p>
          <a:p>
            <a:pPr marL="177800" indent="-177800">
              <a:spcAft>
                <a:spcPts val="600"/>
              </a:spcAft>
              <a:buSzPct val="100000"/>
              <a:buChar char="•"/>
            </a:pPr>
            <a:r>
              <a:rPr lang="en-US" sz="1200" dirty="0">
                <a:solidFill>
                  <a:srgbClr val="1F2933"/>
                </a:solidFill>
                <a:latin typeface="Calibri" pitchFamily="34" charset="0"/>
                <a:ea typeface="Calibri" pitchFamily="34" charset="-122"/>
                <a:cs typeface="Calibri" pitchFamily="34" charset="-120"/>
              </a:rPr>
              <a:t>Persist the chosen brand in memory across hot restarts using a static; tomorrow it becomes a provider, Thursday shared_preferences.</a:t>
            </a:r>
            <a:endParaRPr lang="en-US" sz="1200" dirty="0"/>
          </a:p>
        </p:txBody>
      </p:sp>
      <p:sp>
        <p:nvSpPr>
          <p:cNvPr id="11" name="Text 9"/>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12" name="Text 10"/>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2011680" cy="292608"/>
          </a:xfrm>
          <a:prstGeom prst="roundRect">
            <a:avLst>
              <a:gd name="adj" fmla="val 50000"/>
            </a:avLst>
          </a:prstGeom>
          <a:solidFill>
            <a:srgbClr val="0B2545"/>
          </a:solidFill>
          <a:ln w="12700">
            <a:solidFill>
              <a:srgbClr val="0B2545"/>
            </a:solidFill>
            <a:prstDash val="solid"/>
          </a:ln>
        </p:spPr>
      </p:sp>
      <p:sp>
        <p:nvSpPr>
          <p:cNvPr id="3" name="Text 1"/>
          <p:cNvSpPr txBox="1"/>
          <p:nvPr/>
        </p:nvSpPr>
        <p:spPr>
          <a:xfrm>
            <a:off x="548640" y="457200"/>
            <a:ext cx="201168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READ &amp; BREAK DOWN</a:t>
            </a:r>
            <a:endParaRPr lang="en-US" sz="1000" dirty="0"/>
          </a:p>
        </p:txBody>
      </p:sp>
      <p:sp>
        <p:nvSpPr>
          <p:cNvPr id="4" name="Text 2"/>
          <p:cNvSpPr txBox="1"/>
          <p:nvPr/>
        </p:nvSpPr>
        <p:spPr>
          <a:xfrm>
            <a:off x="9811512" y="457200"/>
            <a:ext cx="1828800" cy="292608"/>
          </a:xfrm>
          <a:prstGeom prst="rect">
            <a:avLst/>
          </a:prstGeom>
          <a:noFill/>
          <a:ln/>
        </p:spPr>
        <p:txBody>
          <a:bodyPr wrap="square" lIns="0" tIns="0" rIns="0" bIns="0" rtlCol="0" anchor="ctr"/>
          <a:lstStyle/>
          <a:p>
            <a:pPr algn="r" indent="0" marL="0">
              <a:buNone/>
            </a:pPr>
            <a:r>
              <a:rPr lang="en-US" sz="1200" dirty="0">
                <a:solidFill>
                  <a:srgbClr val="5B6773"/>
                </a:solidFill>
                <a:latin typeface="Calibri" pitchFamily="34" charset="0"/>
                <a:ea typeface="Calibri" pitchFamily="34" charset="-122"/>
                <a:cs typeface="Calibri" pitchFamily="34" charset="-120"/>
              </a:rPr>
              <a:t>Homework · 20 min</a:t>
            </a:r>
            <a:endParaRPr lang="en-US" sz="1200" dirty="0"/>
          </a:p>
        </p:txBody>
      </p:sp>
      <p:sp>
        <p:nvSpPr>
          <p:cNvPr id="5" name="Text 3"/>
          <p:cNvSpPr txBox="1"/>
          <p:nvPr/>
        </p:nvSpPr>
        <p:spPr>
          <a:xfrm>
            <a:off x="548640" y="868680"/>
            <a:ext cx="11091672" cy="640080"/>
          </a:xfrm>
          <a:prstGeom prst="rect">
            <a:avLst/>
          </a:prstGeom>
          <a:noFill/>
          <a:ln/>
        </p:spPr>
        <p:txBody>
          <a:bodyPr wrap="square" lIns="0" tIns="0" rIns="0" bIns="0" rtlCol="0" anchor="ctr"/>
          <a:lstStyle/>
          <a:p>
            <a:pPr indent="0" marL="0">
              <a:buNone/>
            </a:pPr>
            <a:r>
              <a:rPr lang="en-US" sz="2800" b="1" dirty="0">
                <a:solidFill>
                  <a:srgbClr val="0B2545"/>
                </a:solidFill>
                <a:latin typeface="Calibri" pitchFamily="34" charset="0"/>
                <a:ea typeface="Calibri" pitchFamily="34" charset="-122"/>
                <a:cs typeface="Calibri" pitchFamily="34" charset="-120"/>
              </a:rPr>
              <a:t>Tonight: read "Why Riverpod?" and the state management overview</a:t>
            </a:r>
            <a:endParaRPr lang="en-US" sz="2800" dirty="0"/>
          </a:p>
        </p:txBody>
      </p:sp>
      <p:sp>
        <p:nvSpPr>
          <p:cNvPr id="6" name="Shape 4"/>
          <p:cNvSpPr/>
          <p:nvPr/>
        </p:nvSpPr>
        <p:spPr>
          <a:xfrm>
            <a:off x="548640" y="1691640"/>
            <a:ext cx="11091672" cy="960120"/>
          </a:xfrm>
          <a:prstGeom prst="roundRect">
            <a:avLst>
              <a:gd name="adj" fmla="val 9524"/>
            </a:avLst>
          </a:prstGeom>
          <a:solidFill>
            <a:srgbClr val="EAF0F7"/>
          </a:solidFill>
          <a:ln w="6350">
            <a:solidFill>
              <a:srgbClr val="EAF0F7"/>
            </a:solidFill>
            <a:prstDash val="solid"/>
          </a:ln>
          <a:effectLst>
            <a:outerShdw sx="100000" sy="100000" kx="0" ky="0" algn="bl" rotWithShape="0" blurRad="38100" dist="12700" dir="5400000">
              <a:srgbClr val="000000">
                <a:alpha val="8000"/>
              </a:srgbClr>
            </a:outerShdw>
          </a:effectLst>
        </p:spPr>
      </p:sp>
      <p:sp>
        <p:nvSpPr>
          <p:cNvPr id="7" name="Text 5"/>
          <p:cNvSpPr txBox="1"/>
          <p:nvPr/>
        </p:nvSpPr>
        <p:spPr>
          <a:xfrm>
            <a:off x="822960" y="1783080"/>
            <a:ext cx="10543032" cy="457200"/>
          </a:xfrm>
          <a:prstGeom prst="rect">
            <a:avLst/>
          </a:prstGeom>
          <a:noFill/>
          <a:ln/>
        </p:spPr>
        <p:txBody>
          <a:bodyPr wrap="square" lIns="0" tIns="0" rIns="0" bIns="0" rtlCol="0" anchor="ctr"/>
          <a:lstStyle/>
          <a:p>
            <a:pPr indent="0" marL="0">
              <a:buNone/>
            </a:pPr>
            <a:r>
              <a:rPr lang="en-US" sz="1800" b="1" dirty="0">
                <a:solidFill>
                  <a:srgbClr val="0B2545"/>
                </a:solidFill>
                <a:latin typeface="Courier New" pitchFamily="34" charset="0"/>
                <a:ea typeface="Courier New" pitchFamily="34" charset="-122"/>
                <a:cs typeface="Courier New" pitchFamily="34" charset="-120"/>
              </a:rPr>
              <a:t>docs.flutter.dev/data-and-backend/state-mgmt/intro</a:t>
            </a:r>
            <a:endParaRPr lang="en-US" sz="1800" dirty="0"/>
          </a:p>
        </p:txBody>
      </p:sp>
      <p:sp>
        <p:nvSpPr>
          <p:cNvPr id="8" name="Text 6"/>
          <p:cNvSpPr txBox="1"/>
          <p:nvPr/>
        </p:nvSpPr>
        <p:spPr>
          <a:xfrm>
            <a:off x="822960" y="2212848"/>
            <a:ext cx="10543032" cy="365760"/>
          </a:xfrm>
          <a:prstGeom prst="rect">
            <a:avLst/>
          </a:prstGeom>
          <a:noFill/>
          <a:ln/>
        </p:spPr>
        <p:txBody>
          <a:bodyPr wrap="square" lIns="0" tIns="0" rIns="0" bIns="0" rtlCol="0" anchor="ctr"/>
          <a:lstStyle/>
          <a:p>
            <a:pPr indent="0" marL="0">
              <a:buNone/>
            </a:pPr>
            <a:r>
              <a:rPr lang="en-US" sz="1200" dirty="0">
                <a:solidFill>
                  <a:srgbClr val="5B6773"/>
                </a:solidFill>
                <a:latin typeface="Calibri" pitchFamily="34" charset="0"/>
                <a:ea typeface="Calibri" pitchFamily="34" charset="-122"/>
                <a:cs typeface="Calibri" pitchFamily="34" charset="-120"/>
              </a:rPr>
              <a:t>Intro + "Ephemeral vs app state" + "Simple app state management"; then riverpod.dev/docs/introduction/why_riverpod (about 20 minutes)</a:t>
            </a:r>
            <a:endParaRPr lang="en-US" sz="1200" dirty="0"/>
          </a:p>
        </p:txBody>
      </p:sp>
      <p:sp>
        <p:nvSpPr>
          <p:cNvPr id="9" name="Text 7"/>
          <p:cNvSpPr txBox="1"/>
          <p:nvPr/>
        </p:nvSpPr>
        <p:spPr>
          <a:xfrm>
            <a:off x="548640" y="2880360"/>
            <a:ext cx="6655003" cy="3657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Answer these as you read</a:t>
            </a:r>
            <a:endParaRPr lang="en-US" sz="1400" dirty="0"/>
          </a:p>
        </p:txBody>
      </p:sp>
      <p:sp>
        <p:nvSpPr>
          <p:cNvPr id="10" name="Text 8"/>
          <p:cNvSpPr txBox="1"/>
          <p:nvPr/>
        </p:nvSpPr>
        <p:spPr>
          <a:xfrm>
            <a:off x="548640" y="3291840"/>
            <a:ext cx="6655003" cy="2743200"/>
          </a:xfrm>
          <a:prstGeom prst="rect">
            <a:avLst/>
          </a:prstGeom>
          <a:noFill/>
          <a:ln/>
        </p:spPr>
        <p:txBody>
          <a:bodyPr wrap="square" lIns="0" tIns="0" rIns="0" bIns="0" rtlCol="0" anchor="t"/>
          <a:lstStyle/>
          <a:p>
            <a:pPr marL="279400" indent="-279400">
              <a:spcAft>
                <a:spcPts val="800"/>
              </a:spcAft>
              <a:buSzPct val="100000"/>
              <a:buFont typeface="+mj-lt"/>
              <a:buAutoNum type="arabicPeriod" startAt="1"/>
            </a:pPr>
            <a:r>
              <a:rPr lang="en-US" sz="1400" dirty="0">
                <a:solidFill>
                  <a:srgbClr val="1F2933"/>
                </a:solidFill>
                <a:latin typeface="Calibri" pitchFamily="34" charset="0"/>
                <a:ea typeface="Calibri" pitchFamily="34" charset="-122"/>
                <a:cs typeface="Calibri" pitchFamily="34" charset="-120"/>
              </a:rPr>
              <a:t>Define ephemeral state and app state in one sentence each; classify: form field text, the current brand, the last quote, the emulator dark mode.</a:t>
            </a:r>
            <a:endParaRPr lang="en-US" sz="1400" dirty="0"/>
          </a:p>
          <a:p>
            <a:pPr marL="279400" indent="-279400">
              <a:spcAft>
                <a:spcPts val="800"/>
              </a:spcAft>
              <a:buSzPct val="100000"/>
              <a:buFont typeface="+mj-lt"/>
              <a:buAutoNum type="arabicPeriod" startAt="1"/>
            </a:pPr>
            <a:r>
              <a:rPr lang="en-US" sz="1400" dirty="0">
                <a:solidFill>
                  <a:srgbClr val="1F2933"/>
                </a:solidFill>
                <a:latin typeface="Calibri" pitchFamily="34" charset="0"/>
                <a:ea typeface="Calibri" pitchFamily="34" charset="-122"/>
                <a:cs typeface="Calibri" pitchFamily="34" charset="-120"/>
              </a:rPr>
              <a:t>What problem does InheritedWidget solve, and what does Provider add on top of it?</a:t>
            </a:r>
            <a:endParaRPr lang="en-US" sz="1400" dirty="0"/>
          </a:p>
          <a:p>
            <a:pPr marL="279400" indent="-279400">
              <a:spcAft>
                <a:spcPts val="800"/>
              </a:spcAft>
              <a:buSzPct val="100000"/>
              <a:buFont typeface="+mj-lt"/>
              <a:buAutoNum type="arabicPeriod" startAt="1"/>
            </a:pPr>
            <a:r>
              <a:rPr lang="en-US" sz="1400" dirty="0">
                <a:solidFill>
                  <a:srgbClr val="1F2933"/>
                </a:solidFill>
                <a:latin typeface="Calibri" pitchFamily="34" charset="0"/>
                <a:ea typeface="Calibri" pitchFamily="34" charset="-122"/>
                <a:cs typeface="Calibri" pitchFamily="34" charset="-120"/>
              </a:rPr>
              <a:t>Riverpod lists reasons it replaced Provider - pick the two that matter most for an insurance app and say why.</a:t>
            </a:r>
            <a:endParaRPr lang="en-US" sz="1400" dirty="0"/>
          </a:p>
          <a:p>
            <a:pPr marL="279400" indent="-279400">
              <a:spcAft>
                <a:spcPts val="800"/>
              </a:spcAft>
              <a:buSzPct val="100000"/>
              <a:buFont typeface="+mj-lt"/>
              <a:buAutoNum type="arabicPeriod" startAt="1"/>
            </a:pPr>
            <a:r>
              <a:rPr lang="en-US" sz="1400" dirty="0">
                <a:solidFill>
                  <a:srgbClr val="1F2933"/>
                </a:solidFill>
                <a:latin typeface="Calibri" pitchFamily="34" charset="0"/>
                <a:ea typeface="Calibri" pitchFamily="34" charset="-122"/>
                <a:cs typeface="Calibri" pitchFamily="34" charset="-120"/>
              </a:rPr>
              <a:t>Where does our brand toggle from today belong according to these docs?</a:t>
            </a:r>
            <a:endParaRPr lang="en-US" sz="1400" dirty="0"/>
          </a:p>
        </p:txBody>
      </p:sp>
      <p:sp>
        <p:nvSpPr>
          <p:cNvPr id="11" name="Shape 9"/>
          <p:cNvSpPr/>
          <p:nvPr/>
        </p:nvSpPr>
        <p:spPr>
          <a:xfrm>
            <a:off x="7477963" y="2880360"/>
            <a:ext cx="4162349" cy="3154680"/>
          </a:xfrm>
          <a:prstGeom prst="roundRect">
            <a:avLst>
              <a:gd name="adj" fmla="val 2899"/>
            </a:avLst>
          </a:prstGeom>
          <a:solidFill>
            <a:srgbClr val="FBF6E3"/>
          </a:solidFill>
          <a:ln w="6350">
            <a:solidFill>
              <a:srgbClr val="FBF6E3"/>
            </a:solidFill>
            <a:prstDash val="solid"/>
          </a:ln>
          <a:effectLst>
            <a:outerShdw sx="100000" sy="100000" kx="0" ky="0" algn="bl" rotWithShape="0" blurRad="38100" dist="12700" dir="5400000">
              <a:srgbClr val="000000">
                <a:alpha val="8000"/>
              </a:srgbClr>
            </a:outerShdw>
          </a:effectLst>
        </p:spPr>
      </p:sp>
      <p:sp>
        <p:nvSpPr>
          <p:cNvPr id="12" name="Text 10"/>
          <p:cNvSpPr txBox="1"/>
          <p:nvPr/>
        </p:nvSpPr>
        <p:spPr>
          <a:xfrm>
            <a:off x="7706563" y="3017520"/>
            <a:ext cx="3705149" cy="3657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Then</a:t>
            </a:r>
            <a:endParaRPr lang="en-US" sz="1400" dirty="0"/>
          </a:p>
        </p:txBody>
      </p:sp>
      <p:sp>
        <p:nvSpPr>
          <p:cNvPr id="13" name="Text 11"/>
          <p:cNvSpPr txBox="1"/>
          <p:nvPr/>
        </p:nvSpPr>
        <p:spPr>
          <a:xfrm>
            <a:off x="7706563" y="3429000"/>
            <a:ext cx="3705149" cy="2514600"/>
          </a:xfrm>
          <a:prstGeom prst="rect">
            <a:avLst/>
          </a:prstGeom>
          <a:noFill/>
          <a:ln/>
        </p:spPr>
        <p:txBody>
          <a:bodyPr wrap="square" lIns="0" tIns="0" rIns="0" bIns="0" rtlCol="0" anchor="t"/>
          <a:lstStyle/>
          <a:p>
            <a:pPr marL="177800" indent="-177800">
              <a:spcAft>
                <a:spcPts val="700"/>
              </a:spcAft>
              <a:buSzPct val="100000"/>
              <a:buChar char="•"/>
            </a:pPr>
            <a:r>
              <a:rPr lang="en-US" sz="1250" dirty="0">
                <a:solidFill>
                  <a:srgbClr val="1F2933"/>
                </a:solidFill>
                <a:latin typeface="Calibri" pitchFamily="34" charset="0"/>
                <a:ea typeface="Calibri" pitchFamily="34" charset="-122"/>
                <a:cs typeface="Calibri" pitchFamily="34" charset="-120"/>
              </a:rPr>
              <a:t>09:00 tomorrow: two delegates present Q1 and Q3 at the whiteboard before Day 3 opens.</a:t>
            </a:r>
            <a:endParaRPr lang="en-US" sz="1250" dirty="0"/>
          </a:p>
          <a:p>
            <a:pPr marL="177800" indent="-177800">
              <a:spcAft>
                <a:spcPts val="700"/>
              </a:spcAft>
              <a:buSzPct val="100000"/>
              <a:buChar char="•"/>
            </a:pPr>
            <a:r>
              <a:rPr lang="en-US" sz="1250" dirty="0">
                <a:solidFill>
                  <a:srgbClr val="1F2933"/>
                </a:solidFill>
                <a:latin typeface="Calibri" pitchFamily="34" charset="0"/>
                <a:ea typeface="Calibri" pitchFamily="34" charset="-122"/>
                <a:cs typeface="Calibri" pitchFamily="34" charset="-120"/>
              </a:rPr>
              <a:t>We then refactor the brand toggle live using their answers.</a:t>
            </a:r>
            <a:endParaRPr lang="en-US" sz="1250" dirty="0"/>
          </a:p>
          <a:p>
            <a:pPr marL="177800" indent="-177800">
              <a:spcAft>
                <a:spcPts val="700"/>
              </a:spcAft>
              <a:buSzPct val="100000"/>
              <a:buChar char="•"/>
            </a:pPr>
            <a:r>
              <a:rPr lang="en-US" sz="1250" dirty="0">
                <a:solidFill>
                  <a:srgbClr val="1F2933"/>
                </a:solidFill>
                <a:latin typeface="Calibri" pitchFamily="34" charset="0"/>
                <a:ea typeface="Calibri" pitchFamily="34" charset="-122"/>
                <a:cs typeface="Calibri" pitchFamily="34" charset="-120"/>
              </a:rPr>
              <a:t>State management is the lowest score in the survey (1.8) - this reading is half the fix.</a:t>
            </a:r>
            <a:endParaRPr lang="en-US" sz="1250" dirty="0"/>
          </a:p>
        </p:txBody>
      </p:sp>
      <p:sp>
        <p:nvSpPr>
          <p:cNvPr id="14" name="Text 12"/>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15" name="Text 13"/>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B2545"/>
        </a:solidFill>
      </p:bgPr>
    </p:bg>
    <p:spTree>
      <p:nvGrpSpPr>
        <p:cNvPr id="1" name=""/>
        <p:cNvGrpSpPr/>
        <p:nvPr/>
      </p:nvGrpSpPr>
      <p:grpSpPr>
        <a:xfrm>
          <a:off x="0" y="0"/>
          <a:ext cx="0" cy="0"/>
          <a:chOff x="0" y="0"/>
          <a:chExt cx="0" cy="0"/>
        </a:xfrm>
      </p:grpSpPr>
      <p:sp>
        <p:nvSpPr>
          <p:cNvPr id="2" name="Shape 0"/>
          <p:cNvSpPr/>
          <p:nvPr/>
        </p:nvSpPr>
        <p:spPr>
          <a:xfrm>
            <a:off x="9445752" y="-1371600"/>
            <a:ext cx="4572000" cy="4572000"/>
          </a:xfrm>
          <a:prstGeom prst="ellipse">
            <a:avLst/>
          </a:prstGeom>
          <a:solidFill>
            <a:srgbClr val="13315C"/>
          </a:solidFill>
          <a:ln w="12700">
            <a:solidFill>
              <a:srgbClr val="13315C"/>
            </a:solidFill>
            <a:prstDash val="solid"/>
          </a:ln>
        </p:spPr>
      </p:sp>
      <p:sp>
        <p:nvSpPr>
          <p:cNvPr id="3" name="Text 1"/>
          <p:cNvSpPr txBox="1"/>
          <p:nvPr/>
        </p:nvSpPr>
        <p:spPr>
          <a:xfrm>
            <a:off x="548640" y="548640"/>
            <a:ext cx="8229600" cy="82296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Day 2 recap</a:t>
            </a:r>
            <a:endParaRPr lang="en-US" sz="3400" dirty="0"/>
          </a:p>
        </p:txBody>
      </p:sp>
      <p:sp>
        <p:nvSpPr>
          <p:cNvPr id="4" name="Text 2"/>
          <p:cNvSpPr txBox="1"/>
          <p:nvPr/>
        </p:nvSpPr>
        <p:spPr>
          <a:xfrm>
            <a:off x="548640" y="1554480"/>
            <a:ext cx="6583680" cy="4114800"/>
          </a:xfrm>
          <a:prstGeom prst="rect">
            <a:avLst/>
          </a:prstGeom>
          <a:noFill/>
          <a:ln/>
        </p:spPr>
        <p:txBody>
          <a:bodyPr wrap="square" lIns="0" tIns="0" rIns="0" bIns="0" rtlCol="0" anchor="t"/>
          <a:lstStyle/>
          <a:p>
            <a:pPr marL="177800" indent="-177800">
              <a:spcAft>
                <a:spcPts val="900"/>
              </a:spcAft>
              <a:buSzPct val="100000"/>
              <a:buChar char="•"/>
            </a:pPr>
            <a:r>
              <a:rPr lang="en-US" sz="1500" dirty="0">
                <a:solidFill>
                  <a:srgbClr val="FFFFFF"/>
                </a:solidFill>
                <a:latin typeface="Calibri" pitchFamily="34" charset="0"/>
                <a:ea typeface="Calibri" pitchFamily="34" charset="-122"/>
                <a:cs typeface="Calibri" pitchFamily="34" charset="-120"/>
              </a:rPr>
              <a:t>Constraints go down, sizes go up, parent sets position - and the four errors that violate it.</a:t>
            </a:r>
            <a:endParaRPr lang="en-US" sz="1500" dirty="0"/>
          </a:p>
          <a:p>
            <a:pPr marL="177800" indent="-177800">
              <a:spcAft>
                <a:spcPts val="900"/>
              </a:spcAft>
              <a:buSzPct val="100000"/>
              <a:buChar char="•"/>
            </a:pPr>
            <a:r>
              <a:rPr lang="en-US" sz="1500" dirty="0">
                <a:solidFill>
                  <a:srgbClr val="FFFFFF"/>
                </a:solidFill>
                <a:latin typeface="Calibri" pitchFamily="34" charset="0"/>
                <a:ea typeface="Calibri" pitchFamily="34" charset="-122"/>
                <a:cs typeface="Calibri" pitchFamily="34" charset="-120"/>
              </a:rPr>
              <a:t>Row / Column / Expanded / Stack / LayoutBuilder build any screen; SafeArea and text scaling keep it honest.</a:t>
            </a:r>
            <a:endParaRPr lang="en-US" sz="1500" dirty="0"/>
          </a:p>
          <a:p>
            <a:pPr marL="177800" indent="-177800">
              <a:spcAft>
                <a:spcPts val="900"/>
              </a:spcAft>
              <a:buSzPct val="100000"/>
              <a:buChar char="•"/>
            </a:pPr>
            <a:r>
              <a:rPr lang="en-US" sz="1500" dirty="0">
                <a:solidFill>
                  <a:srgbClr val="FFFFFF"/>
                </a:solidFill>
                <a:latin typeface="Calibri" pitchFamily="34" charset="0"/>
                <a:ea typeface="Calibri" pitchFamily="34" charset="-122"/>
                <a:cs typeface="Calibri" pitchFamily="34" charset="-120"/>
              </a:rPr>
              <a:t>ListView.builder for data, Dismissible with stable keys, GridView with max extent for responsive grids.</a:t>
            </a:r>
            <a:endParaRPr lang="en-US" sz="1500" dirty="0"/>
          </a:p>
          <a:p>
            <a:pPr marL="177800" indent="-177800">
              <a:spcAft>
                <a:spcPts val="900"/>
              </a:spcAft>
              <a:buSzPct val="100000"/>
              <a:buChar char="•"/>
            </a:pPr>
            <a:r>
              <a:rPr lang="en-US" sz="1500" dirty="0">
                <a:solidFill>
                  <a:srgbClr val="FFFFFF"/>
                </a:solidFill>
                <a:latin typeface="Calibri" pitchFamily="34" charset="0"/>
                <a:ea typeface="Calibri" pitchFamily="34" charset="-122"/>
                <a:cs typeface="Calibri" pitchFamily="34" charset="-120"/>
              </a:rPr>
              <a:t>Form + GlobalKey + validators; controllers disposed; custom FormField for dates; mounted check after awaits.</a:t>
            </a:r>
            <a:endParaRPr lang="en-US" sz="1500" dirty="0"/>
          </a:p>
          <a:p>
            <a:pPr marL="177800" indent="-177800">
              <a:spcAft>
                <a:spcPts val="900"/>
              </a:spcAft>
              <a:buSzPct val="100000"/>
              <a:buChar char="•"/>
            </a:pPr>
            <a:r>
              <a:rPr lang="en-US" sz="1500" dirty="0">
                <a:solidFill>
                  <a:srgbClr val="FFFFFF"/>
                </a:solidFill>
                <a:latin typeface="Calibri" pitchFamily="34" charset="0"/>
                <a:ea typeface="Calibri" pitchFamily="34" charset="-122"/>
                <a:cs typeface="Calibri" pitchFamily="34" charset="-120"/>
              </a:rPr>
              <a:t>ThemeData from a seed; roles not colours; BrandTheme is the white-label seed that Day 3 and Day 5 build on.</a:t>
            </a:r>
            <a:endParaRPr lang="en-US" sz="1500" dirty="0"/>
          </a:p>
          <a:p>
            <a:pPr marL="177800" indent="-177800">
              <a:spcAft>
                <a:spcPts val="900"/>
              </a:spcAft>
              <a:buSzPct val="100000"/>
              <a:buChar char="•"/>
            </a:pPr>
            <a:r>
              <a:rPr lang="en-US" sz="1500" dirty="0">
                <a:solidFill>
                  <a:srgbClr val="FFFFFF"/>
                </a:solidFill>
                <a:latin typeface="Calibri" pitchFamily="34" charset="0"/>
                <a:ea typeface="Calibri" pitchFamily="34" charset="-122"/>
                <a:cs typeface="Calibri" pitchFamily="34" charset="-120"/>
              </a:rPr>
              <a:t>The quote app now has a real capture form and two brands.</a:t>
            </a:r>
            <a:endParaRPr lang="en-US" sz="1500" dirty="0"/>
          </a:p>
        </p:txBody>
      </p:sp>
      <p:sp>
        <p:nvSpPr>
          <p:cNvPr id="5" name="Shape 3"/>
          <p:cNvSpPr/>
          <p:nvPr/>
        </p:nvSpPr>
        <p:spPr>
          <a:xfrm>
            <a:off x="7589520" y="1554480"/>
            <a:ext cx="4023360" cy="3840480"/>
          </a:xfrm>
          <a:prstGeom prst="roundRect">
            <a:avLst>
              <a:gd name="adj" fmla="val 2381"/>
            </a:avLst>
          </a:prstGeom>
          <a:solidFill>
            <a:srgbClr val="13315C"/>
          </a:solidFill>
          <a:ln w="6350">
            <a:solidFill>
              <a:srgbClr val="13315C"/>
            </a:solidFill>
            <a:prstDash val="solid"/>
          </a:ln>
          <a:effectLst>
            <a:outerShdw sx="100000" sy="100000" kx="0" ky="0" algn="bl" rotWithShape="0" blurRad="38100" dist="12700" dir="5400000">
              <a:srgbClr val="000000">
                <a:alpha val="8000"/>
              </a:srgbClr>
            </a:outerShdw>
          </a:effectLst>
        </p:spPr>
      </p:sp>
      <p:sp>
        <p:nvSpPr>
          <p:cNvPr id="6" name="Text 4"/>
          <p:cNvSpPr txBox="1"/>
          <p:nvPr/>
        </p:nvSpPr>
        <p:spPr>
          <a:xfrm>
            <a:off x="7818120" y="1691640"/>
            <a:ext cx="3657600" cy="365760"/>
          </a:xfrm>
          <a:prstGeom prst="rect">
            <a:avLst/>
          </a:prstGeom>
          <a:noFill/>
          <a:ln/>
        </p:spPr>
        <p:txBody>
          <a:bodyPr wrap="square" lIns="0" tIns="0" rIns="0" bIns="0" rtlCol="0" anchor="ctr"/>
          <a:lstStyle/>
          <a:p>
            <a:pPr indent="0" marL="0">
              <a:buNone/>
            </a:pPr>
            <a:r>
              <a:rPr lang="en-US" sz="1100" dirty="0">
                <a:solidFill>
                  <a:srgbClr val="E3C766"/>
                </a:solidFill>
                <a:latin typeface="Calibri" pitchFamily="34" charset="0"/>
                <a:ea typeface="Calibri" pitchFamily="34" charset="-122"/>
                <a:cs typeface="Calibri" pitchFamily="34" charset="-120"/>
              </a:rPr>
              <a:t>Tomorrow</a:t>
            </a:r>
            <a:endParaRPr lang="en-US" sz="1100" dirty="0"/>
          </a:p>
        </p:txBody>
      </p:sp>
      <p:sp>
        <p:nvSpPr>
          <p:cNvPr id="7" name="Text 5"/>
          <p:cNvSpPr txBox="1"/>
          <p:nvPr/>
        </p:nvSpPr>
        <p:spPr>
          <a:xfrm>
            <a:off x="7818120" y="2103120"/>
            <a:ext cx="3657600" cy="3108960"/>
          </a:xfrm>
          <a:prstGeom prst="rect">
            <a:avLst/>
          </a:prstGeom>
          <a:noFill/>
          <a:ln/>
        </p:spPr>
        <p:txBody>
          <a:bodyPr wrap="square" lIns="0" tIns="0" rIns="0" bIns="0" rtlCol="0" anchor="t"/>
          <a:lstStyle/>
          <a:p>
            <a:pPr marL="177800" indent="-1778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Why state management - setState limits, lifting state</a:t>
            </a:r>
            <a:endParaRPr lang="en-US" sz="1300" dirty="0"/>
          </a:p>
          <a:p>
            <a:pPr marL="177800" indent="-1778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Riverpod in depth: providers, Notifier, ref.watch/read</a:t>
            </a:r>
            <a:endParaRPr lang="en-US" sz="1300" dirty="0"/>
          </a:p>
          <a:p>
            <a:pPr marL="177800" indent="-1778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Bloc awareness - when it earns its place</a:t>
            </a:r>
            <a:endParaRPr lang="en-US" sz="1300" dirty="0"/>
          </a:p>
          <a:p>
            <a:pPr marL="177800" indent="-1778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Refactor: today's form + brand toggle wired end-to-end</a:t>
            </a:r>
            <a:endParaRPr lang="en-US" sz="1300" dirty="0"/>
          </a:p>
          <a:p>
            <a:pPr marL="177800" indent="-1778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Lab: quote flow with loading / loaded / failed states</a:t>
            </a:r>
            <a:endParaRPr lang="en-US" sz="1300" dirty="0"/>
          </a:p>
        </p:txBody>
      </p:sp>
      <p:sp>
        <p:nvSpPr>
          <p:cNvPr id="8" name="Text 6"/>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9" name="Text 7"/>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PLAN B · When it breaks in class</a:t>
            </a:r>
            <a:endParaRPr lang="en-US" sz="3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3993002"/>
                <a:gridCol w="7098670"/>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If this happens</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0B2545"/>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Do this instead</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0B2545"/>
                    </a:solidFill>
                  </a:tcPr>
                </a:tc>
              </a:tr>
              <a:tr h="0">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Emulator dead on a machine</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950" dirty="0">
                          <a:solidFill>
                            <a:srgbClr val="1F2933"/>
                          </a:solidFill>
                          <a:latin typeface="Courier New" pitchFamily="34" charset="0"/>
                          <a:ea typeface="Courier New" pitchFamily="34" charset="-122"/>
                          <a:cs typeface="Courier New" pitchFamily="34" charset="-120"/>
                        </a:rPr>
                        <a:t>flutter run -d chrome. Nothing today needs a plugin - layout, forms and theming all work in the browser. Resize the window to demo the responsive breakpoint.</a:t>
                      </a:r>
                      <a:endParaRPr lang="en-US" sz="950" dirty="0">
                        <a:latin typeface="Courier New" charset="0"/>
                        <a:ea typeface="Courier New" charset="0"/>
                        <a:cs typeface="Courier New"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DevTools will not open</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Press p in the flutter run terminal for debug paint, and read the red error text on the device. The Layout Explorer is nice, not essential.</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Someone's project is broken from yesterday</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950" dirty="0">
                          <a:solidFill>
                            <a:srgbClr val="1F2933"/>
                          </a:solidFill>
                          <a:latin typeface="Courier New" pitchFamily="34" charset="0"/>
                          <a:ea typeface="Courier New" pitchFamily="34" charset="-122"/>
                          <a:cs typeface="Courier New" pitchFamily="34" charset="-120"/>
                        </a:rPr>
                        <a:t>git checkout lab-2-1-start from the USB repo. Never debug yesterday's mess during today's lab.</a:t>
                      </a:r>
                      <a:endParaRPr lang="en-US" sz="950" dirty="0">
                        <a:latin typeface="Courier New" charset="0"/>
                        <a:ea typeface="Courier New" charset="0"/>
                        <a:cs typeface="Courier New"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Assets / logo will not load</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Skip the logo step in Lab 2.3. Two seed colours alone prove the white-label point. Come back to assets if time allows.</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Your live layout demo goes wrong</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You have the four broken-layout files pre-made on the USB stick - switch file instead of typing. The screenshots of each error are in your notes.</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A layout question you cannot answer</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Open docs.flutter.dev/ui/layout/constraints on the projector and find it together. That doc answers almost every layout question in the course.</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Running badly over time</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Cut the buttons table (reference) and the GridView slide. Never cut Lab 2.2 - the capture form is the spine of Days 3, 4 and 5.</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5" name="Text 2"/>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C9A227"/>
        </a:solidFill>
      </p:bgPr>
    </p:bg>
    <p:spTree>
      <p:nvGrpSpPr>
        <p:cNvPr id="1" name=""/>
        <p:cNvGrpSpPr/>
        <p:nvPr/>
      </p:nvGrpSpPr>
      <p:grpSpPr>
        <a:xfrm>
          <a:off x="0" y="0"/>
          <a:ext cx="0" cy="0"/>
          <a:chOff x="0" y="0"/>
          <a:chExt cx="0" cy="0"/>
        </a:xfrm>
      </p:grpSpPr>
      <p:sp>
        <p:nvSpPr>
          <p:cNvPr id="2" name="Text 0"/>
          <p:cNvSpPr txBox="1"/>
          <p:nvPr/>
        </p:nvSpPr>
        <p:spPr>
          <a:xfrm>
            <a:off x="548640" y="2011680"/>
            <a:ext cx="7315200" cy="457200"/>
          </a:xfrm>
          <a:prstGeom prst="rect">
            <a:avLst/>
          </a:prstGeom>
          <a:noFill/>
          <a:ln/>
        </p:spPr>
        <p:txBody>
          <a:bodyPr wrap="square" lIns="0" tIns="0" rIns="0" bIns="0" rtlCol="0" anchor="ctr"/>
          <a:lstStyle/>
          <a:p>
            <a:pPr indent="0" marL="0">
              <a:buNone/>
            </a:pPr>
            <a:r>
              <a:rPr lang="en-US" sz="1400" spc="400" kern="0" dirty="0">
                <a:solidFill>
                  <a:srgbClr val="0B2545"/>
                </a:solidFill>
                <a:latin typeface="Calibri" pitchFamily="34" charset="0"/>
                <a:ea typeface="Calibri" pitchFamily="34" charset="-122"/>
                <a:cs typeface="Calibri" pitchFamily="34" charset="-120"/>
              </a:rPr>
              <a:t>APPENDIX</a:t>
            </a:r>
            <a:endParaRPr lang="en-US" sz="1400" dirty="0"/>
          </a:p>
        </p:txBody>
      </p:sp>
      <p:sp>
        <p:nvSpPr>
          <p:cNvPr id="3" name="Text 1"/>
          <p:cNvSpPr txBox="1"/>
          <p:nvPr/>
        </p:nvSpPr>
        <p:spPr>
          <a:xfrm>
            <a:off x="548640" y="2468880"/>
            <a:ext cx="10058400" cy="1097280"/>
          </a:xfrm>
          <a:prstGeom prst="rect">
            <a:avLst/>
          </a:prstGeom>
          <a:noFill/>
          <a:ln/>
        </p:spPr>
        <p:txBody>
          <a:bodyPr wrap="square" lIns="0" tIns="0" rIns="0" bIns="0" rtlCol="0" anchor="ctr"/>
          <a:lstStyle/>
          <a:p>
            <a:pPr indent="0" marL="0">
              <a:buNone/>
            </a:pPr>
            <a:r>
              <a:rPr lang="en-US" sz="4000" b="1" dirty="0">
                <a:solidFill>
                  <a:srgbClr val="0B2545"/>
                </a:solidFill>
                <a:latin typeface="Calibri" pitchFamily="34" charset="0"/>
                <a:ea typeface="Calibri" pitchFamily="34" charset="-122"/>
                <a:cs typeface="Calibri" pitchFamily="34" charset="-120"/>
              </a:rPr>
              <a:t>Day 2 reference</a:t>
            </a:r>
            <a:endParaRPr lang="en-US" sz="4000" dirty="0"/>
          </a:p>
        </p:txBody>
      </p:sp>
      <p:sp>
        <p:nvSpPr>
          <p:cNvPr id="4" name="Text 2"/>
          <p:cNvSpPr txBox="1"/>
          <p:nvPr/>
        </p:nvSpPr>
        <p:spPr>
          <a:xfrm>
            <a:off x="548640" y="3566160"/>
            <a:ext cx="10058400" cy="731520"/>
          </a:xfrm>
          <a:prstGeom prst="rect">
            <a:avLst/>
          </a:prstGeom>
          <a:noFill/>
          <a:ln/>
        </p:spPr>
        <p:txBody>
          <a:bodyPr wrap="square" lIns="0" tIns="0" rIns="0" bIns="0" rtlCol="0" anchor="ctr"/>
          <a:lstStyle/>
          <a:p>
            <a:pPr indent="0" marL="0">
              <a:buNone/>
            </a:pPr>
            <a:r>
              <a:rPr lang="en-US" sz="1600" dirty="0">
                <a:solidFill>
                  <a:srgbClr val="0B2545"/>
                </a:solidFill>
                <a:latin typeface="Calibri" pitchFamily="34" charset="0"/>
                <a:ea typeface="Calibri" pitchFamily="34" charset="-122"/>
                <a:cs typeface="Calibri" pitchFamily="34" charset="-120"/>
              </a:rPr>
              <a:t>A · Layout troubleshooting   B · Lab 2.1 solution   C · Scroll helpers   D · Lab 2.2 solution   E · Images &amp; text   F · Lab 2.3 solution   G · Links</a:t>
            </a:r>
            <a:endParaRPr lang="en-US" sz="1600" dirty="0"/>
          </a:p>
        </p:txBody>
      </p:sp>
      <p:sp>
        <p:nvSpPr>
          <p:cNvPr id="5" name="Text 3"/>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6" name="Text 4"/>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A · Layout and form troubleshooting: symptom → fix</a:t>
            </a:r>
            <a:endParaRPr lang="en-US" sz="3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3771168"/>
                <a:gridCol w="3105668"/>
                <a:gridCol w="4214835"/>
              </a:tblGrid>
              <a:tr h="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Symptom</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0B2545"/>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Cause</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0B2545"/>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Fix</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0B2545"/>
                    </a:solidFill>
                  </a:tcPr>
                </a:tc>
              </a:tr>
              <a:tr h="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Yellow/black stripes, "RenderFlex overflowed"</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Child larger than Row/Column</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Wrap child in Expanded/Flexible, or wrap the flex in SingleChildScrollView</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"Vertical viewport was given unbounded height"</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ListView inside Column</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900" dirty="0">
                          <a:solidFill>
                            <a:srgbClr val="1F2933"/>
                          </a:solidFill>
                          <a:latin typeface="Courier New" pitchFamily="34" charset="0"/>
                          <a:ea typeface="Courier New" pitchFamily="34" charset="-122"/>
                          <a:cs typeface="Courier New" pitchFamily="34" charset="-120"/>
                        </a:rPr>
                        <a:t>Expanded(child: ListView(…)); shrinkWrap: true only for tiny lists</a:t>
                      </a:r>
                      <a:endParaRPr lang="en-US" sz="900" dirty="0">
                        <a:latin typeface="Courier New" charset="0"/>
                        <a:ea typeface="Courier New" charset="0"/>
                        <a:cs typeface="Courier New"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"Incorrect use of ParentDataWidget"</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Expanded not directly in a Flex</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Move Expanded inside Row/Column</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"BoxConstraints forces an infinite width"</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TextField / Container(width: ∞) in Row</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900" dirty="0">
                          <a:solidFill>
                            <a:srgbClr val="1F2933"/>
                          </a:solidFill>
                          <a:latin typeface="Courier New" pitchFamily="34" charset="0"/>
                          <a:ea typeface="Courier New" pitchFamily="34" charset="-122"/>
                          <a:cs typeface="Courier New" pitchFamily="34" charset="-120"/>
                        </a:rPr>
                        <a:t>Expanded(child: TextField())</a:t>
                      </a:r>
                      <a:endParaRPr lang="en-US" sz="900" dirty="0">
                        <a:latin typeface="Courier New" charset="0"/>
                        <a:ea typeface="Courier New" charset="0"/>
                        <a:cs typeface="Courier New"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Container invisible</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Loose parent, no child, no size</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Give width/height or a child</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Stack has zero size</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Only Positioned children</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Give the Stack a sized child or StackFit.expand</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"Unable to load asset"</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pubspec indentation / path / no restart</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Fix YAML (2 spaces under flutter:), flutter pub get, hot RESTART</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"No MaterialLocalizations found"</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Dialog/picker called above MaterialApp</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Call from a screen's context</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"A dismissed Dismissible widget is still part of the tree"</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Item not removed in onDismissed</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Remove item from list in onDismissed; use ValueKey(id)</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"Undefined name FilteringTextInputFormatter"</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Missing import</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900" dirty="0">
                          <a:solidFill>
                            <a:srgbClr val="1F2933"/>
                          </a:solidFill>
                          <a:latin typeface="Courier New" pitchFamily="34" charset="0"/>
                          <a:ea typeface="Courier New" pitchFamily="34" charset="-122"/>
                          <a:cs typeface="Courier New" pitchFamily="34" charset="-120"/>
                        </a:rPr>
                        <a:t>import 'package:flutter/services.dart';</a:t>
                      </a:r>
                      <a:endParaRPr lang="en-US" sz="900" dirty="0">
                        <a:latin typeface="Courier New" charset="0"/>
                        <a:ea typeface="Courier New" charset="0"/>
                        <a:cs typeface="Courier New"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"initialValue isn't defined" on Dropdown</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SDK &lt; 3.33</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Use value: (older) / initialValue: (3.33+); or flutter upgrade</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No ripple on InkWell</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No Material ancestor</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Wrap in Material(color: Colors.transparent, child: …)</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Keyboard covers the button</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Body not scrollable</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ourier New" pitchFamily="34" charset="0"/>
                          <a:ea typeface="Courier New" pitchFamily="34" charset="-122"/>
                          <a:cs typeface="Courier New" pitchFamily="34" charset="-120"/>
                        </a:rPr>
                        <a:t>SingleChildScrollView around the form</a:t>
                      </a:r>
                      <a:endParaRPr lang="en-US" sz="900" dirty="0">
                        <a:latin typeface="Courier New" charset="0"/>
                        <a:ea typeface="Courier New" charset="0"/>
                        <a:cs typeface="Courier New"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5" name="Text 2"/>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B · Lab 2.1 solution - CaptureScreen shell and header  (1/2)</a:t>
            </a:r>
            <a:endParaRPr lang="en-US" sz="3000" dirty="0"/>
          </a:p>
        </p:txBody>
      </p:sp>
      <p:sp>
        <p:nvSpPr>
          <p:cNvPr id="3" name="Shape 1"/>
          <p:cNvSpPr/>
          <p:nvPr/>
        </p:nvSpPr>
        <p:spPr>
          <a:xfrm>
            <a:off x="548640" y="1325880"/>
            <a:ext cx="11091672" cy="4846320"/>
          </a:xfrm>
          <a:prstGeom prst="roundRect">
            <a:avLst>
              <a:gd name="adj" fmla="val 150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capture_screen.dart</a:t>
            </a:r>
            <a:endParaRPr lang="en-US" sz="800" dirty="0"/>
          </a:p>
        </p:txBody>
      </p:sp>
      <p:sp>
        <p:nvSpPr>
          <p:cNvPr id="5" name="Text 3"/>
          <p:cNvSpPr txBox="1"/>
          <p:nvPr/>
        </p:nvSpPr>
        <p:spPr>
          <a:xfrm>
            <a:off x="685800" y="1435608"/>
            <a:ext cx="10817352" cy="4626864"/>
          </a:xfrm>
          <a:prstGeom prst="rect">
            <a:avLst/>
          </a:prstGeom>
          <a:noFill/>
          <a:ln/>
        </p:spPr>
        <p:txBody>
          <a:bodyPr wrap="square" lIns="0" tIns="0" rIns="0" bIns="0" rtlCol="0" anchor="t"/>
          <a:lstStyle/>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class CaptureScreen extends StatelessWidget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const CaptureScreen({super.key, required this.brand, required this.onSwitchBrand});</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final BrandTheme brand;</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final VoidCallback onSwitchBrand;</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@override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Widget build(BuildContext context)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return Scaffold(</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appBar: AppBar(</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title: Text(brand.name),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actions: [IconButton(icon: const Icon(Icons.swap_horiz), tooltip: 'Switch brand', onPressed: onSwitchBrand)],</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body: SafeArea(</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child: LayoutBuilder(</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builder: (context, c)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final form = Padding(</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padding: const EdgeInsets.all(16),</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child: CaptureForm(onSubmit: (r) =&gt; _showPremium(context, r)),</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p:txBody>
      </p:sp>
      <p:sp>
        <p:nvSpPr>
          <p:cNvPr id="6" name="Text 4"/>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7" name="Text 5"/>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B · Lab 2.1 solution - CaptureScreen shell and header  (2/2)</a:t>
            </a:r>
            <a:endParaRPr lang="en-US" sz="3000" dirty="0"/>
          </a:p>
        </p:txBody>
      </p:sp>
      <p:sp>
        <p:nvSpPr>
          <p:cNvPr id="3" name="Shape 1"/>
          <p:cNvSpPr/>
          <p:nvPr/>
        </p:nvSpPr>
        <p:spPr>
          <a:xfrm>
            <a:off x="548640" y="1325880"/>
            <a:ext cx="11091672" cy="4206240"/>
          </a:xfrm>
          <a:prstGeom prst="roundRect">
            <a:avLst>
              <a:gd name="adj" fmla="val 173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capture_screen.dart</a:t>
            </a:r>
            <a:endParaRPr lang="en-US" sz="800" dirty="0"/>
          </a:p>
        </p:txBody>
      </p:sp>
      <p:sp>
        <p:nvSpPr>
          <p:cNvPr id="5" name="Text 3"/>
          <p:cNvSpPr txBox="1"/>
          <p:nvPr/>
        </p:nvSpPr>
        <p:spPr>
          <a:xfrm>
            <a:off x="685800" y="1435608"/>
            <a:ext cx="10817352" cy="3986784"/>
          </a:xfrm>
          <a:prstGeom prst="rect">
            <a:avLst/>
          </a:prstGeom>
          <a:noFill/>
          <a:ln/>
        </p:spPr>
        <p:txBody>
          <a:bodyPr wrap="square" lIns="0" tIns="0" rIns="0" bIns="0" rtlCol="0" anchor="t"/>
          <a:lstStyle/>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final header = _BrandHeader(brand: brand);</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if (c.maxWidth &gt;= 700)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return Row(children: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SizedBox(width: 280, child: header),</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Expanded(child: SingleChildScrollView(child: form)),</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return SingleChildScrollView(child: Column(children: [header, form]));</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void _showPremium(BuildContext context, QuoteRequest r)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final p = calculatePremium(r);</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ScaffoldMessenger.of(context).showSnackBar(SnackBar(content: Text('Premium ${p.rands}')));</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a:t>
            </a:r>
            <a:endParaRPr lang="en-US" sz="1000" dirty="0"/>
          </a:p>
        </p:txBody>
      </p:sp>
      <p:sp>
        <p:nvSpPr>
          <p:cNvPr id="6" name="Text 4"/>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200" dirty="0">
                <a:solidFill>
                  <a:srgbClr val="5B6773"/>
                </a:solidFill>
                <a:latin typeface="Calibri" pitchFamily="34" charset="0"/>
                <a:ea typeface="Calibri" pitchFamily="34" charset="-122"/>
                <a:cs typeface="Calibri" pitchFamily="34" charset="-120"/>
              </a:rPr>
              <a:t>_BrandHeader on the next slide. Branch lab-2-1-solution has the Stack version with the overlapping chip.</a:t>
            </a:r>
            <a:endParaRPr lang="en-US" sz="12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39</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B · Lab 2.1 solution - _BrandHeader (simple version)</a:t>
            </a:r>
            <a:endParaRPr lang="en-US" sz="3000" dirty="0"/>
          </a:p>
        </p:txBody>
      </p:sp>
      <p:sp>
        <p:nvSpPr>
          <p:cNvPr id="3" name="Shape 1"/>
          <p:cNvSpPr/>
          <p:nvPr/>
        </p:nvSpPr>
        <p:spPr>
          <a:xfrm>
            <a:off x="548640" y="1325880"/>
            <a:ext cx="11091672" cy="4206240"/>
          </a:xfrm>
          <a:prstGeom prst="roundRect">
            <a:avLst>
              <a:gd name="adj" fmla="val 173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capture_screen.dart</a:t>
            </a:r>
            <a:endParaRPr lang="en-US" sz="800" dirty="0"/>
          </a:p>
        </p:txBody>
      </p:sp>
      <p:sp>
        <p:nvSpPr>
          <p:cNvPr id="5" name="Text 3"/>
          <p:cNvSpPr txBox="1"/>
          <p:nvPr/>
        </p:nvSpPr>
        <p:spPr>
          <a:xfrm>
            <a:off x="685800" y="1435608"/>
            <a:ext cx="10817352" cy="3986784"/>
          </a:xfrm>
          <a:prstGeom prst="rect">
            <a:avLst/>
          </a:prstGeom>
          <a:noFill/>
          <a:ln/>
        </p:spPr>
        <p:txBody>
          <a:bodyPr wrap="square" lIns="0" tIns="0" rIns="0" bIns="0" rtlCol="0" anchor="t"/>
          <a:lstStyle/>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class _BrandHeader extends StatelessWidget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const _BrandHeader({required this.brand});</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final BrandTheme brand;</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@override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Widget build(BuildContext context)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final cs = Theme.of(context).colorScheme;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return Container(</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width: double.infinity,</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padding: const EdgeInsets.fromLTRB(16, 24, 16, 24),</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color: cs.primaryContainer,</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child: Column(</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crossAxisAlignment: CrossAxisAlignment.start,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children: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Row(children: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Icon(Icons.shield, color: cs.primary, size: 32),</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const SizedBox(width: 8),</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Text(brand.name, style: Theme.of(context).textTheme.titleLarge?.copyWith(color: cs.onPrimaryContainer)),</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const SizedBox(height: 8),</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Text('Get a motor quote in under a minute', style: TextStyle(color: cs.onPrimaryContainer)),</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a:t>
            </a:r>
            <a:endParaRPr lang="en-US" sz="900" dirty="0"/>
          </a:p>
        </p:txBody>
      </p:sp>
      <p:sp>
        <p:nvSpPr>
          <p:cNvPr id="6" name="Text 4"/>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200" dirty="0">
                <a:solidFill>
                  <a:srgbClr val="5B6773"/>
                </a:solidFill>
                <a:latin typeface="Calibri" pitchFamily="34" charset="0"/>
                <a:ea typeface="Calibri" pitchFamily="34" charset="-122"/>
                <a:cs typeface="Calibri" pitchFamily="34" charset="-120"/>
              </a:rPr>
              <a:t>Stack version: replace the Container with the Stack from the "Stack and Positioned" slide, keeping the theme colours.</a:t>
            </a:r>
            <a:endParaRPr lang="en-US" sz="12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40</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C · SavedQuotesList - full widget with empty state  (1/2)</a:t>
            </a:r>
            <a:endParaRPr lang="en-US" sz="3000" dirty="0"/>
          </a:p>
        </p:txBody>
      </p:sp>
      <p:sp>
        <p:nvSpPr>
          <p:cNvPr id="3" name="Shape 1"/>
          <p:cNvSpPr/>
          <p:nvPr/>
        </p:nvSpPr>
        <p:spPr>
          <a:xfrm>
            <a:off x="548640" y="1325880"/>
            <a:ext cx="11091672" cy="4846320"/>
          </a:xfrm>
          <a:prstGeom prst="roundRect">
            <a:avLst>
              <a:gd name="adj" fmla="val 150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saved_quotes_list.dart</a:t>
            </a:r>
            <a:endParaRPr lang="en-US" sz="800" dirty="0"/>
          </a:p>
        </p:txBody>
      </p:sp>
      <p:sp>
        <p:nvSpPr>
          <p:cNvPr id="5" name="Text 3"/>
          <p:cNvSpPr txBox="1"/>
          <p:nvPr/>
        </p:nvSpPr>
        <p:spPr>
          <a:xfrm>
            <a:off x="685800" y="1435608"/>
            <a:ext cx="10817352" cy="4626864"/>
          </a:xfrm>
          <a:prstGeom prst="rect">
            <a:avLst/>
          </a:prstGeom>
          <a:noFill/>
          <a:ln/>
        </p:spPr>
        <p:txBody>
          <a:bodyPr wrap="square" lIns="0" tIns="0" rIns="0" bIns="0" rtlCol="0" anchor="t"/>
          <a:lstStyle/>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class SavedQuotesList extends StatelessWidget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const SavedQuotesList({super.key, required this.quotes, required this.onDelete});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final List&lt;Quote&gt; quotes;</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final void Function(Quote) onDelete;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@override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Widget build(BuildContext context)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if (quotes.isEmpty)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return const Center(child: Text('No saved quotes yet'));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return ListView.separated(</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padding: const EdgeInsets.all(16),</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itemCount: quotes.length,</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separatorBuilder: (_, __) =&gt; const SizedBox(height: 8),</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itemBuilder: (context, i)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final q = quotes[i];</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return Dismissible(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key: ValueKey(q.id),                       // stable key per item</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direction: DismissDirection.endToStart,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background: Container(</a:t>
            </a:r>
            <a:endParaRPr lang="en-US" sz="1000" dirty="0"/>
          </a:p>
        </p:txBody>
      </p:sp>
      <p:sp>
        <p:nvSpPr>
          <p:cNvPr id="6" name="Text 4"/>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7" name="Text 5"/>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41</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C · SavedQuotesList - full widget with empty state  (2/2)</a:t>
            </a:r>
            <a:endParaRPr lang="en-US" sz="3000" dirty="0"/>
          </a:p>
        </p:txBody>
      </p:sp>
      <p:sp>
        <p:nvSpPr>
          <p:cNvPr id="3" name="Shape 1"/>
          <p:cNvSpPr/>
          <p:nvPr/>
        </p:nvSpPr>
        <p:spPr>
          <a:xfrm>
            <a:off x="548640" y="1325880"/>
            <a:ext cx="11091672" cy="4846320"/>
          </a:xfrm>
          <a:prstGeom prst="roundRect">
            <a:avLst>
              <a:gd name="adj" fmla="val 150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saved_quotes_list.dart</a:t>
            </a:r>
            <a:endParaRPr lang="en-US" sz="800" dirty="0"/>
          </a:p>
        </p:txBody>
      </p:sp>
      <p:sp>
        <p:nvSpPr>
          <p:cNvPr id="5" name="Text 3"/>
          <p:cNvSpPr txBox="1"/>
          <p:nvPr/>
        </p:nvSpPr>
        <p:spPr>
          <a:xfrm>
            <a:off x="685800" y="1435608"/>
            <a:ext cx="10817352" cy="4626864"/>
          </a:xfrm>
          <a:prstGeom prst="rect">
            <a:avLst/>
          </a:prstGeom>
          <a:noFill/>
          <a:ln/>
        </p:spPr>
        <p:txBody>
          <a:bodyPr wrap="square" lIns="0" tIns="0" rIns="0" bIns="0" rtlCol="0" anchor="t"/>
          <a:lstStyle/>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alignment: Alignment.centerRight,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padding: const EdgeInsets.only(right: 16),</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color: Theme.of(context).colorScheme.error,</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child: const Icon(Icons.delete, color: Colors.white),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onDismissed: (_) =&gt; onDelete(q),</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child: Card(</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child: ListTile(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leading: const Icon(Icons.description_outlined),</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title: Text(q.display),</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subtitle: Text('Quote ${q.id}'),</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trailing: const Icon(Icons.chevron_right),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onTap: ()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a:t>
            </a:r>
            <a:endParaRPr lang="en-US" sz="1000" dirty="0"/>
          </a:p>
        </p:txBody>
      </p:sp>
      <p:sp>
        <p:nvSpPr>
          <p:cNvPr id="6" name="Text 4"/>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7" name="Text 5"/>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42</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C · Scroll helpers - RefreshIndicator, ScrollController</a:t>
            </a:r>
            <a:endParaRPr lang="en-US" sz="3000" dirty="0"/>
          </a:p>
        </p:txBody>
      </p:sp>
      <p:sp>
        <p:nvSpPr>
          <p:cNvPr id="3" name="Shape 1"/>
          <p:cNvSpPr/>
          <p:nvPr/>
        </p:nvSpPr>
        <p:spPr>
          <a:xfrm>
            <a:off x="548640" y="1325880"/>
            <a:ext cx="11091672" cy="4846320"/>
          </a:xfrm>
          <a:prstGeom prst="roundRect">
            <a:avLst>
              <a:gd name="adj" fmla="val 150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Dart</a:t>
            </a:r>
            <a:endParaRPr lang="en-US" sz="800" dirty="0"/>
          </a:p>
        </p:txBody>
      </p:sp>
      <p:sp>
        <p:nvSpPr>
          <p:cNvPr id="5" name="Text 3"/>
          <p:cNvSpPr txBox="1"/>
          <p:nvPr/>
        </p:nvSpPr>
        <p:spPr>
          <a:xfrm>
            <a:off x="685800" y="1435608"/>
            <a:ext cx="10817352" cy="4626864"/>
          </a:xfrm>
          <a:prstGeom prst="rect">
            <a:avLst/>
          </a:prstGeom>
          <a:noFill/>
          <a:ln/>
        </p:spPr>
        <p:txBody>
          <a:bodyPr wrap="square" lIns="0" tIns="0" rIns="0" bIns="0" rtlCol="0" anchor="t"/>
          <a:lstStyle/>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Pull to refresh - onRefresh must return a Future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RefreshIndicator(</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onRefresh: () async =&gt; await reload(),</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child: ListView.builder(</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physics: const AlwaysScrollableScrollPhysics(),   // allow pull even when short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itemCount: items.length,</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itemBuilder: (_, i) =&gt; ListTile(title: Text(items[i])),</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Programmatic scrolling</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final _scroll = ScrollController();</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@override void dispose() { _scroll.dispose(); super.dispose();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ListView(controller: _scroll, children: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_scroll.animateTo(0, duration: const Duration(milliseconds: 300), curve: Curves.easeOut);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SingleChildScrollView vs ListView</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SingleChildScrollView: one child (usually a Column), builds everything - forms, settings pages</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ListView.builder: lazy, virtualised - anything with many / unknown number of rows</a:t>
            </a:r>
            <a:endParaRPr lang="en-US" sz="1000" dirty="0"/>
          </a:p>
        </p:txBody>
      </p:sp>
      <p:sp>
        <p:nvSpPr>
          <p:cNvPr id="6" name="Text 4"/>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7" name="Text 5"/>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43</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D · Lab 2.2 solution - imports and Cover.label</a:t>
            </a:r>
            <a:endParaRPr lang="en-US" sz="3000" dirty="0"/>
          </a:p>
        </p:txBody>
      </p:sp>
      <p:sp>
        <p:nvSpPr>
          <p:cNvPr id="3" name="Shape 1"/>
          <p:cNvSpPr/>
          <p:nvPr/>
        </p:nvSpPr>
        <p:spPr>
          <a:xfrm>
            <a:off x="548640" y="1325880"/>
            <a:ext cx="11091672" cy="4206240"/>
          </a:xfrm>
          <a:prstGeom prst="roundRect">
            <a:avLst>
              <a:gd name="adj" fmla="val 173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capture_form.dart imports · cover.dart</a:t>
            </a:r>
            <a:endParaRPr lang="en-US" sz="800" dirty="0"/>
          </a:p>
        </p:txBody>
      </p:sp>
      <p:sp>
        <p:nvSpPr>
          <p:cNvPr id="5" name="Text 3"/>
          <p:cNvSpPr txBox="1"/>
          <p:nvPr/>
        </p:nvSpPr>
        <p:spPr>
          <a:xfrm>
            <a:off x="685800" y="1435608"/>
            <a:ext cx="10817352" cy="3986784"/>
          </a:xfrm>
          <a:prstGeom prst="rect">
            <a:avLst/>
          </a:prstGeom>
          <a:noFill/>
          <a:ln/>
        </p:spPr>
        <p:txBody>
          <a:bodyPr wrap="square" lIns="0" tIns="0" rIns="0" bIns="0" rtlCol="0" anchor="t"/>
          <a:lstStyle/>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import 'package:flutter/material.dart';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import 'package:flutter/services.dart';            // FilteringTextInputFormatter, LengthLimitingTextInputFormatter</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import 'package:quote_app/core/theme/brand_theme.dart';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import 'package:quote_app/features/quote/domain/cover.dart';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import 'package:quote_app/features/quote/domain/quote.dart';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import 'package:quote_app/features/quote/domain/quote_request.dart';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import 'package:quote_app/features/quote/domain/premium_calculator.dart';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features/quote/domain/cover.dart - add a label for UI</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enum Cover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thirdParty, thirdPartyFireTheft, comprehensive;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double get factor =&gt; switch (this)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Cover.thirdParty =&gt; 0.6,</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Cover.thirdPartyFireTheft =&gt; 0.8,</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Cover.comprehensive =&gt; 1.0,</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String get label =&gt; switch (this)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Cover.thirdParty =&gt; 'Third party',</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Cover.thirdPartyFireTheft =&gt; 'Third party, fire &amp; theft',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Cover.comprehensive =&gt; 'Comprehensive',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a:t>
            </a:r>
            <a:endParaRPr lang="en-US" sz="1000" dirty="0"/>
          </a:p>
        </p:txBody>
      </p:sp>
      <p:sp>
        <p:nvSpPr>
          <p:cNvPr id="6" name="Text 4"/>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200" dirty="0">
                <a:solidFill>
                  <a:srgbClr val="5B6773"/>
                </a:solidFill>
                <a:latin typeface="Calibri" pitchFamily="34" charset="0"/>
                <a:ea typeface="Calibri" pitchFamily="34" charset="-122"/>
                <a:cs typeface="Calibri" pitchFamily="34" charset="-120"/>
              </a:rPr>
              <a:t>CaptureForm itself is the three form slides combined (form_basic + fields + date picker). Branch lab-2-2-solution.</a:t>
            </a:r>
            <a:endParaRPr lang="en-US" sz="12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44</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E · Images, icons and text styles</a:t>
            </a:r>
            <a:endParaRPr lang="en-US" sz="3000" dirty="0"/>
          </a:p>
        </p:txBody>
      </p:sp>
      <p:sp>
        <p:nvSpPr>
          <p:cNvPr id="3" name="Shape 1"/>
          <p:cNvSpPr/>
          <p:nvPr/>
        </p:nvSpPr>
        <p:spPr>
          <a:xfrm>
            <a:off x="548640" y="1325880"/>
            <a:ext cx="11091672" cy="4846320"/>
          </a:xfrm>
          <a:prstGeom prst="roundRect">
            <a:avLst>
              <a:gd name="adj" fmla="val 150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Dart</a:t>
            </a:r>
            <a:endParaRPr lang="en-US" sz="800" dirty="0"/>
          </a:p>
        </p:txBody>
      </p:sp>
      <p:sp>
        <p:nvSpPr>
          <p:cNvPr id="5" name="Text 3"/>
          <p:cNvSpPr txBox="1"/>
          <p:nvPr/>
        </p:nvSpPr>
        <p:spPr>
          <a:xfrm>
            <a:off x="685800" y="1435608"/>
            <a:ext cx="10817352" cy="4626864"/>
          </a:xfrm>
          <a:prstGeom prst="rect">
            <a:avLst/>
          </a:prstGeom>
          <a:noFill/>
          <a:ln/>
        </p:spPr>
        <p:txBody>
          <a:bodyPr wrap="square" lIns="0" tIns="0" rIns="0" bIns="0" rtlCol="0" anchor="t"/>
          <a:lstStyle/>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Image.asset('assets/brands/alpha.png', height: 40)</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Image.asset(brand.logoAsset, height: 40, semanticLabel: '${brand.name} logo')</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Image.network(</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'https://example.com/hero.jpg',</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fit: BoxFit.cover,</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loadingBuilder: (ctx, child, progress) =&gt; progress == null ? child : const CircularProgressIndicator(),</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errorBuilder: (ctx, err, st) =&gt; const Icon(Icons.broken_image),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Production: cached_network_image package → CachedNetworkImage(imageUrl: …, placeholder: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Icons: Icons.* (Material), or CupertinoIcons.* (import 'package:flutter/cupertino.dart')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Icon(Icons.shield_outlined, color: Theme.of(context).colorScheme.primary, size: 32)</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Text styles from the theme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Text('Premium', style: Theme.of(context).textTheme.headlineSmall)</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Text('R 1 450', style: Theme.of(context).textTheme.displaySmall?.copyWith(fontWeight: FontWeight.bold))</a:t>
            </a:r>
            <a:endParaRPr lang="en-US" sz="1100" dirty="0"/>
          </a:p>
        </p:txBody>
      </p:sp>
      <p:sp>
        <p:nvSpPr>
          <p:cNvPr id="6" name="Text 4"/>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7" name="Text 5"/>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45</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F · Lab 2.3 solution - brand_theme.dart (full file)  (1/2)</a:t>
            </a:r>
            <a:endParaRPr lang="en-US" sz="3000" dirty="0"/>
          </a:p>
        </p:txBody>
      </p:sp>
      <p:sp>
        <p:nvSpPr>
          <p:cNvPr id="3" name="Shape 1"/>
          <p:cNvSpPr/>
          <p:nvPr/>
        </p:nvSpPr>
        <p:spPr>
          <a:xfrm>
            <a:off x="548640" y="1325880"/>
            <a:ext cx="11091672" cy="4846320"/>
          </a:xfrm>
          <a:prstGeom prst="roundRect">
            <a:avLst>
              <a:gd name="adj" fmla="val 150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core/theme/brand_theme.dart</a:t>
            </a:r>
            <a:endParaRPr lang="en-US" sz="800" dirty="0"/>
          </a:p>
        </p:txBody>
      </p:sp>
      <p:sp>
        <p:nvSpPr>
          <p:cNvPr id="5" name="Text 3"/>
          <p:cNvSpPr txBox="1"/>
          <p:nvPr/>
        </p:nvSpPr>
        <p:spPr>
          <a:xfrm>
            <a:off x="685800" y="1435608"/>
            <a:ext cx="10817352" cy="4626864"/>
          </a:xfrm>
          <a:prstGeom prst="rect">
            <a:avLst/>
          </a:prstGeom>
          <a:noFill/>
          <a:ln/>
        </p:spPr>
        <p:txBody>
          <a:bodyPr wrap="square" lIns="0" tIns="0" rIns="0" bIns="0" rtlCol="0" anchor="t"/>
          <a:lstStyle/>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lib/core/theme/brand_theme.dart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import 'package:flutter/material.dart';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class BrandTheme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const BrandTheme({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required this.key,</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required this.name,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required this.seed,</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required this.logoAsset,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this.fontFamily,</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final String key;</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final String name;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final Color seed;</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final String logoAsset;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final String? fontFamily;</a:t>
            </a:r>
            <a:endParaRPr lang="en-US" sz="1100" dirty="0"/>
          </a:p>
        </p:txBody>
      </p:sp>
      <p:sp>
        <p:nvSpPr>
          <p:cNvPr id="6" name="Text 4"/>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7" name="Text 5"/>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F · Lab 2.3 solution - brand_theme.dart (full file)  (2/2)</a:t>
            </a:r>
            <a:endParaRPr lang="en-US" sz="3000" dirty="0"/>
          </a:p>
        </p:txBody>
      </p:sp>
      <p:sp>
        <p:nvSpPr>
          <p:cNvPr id="3" name="Shape 1"/>
          <p:cNvSpPr/>
          <p:nvPr/>
        </p:nvSpPr>
        <p:spPr>
          <a:xfrm>
            <a:off x="548640" y="1325880"/>
            <a:ext cx="11091672" cy="4846320"/>
          </a:xfrm>
          <a:prstGeom prst="roundRect">
            <a:avLst>
              <a:gd name="adj" fmla="val 150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core/theme/brand_theme.dart</a:t>
            </a:r>
            <a:endParaRPr lang="en-US" sz="800" dirty="0"/>
          </a:p>
        </p:txBody>
      </p:sp>
      <p:sp>
        <p:nvSpPr>
          <p:cNvPr id="5" name="Text 3"/>
          <p:cNvSpPr txBox="1"/>
          <p:nvPr/>
        </p:nvSpPr>
        <p:spPr>
          <a:xfrm>
            <a:off x="685800" y="1435608"/>
            <a:ext cx="10817352" cy="4626864"/>
          </a:xfrm>
          <a:prstGeom prst="rect">
            <a:avLst/>
          </a:prstGeom>
          <a:noFill/>
          <a:ln/>
        </p:spPr>
        <p:txBody>
          <a:bodyPr wrap="square" lIns="0" tIns="0" rIns="0" bIns="0" rtlCol="0" anchor="t"/>
          <a:lstStyle/>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ThemeData toThemeData(Brightness brightness)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final scheme = ColorScheme.fromSeed(seedColor: seed, brightness: brightness);</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return ThemeData(</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colorScheme: scheme,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useMaterial3: true,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fontFamily: fontFamily,</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appBarTheme: AppBarThemeData(backgroundColor: scheme.primary, foregroundColor: scheme.onPrimary),</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inputDecorationTheme: const InputDecorationThemeData(border: OutlineInputBorder()),</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filledButtonTheme: FilledButtonThemeData(</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style: FilledButton.styleFrom(minimumSize: const Size.fromHeight(48)),</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const brands = &lt;String, BrandTheme&gt;{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'alpha': BrandTheme(key: 'alpha', name: 'Alpha Insure', seed: Color(0xFF0B2545), logoAsset: 'assets/brands/alpha.png'),</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'beta':  BrandTheme(key: 'beta',  name: 'Beta Cover',   seed: Color(0xFF8B1E3F), logoAsset: 'assets/brands/beta.png'),</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Day 2: picked at runtime. Day 5: const brandKey = String.fromEnvironment('BRAND', defaultValue: 'alpha');</a:t>
            </a:r>
            <a:endParaRPr lang="en-US" sz="1000" dirty="0"/>
          </a:p>
        </p:txBody>
      </p:sp>
      <p:sp>
        <p:nvSpPr>
          <p:cNvPr id="6" name="Text 4"/>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7" name="Text 5"/>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47</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F · Lab 2.3 solution - QuoteApp with brand toggle</a:t>
            </a:r>
            <a:endParaRPr lang="en-US" sz="3000" dirty="0"/>
          </a:p>
        </p:txBody>
      </p:sp>
      <p:sp>
        <p:nvSpPr>
          <p:cNvPr id="3" name="Shape 1"/>
          <p:cNvSpPr/>
          <p:nvPr/>
        </p:nvSpPr>
        <p:spPr>
          <a:xfrm>
            <a:off x="548640" y="1325880"/>
            <a:ext cx="11091672" cy="4206240"/>
          </a:xfrm>
          <a:prstGeom prst="roundRect">
            <a:avLst>
              <a:gd name="adj" fmla="val 173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app.dart</a:t>
            </a:r>
            <a:endParaRPr lang="en-US" sz="800" dirty="0"/>
          </a:p>
        </p:txBody>
      </p:sp>
      <p:sp>
        <p:nvSpPr>
          <p:cNvPr id="5" name="Text 3"/>
          <p:cNvSpPr txBox="1"/>
          <p:nvPr/>
        </p:nvSpPr>
        <p:spPr>
          <a:xfrm>
            <a:off x="685800" y="1435608"/>
            <a:ext cx="10817352" cy="3986784"/>
          </a:xfrm>
          <a:prstGeom prst="rect">
            <a:avLst/>
          </a:prstGeom>
          <a:noFill/>
          <a:ln/>
        </p:spPr>
        <p:txBody>
          <a:bodyPr wrap="square" lIns="0" tIns="0" rIns="0" bIns="0" rtlCol="0" anchor="t"/>
          <a:lstStyle/>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lib/app.dart - runtime brand toggle for today's demo (Riverpod replaces this on Day 3)</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class QuoteApp extends StatefulWidget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const QuoteApp({super.key});</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@override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State&lt;QuoteApp&gt; createState() =&gt; _QuoteAppState();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class _QuoteAppState extends State&lt;QuoteApp&gt;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String _brandKey = 'alpha';</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@override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Widget build(BuildContext context)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final brand = brands[_brandKey]!;</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return MaterialApp(</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title: brand.name,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theme: brand.toThemeData(Brightness.light),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darkTheme: brand.toThemeData(Brightness.dark),</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themeMode: ThemeMode.system,</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home: CaptureScreen(</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brand: brand,</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onSwitchBrand: () =&gt; setState(() =&gt; _brandKey = _brandKey == 'alpha' ? 'beta' : 'alpha'),</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a:t>
            </a:r>
            <a:endParaRPr lang="en-US" sz="900" dirty="0"/>
          </a:p>
        </p:txBody>
      </p:sp>
      <p:sp>
        <p:nvSpPr>
          <p:cNvPr id="6" name="Text 4"/>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200" dirty="0">
                <a:solidFill>
                  <a:srgbClr val="5B6773"/>
                </a:solidFill>
                <a:latin typeface="Calibri" pitchFamily="34" charset="0"/>
                <a:ea typeface="Calibri" pitchFamily="34" charset="-122"/>
                <a:cs typeface="Calibri" pitchFamily="34" charset="-120"/>
              </a:rPr>
              <a:t>BrandTheme class is on the "BrandTheme" slide. Branch lab-2-3-solution includes assets/brands/*.png and the pubspec entries.</a:t>
            </a:r>
            <a:endParaRPr lang="en-US" sz="12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48</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G · Links used today</a:t>
            </a:r>
            <a:endParaRPr lang="en-US" sz="30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3327502"/>
                <a:gridCol w="776417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Topic</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0B2545"/>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Link</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0B2545"/>
                    </a:solidFill>
                  </a:tcPr>
                </a:tc>
              </a:tr>
              <a:tr h="0">
                <a:tc>
                  <a:txBody>
                    <a:bodyPr/>
                    <a:lstStyle/>
                    <a:p>
                      <a:pPr indent="0" marL="0">
                        <a:buNone/>
                      </a:pPr>
                      <a:r>
                        <a:rPr lang="en-US" sz="1100" b="1" dirty="0">
                          <a:solidFill>
                            <a:srgbClr val="1F2933"/>
                          </a:solidFill>
                          <a:latin typeface="Calibri" pitchFamily="34" charset="0"/>
                          <a:ea typeface="Calibri" pitchFamily="34" charset="-122"/>
                          <a:cs typeface="Calibri" pitchFamily="34" charset="-120"/>
                        </a:rPr>
                        <a:t>Understanding constraints</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docs.flutter.dev/ui/layout/constraints</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F2933"/>
                          </a:solidFill>
                          <a:latin typeface="Calibri" pitchFamily="34" charset="0"/>
                          <a:ea typeface="Calibri" pitchFamily="34" charset="-122"/>
                          <a:cs typeface="Calibri" pitchFamily="34" charset="-120"/>
                        </a:rPr>
                        <a:t>Layouts in Flutter · widget catalogue</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docs.flutter.dev/ui/layout  ·  docs.flutter.dev/ui/widgets/layout</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1100" b="1" dirty="0">
                          <a:solidFill>
                            <a:srgbClr val="1F2933"/>
                          </a:solidFill>
                          <a:latin typeface="Calibri" pitchFamily="34" charset="0"/>
                          <a:ea typeface="Calibri" pitchFamily="34" charset="-122"/>
                          <a:cs typeface="Calibri" pitchFamily="34" charset="-120"/>
                        </a:rPr>
                        <a:t>Adaptive &amp; responsive</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docs.flutter.dev/ui/adaptive-responsive</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F2933"/>
                          </a:solidFill>
                          <a:latin typeface="Calibri" pitchFamily="34" charset="0"/>
                          <a:ea typeface="Calibri" pitchFamily="34" charset="-122"/>
                          <a:cs typeface="Calibri" pitchFamily="34" charset="-120"/>
                        </a:rPr>
                        <a:t>Lists</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docs.flutter.dev/cookbook/lists/long-lists  ·  …/lists/grid-lists</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1100" b="1" dirty="0">
                          <a:solidFill>
                            <a:srgbClr val="1F2933"/>
                          </a:solidFill>
                          <a:latin typeface="Calibri" pitchFamily="34" charset="0"/>
                          <a:ea typeface="Calibri" pitchFamily="34" charset="-122"/>
                          <a:cs typeface="Calibri" pitchFamily="34" charset="-120"/>
                        </a:rPr>
                        <a:t>Forms cookbook</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docs.flutter.dev/cookbook/forms/validation  ·  …/forms/retrieve-input  ·  …/forms/text-field-changes</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F2933"/>
                          </a:solidFill>
                          <a:latin typeface="Calibri" pitchFamily="34" charset="0"/>
                          <a:ea typeface="Calibri" pitchFamily="34" charset="-122"/>
                          <a:cs typeface="Calibri" pitchFamily="34" charset="-120"/>
                        </a:rPr>
                        <a:t>Dialogs &amp; snackbars</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docs.flutter.dev/cookbook/design/snackbars  ·  api.flutter.dev (showDialog, showModalBottomSheet)</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1100" b="1" dirty="0">
                          <a:solidFill>
                            <a:srgbClr val="1F2933"/>
                          </a:solidFill>
                          <a:latin typeface="Calibri" pitchFamily="34" charset="0"/>
                          <a:ea typeface="Calibri" pitchFamily="34" charset="-122"/>
                          <a:cs typeface="Calibri" pitchFamily="34" charset="-120"/>
                        </a:rPr>
                        <a:t>Themes</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docs.flutter.dev/cookbook/design/themes  ·  m3.material.io/styles/color/roles</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F2933"/>
                          </a:solidFill>
                          <a:latin typeface="Calibri" pitchFamily="34" charset="0"/>
                          <a:ea typeface="Calibri" pitchFamily="34" charset="-122"/>
                          <a:cs typeface="Calibri" pitchFamily="34" charset="-120"/>
                        </a:rPr>
                        <a:t>Assets &amp; fonts</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docs.flutter.dev/ui/assets/assets-and-images  ·  docs.flutter.dev/cookbook/design/fonts</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1100" b="1" dirty="0">
                          <a:solidFill>
                            <a:srgbClr val="1F2933"/>
                          </a:solidFill>
                          <a:latin typeface="Calibri" pitchFamily="34" charset="0"/>
                          <a:ea typeface="Calibri" pitchFamily="34" charset="-122"/>
                          <a:cs typeface="Calibri" pitchFamily="34" charset="-120"/>
                        </a:rPr>
                        <a:t>DevTools Layout Explorer</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docs.flutter.dev/tools/devtools/inspector#flutter-layout-explorer</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F2933"/>
                          </a:solidFill>
                          <a:latin typeface="Calibri" pitchFamily="34" charset="0"/>
                          <a:ea typeface="Calibri" pitchFamily="34" charset="-122"/>
                          <a:cs typeface="Calibri" pitchFamily="34" charset="-120"/>
                        </a:rPr>
                        <a:t>Homework</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docs.flutter.dev/data-and-backend/state-mgmt/intro  ·  riverpod.dev/docs/introduction/why_riverpod</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1100" b="1" dirty="0">
                          <a:solidFill>
                            <a:srgbClr val="1F2933"/>
                          </a:solidFill>
                          <a:latin typeface="Calibri" pitchFamily="34" charset="0"/>
                          <a:ea typeface="Calibri" pitchFamily="34" charset="-122"/>
                          <a:cs typeface="Calibri" pitchFamily="34" charset="-120"/>
                        </a:rPr>
                        <a:t>Course repo</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github.com/Clynton19860/flutter</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2 - Widgets &amp; Layout</a:t>
            </a:r>
            <a:endParaRPr lang="en-US" sz="900" dirty="0"/>
          </a:p>
        </p:txBody>
      </p:sp>
      <p:sp>
        <p:nvSpPr>
          <p:cNvPr id="5" name="Text 2"/>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49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Flutter Day 2 - Widgets &amp; Layout</dc:title>
  <dc:subject>MO Integrations Flutter Training</dc:subject>
  <dc:creator>MO Integrations</dc:creator>
  <cp:lastModifiedBy>MO Integrations</cp:lastModifiedBy>
  <cp:revision>1</cp:revision>
  <dcterms:created xsi:type="dcterms:W3CDTF">2026-09-07T15:47:46Z</dcterms:created>
  <dcterms:modified xsi:type="dcterms:W3CDTF">2026-09-07T15:47:46Z</dcterms:modified>
</cp:coreProperties>
</file>