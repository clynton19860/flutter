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72"/>
  </p:notesMasterIdLst>
  <p:sldIdLst>
    <p:sldId id="2147479569" r:id="rId2"/>
    <p:sldId id="2147479570" r:id="rId3"/>
    <p:sldId id="256" r:id="rId4"/>
    <p:sldId id="257" r:id="rId5"/>
    <p:sldId id="258" r:id="rId6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85"/>
    <p:restoredTop sz="61386"/>
  </p:normalViewPr>
  <p:slideViewPr>
    <p:cSldViewPr snapToGrid="0" snapToObjects="1">
      <p:cViewPr varScale="1">
        <p:scale>
          <a:sx n="68" d="100"/>
          <a:sy n="68" d="100"/>
        </p:scale>
        <p:origin x="231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26" Type="http://schemas.openxmlformats.org/officeDocument/2006/relationships/slide" Target="slides/slide25.xml" /><Relationship Id="rId21" Type="http://schemas.openxmlformats.org/officeDocument/2006/relationships/slide" Target="slides/slide20.xml" /><Relationship Id="rId42" Type="http://schemas.openxmlformats.org/officeDocument/2006/relationships/slide" Target="slides/slide41.xml" /><Relationship Id="rId47" Type="http://schemas.openxmlformats.org/officeDocument/2006/relationships/slide" Target="slides/slide46.xml" /><Relationship Id="rId63" Type="http://schemas.openxmlformats.org/officeDocument/2006/relationships/slide" Target="slides/slide62.xml" /><Relationship Id="rId68" Type="http://schemas.openxmlformats.org/officeDocument/2006/relationships/slide" Target="slides/slide67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9" Type="http://schemas.openxmlformats.org/officeDocument/2006/relationships/slide" Target="slides/slide28.xml" /><Relationship Id="rId11" Type="http://schemas.openxmlformats.org/officeDocument/2006/relationships/slide" Target="slides/slide10.xml" /><Relationship Id="rId24" Type="http://schemas.openxmlformats.org/officeDocument/2006/relationships/slide" Target="slides/slide23.xml" /><Relationship Id="rId32" Type="http://schemas.openxmlformats.org/officeDocument/2006/relationships/slide" Target="slides/slide31.xml" /><Relationship Id="rId37" Type="http://schemas.openxmlformats.org/officeDocument/2006/relationships/slide" Target="slides/slide36.xml" /><Relationship Id="rId40" Type="http://schemas.openxmlformats.org/officeDocument/2006/relationships/slide" Target="slides/slide39.xml" /><Relationship Id="rId45" Type="http://schemas.openxmlformats.org/officeDocument/2006/relationships/slide" Target="slides/slide44.xml" /><Relationship Id="rId53" Type="http://schemas.openxmlformats.org/officeDocument/2006/relationships/slide" Target="slides/slide52.xml" /><Relationship Id="rId58" Type="http://schemas.openxmlformats.org/officeDocument/2006/relationships/slide" Target="slides/slide57.xml" /><Relationship Id="rId66" Type="http://schemas.openxmlformats.org/officeDocument/2006/relationships/slide" Target="slides/slide65.xml" /><Relationship Id="rId74" Type="http://schemas.openxmlformats.org/officeDocument/2006/relationships/viewProps" Target="viewProps.xml" /><Relationship Id="rId5" Type="http://schemas.openxmlformats.org/officeDocument/2006/relationships/slide" Target="slides/slide4.xml" /><Relationship Id="rId61" Type="http://schemas.openxmlformats.org/officeDocument/2006/relationships/slide" Target="slides/slide60.xml" /><Relationship Id="rId19" Type="http://schemas.openxmlformats.org/officeDocument/2006/relationships/slide" Target="slides/slide18.xml" /><Relationship Id="rId14" Type="http://schemas.openxmlformats.org/officeDocument/2006/relationships/slide" Target="slides/slide13.xml" /><Relationship Id="rId22" Type="http://schemas.openxmlformats.org/officeDocument/2006/relationships/slide" Target="slides/slide21.xml" /><Relationship Id="rId27" Type="http://schemas.openxmlformats.org/officeDocument/2006/relationships/slide" Target="slides/slide26.xml" /><Relationship Id="rId30" Type="http://schemas.openxmlformats.org/officeDocument/2006/relationships/slide" Target="slides/slide29.xml" /><Relationship Id="rId35" Type="http://schemas.openxmlformats.org/officeDocument/2006/relationships/slide" Target="slides/slide34.xml" /><Relationship Id="rId43" Type="http://schemas.openxmlformats.org/officeDocument/2006/relationships/slide" Target="slides/slide42.xml" /><Relationship Id="rId48" Type="http://schemas.openxmlformats.org/officeDocument/2006/relationships/slide" Target="slides/slide47.xml" /><Relationship Id="rId56" Type="http://schemas.openxmlformats.org/officeDocument/2006/relationships/slide" Target="slides/slide55.xml" /><Relationship Id="rId64" Type="http://schemas.openxmlformats.org/officeDocument/2006/relationships/slide" Target="slides/slide63.xml" /><Relationship Id="rId69" Type="http://schemas.openxmlformats.org/officeDocument/2006/relationships/slide" Target="slides/slide68.xml" /><Relationship Id="rId8" Type="http://schemas.openxmlformats.org/officeDocument/2006/relationships/slide" Target="slides/slide7.xml" /><Relationship Id="rId51" Type="http://schemas.openxmlformats.org/officeDocument/2006/relationships/slide" Target="slides/slide50.xml" /><Relationship Id="rId72" Type="http://schemas.openxmlformats.org/officeDocument/2006/relationships/notesMaster" Target="notesMasters/notesMaster1.xml" /><Relationship Id="rId3" Type="http://schemas.openxmlformats.org/officeDocument/2006/relationships/slide" Target="slides/slide2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slide" Target="slides/slide24.xml" /><Relationship Id="rId33" Type="http://schemas.openxmlformats.org/officeDocument/2006/relationships/slide" Target="slides/slide32.xml" /><Relationship Id="rId38" Type="http://schemas.openxmlformats.org/officeDocument/2006/relationships/slide" Target="slides/slide37.xml" /><Relationship Id="rId46" Type="http://schemas.openxmlformats.org/officeDocument/2006/relationships/slide" Target="slides/slide45.xml" /><Relationship Id="rId59" Type="http://schemas.openxmlformats.org/officeDocument/2006/relationships/slide" Target="slides/slide58.xml" /><Relationship Id="rId67" Type="http://schemas.openxmlformats.org/officeDocument/2006/relationships/slide" Target="slides/slide66.xml" /><Relationship Id="rId20" Type="http://schemas.openxmlformats.org/officeDocument/2006/relationships/slide" Target="slides/slide19.xml" /><Relationship Id="rId41" Type="http://schemas.openxmlformats.org/officeDocument/2006/relationships/slide" Target="slides/slide40.xml" /><Relationship Id="rId54" Type="http://schemas.openxmlformats.org/officeDocument/2006/relationships/slide" Target="slides/slide53.xml" /><Relationship Id="rId62" Type="http://schemas.openxmlformats.org/officeDocument/2006/relationships/slide" Target="slides/slide61.xml" /><Relationship Id="rId70" Type="http://schemas.openxmlformats.org/officeDocument/2006/relationships/slide" Target="slides/slide69.xml" /><Relationship Id="rId7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5" Type="http://schemas.openxmlformats.org/officeDocument/2006/relationships/slide" Target="slides/slide14.xml" /><Relationship Id="rId23" Type="http://schemas.openxmlformats.org/officeDocument/2006/relationships/slide" Target="slides/slide22.xml" /><Relationship Id="rId28" Type="http://schemas.openxmlformats.org/officeDocument/2006/relationships/slide" Target="slides/slide27.xml" /><Relationship Id="rId36" Type="http://schemas.openxmlformats.org/officeDocument/2006/relationships/slide" Target="slides/slide35.xml" /><Relationship Id="rId49" Type="http://schemas.openxmlformats.org/officeDocument/2006/relationships/slide" Target="slides/slide48.xml" /><Relationship Id="rId57" Type="http://schemas.openxmlformats.org/officeDocument/2006/relationships/slide" Target="slides/slide56.xml" /><Relationship Id="rId10" Type="http://schemas.openxmlformats.org/officeDocument/2006/relationships/slide" Target="slides/slide9.xml" /><Relationship Id="rId31" Type="http://schemas.openxmlformats.org/officeDocument/2006/relationships/slide" Target="slides/slide30.xml" /><Relationship Id="rId44" Type="http://schemas.openxmlformats.org/officeDocument/2006/relationships/slide" Target="slides/slide43.xml" /><Relationship Id="rId52" Type="http://schemas.openxmlformats.org/officeDocument/2006/relationships/slide" Target="slides/slide51.xml" /><Relationship Id="rId65" Type="http://schemas.openxmlformats.org/officeDocument/2006/relationships/slide" Target="slides/slide64.xml" /><Relationship Id="rId73" Type="http://schemas.openxmlformats.org/officeDocument/2006/relationships/presProps" Target="presProps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3" Type="http://schemas.openxmlformats.org/officeDocument/2006/relationships/slide" Target="slides/slide12.xml" /><Relationship Id="rId18" Type="http://schemas.openxmlformats.org/officeDocument/2006/relationships/slide" Target="slides/slide17.xml" /><Relationship Id="rId39" Type="http://schemas.openxmlformats.org/officeDocument/2006/relationships/slide" Target="slides/slide38.xml" /><Relationship Id="rId34" Type="http://schemas.openxmlformats.org/officeDocument/2006/relationships/slide" Target="slides/slide33.xml" /><Relationship Id="rId50" Type="http://schemas.openxmlformats.org/officeDocument/2006/relationships/slide" Target="slides/slide49.xml" /><Relationship Id="rId55" Type="http://schemas.openxmlformats.org/officeDocument/2006/relationships/slide" Target="slides/slide54.xml" /><Relationship Id="rId76" Type="http://schemas.openxmlformats.org/officeDocument/2006/relationships/tableStyles" Target="tableStyles.xml" /><Relationship Id="rId71" Type="http://schemas.openxmlformats.org/officeDocument/2006/relationships/slide" Target="slides/slide70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1330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esenter-BIo">
    <p:bg>
      <p:bgPr>
        <a:solidFill>
          <a:srgbClr val="E8E6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AA94852-62BE-D975-5820-B3227B110B53}"/>
              </a:ext>
            </a:extLst>
          </p:cNvPr>
          <p:cNvSpPr/>
          <p:nvPr userDrawn="1"/>
        </p:nvSpPr>
        <p:spPr bwMode="auto">
          <a:xfrm>
            <a:off x="1" y="0"/>
            <a:ext cx="7036066" cy="6858000"/>
          </a:xfrm>
          <a:prstGeom prst="rect">
            <a:avLst/>
          </a:prstGeom>
          <a:solidFill>
            <a:srgbClr val="F4F3F5"/>
          </a:solidFill>
          <a:ln w="9525" cap="flat" cmpd="sng" algn="ctr">
            <a:noFill/>
            <a:prstDash val="solid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182854" tIns="146284" rIns="182854" bIns="14628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29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E35D3C-86EE-875E-D2A6-669DF7E1C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2" y="585217"/>
            <a:ext cx="5749038" cy="492443"/>
          </a:xfrm>
        </p:spPr>
        <p:txBody>
          <a:bodyPr/>
          <a:lstStyle>
            <a:lvl1pPr>
              <a:defRPr sz="3200" b="0" i="0">
                <a:solidFill>
                  <a:schemeClr val="tx1"/>
                </a:solidFill>
                <a:latin typeface="+mj-lt"/>
                <a:cs typeface="Segoe UI Semibold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3B5AFD-1A0C-9C6A-B579-7F4B7918234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ltGray">
          <a:xfrm>
            <a:off x="7554590" y="3833734"/>
            <a:ext cx="1069848" cy="1069848"/>
          </a:xfrm>
          <a:prstGeom prst="rect">
            <a:avLst/>
          </a:prstGeom>
          <a:solidFill>
            <a:srgbClr val="F4F4F7"/>
          </a:solidFill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9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8B296A1-E2FF-6AD0-056E-6FFA0EA08B6A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ltGray">
          <a:xfrm>
            <a:off x="10568729" y="3833734"/>
            <a:ext cx="1069848" cy="1069848"/>
          </a:xfrm>
          <a:prstGeom prst="rect">
            <a:avLst/>
          </a:prstGeom>
          <a:solidFill>
            <a:srgbClr val="F4F4F7"/>
          </a:solidFill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9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8F4ACC-A223-94FA-AF57-8B62501B059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 bwMode="ltGray">
          <a:xfrm>
            <a:off x="9061660" y="3833734"/>
            <a:ext cx="1069848" cy="1069848"/>
          </a:xfrm>
          <a:prstGeom prst="rect">
            <a:avLst/>
          </a:prstGeom>
          <a:solidFill>
            <a:srgbClr val="F4F4F7"/>
          </a:solidFill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9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8133D48-744E-F029-079E-2E16C280989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 bwMode="ltGray">
          <a:xfrm>
            <a:off x="7554590" y="5199190"/>
            <a:ext cx="1069848" cy="1069848"/>
          </a:xfrm>
          <a:prstGeom prst="rect">
            <a:avLst/>
          </a:prstGeom>
          <a:solidFill>
            <a:srgbClr val="F4F4F7"/>
          </a:solidFill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9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09D3DDE-EAFB-B57D-9147-8827F7743E1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ltGray">
          <a:xfrm>
            <a:off x="10568729" y="5199190"/>
            <a:ext cx="1069848" cy="1069848"/>
          </a:xfrm>
          <a:prstGeom prst="rect">
            <a:avLst/>
          </a:prstGeom>
          <a:solidFill>
            <a:srgbClr val="F4F4F7"/>
          </a:solidFill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9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FDB12BE-8B16-4DC3-C014-945C54E8CD7D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 bwMode="ltGray">
          <a:xfrm>
            <a:off x="9061660" y="5199190"/>
            <a:ext cx="1069848" cy="1069848"/>
          </a:xfrm>
          <a:prstGeom prst="rect">
            <a:avLst/>
          </a:prstGeom>
          <a:solidFill>
            <a:srgbClr val="F4F4F7"/>
          </a:solidFill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9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0375802-7BB3-7A20-1210-E5FEEE1A56F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8165231" y="457200"/>
            <a:ext cx="2849035" cy="2874212"/>
          </a:xfrm>
          <a:prstGeom prst="roundRect">
            <a:avLst>
              <a:gd name="adj" fmla="val 21738"/>
            </a:avLst>
          </a:prstGeom>
          <a:blipFill>
            <a:blip r:embed="rId2"/>
            <a:stretch>
              <a:fillRect/>
            </a:stretch>
          </a:blipFill>
          <a:effectLst>
            <a:outerShdw blurRad="314198" dist="111760" dir="8040000" algn="ctr" rotWithShape="0">
              <a:schemeClr val="tx1">
                <a:alpha val="22000"/>
              </a:schemeClr>
            </a:outerShdw>
          </a:effectLst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4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Click icon to </a:t>
            </a:r>
            <a:br>
              <a:rPr lang="en-US"/>
            </a:br>
            <a:r>
              <a:rPr lang="en-US"/>
              <a:t>add your picture here</a:t>
            </a:r>
          </a:p>
        </p:txBody>
      </p:sp>
      <p:sp>
        <p:nvSpPr>
          <p:cNvPr id="7" name="Footer Placeholder 2">
            <a:extLst>
              <a:ext uri="{FF2B5EF4-FFF2-40B4-BE49-F238E27FC236}">
                <a16:creationId xmlns:a16="http://schemas.microsoft.com/office/drawing/2014/main" id="{FEE9CA35-7E2C-1B90-FD18-D2DBFD0DA24A}"/>
              </a:ext>
            </a:extLst>
          </p:cNvPr>
          <p:cNvSpPr txBox="1">
            <a:spLocks/>
          </p:cNvSpPr>
          <p:nvPr userDrawn="1"/>
        </p:nvSpPr>
        <p:spPr>
          <a:xfrm>
            <a:off x="579438" y="6421083"/>
            <a:ext cx="4151312" cy="197976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367" rtl="0" eaLnBrk="1" latinLnBrk="0" hangingPunct="1">
              <a:defRPr lang="en-US" sz="1000" kern="1200" smtClean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/>
              <a:t>© Copyright Microsoft Corporation.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4336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pos="778">
          <p15:clr>
            <a:srgbClr val="954F72"/>
          </p15:clr>
        </p15:guide>
        <p15:guide id="5" pos="962">
          <p15:clr>
            <a:srgbClr val="954F72"/>
          </p15:clr>
        </p15:guide>
        <p15:guide id="6" pos="1372">
          <p15:clr>
            <a:srgbClr val="954F72"/>
          </p15:clr>
        </p15:guide>
        <p15:guide id="7" pos="1556">
          <p15:clr>
            <a:srgbClr val="954F72"/>
          </p15:clr>
        </p15:guide>
        <p15:guide id="8" pos="1966">
          <p15:clr>
            <a:srgbClr val="954F72"/>
          </p15:clr>
        </p15:guide>
        <p15:guide id="9" pos="2150">
          <p15:clr>
            <a:srgbClr val="954F72"/>
          </p15:clr>
        </p15:guide>
        <p15:guide id="10" pos="2560">
          <p15:clr>
            <a:srgbClr val="954F72"/>
          </p15:clr>
        </p15:guide>
        <p15:guide id="11" pos="2744">
          <p15:clr>
            <a:srgbClr val="954F72"/>
          </p15:clr>
        </p15:guide>
        <p15:guide id="12" pos="3153">
          <p15:clr>
            <a:srgbClr val="954F72"/>
          </p15:clr>
        </p15:guide>
        <p15:guide id="13" pos="3338">
          <p15:clr>
            <a:srgbClr val="954F72"/>
          </p15:clr>
        </p15:guide>
        <p15:guide id="14" pos="3747">
          <p15:clr>
            <a:srgbClr val="954F72"/>
          </p15:clr>
        </p15:guide>
        <p15:guide id="15" pos="3932">
          <p15:clr>
            <a:srgbClr val="954F72"/>
          </p15:clr>
        </p15:guide>
        <p15:guide id="16" pos="4341">
          <p15:clr>
            <a:srgbClr val="954F72"/>
          </p15:clr>
        </p15:guide>
        <p15:guide id="17" pos="4526">
          <p15:clr>
            <a:srgbClr val="954F72"/>
          </p15:clr>
        </p15:guide>
        <p15:guide id="18" pos="4935">
          <p15:clr>
            <a:srgbClr val="954F72"/>
          </p15:clr>
        </p15:guide>
        <p15:guide id="19" pos="5120">
          <p15:clr>
            <a:srgbClr val="954F72"/>
          </p15:clr>
        </p15:guide>
        <p15:guide id="20" pos="5529">
          <p15:clr>
            <a:srgbClr val="954F72"/>
          </p15:clr>
        </p15:guide>
        <p15:guide id="21" pos="5713">
          <p15:clr>
            <a:srgbClr val="954F72"/>
          </p15:clr>
        </p15:guide>
        <p15:guide id="22" pos="6123">
          <p15:clr>
            <a:srgbClr val="954F72"/>
          </p15:clr>
        </p15:guide>
        <p15:guide id="23" pos="6307">
          <p15:clr>
            <a:srgbClr val="954F72"/>
          </p15:clr>
        </p15:guide>
        <p15:guide id="24" pos="6717">
          <p15:clr>
            <a:srgbClr val="954F72"/>
          </p15:clr>
        </p15:guide>
        <p15:guide id="25" pos="6901">
          <p15:clr>
            <a:srgbClr val="954F72"/>
          </p15:clr>
        </p15:guide>
        <p15:guide id="30" orient="horz" pos="812">
          <p15:clr>
            <a:srgbClr val="954F72"/>
          </p15:clr>
        </p15:guide>
        <p15:guide id="31" orient="horz" pos="996">
          <p15:clr>
            <a:srgbClr val="954F72"/>
          </p15:clr>
        </p15:guide>
        <p15:guide id="32" orient="horz" pos="1440">
          <p15:clr>
            <a:srgbClr val="954F72"/>
          </p15:clr>
        </p15:guide>
        <p15:guide id="33" orient="horz" pos="1624">
          <p15:clr>
            <a:srgbClr val="954F72"/>
          </p15:clr>
        </p15:guide>
        <p15:guide id="34" orient="horz" pos="2067">
          <p15:clr>
            <a:srgbClr val="954F72"/>
          </p15:clr>
        </p15:guide>
        <p15:guide id="35" orient="horz" pos="2252">
          <p15:clr>
            <a:srgbClr val="954F72"/>
          </p15:clr>
        </p15:guide>
        <p15:guide id="36" orient="horz" pos="2695">
          <p15:clr>
            <a:srgbClr val="954F72"/>
          </p15:clr>
        </p15:guide>
        <p15:guide id="37" orient="horz" pos="2880">
          <p15:clr>
            <a:srgbClr val="954F72"/>
          </p15:clr>
        </p15:guide>
        <p15:guide id="38" orient="horz" pos="3323">
          <p15:clr>
            <a:srgbClr val="954F72"/>
          </p15:clr>
        </p15:guide>
        <p15:guide id="39" orient="horz" pos="3507">
          <p15:clr>
            <a:srgbClr val="954F7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8" Type="http://schemas.openxmlformats.org/officeDocument/2006/relationships/image" Target="../media/image7.png" /><Relationship Id="rId3" Type="http://schemas.openxmlformats.org/officeDocument/2006/relationships/image" Target="../media/image2.png" /><Relationship Id="rId7" Type="http://schemas.openxmlformats.org/officeDocument/2006/relationships/image" Target="../media/image6.png" /><Relationship Id="rId1" Type="http://schemas.openxmlformats.org/officeDocument/2006/relationships/slideLayout" Target="../slideLayouts/slideLayout2.xml" /><Relationship Id="rId6" Type="http://schemas.openxmlformats.org/officeDocument/2006/relationships/image" Target="../media/image5.png" /><Relationship Id="rId5" Type="http://schemas.openxmlformats.org/officeDocument/2006/relationships/image" Target="../media/image4.png" /><Relationship Id="rId4" Type="http://schemas.openxmlformats.org/officeDocument/2006/relationships/image" Target="../media/image3.png" /><Relationship Id="rId9" Type="http://schemas.openxmlformats.org/officeDocument/2006/relationships/image" Target="../media/image8.png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7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5B55108-207A-D9FF-AF4B-A304A5DEB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745" y="586191"/>
            <a:ext cx="5747521" cy="369279"/>
          </a:xfrm>
        </p:spPr>
        <p:txBody>
          <a:bodyPr/>
          <a:lstStyle/>
          <a:p>
            <a:r>
              <a:rPr lang="en-US" sz="2400"/>
              <a:t>Hello!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2553B6DE-CBCC-D805-6A97-2E9248B43F2C}"/>
              </a:ext>
            </a:extLst>
          </p:cNvPr>
          <p:cNvSpPr txBox="1">
            <a:spLocks/>
          </p:cNvSpPr>
          <p:nvPr/>
        </p:nvSpPr>
        <p:spPr>
          <a:xfrm>
            <a:off x="589745" y="1086183"/>
            <a:ext cx="6301481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marR="0" indent="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lang="en-US" sz="1800" kern="1200" spc="0" baseline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0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57225" marR="0" indent="-20002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6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42963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23938" marR="0" indent="-1682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32563">
              <a:defRPr/>
            </a:pPr>
            <a:r>
              <a:rPr lang="en-US" sz="2000">
                <a:solidFill>
                  <a:srgbClr val="000000"/>
                </a:solidFill>
                <a:latin typeface="Segoe UI"/>
              </a:rPr>
              <a:t>Thank you for joining me today</a:t>
            </a:r>
          </a:p>
        </p:txBody>
      </p:sp>
      <p:sp>
        <p:nvSpPr>
          <p:cNvPr id="8" name="Rounded Rectangle 3_1">
            <a:extLst>
              <a:ext uri="{FF2B5EF4-FFF2-40B4-BE49-F238E27FC236}">
                <a16:creationId xmlns:a16="http://schemas.microsoft.com/office/drawing/2014/main" id="{02A69FC5-E869-7938-B593-C7A42F844DCF}"/>
              </a:ext>
            </a:extLst>
          </p:cNvPr>
          <p:cNvSpPr/>
          <p:nvPr/>
        </p:nvSpPr>
        <p:spPr>
          <a:xfrm>
            <a:off x="584983" y="1871355"/>
            <a:ext cx="5968153" cy="3032019"/>
          </a:xfrm>
          <a:prstGeom prst="roundRect">
            <a:avLst>
              <a:gd name="adj" fmla="val 3632"/>
            </a:avLst>
          </a:prstGeom>
          <a:solidFill>
            <a:schemeClr val="bg1"/>
          </a:solidFill>
          <a:ln>
            <a:noFill/>
          </a:ln>
          <a:effectLst>
            <a:outerShdw blurRad="127000" dist="38100" dir="8100000" sx="101000" sy="101000" algn="tr" rotWithShape="0">
              <a:srgbClr val="CAC5B8">
                <a:alpha val="6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281" rtlCol="0" anchor="ctr"/>
          <a:lstStyle/>
          <a:p>
            <a:pPr defTabSz="932563">
              <a:spcBef>
                <a:spcPts val="1200"/>
              </a:spcBef>
              <a:defRPr/>
            </a:pPr>
            <a:r>
              <a:rPr lang="en-US" sz="2000" kern="0" dirty="0">
                <a:solidFill>
                  <a:srgbClr val="000000"/>
                </a:solidFill>
                <a:latin typeface="+mj-lt"/>
              </a:rPr>
              <a:t>Instructor: Clynton Botterill</a:t>
            </a:r>
            <a:endParaRPr lang="en-US" sz="2000" kern="0" dirty="0">
              <a:solidFill>
                <a:srgbClr val="000000"/>
              </a:solidFill>
            </a:endParaRPr>
          </a:p>
          <a:p>
            <a:pPr defTabSz="932563">
              <a:spcBef>
                <a:spcPts val="1800"/>
              </a:spcBef>
              <a:defRPr/>
            </a:pPr>
            <a:r>
              <a:rPr lang="en-US" sz="1400" kern="0" dirty="0">
                <a:solidFill>
                  <a:srgbClr val="000000"/>
                </a:solidFill>
              </a:rPr>
              <a:t>Microsoft Certified Trainer, with various certifications in cloud computing and software development</a:t>
            </a:r>
          </a:p>
          <a:p>
            <a:pPr defTabSz="932563">
              <a:spcBef>
                <a:spcPts val="1200"/>
              </a:spcBef>
              <a:defRPr/>
            </a:pPr>
            <a:r>
              <a:rPr lang="en-US" sz="1400" kern="0" dirty="0">
                <a:solidFill>
                  <a:srgbClr val="000000"/>
                </a:solidFill>
              </a:rPr>
              <a:t>I have been training for 3 years now and been in the software field for about 8 years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02AB5424-9D84-FAB9-4FA9-A13D7E3A190C}"/>
              </a:ext>
            </a:extLst>
          </p:cNvPr>
          <p:cNvSpPr txBox="1">
            <a:spLocks/>
          </p:cNvSpPr>
          <p:nvPr/>
        </p:nvSpPr>
        <p:spPr>
          <a:xfrm>
            <a:off x="927834" y="5161529"/>
            <a:ext cx="5314196" cy="811063"/>
          </a:xfrm>
          <a:prstGeom prst="rect">
            <a:avLst/>
          </a:prstGeom>
        </p:spPr>
        <p:txBody>
          <a:bodyPr lIns="0" tIns="0" rIns="0" bIns="0"/>
          <a:lstStyle>
            <a:lvl1pPr marL="137160" marR="0" indent="-13716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 sz="1600" kern="1200" spc="0" baseline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265176" marR="0" indent="-10972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84048" marR="0" indent="-118872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 sz="12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42963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10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023938" marR="0" indent="-1682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/>
          </a:p>
        </p:txBody>
      </p:sp>
      <p:pic>
        <p:nvPicPr>
          <p:cNvPr id="7" name="Picture Placeholder 6" descr="A person in a black suit&#10;&#10;Description automatically generated">
            <a:extLst>
              <a:ext uri="{FF2B5EF4-FFF2-40B4-BE49-F238E27FC236}">
                <a16:creationId xmlns:a16="http://schemas.microsoft.com/office/drawing/2014/main" id="{09E3F0AC-255B-D575-2C9E-A0AB9EEC306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3183" r="3183"/>
          <a:stretch>
            <a:fillRect/>
          </a:stretch>
        </p:blipFill>
        <p:spPr/>
      </p:pic>
      <p:pic>
        <p:nvPicPr>
          <p:cNvPr id="22" name="Picture Placeholder 21" descr="A logo of a company&#10;&#10;Description automatically generated">
            <a:extLst>
              <a:ext uri="{FF2B5EF4-FFF2-40B4-BE49-F238E27FC236}">
                <a16:creationId xmlns:a16="http://schemas.microsoft.com/office/drawing/2014/main" id="{ACFCAEB7-E62B-9114-6DDE-AED5A500ADE2}"/>
              </a:ext>
            </a:extLst>
          </p:cNvPr>
          <p:cNvPicPr>
            <a:picLocks noGrp="1" noChangeAspect="1"/>
          </p:cNvPicPr>
          <p:nvPr>
            <p:ph type="pic" sz="quarter" idx="30"/>
          </p:nvPr>
        </p:nvPicPr>
        <p:blipFill>
          <a:blip r:embed="rId4"/>
          <a:srcRect/>
          <a:stretch>
            <a:fillRect/>
          </a:stretch>
        </p:blipFill>
        <p:spPr/>
      </p:pic>
      <p:pic>
        <p:nvPicPr>
          <p:cNvPr id="12" name="Picture Placeholder 11" descr="A logo of a company&#10;&#10;Description automatically generated">
            <a:extLst>
              <a:ext uri="{FF2B5EF4-FFF2-40B4-BE49-F238E27FC236}">
                <a16:creationId xmlns:a16="http://schemas.microsoft.com/office/drawing/2014/main" id="{EF110BF6-DCD8-61D6-A3CE-0A20F4DFDE6D}"/>
              </a:ext>
            </a:extLst>
          </p:cNvPr>
          <p:cNvPicPr>
            <a:picLocks noGrp="1" noChangeAspect="1"/>
          </p:cNvPicPr>
          <p:nvPr>
            <p:ph type="pic" sz="quarter" idx="31"/>
          </p:nvPr>
        </p:nvPicPr>
        <p:blipFill>
          <a:blip r:embed="rId5"/>
          <a:srcRect/>
          <a:stretch>
            <a:fillRect/>
          </a:stretch>
        </p:blipFill>
        <p:spPr/>
      </p:pic>
      <p:pic>
        <p:nvPicPr>
          <p:cNvPr id="28" name="Picture Placeholder 27" descr="A blue and white logo&#10;&#10;Description automatically generated">
            <a:extLst>
              <a:ext uri="{FF2B5EF4-FFF2-40B4-BE49-F238E27FC236}">
                <a16:creationId xmlns:a16="http://schemas.microsoft.com/office/drawing/2014/main" id="{8D287A09-DCBF-2598-EF3B-4D642CFA6C79}"/>
              </a:ext>
            </a:extLst>
          </p:cNvPr>
          <p:cNvPicPr>
            <a:picLocks noGrp="1" noChangeAspect="1"/>
          </p:cNvPicPr>
          <p:nvPr>
            <p:ph type="pic" sz="quarter" idx="32"/>
          </p:nvPr>
        </p:nvPicPr>
        <p:blipFill>
          <a:blip r:embed="rId6"/>
          <a:srcRect/>
          <a:stretch>
            <a:fillRect/>
          </a:stretch>
        </p:blipFill>
        <p:spPr/>
      </p:pic>
      <p:pic>
        <p:nvPicPr>
          <p:cNvPr id="32" name="Picture Placeholder 31" descr="A hexagon with white text&#10;&#10;Description automatically generated">
            <a:extLst>
              <a:ext uri="{FF2B5EF4-FFF2-40B4-BE49-F238E27FC236}">
                <a16:creationId xmlns:a16="http://schemas.microsoft.com/office/drawing/2014/main" id="{6B992C49-B25A-EB00-070B-64E163328EAD}"/>
              </a:ext>
            </a:extLst>
          </p:cNvPr>
          <p:cNvPicPr>
            <a:picLocks noGrp="1" noChangeAspect="1"/>
          </p:cNvPicPr>
          <p:nvPr>
            <p:ph type="pic" sz="quarter" idx="33"/>
          </p:nvPr>
        </p:nvPicPr>
        <p:blipFill>
          <a:blip r:embed="rId7"/>
          <a:srcRect l="22578" r="22578"/>
          <a:stretch>
            <a:fillRect/>
          </a:stretch>
        </p:blipFill>
        <p:spPr/>
      </p:pic>
      <p:pic>
        <p:nvPicPr>
          <p:cNvPr id="30" name="Picture Placeholder 29" descr="A logo for a company&#10;&#10;Description automatically generated">
            <a:extLst>
              <a:ext uri="{FF2B5EF4-FFF2-40B4-BE49-F238E27FC236}">
                <a16:creationId xmlns:a16="http://schemas.microsoft.com/office/drawing/2014/main" id="{066B98C6-B1CE-16C3-1AF1-FB71955325C7}"/>
              </a:ext>
            </a:extLst>
          </p:cNvPr>
          <p:cNvPicPr>
            <a:picLocks noGrp="1" noChangeAspect="1"/>
          </p:cNvPicPr>
          <p:nvPr>
            <p:ph type="pic" sz="quarter" idx="34"/>
          </p:nvPr>
        </p:nvPicPr>
        <p:blipFill>
          <a:blip r:embed="rId8"/>
          <a:srcRect/>
          <a:stretch>
            <a:fillRect/>
          </a:stretch>
        </p:blipFill>
        <p:spPr/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22EB63-491C-85C2-F489-E7594D45B3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0220" y="6420659"/>
            <a:ext cx="4150723" cy="19794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225" rtl="0" eaLnBrk="1" latinLnBrk="0" hangingPunct="1">
              <a:defRPr lang="en-US" sz="1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095" algn="l" defTabSz="914192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192" algn="l" defTabSz="914192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287" algn="l" defTabSz="914192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383" algn="l" defTabSz="914192" rtl="0" eaLnBrk="1" latinLnBrk="0" hangingPunct="1">
              <a:defRPr lang="en-US" sz="750" kern="1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5479" algn="l" defTabSz="914192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75" algn="l" defTabSz="914192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670" algn="l" defTabSz="914192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767" algn="l" defTabSz="914192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192">
              <a:defRPr/>
            </a:pPr>
            <a:r>
              <a:rPr lang="en-ZA">
                <a:solidFill>
                  <a:srgbClr val="000000"/>
                </a:solidFill>
              </a:rPr>
              <a:t>© Copyright Microsoft Corporation. All rights reserved.</a:t>
            </a:r>
            <a:endParaRPr lang="en-US">
              <a:solidFill>
                <a:srgbClr val="000000"/>
              </a:solidFill>
            </a:endParaRPr>
          </a:p>
        </p:txBody>
      </p:sp>
      <p:pic>
        <p:nvPicPr>
          <p:cNvPr id="26" name="Picture Placeholder 25" descr="A blue and white logo with white stars&#10;&#10;Description automatically generated">
            <a:extLst>
              <a:ext uri="{FF2B5EF4-FFF2-40B4-BE49-F238E27FC236}">
                <a16:creationId xmlns:a16="http://schemas.microsoft.com/office/drawing/2014/main" id="{3486F19D-B489-ACBE-8398-E5DC4F9422D3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9"/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015403722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8851D-736D-41D4-8692-EF31AF320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762" y="2795017"/>
            <a:ext cx="10308338" cy="1605533"/>
          </a:xfrm>
        </p:spPr>
        <p:txBody>
          <a:bodyPr/>
          <a:lstStyle/>
          <a:p>
            <a:r>
              <a:rPr lang="en-US" sz="4400" b="1" dirty="0"/>
              <a:t>https://</a:t>
            </a:r>
            <a:r>
              <a:rPr lang="en-US" sz="4400" b="1" dirty="0" err="1"/>
              <a:t>github.com</a:t>
            </a:r>
            <a:r>
              <a:rPr lang="en-US" sz="4400" b="1" dirty="0"/>
              <a:t>/Clynton19860/</a:t>
            </a:r>
            <a:r>
              <a:rPr lang="en-US" sz="4400" b="1" dirty="0" err="1"/>
              <a:t>flutter.git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11711148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2872" y="-1463040"/>
            <a:ext cx="4754880" cy="4754880"/>
          </a:xfrm>
          <a:prstGeom prst="ellipse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543032" y="4480560"/>
            <a:ext cx="3108960" cy="31089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4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 ·  TECHNICAL TRAINING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Mobile Application Development · 5-Day Programme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Dart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· Dart primer · Async Dart · First Flutter app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760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project: white-label motor-insurance quote app  ·  Instructor: Clynton Botterill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67178" cy="4663440"/>
          </a:xfrm>
          <a:prstGeom prst="roundRect">
            <a:avLst>
              <a:gd name="adj" fmla="val 3562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645920"/>
            <a:ext cx="1378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09:00 - 10:30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74520"/>
            <a:ext cx="1378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tooling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201853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Flutter is and how it renders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SDK, IDE, emulator, devices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anatomy, hot reload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1.1 - toolchain verified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90138" y="1371600"/>
            <a:ext cx="2567178" cy="4663440"/>
          </a:xfrm>
          <a:prstGeom prst="roundRect">
            <a:avLst>
              <a:gd name="adj" fmla="val 3562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64458" y="1600200"/>
            <a:ext cx="548640" cy="54864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64458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350258" y="1645920"/>
            <a:ext cx="1378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10:45 - 12:30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350258" y="1874520"/>
            <a:ext cx="1378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 primer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64458" y="2560320"/>
            <a:ext cx="201853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from Java / C# / TypeScript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safety, named params, classes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Records, sealed classes, patterns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1.2 - quote domain model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1636" y="1371600"/>
            <a:ext cx="2567178" cy="4663440"/>
          </a:xfrm>
          <a:prstGeom prst="roundRect">
            <a:avLst>
              <a:gd name="adj" fmla="val 3562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505956" y="1600200"/>
            <a:ext cx="548640" cy="54864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6505956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191756" y="1645920"/>
            <a:ext cx="1378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13:15 - 14:30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191756" y="1874520"/>
            <a:ext cx="1378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Dart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05956" y="2560320"/>
            <a:ext cx="201853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vs Promise / Task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/ await, error handling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 vs Observables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1.3 - async quote service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73134" y="1371600"/>
            <a:ext cx="2567178" cy="4663440"/>
          </a:xfrm>
          <a:prstGeom prst="roundRect">
            <a:avLst>
              <a:gd name="adj" fmla="val 3562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347454" y="1600200"/>
            <a:ext cx="548640" cy="54864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9347454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0033254" y="1645920"/>
            <a:ext cx="1378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14:45 - 16:00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033254" y="1874520"/>
            <a:ext cx="1378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Flutter app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347454" y="2560320"/>
            <a:ext cx="201853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to 15:15: widget tree, three trees, main.dart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vs Stateful, lifecycle, DevTools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1.4 - 15:15 to 15:55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15:55 - 16:00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we build this week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splash, first-run flag in shared_preferences (Day 4)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465222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830982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059582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059582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059582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form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59582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Driver, vehicle, cover - validated Form (Day 2)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747565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5113325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341925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5341925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41925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state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341925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Riverpod notifier: idle → loading → loaded / failed (Day 3)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029907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7395667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624267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7624267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24267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storage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624267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 + JSON models, saved quotes in SQLite (Day 4)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12250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9678010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906610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90661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906610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it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906610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two brand flavours, signed AAB, CI (Day 5)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3891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many brands. Every lab adds a piece; Friday afternoon is a project clinic against your real insurance app.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 ·  09:00 - 10:30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tooling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949440" y="1188720"/>
            <a:ext cx="4663440" cy="4389120"/>
          </a:xfrm>
          <a:prstGeom prst="roundRect">
            <a:avLst>
              <a:gd name="adj" fmla="val 2083"/>
            </a:avLst>
          </a:prstGeom>
          <a:solidFill>
            <a:srgbClr val="13315C"/>
          </a:solidFill>
          <a:ln w="6350">
            <a:solidFill>
              <a:srgbClr val="13315C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22376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module you can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783080"/>
            <a:ext cx="4206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Flutter renders and why it has no bridge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and verify the SDK on macOS or Windows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 app on an emulator and a physical device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Flutter project and use hot reload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Flutter 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UI toolkit from Google.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Dart codebase → Android, iOS, web, Windows, macOS, Linux.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owns every pixel.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does not use native buttons or text fields. It draws its own on a GPU canvas via Impeller.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UI on every platform, no bridge, no platform-specific UI bugs.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does not automatically look "native"; you choose Material or Cupertino.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it: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Pay, BMW, Toyota, Alibaba, Nubank, eBay Motors.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Everything is a widget - including layout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Scaffold(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appBar: AppBar(title: Text('Get a quote')),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body: Center(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child: Column(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mainAxisSize: MainAxisSize.min,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children: [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Text('Monthly premium'),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Text('R 1 450', style: TextStyle(fontSize: 40)),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FilledButton(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onPressed: () {},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child: Text('Accept'),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three layers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83864" cy="2377440"/>
          </a:xfrm>
          <a:prstGeom prst="roundRect">
            <a:avLst>
              <a:gd name="adj" fmla="val 3846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(Dart)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3026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Widgets, rendering, animation, Material/Cupertino. This is what you write against.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986784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52544" y="1737360"/>
            <a:ext cx="3483864" cy="2377440"/>
          </a:xfrm>
          <a:prstGeom prst="roundRect">
            <a:avLst>
              <a:gd name="adj" fmla="val 3846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81144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581144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2560320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(C++)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81144" y="3017520"/>
            <a:ext cx="3026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Impeller renderer, Dart VM/AOT runtime, text layout, platform channels.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90688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156448" y="1737360"/>
            <a:ext cx="3483864" cy="2377440"/>
          </a:xfrm>
          <a:prstGeom prst="roundRect">
            <a:avLst>
              <a:gd name="adj" fmla="val 3846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85048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38504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85048" y="2560320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Embedder (native)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85048" y="3017520"/>
            <a:ext cx="3026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Kotlin/Java on Android, Swift/ObjC on iOS. Hosts the engine, provides a surface, input, and lifecycle.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3891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spend 99% of your time in the top layer. Platform channels (Day 5) let Dart call into the embedder when you need a native API the plugin ecosystem does not cover.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vs React Native vs native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1" cy="2496312"/>
        </p:xfrm>
        <a:graphic>
          <a:graphicData uri="http://schemas.openxmlformats.org/drawingml/2006/table">
            <a:tbl>
              <a:tblPr/>
              <a:tblGrid>
                <a:gridCol w="21074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47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4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47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Native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(Kotlin / Swift)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JavaScript / TypeScript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Kotlin, Swift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rendering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canvas (Impeller) - pixel-identical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views via JSI / Fabric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views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AOT compiled, no bridge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 engine + native, near-native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&amp; feel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everywhere; Material or Cupertino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Platform-native by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Platform-native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/ desktop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Web, Windows, macOS, Linux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via react-native-web; desktop limited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OTA updates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Shorebird (3rd party)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 EAS Update built 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pub.dev, ~50k packages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npm, huge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SDKs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fit here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/ Java / TS devs - Dart is a small jump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JS/TS devs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codebases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Dart: JIT in development, AOT in production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Development: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 runs on a JIT VM. Change code → hot reload injects it into the running app in under a second, keeping state.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Release: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ahead-of-time compiled to native ARM / x64. No interpreter, no bridge, predictable performance.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null safety: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nullability is part of the type. The compiler, not you, proves a value cannot be null.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Familiar: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C-style syntax, classes, generics, async/await. If you read TypeScript or C#, you can read Dart today.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3931920"/>
          </a:xfrm>
          <a:prstGeom prst="roundRect">
            <a:avLst>
              <a:gd name="adj" fmla="val 186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Same file, two lives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dev:     flutter run          → JIT, hot reload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release: flutter build apk    → AOT native code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main() =&gt; runApp(const QuoteApp());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Null safety is in the type system: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name = 'Sive';   // never null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String? nickname;       // may be null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print(nickname?.length ?? 0);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787969" y="5394960"/>
            <a:ext cx="5852343" cy="685800"/>
          </a:xfrm>
          <a:prstGeom prst="roundRect">
            <a:avLst>
              <a:gd name="adj" fmla="val 13333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5925129" y="5440680"/>
            <a:ext cx="557802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reload keeps app state. Hot restart (capital R) resets it. Full rebuild is only needed for native code or new plugins.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Flutter SDK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rules: no spaces in the path, not inside Program Files. Then add bin to PATH and open a new terminal.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2E6F95"/>
          </a:solidFill>
          <a:ln w="12700">
            <a:solidFill>
              <a:srgbClr val="2E6F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· zsh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31636" y="187452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231636" y="1874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PowerShell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58568"/>
            <a:ext cx="5408676" cy="3227832"/>
          </a:xfrm>
          <a:prstGeom prst="roundRect">
            <a:avLst>
              <a:gd name="adj" fmla="val 226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368296"/>
            <a:ext cx="513435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Download stable zip (Apple Silicon or Intel)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docs.flutter.dev/get-started/install/macos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-p ~/development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~/development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unzip ~/Downloads/flutter_macos_*-stable.zip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PATH - add to ~/.zshrc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'export PATH="$HOME/development/flutter/bin:$PATH"' &gt;&gt; ~/.zshrc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~/.zshrc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Verify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--version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Xcode + CocoaPods needed only for iOS builds: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xcode-select --install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gem install cocoapods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2258568"/>
            <a:ext cx="5408676" cy="3227832"/>
          </a:xfrm>
          <a:prstGeom prst="roundRect">
            <a:avLst>
              <a:gd name="adj" fmla="val 226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368796" y="2368296"/>
            <a:ext cx="513435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Download stable zip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docs.flutter.dev/get-started/install/windows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Extract to C:\src\flutter  (NOT Program Files)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Expand-Archive $HOME\Downloads\flutter_windows_*-stable.zip C:\src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PATH - user environment variable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Settings &gt; System &gt; About &gt; Advanced system settings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&gt; Environment Variables &gt; User &gt; Path &gt; New: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C:\src\flutter\bin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 from PowerShell (user scope):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$u = [Environment]::GetEnvironmentVariable("Path", "User")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[Environment]::SetEnvironmentVariable("Path",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"$u;C:\src\flutter\bin", "User")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Open a NEW PowerShell, then: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--version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62356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85800" y="5650992"/>
            <a:ext cx="108173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Windows: enable long paths once - git config --system core.longpaths true. Also exclude the project folder and C:\src\flutter from antivirus scanning or Gradle builds crawl.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toolchain: Android Studio + SDK + emulator driver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 is the SDK manager and the emulator host, even if you code in VS Code.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2E6F95"/>
          </a:solidFill>
          <a:ln w="12700">
            <a:solidFill>
              <a:srgbClr val="2E6F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· zsh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31636" y="187452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231636" y="1874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PowerShell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58568"/>
            <a:ext cx="5408676" cy="3227832"/>
          </a:xfrm>
          <a:prstGeom prst="roundRect">
            <a:avLst>
              <a:gd name="adj" fmla="val 226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368296"/>
            <a:ext cx="513435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Android Studio (developer.android.com/studio)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First-run wizard: Standard install → accepts SDK,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SDK Platform, Android Virtual Device.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Android Studio → More Actions → SDK Manager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SDK Platforms: tick the latest stable API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SDK Tools:  Android SDK Build-Tools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   Android SDK Command-line Tools (latest)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   Android Emulator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   Android SDK Platform-Tools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Accept licences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doctor --android-licenses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Apple Silicon: emulator is ARM64 - fast, no driver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2258568"/>
            <a:ext cx="5408676" cy="3227832"/>
          </a:xfrm>
          <a:prstGeom prst="roundRect">
            <a:avLst>
              <a:gd name="adj" fmla="val 226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368796" y="2368296"/>
            <a:ext cx="513435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Android Studio (developer.android.com/studio)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First-run wizard: Standard install.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SDK Manager → SDK Tools, tick: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Android SDK Build-Tools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Android SDK Command-line Tools (latest)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Android Emulator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Android SDK Platform-Tools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Android Emulator Hypervisor Driver  (AMD / Intel)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-- OR -- enable Windows Hypervisor Platform: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Control Panel &gt; Programs &gt; Turn Windows features on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&gt; Windows Hypervisor Platform  (reboot)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Accept licences (new PowerShell)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doctor --android-licenses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62356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85800" y="5650992"/>
            <a:ext cx="108173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laptops: if Hyper-V / virtualisation is disabled by BIOS or policy the emulator will not boot. Fallback = physical phone with USB debugging, or flutter run -d chrome for UI-only labs.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doctor - read it, fix it, repeat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ticks for Flutter, Android toolchain, and one IDE are required. Chrome and Visual Studio warnings can be ignored today.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2E6F95"/>
          </a:solidFill>
          <a:ln w="12700">
            <a:solidFill>
              <a:srgbClr val="2E6F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· zsh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31636" y="187452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231636" y="1874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PowerShell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58568"/>
            <a:ext cx="5408676" cy="3227832"/>
          </a:xfrm>
          <a:prstGeom prst="roundRect">
            <a:avLst>
              <a:gd name="adj" fmla="val 226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368296"/>
            <a:ext cx="513435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doctor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doctor -v          # verbose: paths &amp; versions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Typical fixes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doctor --android-licenses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xcodebuild -license accept          # iOS only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xcode-select -s /Applications/Xcode.app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config --android-sdk ~/Library/Android/sdk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Upgrade / channel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upgrade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channel stable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2258568"/>
            <a:ext cx="5408676" cy="3227832"/>
          </a:xfrm>
          <a:prstGeom prst="roundRect">
            <a:avLst>
              <a:gd name="adj" fmla="val 226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368796" y="2368296"/>
            <a:ext cx="513435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doctor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doctor -v          # verbose: paths &amp; versions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Typical fixes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doctor --android-licenses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"cmdline-tools component is missing"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→ SDK Manager &gt; SDK Tools &gt; Android SDK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Command-line Tools (latest)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config --android-sdk `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"$env:LOCALAPPDATA\Android\Sdk"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"Unable to find git in your PATH" → install Git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git-scm.com, tick "Git from the command line"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upgrade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62356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85800" y="5650992"/>
            <a:ext cx="108173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on Windows today: [!] Visual Studio not installed (only for Windows desktop apps) - ignore. [!] Chrome - only needed for web.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start an emulator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Pixel-class device, latest stable API, started once from Device Manager so it is cached for the rest of the week.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2E6F95"/>
          </a:solidFill>
          <a:ln w="12700">
            <a:solidFill>
              <a:srgbClr val="2E6F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· zsh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31636" y="187452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231636" y="1874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PowerShell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58568"/>
            <a:ext cx="5408676" cy="3227832"/>
          </a:xfrm>
          <a:prstGeom prst="roundRect">
            <a:avLst>
              <a:gd name="adj" fmla="val 226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368296"/>
            <a:ext cx="513435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GUI: Android Studio → Device Manager → Create Device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Pixel 8 → latest stable API (arm64-v8a) → Finish → ▶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CLI alternative - sdkmanager is DEPRECATED, the GUI route above is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reliable one. See Appendix E.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sdkmanager "system-images;android-36;google_apis;arm64-v8a"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avdmanager create avd -n pixel8 -k \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"system-images;android-36;google_apis;arm64-v8a" -d pixel_8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List and launch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emulators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emulators --launch pixel8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devices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2258568"/>
            <a:ext cx="5408676" cy="3227832"/>
          </a:xfrm>
          <a:prstGeom prst="roundRect">
            <a:avLst>
              <a:gd name="adj" fmla="val 226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368796" y="2368296"/>
            <a:ext cx="513435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GUI: Android Studio → Device Manager → Create Device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Pixel 8 → latest stable API (x86_64) → Finish → ▶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CLI alternative - sdkmanager is DEPRECATED, the GUI route above is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reliable one. See Appendix E.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sdkmanager "system-images;android-36;google_apis;x86_64"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avdmanager create avd -n pixel8 -k `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"system-images;android-36;google_apis;x86_64" -d pixel_8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List and launch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emulators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emulators --launch pixel8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devices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62356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85800" y="5650992"/>
            <a:ext cx="108173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Emulator hangs on the boot logo → acceleration is missing (previous slide). Emulator boots but is very slow → allocate more RAM in Device Manager &gt; Edit &gt; Show Advanced Settings, or use a physical phone.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 a physical Android phone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an emulator and the fallback for any machine that cannot virtualise.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2E6F95"/>
          </a:solidFill>
          <a:ln w="12700">
            <a:solidFill>
              <a:srgbClr val="2E6F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· zsh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31636" y="187452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231636" y="1874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PowerShell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58568"/>
            <a:ext cx="5408676" cy="3227832"/>
          </a:xfrm>
          <a:prstGeom prst="roundRect">
            <a:avLst>
              <a:gd name="adj" fmla="val 226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368296"/>
            <a:ext cx="513435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phone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Settings → About → tap Build number 7× (Developer)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Developer options → USB debugging ON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Plug in, accept the "Allow USB debugging" prompt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adb devices          # should list the phone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devices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run -d &lt;deviceId&gt;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Wireless (Android 11+)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Developer options → Wireless debugging → Pair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adb pair 192.168.0.42:37123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adb connect 192.168.0.42:42001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2258568"/>
            <a:ext cx="5408676" cy="3227832"/>
          </a:xfrm>
          <a:prstGeom prst="roundRect">
            <a:avLst>
              <a:gd name="adj" fmla="val 226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368796" y="2368296"/>
            <a:ext cx="513435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phone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Settings → About → tap Build number 7× (Developer)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Developer options → USB debugging ON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Plug in, accept the "Allow USB debugging" prompt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adb devices          # should list the phone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devices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run -d &lt;deviceId&gt;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Phone not listed? Install the OEM USB driver: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Samsung → Smart Switch; Google → Google USB Driver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(SDK Manager &gt; SDK Tools); Huawei → HiSuite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adb is at: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$env:LOCALAPPDATA\Android\Sdk\platform-tools\adb.exe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62356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85800" y="5650992"/>
            <a:ext cx="108173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often needs a vendor USB driver before adb sees the phone. macOS needs nothing. Keep one spare USB-C cable at the front; charging cables without data lines are the #1 cause of "not detected".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setup (what we use all week)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Extensions: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(installs Dart). Optional: Error Lens, GitLens, Flutter Widget Snippets.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Palette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(Ctrl/Cmd+Shift+P): "Flutter: New Project", "Flutter: Select Device", "Flutter: Open DevTools".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starts debugging with hot reload on save. The status bar bottom-right picks the device.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Refactors: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Ctrl/Cmd+. on any widget → "Wrap with Padding / Center / Column", "Extract Widget". You will use this constantly.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worth turning on: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"dart.previewFlutterUiGuides", format on save, "dart.lineLength": 100.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settings.json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.vscode/settings.json (project)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"editor.formatOnSave": true,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"dart.lineLength": 100,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"dart.previewFlutterUiGuides": true,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"dart.flutterHotReloadOnSave": "all",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"[dart]":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"editor.rulers": [100],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"editor.selectionHighlight": false,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"editor.suggestSelection": "first",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"editor.tabCompletion": "onlySnippets",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"editor.wordBasedSuggestions": "off"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Handy snippets (type + Tab)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stless  → StatelessWidget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stful   → StatefulWidget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Flutter project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408676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your Dart. main.dart is the entry point. Everything else is yours to structure.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pubspec.yaml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version, dependencies, assets, fonts. The package.json / .csproj of Flutter.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android/ · ios/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native projects. You edit them for app id, permissions, signing, flavours (Day 5).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test/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and widget tests (Day 5). integration_test/ for on-device tests.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build/ · .dart_tool/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generated. Git-ignored. Delete with flutter clean if things get weird.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 · macos/ · windows/ · linux/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targets; delete or ignore if unused.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231636" y="1325880"/>
            <a:ext cx="5408676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368796" y="1435608"/>
            <a:ext cx="5134356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quote_app/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lib/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main.dart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test/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widget_test.dart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android/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app/build.gradle(.kts)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app/src/main/AndroidManifest.xml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ios/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Runner.xcodeproj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web/  macos/  windows/  linux/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pubspec.yaml      ← dependencies, assets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pubspec.lock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analysis_options.yaml   ← lint rules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.dart_tool/  build/     ← generated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CLI essentials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1" cy="3051048"/>
        </p:xfrm>
        <a:graphic>
          <a:graphicData uri="http://schemas.openxmlformats.org/drawingml/2006/table">
            <a:tbl>
              <a:tblPr/>
              <a:tblGrid>
                <a:gridCol w="3771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585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2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create quote_app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project with Android/iOS/web targets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create --org za.co.moint quote_app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Sets the package / bundle id from the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 this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run  ·  flutter run -d chrome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+ run on selected device; r reload, R restart, q quit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lab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pub add dio  ·  flutter pub get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dependency / install from pubspec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Adding packages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pub outdated  ·  flutter pub upgrade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/ apply newer versions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analyze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analysis with lint rules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commit, in CI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test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unit + widget tests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5, CI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clean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build outputs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builds misbehave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build apk / appbundle / ipa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artefacts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dart format .  ·  dart fix --apply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 code / apply automated fixes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reload vs hot restart vs full rebuild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08676" cy="4023360"/>
          </a:xfrm>
          <a:prstGeom prst="roundRect">
            <a:avLst>
              <a:gd name="adj" fmla="val 2273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77240" y="1463040"/>
            <a:ext cx="49514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reload  ·  r  ·  under 1 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65960"/>
            <a:ext cx="49514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 changed Dart into the running VM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app state (navigation stack, form values)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for: widget build methods, most logic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pick up: changes to main(), global initialisers, enum values, const values, generic type changes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31636" y="1325880"/>
            <a:ext cx="5408676" cy="4023360"/>
          </a:xfrm>
          <a:prstGeom prst="roundRect">
            <a:avLst>
              <a:gd name="adj" fmla="val 2273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460236" y="1463040"/>
            <a:ext cx="49514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restart  ·  R  ·  a few seconds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60236" y="1965960"/>
            <a:ext cx="49514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Re-runs main() from scratch on the same build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lost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reload "did nothing" or after changing initialisation code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rebuild (stop, flutter run) only for: new plugins with native code, pubspec changes to native deps, AndroidManifest / Info.plist edits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864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try r; if the change is not visible, R; if it still fails or you added a plugin, stop and run again.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room, macOS presenter: the differences that matter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Paths: </a:t>
            </a: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at C:\src\flutter vs ~/development/flutter. Pub cache at %LOCALAPPDATA%\Pub\Cache vs ~/.pub-cache. Android SDK at %LOCALAPPDATA%\Android\Sdk vs ~/Library/Android/sdk.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Shell: </a:t>
            </a: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 line continuation is a backtick ( ` ), zsh is a backslash. $env:VAR vs $VAR. Quoting differs.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Emulator: </a:t>
            </a: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needs a hypervisor driver; Apple Silicon does not.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devices: </a:t>
            </a: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usually needs a vendor driver; macOS does not.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</a:t>
            </a: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built on Windows at all. Friday: iOS demo from the Mac + Codemagic cloud build for the team.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endings: </a:t>
            </a: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git config --global core.autocrlf true on Windows so Dart files do not churn.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539496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85800" y="5440680"/>
            <a:ext cx="10817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slide in this course has a macOS column and a Windows column. Appendix A has the full path and command map.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365760"/>
            <a:ext cx="8165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verified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machine runs the template app on an emulator or phone with working hot reload.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09867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FIRST, BEFORE ANYTHING ELSE - three SEPARATE lines (Windows PowerShell 5.1 has no &amp;&amp;):  flutter create --org za.co.moint quote_app  /  cd quote_app  /  flutter build apk --debug  - then leave it running while the instructor teaches. It downloads ~4 GB (NDK 2.8 GB, SDK Platform, Gradle) and takes 7-8 minutes.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that runs: flutter doctor → resolve every red X (Windows column on the slides; ask if stuck more than 5 min).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your emulator (or plug in a phone) → flutter devices shows it.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build finishes: flutter run → this one is fast because the first build warmed everything.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generated test that still references MyApp:  del test\widget_test.dart  (macOS: rm test/widget_test.dart) - we write a real one on Day 5. Without this, flutter analyze fails and dart fix will NOT repair it.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AppBar title text in lib/main.dart, save → press r → see it update without losing the counter value.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R and confirm the counter resets. Press q to quit.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VS Code in the folder, press F5, confirm the debugger attaches.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one line at a time (no &amp;&amp; in PowerShell 5.1): git init  /  git add .  /  git commit -m "Day 1: template app"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921630" y="1691640"/>
            <a:ext cx="3718682" cy="4389120"/>
          </a:xfrm>
          <a:prstGeom prst="roundRect">
            <a:avLst>
              <a:gd name="adj" fmla="val 2459"/>
            </a:avLst>
          </a:prstGeom>
          <a:solidFill>
            <a:srgbClr val="EAF2EC"/>
          </a:solidFill>
          <a:ln w="6350">
            <a:solidFill>
              <a:srgbClr val="EAF2EC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8104510" y="1828800"/>
            <a:ext cx="33529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(fast lane)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04510" y="2240280"/>
            <a:ext cx="335292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Error Lens extension and break a line on purpose; read the inline error.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app in Chrome: flutter run -d chrome. Note what looks different.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inside android/app/build.gradle(.kts) and find applicationId - we change it on Day 5.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 ·  10:45 - 12:30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 primer for experienced developers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949440" y="1188720"/>
            <a:ext cx="4663440" cy="4389120"/>
          </a:xfrm>
          <a:prstGeom prst="roundRect">
            <a:avLst>
              <a:gd name="adj" fmla="val 2083"/>
            </a:avLst>
          </a:prstGeom>
          <a:solidFill>
            <a:srgbClr val="13315C"/>
          </a:solidFill>
          <a:ln w="6350">
            <a:solidFill>
              <a:srgbClr val="13315C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22376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module you can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783080"/>
            <a:ext cx="4206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null-safe Dart fluently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named parameters, final/const, and constructors idiomatically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domain data with classes, records, enums and sealed types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the five Dart habits that differ from TypeScript, C# and Java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 in one table (vs TypeScript, C#, Java)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3496056"/>
        </p:xfrm>
        <a:graphic>
          <a:graphicData uri="http://schemas.openxmlformats.org/drawingml/2006/table">
            <a:tbl>
              <a:tblPr/>
              <a:tblGrid>
                <a:gridCol w="22183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3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3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5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TypeScript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Immutable binding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const x = 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readonly / const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 x = 1; (runtime) · const x = 1; (compile-time)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 | null (optional check)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string? (warnings)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String? - enforced at compile AND runtime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args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destructuring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arguments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f({required int age, bool x = true})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fields via 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 properties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constructors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Quote({required this.id})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interface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interface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class is an interface: implements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mixin Loggable {}  ·  class A with Loggable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 / tuples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Tuple 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Tuples / records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(double, String) · ({int a, int b})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Discriminated unions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Union + kind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Abstract records + switch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sealed class + switch expression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Promise&lt;T&gt;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Task&lt;T&gt;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Future&lt;T&gt;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Observable (rxjs)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IAsyncEnumerable&lt;T&gt;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Stream&lt;T&gt;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 / package.json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NuGet / .csproj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 / pubspec.yaml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Variables: var, final, const, late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is inferred once, then fixed. var n = 1; n = "x"; is a compile error.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once, at runtime. This is JS const. Use it by default.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 constant. Deep-immutable. Also used on widget constructors for performance (later).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promise to assign this before reading it." Non-null without an initial value. Throws LateInitializationError if you lie.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annotations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optional but idiomatic on fields and public APIs; inference inside functions.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DartPad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count = 0;            // int, mutable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 = 5;                // ok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count = 'five';        // error: String is not int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createdAt = DateTime.now();   // set once, at runtime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createdAt = DateTime.now();      // error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vatRate = 0.15;               // compile-time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brand = 'Alpha Insure';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 String token;        // assigned later, non-null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init() { token = 'abc'; 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print(token) before init() → LateInitializationError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Explicit types where it helps readers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premium = 1450.0;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makes = ['Toyota', 'VW'];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safety, part 1: the type is the contract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never be null. The compiler refuses to assign null.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String?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be null. You must check before using it as a String.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?.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null-aware call; ?? default; ??= assign if null. Same as TS/C#.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bang: "trust me, it is not null". Throws at runtime if wrong. Treat every ! as a code smell to justify.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analysis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 a local after a null check, exactly like TS narrowing. Fields are NOT promoted (next slide).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DartPad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name = 'Sive';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name = null;               // compile error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String? nickname;             // starts null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print(nickname?.length);      // null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print(nickname ?? 'none');    // 'none'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nickname ??= 'S';             // assign if null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len = nickname!.length;   // ok now, throws if null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Promotion on locals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String? maybe = fetch();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(maybe != null)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print(maybe.length);        // maybe is String here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Early return also promotes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(maybe == null) return;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print(maybe.toUpperCase());   // String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safety, part 2: fields, collections, and the patterns that fix them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do not promote.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this.nickname != null does not narrow - another method could change it. Copy to a local first, or use ?. / ??.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Collections: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List&lt;String?&gt; is a list that may contain nulls; List&lt;String&gt;? is a list that may itself be null. Different things.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named parameter replaces "non-optional". Non-nullable named params must be required or have a default.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Avoid: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(opts out of typing) and ! (opts out of safety). Prefer ?., ??, if-null returns, and required.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DartPad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Driver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String? nickname;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greet()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if (nickname != null) print(nickname.length); // ERROR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n = nickname;               // copy to local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!= null) print(n.length);   // promoted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print(nickname?.length ?? 0);     // or null-aware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List&lt;String?&gt; a = ['x', null];   // items may be null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List&lt;String&gt;? b;                 // list may be null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b?.first;                        // guard the list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quote({required int age, int? claims})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c = claims ?? 0;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age &lt; 25 ? 2000 + c * 150 : 1200 + c * 100;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quote(age: 30);                  // claims omitted → null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&amp; BREAK DOWN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1512" y="4572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read + 5 min debrief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fields don't promote - read it, then teach it back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dart.dev/null-safety/understanding-null-safety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1284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Sections: "Flow analysis" and "Working with nullable fields" (about 8 minutes)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880360"/>
            <a:ext cx="6655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these as you read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91840"/>
            <a:ext cx="6655003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sentence: why can a local variable be promoted after a null check but a field cannot?</a:t>
            </a:r>
            <a:endParaRPr lang="en-US" sz="14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three idioms the doc recommends for nullable fields? Which one will you use most?</a:t>
            </a:r>
            <a:endParaRPr lang="en-US" sz="14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"!" operator actually do at runtime, and what does the doc say about when it is acceptable?</a:t>
            </a:r>
            <a:endParaRPr lang="en-US" sz="14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sentence in the doc you disagree with or would phrase differently for your team.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77963" y="2880360"/>
            <a:ext cx="4162349" cy="3154680"/>
          </a:xfrm>
          <a:prstGeom prst="roundRect">
            <a:avLst>
              <a:gd name="adj" fmla="val 2899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706563" y="3017520"/>
            <a:ext cx="37051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06563" y="3429000"/>
            <a:ext cx="3705149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volunteer explains Q1 to the room in under 60 seconds, no slides.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else adds what they would change (Q4).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fills gaps only after both have spoken.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Functions: positional, optional, named, arrow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f(a, b). Optional positional in square brackets: f(a, [b]).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f({required a, b = 1}). Called as f(a: 1). Any order. This is how every widget constructor works.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=&gt; for single-expression bodies. Same as JS/C# lambdas.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are values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them, store them, return them. Type: int Function(String).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variables like JS. Used for every onPressed callback.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DartPad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positional + optional positional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label(String make, [String? model]) =&gt;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 == null ? make : '$make $model';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named with required and defaults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premium(double base,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{required int age, bool comprehensive = true})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loading = age &lt; 25 ? 1.5 : 1.0;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comprehensive ? base * 1.4 * loading : base * loading;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premium(1000, age: 34);                       // 1400.0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premium(1000, age: 22, comprehensive: false); // 1500.0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function types &amp; closures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int Function(int) twice = (x) =&gt; x * 2;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List&lt;int&gt; Function() counter()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n = 0;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() =&gt; [n++];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Function() onTap = () =&gt; print('tapped');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and constructors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Field-initialising ctor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Quote({required this.id}) assigns fields directly. No boilerplate body.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constructor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fields final → instances can be compile-time constants. Widgets rely on this.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constructors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Quote.empty(), Quote.fromJson(...) - multiple ways to build one type.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constructor that may return an existing/cached/sub-type instance; the fromJson convention.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Getters/setters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like fields to callers. No parentheses.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DartPad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String id;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double premium;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String currency;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Quote({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required this.id,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required this.premium,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this.currency = 'ZAR',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named constructor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Quote.empty() : id = '', premium = 0, currency = 'ZAR';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factory - the fromJson convention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factory Quote.fromJson(Map&lt;String, dynamic&gt; j) =&gt; Quote(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id: j['id'] as String,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premium: (j['premium'] as num).toDouble(),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currency: j['currency'] as String? ?? 'ZAR',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Map&lt;String, dynamic&gt; toJson() =&gt;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{'id': id, 'premium': premium, 'currency': currency};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String get display =&gt; '$currency ${premium.toStringAsFixed(2)}';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Immutability: copyWith, ==, and when to reach for a package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 objects are mutable by default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Flutter state works best with immutable models and new copies.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copyWith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idiom for "same object, one field changed". Null means "keep".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Equality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== is identity. Override == and hashCode for value equality, or use the equatable package.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freezed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code-generates copyWith, ==, toString, JSON and union types. Popular in production; we show it on Day 4.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DartPad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QuoteRequest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String make;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int year;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Cover cover;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QuoteRequest(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{required this.make, required this.year, required this.cover});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QuoteRequest copyWith({String? make, int? year, Cover? cover}) =&gt;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QuoteRequest(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make: make ?? this.make,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year: year ?? this.year,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cover: cover ?? this.cover,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operator ==(Object o) =&gt;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 is QuoteRequest &amp;&amp;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o.make == make &amp;&amp; o.year == year &amp;&amp; o.cover == cover;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get hashCode =&gt; Object.hash(make, year, cover);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r1 = const QuoteRequest(make: 'VW', year: 2020, cover: Cover.comprehensive);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r2 = r1.copyWith(year: 2021);   // r1 untouched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Inheritance, abstract classes, interfaces, mixins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inheritance, super calls, @override. Same as C#/Java.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class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instantiated; may have implemented members.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class doubles as an interface; you must implement every member. abstract interface class is the explicit form.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 … with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behaviour without inheritance. Order matters: last wins.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methods to existing types, even ones you do not own.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DartPad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 interface class QuoteService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Future&lt;Quote&gt; getQuote(QuoteRequest r);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mixin Loggable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log(String m) =&gt; print('[$runtimeType] $m');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FakeQuoteService with Loggable implements QuoteService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Future&lt;Quote&gt; getQuote(QuoteRequest r) async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log('quoting ${r.make}');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Future.delayed(const Duration(seconds: 1));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Quote(id: 'q1', premium: r.year &lt; 2015 ? 1800 : 1200);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Vehicle { const Vehicle(this.make); final String make; 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Car extends Vehicle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Car(super.make, this.doors);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int doors;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extension Money on double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String get rands =&gt; 'R ${toStringAsFixed(2)}';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print(1450.0.rands);   // R 1450.00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Collections: List, Set, Map, and collection expressions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[...] List, {...} Set, {k: v} Map. Generic types inferred or explicit.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and if/for inside literals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lists declaratively - used constantly in widget children.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Iterable is lazy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.map() and .where() return Iterables; call .toList() when you need a List. #1 beginner bug.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methods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map, where, firstWhere, any, every, fold, reduce, sorted (via sort), join, take, skip.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DartPad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makes = &lt;String&gt;['Toyota', 'VW', 'BMW'];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years = {2019, 2020, 2020};        // Set → {2019, 2020}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byMake = {'VW': 1200.0, 'BMW': 2100.0};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collection-if, collection-for, spread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showLuxury = true;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list = [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'Toyota',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(showLuxury) 'BMW',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(final m in makes) m.toUpperCase(),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...makes,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lazy iterables - remember toList()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cheap = byMake.entries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.where((e) =&gt; e.value &lt; 2000)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.map((e) =&gt; e.key)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.toList();                           // ['VW']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total = byMake.values.fold&lt;double&gt;(0.0, (a, b) =&gt; a + b);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first = makes.firstWhere((m) =&gt; m.startsWith('B'),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orElse: () =&gt; 'none');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makes.sort();                            // in place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 and switch expressions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for / while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to C-family. for-in over Iterables.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statement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fall-through needed; break is implicit.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expression (Dart 3)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value; must be exhaustive; uses patterns. This is the one to learn.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Exhaustiveness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enums and sealed classes the compiler errors if you miss a case. Add a case, every switch in the app flags itself.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DartPad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Cover { thirdParty, thirdPartyFireTheft, comprehensive 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switch statement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describe(Cover c)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switch (c)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Cover.thirdParty:          return 'TP';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Cover.thirdPartyFireTheft: return 'TPFT';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Cover.comprehensive:       return 'Comp';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switch EXPRESSION - preferred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factor(Cover c) =&gt; switch (c)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Cover.thirdParty          =&gt; 0.6,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Cover.thirdPartyFireTheft =&gt; 0.8,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Cover.comprehensive       =&gt; 1.0,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guards and ranges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band(int age) =&gt; switch (age)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 18            =&gt; 'not eligible',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&gt;= 18 &amp;&amp; &lt; 25   =&gt; 'young driver',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_               =&gt; 'standard',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Records: lightweight tuples with names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record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(double, String) - access with $1, $2.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record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({double amount, String currency}) - access by name.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Destructuring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(a, b) = f(); final (:amount, :currency) = g();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two values, small ad-hoc groupings, keys. Not for domain models (use classes).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equality is built in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(1, 2) == (1, 2) is true.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DartPad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return two values without a class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(double, String) priceWithCurrency(Quote q) =&gt;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(q.premium, q.currency);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(amount, currency) = priceWithCurrency(quote);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print('$currency $amount');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named record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({double min, double max}) range(List&lt;double&gt; xs) =&gt;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(min: xs.reduce((a, b) =&gt; a &lt; b ? a : b),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max: xs.reduce((a, b) =&gt; a &gt; b ? a : b));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r = range([1200, 1800, 950]);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print(r.min);   // 950.0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(:min, :max) = r;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records as map keys / in sets - value equality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seen = &lt;(String, int)&gt;{};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seen.add(('VW', 2020));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print(seen.contains(('VW', 2020)));   // true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Sealed classes + patterns = discriminated unions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sealed class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subtypes must be declared in the same library. The compiler knows the full set.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is exhaustive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a subtype → compile error. No default branch needed or wanted.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patterns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Loaded(:final quote) destructures fields in the case.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how we model UI state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/ Loading / Loaded / Failed. Day 3 builds on exactly this.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DartPad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class QuoteState { const QuoteState(); 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QuoteIdle    extends QuoteState { const QuoteIdle(); 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QuoteLoading extends QuoteState { const QuoteLoading(); 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QuoteLoaded  extends QuoteState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QuoteLoaded(this.quote);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Quote quote;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QuoteFailed  extends QuoteState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QuoteFailed(this.message);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String message;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describe(QuoteState s) =&gt; switch (s)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QuoteIdle()             =&gt; 'Fill in the form',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QuoteLoading()          =&gt; 'Calculating…',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QuoteLoaded(:final quote)   =&gt; 'Premium ${quote.display}',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QuoteFailed(:final message) =&gt; 'Error: $message',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Add a subtype tomorrow → every switch fails to compile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until you handle it. That is the point.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Dart habits that surprise TS / C# / Java developers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2493264"/>
        </p:xfrm>
        <a:graphic>
          <a:graphicData uri="http://schemas.openxmlformats.org/drawingml/2006/table">
            <a:tbl>
              <a:tblPr/>
              <a:tblGrid>
                <a:gridCol w="310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3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30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this instead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Forgetting .toList()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map/where return lazy Iterables; type errors at children: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.toList() at the end, or use collection-for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Using ! to silence the compiler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null crash later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?., ??, early return, required, or copy field to a local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Mutating state objects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Widgets don't rebuild; Riverpod/Bloc don't notify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Immutable models + copyWith; assign a new object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== on your own classes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comparison; two equal quotes are "different"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 ==/hashCode, or equatable / freezed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const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Widgets rebuild needlessly; lint warns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const where the analyser suggests (dart fix --apply)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Expecting int/double interchange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is int, 1.0 is double; JSON numbers vary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Cast through num: (j['x'] as num).toDouble()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print for debugging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Works, but noisy in release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debugPrint, or the logger package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365760"/>
            <a:ext cx="8165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domain model in DartPad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null-safe, immutable domain model for the quote app, exercised from main(). Ready-to-paste versions of every code block today are in the repo under dartpad/ - open the file, select all, paste into dartpad.dev, Run.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09867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dartpad.dev (New Pad → Dart). Everything today runs in the browser; no SDK needed.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enum Cover { thirdParty, thirdPartyFireTheft, comprehensive } with a double get factor via switch expression (0.6 / 0.8 / 1.0).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class QuoteRequest: make, model (nullable), year, driverAge, cover. const constructor, required named params, copyWith.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class Quote: id, premium, currency = "ZAR", a display getter, fromJson / toJson.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double calculatePremium(QuoteRequest r): base 1000; ×1.5 if driverAge &lt; 25; ×1.2 if year &lt; 2015; × cover.factor. Round to 2 decimals.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sealed QuoteState (Idle / Loading / Loaded / Failed) and String describe(QuoteState) with an exhaustive switch expression.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main(): build three requests with copyWith, print each premium, then print describe() for all four states.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pad URL - you will paste this code into the app in Lab 1.4.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921630" y="1691640"/>
            <a:ext cx="3718682" cy="4389120"/>
          </a:xfrm>
          <a:prstGeom prst="roundRect">
            <a:avLst>
              <a:gd name="adj" fmla="val 2459"/>
            </a:avLst>
          </a:prstGeom>
          <a:solidFill>
            <a:srgbClr val="EAF2EC"/>
          </a:solidFill>
          <a:ln w="6350">
            <a:solidFill>
              <a:srgbClr val="EAF2EC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8104510" y="1828800"/>
            <a:ext cx="33529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(fast lane)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04510" y="2240280"/>
            <a:ext cx="335292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== and hashCode on QuoteRequest and prove r1.copyWith() == r1.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QuoteExpired to the sealed class and watch describe() fail to compile until you handle it.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extension Money on double with a rands getter and use it in Quote.display.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 ·  13:15 - 14:30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Dart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949440" y="1188720"/>
            <a:ext cx="4663440" cy="4389120"/>
          </a:xfrm>
          <a:prstGeom prst="roundRect">
            <a:avLst>
              <a:gd name="adj" fmla="val 2083"/>
            </a:avLst>
          </a:prstGeom>
          <a:solidFill>
            <a:srgbClr val="13315C"/>
          </a:solidFill>
          <a:ln w="6350">
            <a:solidFill>
              <a:srgbClr val="13315C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22376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module you can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783080"/>
            <a:ext cx="4206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Future to Promise / Task and Stream to Observable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async / await with proper error handling and timeouts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work in parallel with Future.wait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and consume Streams; know when an Isolate is needed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Future&lt;T&gt; is Promise&lt;T&gt; / Task&lt;T&gt;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08676" cy="4023360"/>
          </a:xfrm>
          <a:prstGeom prst="roundRect">
            <a:avLst>
              <a:gd name="adj" fmla="val 2273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77240" y="1463040"/>
            <a:ext cx="49514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4951476" cy="3246120"/>
          </a:xfrm>
          <a:prstGeom prst="roundRect">
            <a:avLst>
              <a:gd name="adj" fmla="val 225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14400" y="2029968"/>
            <a:ext cx="467715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getQuote(id: string): Promise&lt;Quote&gt;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 = await fetch(`/quotes/${id}`);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(!res.ok) throw new Error('HTTP ' + res.status);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(await res.json()) as Quote;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 = await getQuote('q1');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catch (e)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console.error(e);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finally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setLoading(false);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all = await Promise.all([a(), b()]);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31636" y="1325880"/>
            <a:ext cx="5408676" cy="4023360"/>
          </a:xfrm>
          <a:prstGeom prst="roundRect">
            <a:avLst>
              <a:gd name="adj" fmla="val 2273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460236" y="1463040"/>
            <a:ext cx="49514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60236" y="1920240"/>
            <a:ext cx="4951476" cy="3246120"/>
          </a:xfrm>
          <a:prstGeom prst="roundRect">
            <a:avLst>
              <a:gd name="adj" fmla="val 225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597396" y="2029968"/>
            <a:ext cx="467715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Future&lt;Quote&gt; getQuote(String id) async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res = await dio.get('/quotes/$id');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(res.statusCode != 200) throw Exception('HTTP');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Quote.fromJson(res.data);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q = await getQuote('q1');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on DioException catch (e)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debugPrint('network: ${e.message}');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catch (e, st)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debugPrint('$e\n$st');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finally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setLoading(false);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all = await Future.wait([a(), b()]);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Differences: typed catch with "on", stack trace as a second catch parameter, Future.wait instead of Promise.all. An un-awaited Future still runs (no lazy evaluation).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/ await details you will hit this week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async function returns a Future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void ones: Future&lt;void&gt;. Mark them so callers can await.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.timeout(Duration) throws TimeoutException - always set one on network calls.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vs parallel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awaits in a row are sequential; Future.wait runs them together.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propagation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inside async → rejected Future; unhandled → crashes in debug, logged in release.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widgets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an await, check if (!context.mounted) return; before touching UI. Tomorrow.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DartPad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Future&lt;void&gt; submit(QuoteRequest r) async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quote = await service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.getQuote(r)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.timeout(const Duration(seconds: 8));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print(quote.display);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on TimeoutException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print('Slow network, try again');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sequential (2 s total)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a = await slow(1); final b = await slow(1);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parallel (1 s total)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(x, y) = await (slow(1), slow(1)).wait;   // Dart 3 records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or: final rs = await Future.wait([slow(1), slow(1)]);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fire-and-forget on purpose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unawaited(analytics.log('quote_started'));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Future chaining still exists, prefer await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service.getQuote(r).then(print).catchError(print);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Stream&lt;T&gt; is Observable&lt;T&gt; / IAsyncEnumerable&lt;T&gt;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sequence of async values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ticks, socket messages, database changes, auth state.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async* + yield, or a StreamController.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for, or .listen((v) {...}) which returns a subscription you must cancel.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map, where, take, distinct, asyncMap, debounce (via rxdart).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 vs broadcast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streams allow one listener; .asBroadcastStream() for many.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DartPad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produce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Stream&lt;int&gt; countdown(int from) async*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(var i = from; i &gt;= 0; i--)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Future.delayed(const Duration(seconds: 1));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yield i;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consume - await for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for (final n in countdown(3)) print(n);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consume - listen (remember to cancel)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sub = countdown(3).listen(print);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Future.delayed(const Duration(seconds: 2));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sub.cancel();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controller: push values manually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ctrl = StreamController&lt;String&gt;.broadcast();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ctrl.stream.where((s) =&gt; s.isNotEmpty).listen(print);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ctrl.add('quote_started');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ctrl.close();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Flutter: StreamBuilder&lt;T&gt;(stream: ..., builder: ...)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Riverpod: StreamProvider  (Day 3/4)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Isolates: when async is not enough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 is single-threaded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async/await interleaves I/O; it does not run CPU work in parallel.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CPU work blocks the UI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a 5 MB JSON, image processing, big loops → dropped frames.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memory heap + event loop. No shared state; messages are copied.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compute()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helper: run a top-level function in an isolate and get the result as a Future.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takes more than ~16 ms of CPU, move it off the main isolate.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3931920"/>
          </a:xfrm>
          <a:prstGeom prst="roundRect">
            <a:avLst>
              <a:gd name="adj" fmla="val 186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'package:flutter/foundation.dart';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must be a top-level or static function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List&lt;Quote&gt; parseQuotes(String body) {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list = jsonDecode(body) as List;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list.map((e) =&gt; Quote.fromJson(e)).toList();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Future&lt;List&lt;Quote&gt;&gt; load(String body) =&gt;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compute(parseQuotes, body);   // runs off the UI thread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Dart 2.19+: Isolate.run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quotes = await Isolate.run(() =&gt; parseQuotes(body));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787969" y="5394960"/>
            <a:ext cx="5852343" cy="685800"/>
          </a:xfrm>
          <a:prstGeom prst="roundRect">
            <a:avLst>
              <a:gd name="adj" fmla="val 13333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5925129" y="5440680"/>
            <a:ext cx="557802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I/O is already non-blocking. Isolates are for CPU, not for waiting.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365760"/>
            <a:ext cx="8165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quote service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fake QuoteService with realistic latency, failure, timeout, and a Stream of quote states.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09867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Lab 1.2 pad, add abstract interface class QuoteService { Future&lt;Quote&gt; getQuote(QuoteRequest r); }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FakeQuoteService: await Future.delayed(1500 ms); throw Exception("Vehicle too old") if year &lt; 2000; else return Quote with calculatePremium.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Future&lt;void&gt; runOnce(QuoteRequest r): try/on/catch with .timeout(3 s); print the result or the error.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Stream&lt;QuoteState&gt; quoteStates(QuoteService s, QuoteRequest r) async*: yield Loading, then Loaded or Failed.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main(): await for over quoteStates(...) and print describe(state) for a valid and an invalid request.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three requests in parallel with Future.wait and print how long they took (Stopwatch).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921630" y="1691640"/>
            <a:ext cx="3718682" cy="4389120"/>
          </a:xfrm>
          <a:prstGeom prst="roundRect">
            <a:avLst>
              <a:gd name="adj" fmla="val 2459"/>
            </a:avLst>
          </a:prstGeom>
          <a:solidFill>
            <a:srgbClr val="EAF2EC"/>
          </a:solidFill>
          <a:ln w="6350">
            <a:solidFill>
              <a:srgbClr val="EAF2EC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8104510" y="1828800"/>
            <a:ext cx="33529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(fast lane)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04510" y="2240280"/>
            <a:ext cx="335292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FakeQuoteService fail randomly 30% of the time and add one retry with exponential back-off.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Stream transformer that debounces repeated identical requests (hint: distinct()).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 ·  14:45 - 16:00  (theory to 15:15 · lab 15:15-15:55 · recap 15:55)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Flutter app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949440" y="1188720"/>
            <a:ext cx="4663440" cy="4389120"/>
          </a:xfrm>
          <a:prstGeom prst="roundRect">
            <a:avLst>
              <a:gd name="adj" fmla="val 2083"/>
            </a:avLst>
          </a:prstGeom>
          <a:solidFill>
            <a:srgbClr val="13315C"/>
          </a:solidFill>
          <a:ln w="6350">
            <a:solidFill>
              <a:srgbClr val="13315C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22376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module you can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783080"/>
            <a:ext cx="4206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widget tree and the three trees behind it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main.dart, MaterialApp and Scaffold line by line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between StatelessWidget and StatefulWidget and use setState correctly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DevTools and the Widget Inspector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the quote app skeleton running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a widget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widget is an immutable description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piece of UI: what to show and how to configure children.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widgets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Icon, Image, ElevatedButton, TextField.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widgets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Row, Column, Padding, Center, Expanded, SizedBox. They draw nothing themselves.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widgets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GestureDetector, Theme, MediaQuery, Navigator - wrap children to add behaviour or context.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over inheritance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UIs by nesting, not by subclassing Button.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3931920"/>
          </a:xfrm>
          <a:prstGeom prst="roundRect">
            <a:avLst>
              <a:gd name="adj" fmla="val 186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React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&lt;View style={{padding: 16}}&gt;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&lt;Text style={{fontSize: 24}}&gt;Premium&lt;/Text&gt;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&lt;Pressable onPress={go}&gt;&lt;Text&gt;Accept&lt;/Text&gt;&lt;/Pressable&gt;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&lt;/View&gt;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Flutter - layout and style are widgets too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Padding(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padding: const EdgeInsets.all(16),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child: Column(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children: [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const Text('Premium', style: TextStyle(fontSize: 24)),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FilledButton(onPressed: go, child: const Text('Accept')),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787969" y="5394960"/>
            <a:ext cx="5852343" cy="685800"/>
          </a:xfrm>
          <a:prstGeom prst="roundRect">
            <a:avLst>
              <a:gd name="adj" fmla="val 13333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5925129" y="5440680"/>
            <a:ext cx="557802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nesting is normal. VS Code: Ctrl/Cmd+. → "Extract Widget" keeps it readable.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trees: widget → element → render object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83864" cy="2377440"/>
          </a:xfrm>
          <a:prstGeom prst="roundRect">
            <a:avLst>
              <a:gd name="adj" fmla="val 3846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 tree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3026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build() output. Immutable, cheap, rebuilt often. This is JSX / the virtual DOM description.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986784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52544" y="1737360"/>
            <a:ext cx="3483864" cy="2377440"/>
          </a:xfrm>
          <a:prstGeom prst="roundRect">
            <a:avLst>
              <a:gd name="adj" fmla="val 3846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81144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581144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2560320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tree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81144" y="3017520"/>
            <a:ext cx="3026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instances Flutter keeps between builds; holds State and BuildContext. React's fibre tree.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90688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156448" y="1737360"/>
            <a:ext cx="3483864" cy="2377440"/>
          </a:xfrm>
          <a:prstGeom prst="roundRect">
            <a:avLst>
              <a:gd name="adj" fmla="val 3846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85048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38504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85048" y="2560320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tree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85048" y="3017520"/>
            <a:ext cx="3026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and paint. Only touched when a widget's configuration actually changes.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3891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widgets only. Flutter diffs each new widget tree against the element tree by type and key, updates in place where they match, and re-creates only where they differ - the same reconciliation idea as React. BuildContext is a widget's element: its position in the tree, used to look up ancestors like Theme.of(context).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WHITEBOARD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1512" y="4572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· led from the front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trees - draw it together (5 min)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docs.flutter.dev/resources/inside-flutter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1284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Instructor-led whiteboard sketch. This page is OPTIONAL reading tonight, alongside the constraints doc.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880360"/>
            <a:ext cx="6655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these as you read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91840"/>
            <a:ext cx="6655003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it cheap to create thousands of widget objects per frame? What keeps them cheap?</a:t>
            </a:r>
            <a:endParaRPr lang="en-US" sz="14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Flutter compare when it decides whether to reuse an Element - and where do Keys come in?</a:t>
            </a:r>
            <a:endParaRPr lang="en-US" sz="14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tree holds State, and why does that mean a StatefulWidget keeps its counter across rebuilds?</a:t>
            </a:r>
            <a:endParaRPr lang="en-US" sz="14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it to your framework: React fibre / Angular component instance - where does each tree land?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77963" y="2880360"/>
            <a:ext cx="4162349" cy="3154680"/>
          </a:xfrm>
          <a:prstGeom prst="roundRect">
            <a:avLst>
              <a:gd name="adj" fmla="val 2899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706563" y="3017520"/>
            <a:ext cx="37051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06563" y="3429000"/>
            <a:ext cx="3705149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draw widget → element → render for the counter app while asking the four questions.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answers from the room; do not wait for silence.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the whiteboard. Inside Flutter is optional reading tonight.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main.dart, line by 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lib/main.dart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'package:flutter/material.dart';     // Material widgets, Theme, Scaffold…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main()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runApp(const QuoteApp());                     // inflate the root widget and attach to the screen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QuoteApp extends StatelessWidget {         // no mutable state → Stateless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QuoteApp({super.key});                   // const ctor; key forwarded to the framework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context) {          // called whenever Flutter needs this widget's UI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MaterialApp(                          // app-wide: theme, navigation, localisation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title: 'Quote App',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theme: ThemeData(colorSchemeSeed: const Color(0xFF0B2545), useMaterial3: true),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home: const HomeScreen(),                  // first screen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HomeScreen extends StatelessWidget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HomeScreen({super.key});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context) =&gt; Scaffold(       // page chrome: app bar, body, FAB, drawer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appBar: AppBar(title: const Text('Get a quote')),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body: const Center(child: Text('Hello, Flutter')),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main() → runApp → MaterialApp → Scaffold → your widgets. MaterialApp is &lt;App&gt; + router + theme provider in one; Scaffold is the page frame.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StatelessWidget vs StatefulWidget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08676" cy="4023360"/>
          </a:xfrm>
          <a:prstGeom prst="roundRect">
            <a:avLst>
              <a:gd name="adj" fmla="val 2273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77240" y="1463040"/>
            <a:ext cx="49514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StatelessWidget - pure function of its inputs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4951476" cy="3246120"/>
          </a:xfrm>
          <a:prstGeom prst="roundRect">
            <a:avLst>
              <a:gd name="adj" fmla="val 225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14400" y="2029968"/>
            <a:ext cx="467715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PremiumBadge extends StatelessWidget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PremiumBadge({super.key, required this.amount});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double amount;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context)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style = Theme.of(context).textTheme.headlineMedium;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Text('R ${amount.toStringAsFixed(0)}', style: style);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Rebuilt when the parent passes new inputs.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 internal mutable state. Prefer this.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31636" y="1325880"/>
            <a:ext cx="5408676" cy="4023360"/>
          </a:xfrm>
          <a:prstGeom prst="roundRect">
            <a:avLst>
              <a:gd name="adj" fmla="val 2273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460236" y="1463040"/>
            <a:ext cx="49514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StatefulWidget - owns mutable state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60236" y="1920240"/>
            <a:ext cx="4951476" cy="3246120"/>
          </a:xfrm>
          <a:prstGeom prst="roundRect">
            <a:avLst>
              <a:gd name="adj" fmla="val 225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597396" y="2029968"/>
            <a:ext cx="467715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CoverPicker extends StatefulWidget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CoverPicker({super.key});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State&lt;CoverPicker&gt; createState() =&gt; _CoverPickerState();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_CoverPickerState extends State&lt;CoverPicker&gt;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Cover _cover = Cover.comprehensive;      // the state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context)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SegmentedButton&lt;Cover&gt;(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segments: [for (final c in Cover.values)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ButtonSegment(value: c, label: Text(c.name))],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selected: {_cover},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onSelectionChanged: (s) =&gt; setState(() =&gt; _cover = s.first),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for one stateful widget: the Widget (immutable config, recreated on every parent build) and the State (persists in the element tree). setState(() {...}) mutates the state and schedules a rebuild of this subtree only.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StatefulWidget lifecycle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createState()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Once. Widget asks for its State object.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465222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830982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059582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059582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059582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initState()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59582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Once. Subscribe, start controllers, read initial data. No context lookups that depend on inherited widgets yet.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747565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5113325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341925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5341925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41925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build()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341925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times. Pure: read state, return widgets. No side effects.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029907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7395667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624267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7624267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24267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setState()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624267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time. Mutate state → schedule build(). didUpdateWidget() when parent passes new config.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12250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9678010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906610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90661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906610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dispose()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906610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Once. Cancel subscriptions, dispose controllers. Skipping this leaks.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3891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mapping: initState ≈ useEffect(() =&gt; …, []) mount; dispose ≈ its cleanup; didUpdateWidget ≈ effect with a dependency; build ≈ render. Rule for build(): no network calls, no setState, no heavy work - it can run 60 times a second.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 app, annotated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lib/main.dart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CounterPage extends StatefulWidget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CounterPage({super.key, required this.title});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String title;                                     // config from parent → widget.title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State&lt;CounterPage&gt; createState() =&gt; _CounterPageState();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_CounterPageState extends State&lt;CounterPage&gt;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_counter = 0;                                       // state survives rebuilds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_increment() =&gt; setState(() =&gt; _counter++);        // mutate inside setState → rebuild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context)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theme = Theme.of(context);                      // inherited lookup via context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Scaffold(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appBar: AppBar(title: Text(widget.title)),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body: Center(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child: Column(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mainAxisAlignment: MainAxisAlignment.center,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children: [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Text('You have pushed the button this many times:'),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Text('$_counter', style: theme.textTheme.headlineMedium),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],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floatingActionButton: FloatingActionButton(onPressed: _increment, child: const Icon(Icons.add)),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reload (r) keeps _counter. Hot restart (R) resets it. Try both now.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package from pub.dev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pub.dev is npm/NuGet for Dart. Check the Likes, Pub Points, and "Flutter Favorite" badge, then add with the CLI so versions are pinned correctly.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2E6F95"/>
          </a:solidFill>
          <a:ln w="12700">
            <a:solidFill>
              <a:srgbClr val="2E6F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· zsh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31636" y="187452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231636" y="1874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PowerShell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58568"/>
            <a:ext cx="5408676" cy="3227832"/>
          </a:xfrm>
          <a:prstGeom prst="roundRect">
            <a:avLst>
              <a:gd name="adj" fmla="val 226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368296"/>
            <a:ext cx="513435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runtime dependency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intl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dev dependency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--dev mocktail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specific version / constraint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dio:^5.4.0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editing pubspec.yaml by hand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get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see what is outdated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outdated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 cache location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 ~/.pub-cache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2258568"/>
            <a:ext cx="5408676" cy="3227832"/>
          </a:xfrm>
          <a:prstGeom prst="roundRect">
            <a:avLst>
              <a:gd name="adj" fmla="val 226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368796" y="2368296"/>
            <a:ext cx="513435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runtime dependency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intl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dev dependency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--dev mocktail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specific version / constraint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dio:^5.4.0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editing pubspec.yaml by hand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get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see what is outdated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outdated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 cache location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 $env:LOCALAPPDATA\Pub\Cache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62356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85800" y="5650992"/>
            <a:ext cx="108173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package with native code (sqflite, camera, path_provider…) needs a full stop-and-run after adding, not hot reload. Symptom if you forget: MissingPluginException.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Debugging: DevTools and the Widget Inspector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Code, click the gutter. Debug console shows print/debugPrint.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DevTools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Command Palette → "Flutter: Open DevTools", or the link printed by flutter run.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 Inspector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element on the emulator to jump to its widget in the tree and its source line. Toggle "Select Widget Mode".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Explorer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visualises Row/Column flex, constraints and overflow. Tomorrow's best friend.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/ Memory / Network tabs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debugPrint vs print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debugPrint throttles long output on Android and is stripped less noisily.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quick visual aids you can toggle at runtime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'package:flutter/rendering.dart';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main()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debugPaintSizeEnabled = true;   // draw boxes around every widget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runApp(const QuoteApp());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 code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debugPrint('state: $state');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assert(premium &gt;= 0, 'premium negative');   // debug-only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flutter run key shortcuts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r  hot reload      R  hot restart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p  toggle debug paint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o  toggle Android/iOS rendering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  dump widget tree to console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q  quit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 for the quote app (feature-first)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52134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theme, routing, networking, shared widgets. Nothing domain-specific.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features/&lt;name&gt;/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folder per feature: data (API, storage), domain (models, logic), presentation (screens, widgets, providers).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main.dart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bootstrapping only: runApp, ProviderScope (Day 3), router (Day 4).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are deletable and testable in isolation; new developers find things by feature, not by layer.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folders and move the Lab 1.2 model into features/quote/domain.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344302" y="1325880"/>
            <a:ext cx="6296010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1462" y="1435608"/>
            <a:ext cx="6021690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lib/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main.dart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app.dart                 ← MaterialApp + theme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core/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theme/brand_theme.dart      (Day 2)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routing/router.dart         (Day 4)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network/dio_client.dart     (Day 4)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widgets/                    shared UI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features/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onboarding/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└── presentation/onboarding_screen.dart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quote/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├── domain/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   ├── quote.dart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   ├── quote_request.dart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   ├── quote_state.dart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   └── premium_calculator.dart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├── data/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   ├── quote_service.dart          (interface + fake)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   └── quote_repository.dart       (Day 4)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└── presentation/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├── capture_screen.dart         (Day 2)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├── result_screen.dart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└── quote_provider.dart         (Day 3)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365760"/>
            <a:ext cx="8165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app skeleton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 · 15:15-15:55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quote app runs on your emulator with the domain model inside it and one stateful screen.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09867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quote_app, create the folder structure from the previous slide (empty files are fine for Day 2+ items).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Lab 1.2/1.3 code into features/quote/domain/*.dart and data/quote_service.dart. Fix imports (package:quote_app/…).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app.dart: QuoteApp (StatelessWidget) returning MaterialApp(title, theme with colorSchemeSeed, home: CaptureScreen()).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main.dart: void main() =&gt; runApp(const QuoteApp());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CaptureScreen (StatefulWidget): Scaffold with AppBar "Get a quote", a SegmentedButton for Cover stored in state, a FilledButton "Calculate", and a Text showing the premium.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button press: build a QuoteRequest(make: "VW", year: 2020, driverAge: 30, cover: _cover) → calculatePremium → setState the result.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premium Text into a PremiumBadge StatelessWidget using Ctrl/Cmd+. → Extract Widget.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Widget Inspector, select the badge, confirm it maps to your file. Commit "Day 1: skeleton".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921630" y="1691640"/>
            <a:ext cx="3718682" cy="4389120"/>
          </a:xfrm>
          <a:prstGeom prst="roundRect">
            <a:avLst>
              <a:gd name="adj" fmla="val 2459"/>
            </a:avLst>
          </a:prstGeom>
          <a:solidFill>
            <a:srgbClr val="EAF2EC"/>
          </a:solidFill>
          <a:ln w="6350">
            <a:solidFill>
              <a:srgbClr val="EAF2EC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8104510" y="1828800"/>
            <a:ext cx="33529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(fast lane)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04510" y="2240280"/>
            <a:ext cx="335292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Calculate button async: await FakeQuoteService().getQuote(...) with a loading indicator; guard with if (!mounted) return;.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flutter pub add intl and format the premium with NumberFormat.currency(locale: "en_ZA", symbol: "R ").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second screen ResultScreen and Navigator.push to it (preview of Day 4).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ns0:sld xmlns:ns0="http://schemas.openxmlformats.org/presentationml/2006/main" xmlns:ns1="http://schemas.openxmlformats.org/drawingml/2006/main">
  <ns0:cSld name="Slide 55">
    <ns0:bg>
      <ns0:bgPr>
        <ns1:solidFill>
          <ns1:srgbClr val="FFFFFF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hape 0"/>
          <ns0:cNvSpPr/>
          <ns0:nvPr/>
        </ns0:nvSpPr>
        <ns0:spPr>
          <ns1:xfrm>
            <ns1:off x="548640" y="457200"/>
            <ns1:ext cx="2011680" cy="292608"/>
          </ns1:xfrm>
          <ns1:prstGeom prst="roundRect">
            <ns1:avLst>
              <ns1:gd name="adj" fmla="val 50000"/>
            </ns1:avLst>
          </ns1:prstGeom>
          <ns1:solidFill>
            <ns1:srgbClr val="0B2545"/>
          </ns1:solidFill>
          <ns1:ln w="12700">
            <ns1:solidFill>
              <ns1:srgbClr val="0B2545"/>
            </ns1:solidFill>
            <ns1:prstDash val="solid"/>
          </ns1:ln>
        </ns0:spPr>
        <ns0:txBody>
          <ns1:bodyPr/>
          <ns1:lstStyle/>
          <ns1:p>
            <ns1:endParaRPr lang="en-US"/>
          </ns1:p>
        </ns0:txBody>
      </ns0:sp>
      <ns0:sp>
        <ns0:nvSpPr>
          <ns0:cNvPr id="3" name="Text 1"/>
          <ns0:cNvSpPr txBox="1"/>
          <ns0:nvPr/>
        </ns0:nvSpPr>
        <ns0:spPr>
          <ns1:xfrm>
            <ns1:off x="548640" y="457200"/>
            <ns1:ext cx="2011680" cy="29260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ctr">
              <ns1:buNone/>
            </ns1:pPr>
            <ns1:r>
              <ns1:rPr lang="en-US" sz="1000" b="1" dirty="0">
                <ns1:solidFill>
                  <ns1:srgbClr val="FFFFF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READ &amp; BREAK DOWN</ns1:t>
            </ns1:r>
            <ns1:endParaRPr lang="en-US" sz="1000" dirty="0"/>
          </ns1:p>
        </ns0:txBody>
      </ns0:sp>
      <ns0:sp>
        <ns0:nvSpPr>
          <ns0:cNvPr id="4" name="Text 2"/>
          <ns0:cNvSpPr txBox="1"/>
          <ns0:nvPr/>
        </ns0:nvSpPr>
        <ns0:spPr>
          <ns1:xfrm>
            <ns1:off x="9811512" y="457200"/>
            <ns1:ext cx="1828800" cy="29260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r">
              <ns1:buNone/>
            </ns1:pPr>
            <ns1:r>
              <ns1:rPr lang="en-US" sz="1200" dirty="0">
                <ns1:solidFill>
                  <ns1:srgbClr val="5B677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Homework · 25 min</ns1:t>
            </ns1:r>
            <ns1:endParaRPr lang="en-US" sz="1200" dirty="0"/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548640" y="868680"/>
            <ns1:ext cx="11091672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2800" b="1" dirty="0">
                <ns1:solidFill>
                  <ns1:srgbClr val="0B2545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Tonight: read the constraints doc - tomorrow starts with your explanation</ns1:t>
            </ns1:r>
            <ns1:endParaRPr lang="en-US" sz="2800" dirty="0"/>
          </ns1:p>
        </ns0:txBody>
      </ns0:sp>
      <ns0:sp>
        <ns0:nvSpPr>
          <ns0:cNvPr id="6" name="Shape 4"/>
          <ns0:cNvSpPr/>
          <ns0:nvPr/>
        </ns0:nvSpPr>
        <ns0:spPr>
          <ns1:xfrm>
            <ns1:off x="548640" y="1691640"/>
            <ns1:ext cx="11091672" cy="960120"/>
          </ns1:xfrm>
          <ns1:prstGeom prst="roundRect">
            <ns1:avLst>
              <ns1:gd name="adj" fmla="val 9524"/>
            </ns1:avLst>
          </ns1:prstGeom>
          <ns1:solidFill>
            <ns1:srgbClr val="EAF0F7"/>
          </ns1:solidFill>
          <ns1:ln w="6350">
            <ns1:solidFill>
              <ns1:srgbClr val="EAF0F7"/>
            </ns1:solidFill>
            <ns1:prstDash val="solid"/>
          </ns1:ln>
          <ns1:effectLst>
            <ns1:outerShdw blurRad="38100" dist="12700" dir="5400000" algn="bl" rotWithShape="0">
              <ns1:srgbClr val="000000">
                <ns1:alpha val="8000"/>
              </ns1:srgbClr>
            </ns1:outerShdw>
          </ns1:effectLst>
        </ns0:spPr>
        <ns0:txBody>
          <ns1:bodyPr/>
          <ns1:lstStyle/>
          <ns1:p>
            <ns1:endParaRPr lang="en-US"/>
          </ns1:p>
        </ns0:txBody>
      </ns0:sp>
      <ns0:sp>
        <ns0:nvSpPr>
          <ns0:cNvPr id="7" name="Text 5"/>
          <ns0:cNvSpPr txBox="1"/>
          <ns0:nvPr/>
        </ns0:nvSpPr>
        <ns0:spPr>
          <ns1:xfrm>
            <ns1:off x="822960" y="1783080"/>
            <ns1:ext cx="10543032" cy="457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800" b="1" dirty="0">
                <ns1:solidFill>
                  <ns1:srgbClr val="0B2545"/>
                </ns1:solidFill>
                <ns1:latin typeface="Courier New" pitchFamily="34" charset="0"/>
                <ns1:ea typeface="Courier New" pitchFamily="34" charset="-122"/>
                <ns1:cs typeface="Courier New" pitchFamily="34" charset="-120"/>
              </ns1:rPr>
              <ns1:t>docs.flutter.dev/ui/layout/constraints</ns1:t>
            </ns1:r>
            <ns1:endParaRPr lang="en-US" sz="1800" dirty="0"/>
          </ns1:p>
        </ns0:txBody>
      </ns0:sp>
      <ns0:sp>
        <ns0:nvSpPr>
          <ns0:cNvPr id="8" name="Text 6"/>
          <ns0:cNvSpPr txBox="1"/>
          <ns0:nvPr/>
        </ns0:nvSpPr>
        <ns0:spPr>
          <ns1:xfrm>
            <ns1:off x="822960" y="2212848"/>
            <ns1:ext cx="10543032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200" dirty="0">
                <ns1:solidFill>
                  <ns1:srgbClr val="5B677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Whole page, including all 29 examples (about 25 minutes). Run a few in DartPad.</ns1:t>
            </ns1:r>
            <ns1:endParaRPr lang="en-US" sz="1200" dirty="0"/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548640" y="2880360"/>
            <ns1:ext cx="6655003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400" b="1" dirty="0">
                <ns1:solidFill>
                  <ns1:srgbClr val="0B2545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Answer these as you read</ns1:t>
            </ns1:r>
            <ns1:endParaRPr lang="en-US" sz="1400" dirty="0"/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548640" y="3291840"/>
            <ns1:ext cx="6655003" cy="2743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marL="279400" indent="-279400">
              <ns1:spcAft>
                <ns1:spcPts val="800"/>
              </ns1:spcAft>
              <ns1:buSzPct val="100000"/>
              <ns1:buFont typeface="+mj-lt"/>
              <ns1:buAutoNum type="arabicPeriod"/>
            </ns1:pPr>
            <ns1:r>
              <ns1:rPr lang="en-US" sz="140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Say the rule "constraints go down, sizes go up, parent sets position" in your own words, with one example.</ns1:t>
            </ns1:r>
            <ns1:endParaRPr lang="en-US" sz="1400" dirty="0"/>
          </ns1:p>
          <ns1:p>
            <ns1:pPr marL="279400" indent="-279400">
              <ns1:spcAft>
                <ns1:spcPts val="800"/>
              </ns1:spcAft>
              <ns1:buSzPct val="100000"/>
              <ns1:buFont typeface="+mj-lt"/>
              <ns1:buAutoNum type="arabicPeriod"/>
            </ns1:pPr>
            <ns1:r>
              <ns1:rPr lang="en-US" sz="140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Why does a Container with no child fill its parent, but the same Container inside a Column has zero height?</ns1:t>
            </ns1:r>
            <ns1:endParaRPr lang="en-US" sz="1400" dirty="0"/>
          </ns1:p>
          <ns1:p>
            <ns1:pPr marL="279400" indent="-279400">
              <ns1:spcAft>
                <ns1:spcPts val="800"/>
              </ns1:spcAft>
              <ns1:buSzPct val="100000"/>
              <ns1:buFont typeface="+mj-lt"/>
              <ns1:buAutoNum type="arabicPeriod"/>
            </ns1:pPr>
            <ns1:r>
              <ns1:rPr lang="en-US" sz="140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What is an "unbounded constraint" and which two widgets most often cause it?</ns1:t>
            </ns1:r>
            <ns1:endParaRPr lang="en-US" sz="1400" dirty="0"/>
          </ns1:p>
          <ns1:p>
            <ns1:pPr marL="279400" indent="-279400">
              <ns1:spcAft>
                <ns1:spcPts val="800"/>
              </ns1:spcAft>
              <ns1:buSzPct val="100000"/>
              <ns1:buFont typeface="+mj-lt"/>
              <ns1:buAutoNum type="arabicPeriod"/>
            </ns1:pPr>
            <ns1:r>
              <ns1:rPr lang="en-US" sz="140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Pick one of the 29 examples that surprised you and be ready to show it.</ns1:t>
            </ns1:r>
            <ns1:endParaRPr lang="en-US" sz="1400" dirty="0"/>
          </ns1:p>
        </ns0:txBody>
      </ns0:sp>
      <ns0:sp>
        <ns0:nvSpPr>
          <ns0:cNvPr id="11" name="Shape 9"/>
          <ns0:cNvSpPr/>
          <ns0:nvPr/>
        </ns0:nvSpPr>
        <ns0:spPr>
          <ns1:xfrm>
            <ns1:off x="7477963" y="2880360"/>
            <ns1:ext cx="4162349" cy="3154680"/>
          </ns1:xfrm>
          <ns1:prstGeom prst="roundRect">
            <ns1:avLst>
              <ns1:gd name="adj" fmla="val 2899"/>
            </ns1:avLst>
          </ns1:prstGeom>
          <ns1:solidFill>
            <ns1:srgbClr val="FBF6E3"/>
          </ns1:solidFill>
          <ns1:ln w="6350">
            <ns1:solidFill>
              <ns1:srgbClr val="FBF6E3"/>
            </ns1:solidFill>
            <ns1:prstDash val="solid"/>
          </ns1:ln>
          <ns1:effectLst>
            <ns1:outerShdw blurRad="38100" dist="12700" dir="5400000" algn="bl" rotWithShape="0">
              <ns1:srgbClr val="000000">
                <ns1:alpha val="8000"/>
              </ns1:srgbClr>
            </ns1:outerShdw>
          </ns1:effectLst>
        </ns0:spPr>
        <ns0:txBody>
          <ns1:bodyPr/>
          <ns1:lstStyle/>
          <ns1:p>
            <ns1:endParaRPr lang="en-US"/>
          </ns1:p>
        </ns0:txBody>
      </ns0:sp>
      <ns0:sp>
        <ns0:nvSpPr>
          <ns0:cNvPr id="12" name="Text 10"/>
          <ns0:cNvSpPr txBox="1"/>
          <ns0:nvPr/>
        </ns0:nvSpPr>
        <ns0:spPr>
          <ns1:xfrm>
            <ns1:off x="7706563" y="3017520"/>
            <ns1:ext cx="3705149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1400" b="1" dirty="0">
                <ns1:solidFill>
                  <ns1:srgbClr val="0B2545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Then</ns1:t>
            </ns1:r>
            <ns1:endParaRPr lang="en-US" sz="1400" dirty="0"/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7706563" y="3429000"/>
            <ns1:ext cx="3705149" cy="2514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marL="177800" indent="-177800">
              <ns1:spcAft>
                <ns1:spcPts val="700"/>
              </ns1:spcAft>
              <ns1:buSzPct val="100000"/>
              <ns1:buChar char="•"/>
            </ns1:pPr>
            <ns1:r>
              <ns1:rPr lang="en-US" sz="125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09:00 tomorrow: three delegates each explain one question at the whiteboard before any slide goes up.</ns1:t>
            </ns1:r>
            <ns1:endParaRPr lang="en-US" sz="1250" dirty="0"/>
          </ns1:p>
          <ns1:p>
            <ns1:pPr marL="177800" indent="-177800">
              <ns1:spcAft>
                <ns1:spcPts val="700"/>
              </ns1:spcAft>
              <ns1:buSzPct val="100000"/>
              <ns1:buChar char="•"/>
            </ns1:pPr>
            <ns1:r>
              <ns1:rPr lang="en-US" sz="125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We then break the layout live and fix it using what you read.</ns1:t>
            </ns1:r>
            <ns1:endParaRPr lang="en-US" sz="1250" dirty="0"/>
          </ns1:p>
          <ns1:p>
            <ns1:pPr marL="177800" indent="-177800">
              <ns1:spcAft>
                <ns1:spcPts val="700"/>
              </ns1:spcAft>
              <ns1:buSzPct val="100000"/>
              <ns1:buChar char="•"/>
            </ns1:pPr>
            <ns1:r>
              <ns1:rPr lang="en-US" sz="125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The reading is the prep.</ns1:t>
            </ns1:r>
            <ns1:endParaRPr lang="en-US" sz="1250" dirty="0"/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548640" y="6473952"/>
            <ns1:ext cx="9994392" cy="2743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buNone/>
            </ns1:pPr>
            <ns1:r>
              <ns1:rPr lang="en-US" sz="900" dirty="0">
                <ns1:solidFill>
                  <ns1:srgbClr val="5B677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MO Integrations · Flutter Training · Day 1 - Foundations &amp; Dart</ns1:t>
            </ns1:r>
            <ns1:endParaRPr lang="en-US" sz="900" dirty="0"/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10543032" y="6473952"/>
            <ns1:ext cx="1097280" cy="2743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r">
              <ns1:buNone/>
            </ns1:pPr>
            <ns1:r>
              <ns1:rPr lang="en-US" sz="900" dirty="0">
                <ns1:solidFill>
                  <ns1:srgbClr val="5B677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54</ns1:t>
            </ns1:r>
            <ns1:endParaRPr lang="en-US" sz="900" dirty="0"/>
          </ns1:p>
        </ns0:txBody>
      </ns0:sp>
    </ns0:spTree>
  </ns0:cSld>
  <ns0:clrMapOvr>
    <ns1:masterClrMapping/>
  </ns0:clrMapOvr>
</ns0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5752" y="-1371600"/>
            <a:ext cx="4572000" cy="4572000"/>
          </a:xfrm>
          <a:prstGeom prst="ellipse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recap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draws every pixel itself - no bridge, identical UI, AOT in release.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doctor clean, emulator or phone running, hot reload r / restart R.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 = TypeScript-shaped with C# classes: final by default, null safety enforced, named params everywhere.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Records, sealed classes and switch expressions model state exhaustively - Day 3 builds on this.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= Promise/Task, Stream = Observable; isolates for CPU work only.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a widget; three trees; Stateless vs Stateful; setState rebuilds one subtree.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app skeleton with feature-first structure is committed.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589520" y="1554480"/>
            <a:ext cx="4023360" cy="3840480"/>
          </a:xfrm>
          <a:prstGeom prst="roundRect">
            <a:avLst>
              <a:gd name="adj" fmla="val 2381"/>
            </a:avLst>
          </a:prstGeom>
          <a:solidFill>
            <a:srgbClr val="13315C"/>
          </a:solidFill>
          <a:ln w="6350">
            <a:solidFill>
              <a:srgbClr val="13315C"/>
            </a:solidFill>
            <a:prstDash val="solid"/>
          </a:ln>
          <a:effectLst>
            <a:outerShdw blurRad="381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81812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210312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 &amp; layout - the constraint model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/ Column / Stack / Expanded, overflow errors and fixes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Lists, forms and validation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3 theming → BrandTheme for white-label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the real quote capture screen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9A2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reference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661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Command &amp; path map (macOS / Windows)   B · Lab 1.2 solution   C · Lab 1.3 solution   D · Lab 1.4 solution   E · Troubleshooting   F · Links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Paths, variables and shell differences</a:t>
            </a:r>
            <a:endParaRPr lang="en-US" sz="30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662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14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4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(zsh)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(PowerShell)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Flutter SDK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~/development/flutter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C:\src\flutter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to PATH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~/.zshrc: export PATH="$HOME/development/flutter/bin:$PATH"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Settings → Environment Variables → User Path → C:\src\flutter\bin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SDK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~/Library/Android/sdk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%LOCALAPPDATA%\Android\Sdk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~/Library/Android/sdk/platform-tools/adb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%LOCALAPPDATA%\Android\Sdk\platform-tools\adb.exe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 cache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~/.pub-cache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%LOCALAPPDATA%\Pub\Cache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Gradle cache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~/.gradle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%USERPROFILE%\.gradle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 variable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$HOME, $VAR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$env:USERPROFILE, $env:VAR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 continuation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backslash \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backtick   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shortcut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$HOME or ~ (PowerShell 7)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file explorer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 .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explorer .  /  ii .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hosts / env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nano ~/.zshrc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notepad $PROFILE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 for Gradle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Studio bundled JBR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config --jdk-dir "C:\Program Files\Android\Android Studio\jbr"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Troubleshooting: symptom → fix</a:t>
            </a:r>
            <a:endParaRPr lang="en-US" sz="30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771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56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4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not recognised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 not applied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a NEW terminal; verify Path entry; no spaces in SDK path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cmdline-tools component is missing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SDK tool not installed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SDK Manager → SDK Tools → Android SDK Command-line Tools (latest)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Android license status unknown AND --licenses says "no longer needed"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Known Flutter bug with cmdline-tools 23.0 (new android CLI replaced sdkmanager) - licences ARE accepted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Cosmetic. Verify: ls &lt;sdk&gt;/licenses has files, then prove with flutter build apk --debug. If the build works, carry on. flutter/flutter#191487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Android license status unknown on OLDER cmdline-tools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Licences genuinely not accepted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doctor --android-licenses → y to all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Multiple adb binaries found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platform-tools installed twice (standalone + Android Studio)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the duplicate, keep Android Studio's. macOS: brew uninstall --cask android-platform-tools. Windows: remove the standalone platform-tools folder from PATH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Emulator stuck on boot logo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hardware acceleration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Win: Hypervisor Driver / WHPX + BIOS VT-x; CloudPC: use phone or Chrome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adb devices empty (Windows)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USB driver / charge-only cable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OEM driver (Google USB Driver via SDK Manager); swap cable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Gradle: Unsupported class file major 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JDK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config --jdk-dir &lt;Android Studio&gt;/jbr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build takes 10+ min or fails downloading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downloads ~4 GB: NDK 2.8 GB + SDK Platform + Gradle dist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Expected. Start it BEFORE the theory, not during a lab. Fallbacks: pre-warmed Android\Sdk, .gradle and Pub cache from USB; tether one machine; or pair two delegates on one warmed machine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MissingPluginException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reload after adding native plugin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and flutter run again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reload "did nothing"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in main()/initialiser/const/enum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R (hot restart)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setState() called after dispose()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callback after navigation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(!mounted) return; after every await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Filename too long (Windows git)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paths off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git config --system core.longpaths true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inexplicably broken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artefacts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flutter clean &amp;&amp; flutter pub get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Lab 1.2 solution - enum, request, quote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1.2 solution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Cover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thirdParty, thirdPartyFireTheft, comprehensive;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get factor =&gt; switch (this)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Cover.thirdParty =&gt; 0.6, Cover.thirdPartyFireTheft =&gt; 0.8, Cover.comprehensive =&gt; 1.0 };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QuoteRequest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String make; final String? model; final int year; final int driverAge; final Cover cover;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QuoteRequest({required this.make, this.model, required this.year,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required this.driverAge, required this.cover});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QuoteRequest copyWith({String? make, String? model, int? year, int? driverAge, Cover? cover}) =&gt;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QuoteRequest(make: make ?? this.make, model: model ?? this.model, year: year ?? this.year,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driverAge: driverAge ?? this.driverAge, cover: cover ?? this.cover);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operator ==(Object o) =&gt; o is QuoteRequest &amp;&amp; o.make == make &amp;&amp; o.model == model &amp;&amp;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o.year == year &amp;&amp; o.driverAge == driverAge &amp;&amp; o.cover == cover;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get hashCode =&gt; Object.hash(make, model, year, driverAge, cover);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extension Money on double { String get rands =&gt; 'R ${toStringAsFixed(2)}'; 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String id; final double premium; final String currency;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Quote({required this.id, required this.premium, this.currency = 'ZAR'});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String get display =&gt; '$currency ${premium.toStringAsFixed(2)}';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factory Quote.fromJson(Map&lt;String, dynamic&gt; j) =&gt; Quote(id: j['id'] as String,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premium: (j['premium'] as num).toDouble(), currency: j['currency'] as String? ?? 'ZAR');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Map&lt;String, dynamic&gt; toJson() =&gt; {'id': id, 'premium': premium, 'currency': currency};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Lab 1.2 solution - calculator, sealed state, main 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1.2 solution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calculatePremium(QuoteRequest r) {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p = 1000.0;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(r.driverAge &lt; 25) p *= 1.5;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(r.year &lt; 2015) p *= 1.2;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 *= r.cover.factor;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(p * 100).roundToDouble() / 100;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class QuoteState { const QuoteState(); 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QuoteIdle extends QuoteState { const QuoteIdle(); 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QuoteLoading extends QuoteState { const QuoteLoading(); 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QuoteLoaded extends QuoteState { const QuoteLoaded(this.quote); final Quote quote; 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QuoteFailed extends QuoteState { const QuoteFailed(this.message); final String message; }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Lab 1.2 solution - calculator, sealed state, main 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1.2 solution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describe(QuoteState s) =&gt; switch (s) {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QuoteIdle() =&gt; 'Fill in the form',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QuoteLoading() =&gt; 'Calculating…',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QuoteLoaded(:final quote) =&gt; 'Premium ${quote.display}',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QuoteFailed(:final message) =&gt; 'Error: $message',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main() {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base = QuoteRequest(make: 'VW', year: 2020, driverAge: 30, cover: Cover.comprehensive);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young = base.copyWith(driverAge: 22);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old = base.copyWith(year: 2012, cover: Cover.thirdParty);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(final r in [base, young, old]) print('${r.make} ${r.year} → ${calculatePremium(r).rands}');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(final s in [const QuoteIdle(), const QuoteLoading(),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QuoteLoaded(Quote(id: 'q1', premium: calculatePremium(base))), const QuoteFailed('too old')]) {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print(describe(s));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Lab 1.3 solution - fake service, timeout, state stream 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1.3 solution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 interface class QuoteService { Future&lt;Quote&gt; getQuote(QuoteRequest r); 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FakeQuoteService implements QuoteService {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Future&lt;Quote&gt; getQuote(QuoteRequest r) async {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Future.delayed(const Duration(milliseconds: 1500));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(r.year &lt; 2000) throw Exception('Vehicle too old to insure');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Quote(id: 'q-${r.hashCode}', premium: calculatePremium(r));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Future&lt;void&gt; runOnce(QuoteService s, QuoteRequest r) async {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q = await s.getQuote(r).timeout(const Duration(seconds: 3));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print('OK ${q.display}');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on TimeoutException { print('Timed out'); 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catch (e) { print('Failed: $e'); 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Lab 1.3 solution - fake service, timeout, state stream 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1.3 solution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Stream&lt;QuoteState&gt; quoteStates(QuoteService s, QuoteRequest r) async* {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yield const QuoteLoading();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 yield QuoteLoaded(await s.getQuote(r)); 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catch (e) { yield QuoteFailed(e.toString()); 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main() async {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svc = FakeQuoteService();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ok = QuoteRequest(make: 'VW', year: 2020, driverAge: 30, cover: Cover.comprehensive);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for (final st in quoteStates(svc, ok)) print(describe(st));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for (final st in quoteStates(svc, ok.copyWith(year: 1998))) print(describe(st));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sw = Stopwatch()..start();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Future.wait([svc.getQuote(ok), svc.getQuote(ok), svc.getQuote(ok)]);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print('3 parallel quotes in ${sw.elapsedMilliseconds} ms');   // ≈1500, not 4500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Lab 1.4 solution - app.dart and capture_screen.dart 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1.4 solution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lib/app.dart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QuoteApp extends StatelessWidget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QuoteApp({super.key});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context) =&gt; MaterialApp(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title: 'Quote App',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theme: ThemeData(colorSchemeSeed: const Color(0xFF0B2545), useMaterial3: true),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home: const CaptureScreen());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lib/features/quote/presentation/capture_screen.dart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CaptureScreen extends StatefulWidget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CaptureScreen({super.key});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State&lt;CaptureScreen&gt; createState() =&gt; _CaptureScreenState();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_CaptureScreenState extends State&lt;CaptureScreen&gt;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Cover _cover = Cover.comprehensive;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double? _premium;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_calculate() {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r = QuoteRequest(make: 'VW', year: 2020, driverAge: 30, cover: _cover);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setState(() =&gt; _premium = calculatePremium(r));</a:t>
            </a:r>
            <a:endParaRPr lang="en-US" sz="9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Lab 1.4 solution - app.dart and capture_screen.dart 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1.4 solution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context) =&gt; Scaffold(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appBar: AppBar(title: const Text('Get a quote')),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body: Padding(padding: const EdgeInsets.all(16), child: Column(children: [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SegmentedButton&lt;Cover&gt;(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segments: [for (final c in Cover.values) ButtonSegment(value: c, label: Text(c.name))],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selected: {_cover},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onSelectionChanged: (s) =&gt; setState(() =&gt; _cover = s.first)),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const SizedBox(height: 24),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FilledButton(onPressed: _calculate, child: const Text('Calculate')),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const SizedBox(height: 24),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if (_premium != null) PremiumBadge(amount: _premium!),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])));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PremiumBadge extends StatelessWidget {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PremiumBadge({super.key, required this.amount});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double amount;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context) =&gt;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Text(amount.rands, style: Theme.of(context).textTheme.headlineMedium);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Links used today</a:t>
            </a:r>
            <a:endParaRPr lang="en-US" sz="30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327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64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(macOS / Windows)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docs.flutter.dev/get-started/install/macos  ·  docs.flutter.dev/get-started/install/windows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Emulator acceleration (Windows)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developer.android.com/studio/run/emulator-acceleration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overview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docs.flutter.dev/resources/architectural-overview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Dart language tour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dart.dev/language  (null safety: dart.dev/null-safety; patterns: dart.dev/language/patterns)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DartPad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dartpad.dev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/ Streams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dart.dev/libraries/async/async-await  ·  dart.dev/libraries/async/using-streams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dart.dev/language/isolates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Widgets intro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docs.flutter.dev/ui/widgets-intro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Flutter (three trees)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docs.flutter.dev/resources/inside-flutter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docs.flutter.dev/tools/devtools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pub.dev  ·  Flutter Favorites: docs.flutter.dev/packages-and-plugins/favorites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repo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github.com/Clynton19860/flutter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for tomorrow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docs.flutter.dev/ui/layout/constraints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1 - Foundations &amp; Dart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601</TotalTime>
  <Words>23973</Words>
  <Application>Microsoft Macintosh PowerPoint</Application>
  <PresentationFormat>Widescreen</PresentationFormat>
  <Paragraphs>1907</Paragraphs>
  <Slides>70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7" baseType="lpstr">
      <vt:lpstr>Aptos</vt:lpstr>
      <vt:lpstr>Arial</vt:lpstr>
      <vt:lpstr>Calibri</vt:lpstr>
      <vt:lpstr>Calibri Light</vt:lpstr>
      <vt:lpstr>Courier New</vt:lpstr>
      <vt:lpstr>Segoe UI</vt:lpstr>
      <vt:lpstr>Office Theme</vt:lpstr>
      <vt:lpstr>Hello!</vt:lpstr>
      <vt:lpstr>https://github.com/Clynton19860/flutter.git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Flutter Day 1 - Foundations &amp; Dart</dc:title>
  <dc:subject>MO Integrations Flutter Training</dc:subject>
  <dc:creator>MO Integrations</dc:creator>
  <cp:lastModifiedBy>THYNK  PAY</cp:lastModifiedBy>
  <cp:revision>4</cp:revision>
  <dcterms:created xsi:type="dcterms:W3CDTF">2026-09-06T15:57:31Z</dcterms:created>
  <dcterms:modified xsi:type="dcterms:W3CDTF">2026-09-07T15:42:31Z</dcterms:modified>
</cp:coreProperties>
</file>