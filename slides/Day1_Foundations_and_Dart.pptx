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147479569" r:id="rId2"/>
    <p:sldId id="2147479570"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p:restoredTop sz="61386"/>
  </p:normalViewPr>
  <p:slideViewPr>
    <p:cSldViewPr snapToGrid="0" snapToObjects="1">
      <p:cViewPr varScale="1">
        <p:scale>
          <a:sx n="68" d="100"/>
          <a:sy n="68" d="100"/>
        </p:scale>
        <p:origin x="23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33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335D45-9F57-483D-B7C3-4879BEF06079}" type="datetime8">
              <a:rPr lang="en-US" smtClean="0"/>
              <a:t>9/7/26 7:41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56019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Five days, one app. By Friday every one of you has a white-label insurance quote app running on Android, with tests, two brands, a signed bundle and a CI pipeline behind it. Today is the day we level the floor: environment, Dart, async, first screen.
FIRST ACTION OF THE DAY, before housekeeping: get everyone to run flutter create quote_app then flutter build apk --debug. ~4 GB and 7-8 minutes. Everything else today happens while that downloads.
HOUSEKEEPING: 09:00-16:00, breaks 10:30 and 14:30, lunch 12:30. Labs after every block. Recap 15:30.
ROOM CHECK (do this before the agenda): "Hands up - React, Angular, Blazor, other?" Write it on the whiteboard. It decides which analogies you use all week: Angular services/DI → Riverpod providers; React hooks → StatefulWidget and ref.watch.
PRESENTER: you are on macOS, room is Windows. Every command slide has both columns. When a delegate's path differs from yours, point at the Windows column, do not translate on the fly.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blocks, four labs. The first block is deliberately practical because one or two machines will not be ready; we fix them during Lab 1.1 while everyone else runs the template app.
TIMING: if setup runs long, cut slides 17-19 (CLI table, hot reload compare) - they are covered again in the lab.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spine of the course. Point at each box and name the day. Say explicitly: "the Day 2 form you build is the same form that gets a Riverpod notifier on Day 3, an API on Day 4 and a flavour on Day 5. Nothing is throwaway."
WHY THIS APP: two of you named an insurance quoting platform as the target project, multi-brand, white-label. We are building a cut-down version of exactly that.
REPO: github.com/Clynton19860/flutter - the handbook is the README and every code block has a copy button. NOTE: lab branches do not exist yet; if someone falls behind, put the appendix solution slide on the projector instead.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told us where you are. We listened." This slide buys you credibility with a senior room - it shows the course was shaped by them.
DO NOT show individual names or scores. Averages only.
FAST LANE: the two most experienced people (RN developer, prior Flutter capstone) get stretch tasks on every lab slide. Tell them now so they do not get bored in block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Module 1 is 25% theory, 75% hands-on. Theory slides 7-10 take 20 minutes. Then commands.
PRESENTER: open a terminal on your Mac now and keep it on the second display. Every command slide, you type the macOS column live; delegates follow the Windows column.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is a UI toolkit, not a web view and not a JS bridge. The mental model that unlocks everything: Flutter is a game engine for forms. It draws every pixel itself on a canvas, 60-120 times a second, using Impeller (its rendering engine). That is why a Flutter app looks identical on a Pixel and an iPhone, and why there is no "bridge" between your code and the UI.
CONTRAST WITH REACT NATIVE (the RN developer will ask): RN maps your components to real native views through a bridge/JSI. Flutter skips that entirely. RN apps feel native automatically; Flutter apps look the same everywhere. Neither is wrong.
CODE: point at the code. "This is a whole screen. Notice there is no HTML, no XML, no separate layout file. Layout, styling and content are all Dart objects nested inside each other. Padding is a widget. Center is a widget. We say 'everything is a widget' and we mean it."
LINK: docs.flutter.dev/resources/architectural-overview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layers. Framework is Dart and is the only one you touch daily. Engine is C++: Impeller for drawing, the Dart runtime, text shaping. Embedder is the thin native shell - an Android Activity or an iOS UIViewController - that gives the engine a surface to draw on.
WHY IT MATTERS: when a delegate asks "how do I access Bluetooth / the camera / a native SDK", the answer is "plugin from pub.dev, and if none exists, a platform channel into the embedder". Day 5 covers it.
IMPELLER: default renderer on iOS and Android on current stable. If someone mentions Skia, that was the previous renderer; Impeller removes shader-compilation jank.
LINK: docs.flutter.dev/resources/architectural-overview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Keep this to three minutes. The decision to use Flutter is already made; the point is vocabulary for the "why not X" question.
KEY LINES: Flutter draws; RN delegates to native views. Flutter has stronger web/desktop; RN has a bigger JS ecosystem and built-in OTA. Native is fastest and most "correct" per platform but you write everything twice.
FOR THE RN DEVELOPER: "You will find Flutter's mental model very familiar - components become widgets, useState becomes StatefulWidget, FlatList becomes ListView.builder. The big differences are Dart's type system and that layout is widgets, not stylesheets."
PRESENTER NOTE: your own honest comparison, from shipping an Expo app, is worth more than this table. Say one thing you missed from Expo (OTA updates) and one thing Flutter does better (identical rendering, no native-view layout bugs).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Why Dart and not JavaScript or Kotlin? Google needed a language that could do both: interpret fast for hot reload during development, and compile to native for release. Dart does both from the same source.
JIT/AOT is the answer to "is Flutter fast?" - in release there is no JS engine and no bridge; your Dart is machine code.
NULL SAFETY: this is the daily difference from JS. In TS you can 'any' your way past the type checker. In Dart, String and String? are different types and the compiler enforces it at runtime too. This morning's primer spends real time here.
HOT RELOAD vs RESTART: reload = inject changed code, keep state. Restart = re-run main(), lose state. Changes to main(), global initialisers, enum values or const values need a restart. Native changes (new plugin with native code) need a full rebuild. This comes up in every lab; say it now and again later.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Most of you did this from the pre-course checklist. Hands up who has flutter --version working. Those who do not: follow the Windows column now; we will circle back in Lab 1.1.
MACOS (you): ~/development/flutter, PATH in ~/.zshrc. Xcode and CocoaPods only matter for iOS, which the room cannot build anyway; you will demo iOS on Friday from your Mac.
WINDOWS PITFALLS TO SAY OUT LOUD: (1) Path with spaces or under Program Files breaks the SDK. (2) The PATH change only applies to a NEW terminal. (3) Long-path errors: git config --system core.longpaths true. (4) Antivirus real-time scanning of build/ and .dart_tool/ makes Gradle 5x slower - ask IT for an exclusion.
ALTERNATIVE INSTALL: VS Code's Flutter extension can download the SDK for you (Command Palette → Flutter: New Project → Download SDK). Useful for anyone stuck.
LINKS: docs.flutter.dev/get-started/install/macos · docs.flutter.dev/get-started/install/windows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Android Studio does three jobs for us even though we write code in VS Code: it installs the Android SDK, it manages emulators, and it holds the licence acceptance. Install it, run the wizard, then open SDK Manager and tick the tools on screen.
THE ONE THAT BITES ON WINDOWS: emulator acceleration. Intel/AMD machines need either the Android Emulator Hypervisor Driver (tick in SDK Tools) or Windows Hypervisor Platform (Windows feature, reboot). If the BIOS has virtualisation off, or corporate policy disables Hyper-V, the emulator will not start - the symptom is "HAXM/WHPX is not installed" or a hang at boot. Do not spend more than five minutes on it in class: switch that person to a physical phone (next slides) or Chrome.
CLOUDPC delegate: no nested virtualisation → emulator will not run. Physical device or Chrome.
MAC: Apple Silicon emulators are ARM64 images and run fast with no driver.
LICENCES: flutter doctor --android-licenses - press y repeatedly. If it says "Android sdkmanager not found", the Command-line Tools tick was missed.
LINK: developer.android.com/studio/run/emulator-acceleration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doctor is the health check. Run it, read every line, fix red X's top to bottom. The verbose flag shows where it thinks the SDK lives - useful when someone has two Android SDKs.
COMMON WINDOWS OUTPUTS AND FIXES:
- "cmdline-tools component is missing" → SDK Manager &gt; SDK Tools &gt; tick Command-line Tools (latest).
- "Android licence status unknown" → on cmdline-tools 23.0+ this is a FALSE ALARM (Flutter bug flutter/flutter#191487): the new Android CLI dropped sdkmanager --licenses, so Flutter cannot read the status. Licences are accepted. Say this to the room BEFORE they run doctor, then prove it with flutter build apk --debug. On older tools the fix really is flutter doctor --android-licenses.
- "Unable to find git" → install Git for Windows with the "Git from the command line" option; reopen terminal.
- "Android Studio not installed" but it is → flutter config --android-studio-dir "C:\Program Files\Android\Android Studio".
- Visual Studio warning → ignore, only for Windows desktop targets.
MACOS: the Xcode lines matter only for iOS. If CocoaPods complains, sudo gem install cocoapods, or brew install cocoapods.
PRESENTER: show YOUR doctor output live so they see what "clean" looks like.
LINK: docs.flutter.dev/get-started/install (troubleshooting section per OS)</a:t>
            </a:r>
            <a:br>
              <a:rPr lang="en-US" dirty="0"/>
            </a:br>
            <a:br>
              <a:rPr lang="en-US" dirty="0"/>
            </a:br>
            <a:r>
              <a:rPr lang="en-US" dirty="0"/>
              <a:t>NOTE</a:t>
            </a:r>
            <a:br>
              <a:rPr lang="en-US" dirty="0"/>
            </a:br>
            <a:r>
              <a:rPr lang="en-ZA" sz="1200" b="0" i="0" kern="1200" dirty="0">
                <a:solidFill>
                  <a:schemeClr val="tx1"/>
                </a:solidFill>
                <a:effectLst/>
                <a:latin typeface="+mn-lt"/>
                <a:ea typeface="+mn-ea"/>
                <a:cs typeface="+mn-cs"/>
              </a:rPr>
              <a:t>"You want green on Flutter and Android toolchain. Older guides mention an IDE tick — Flutter dropped that check, so don't hunt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Create one device now. Pixel 8, latest stable API. On Windows pick the x86_64 image; on Apple Silicon it will be arm64. Start it from the play button so the first boot (which is slow, 1-3 minutes) happens now and not during the lab.
CLI: sdkmanager and avdmanager live in cmdline-tools/latest/bin under the SDK. Only use them if the GUI is broken; the GUI is fine.
FLUTTER SIDE: flutter emulators lists AVDs, flutter emulators --launch starts one, flutter devices shows what flutter run can target.
TROUBLESHOOTING: stuck on boot logo → no acceleration. "The emulator process has terminated" → out of disk or a corrupt AVD, delete and recreate. Very slow → increase RAM to 4 GB in advanced settings, or disable Windows Defender for the emulator folder.
PRESENTER: your emulator should already be running before you show this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phone is the best device - real performance, real touch, no hypervisor. Enable developer options (tap build number seven times), turn on USB debugging, plug in, accept the prompt on the phone.
WINDOWS: if adb devices shows nothing, it is almost always a driver. Samsung needs Smart Switch, Pixel needs the Google USB driver from SDK Manager, Huawei needs HiSuite. Also check the cable - many are charge-only.
WIRELESS DEBUGGING on Android 11+: pair with a code from Developer options, then adb connect. Nice for demos with no cable across the projector.
adb LOCATION on Windows: %LOCALAPPDATA%\Android\Sdk\platform-tools. Add to PATH if you want it everywhere.
FALLBACK OF LAST RESORT: flutter run -d chrome runs the app in Chrome. Fine for layout and state labs, not for storage or platform features.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VS Code plus the Flutter extension is all you need. Android Studio works too, but the room standardises on VS Code so screenshots match.
DEMO LIVE: Ctrl+Shift+P → Flutter: New Project. Then open lib/main.dart, put the cursor on a Text widget, press Ctrl+. and show "Wrap with Padding". Then "Extract Widget". This refactor menu is the single biggest productivity feature; senior devs love it.
HOT RELOAD ON SAVE: dart.flutterHotReloadOnSave "all" means every Ctrl+S reloads the running app.
UI GUIDES: draws tree lines in the editor showing widget nesting. Turn it on - it makes the "everything is a widget" tree visible.
SHORTCUTS mac/win: Command Palette Cmd+Shift+P / Ctrl+Shift+P. Quick fix Cmd+. / Ctrl+. . Run F5 both.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create gives you this. lib/ is yours. pubspec.yaml is dependencies and assets - same role as package.json or a .csproj. android/ and ios/ are genuine native projects; we open them on Day 5 for flavours and signing, and occasionally for permissions in AndroidManifest.xml.
FOR C# PEOPLE: pubspec.yaml ≈ .csproj + appsettings; pubspec.lock ≈ packages.lock.json.
FOR JS PEOPLE: pubspec.yaml ≈ package.json; .dart_tool ≈ node_modules-ish cache; flutter pub get ≈ npm install.
analysis_options.yaml: lint rules. flutter_lints is on by default; on Day 5 we tighten it.
flutter clean: deletes build/ and .dart_tool/. First thing to try when the build does something inexplicable; second thing is flutter pub get.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These are the ten commands you will use. Two habits to start today: use --org when creating so the Android application id and iOS bundle id are right from the start (changing later is painful), and run flutter analyze before every commit.
flutter pub add is the npm install &lt;pkg&gt; equivalent - it edits pubspec.yaml and fetches.
PRESENTER: identical on macOS and Windows; only the shell differs.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Hot reload is the feature people fall in love with. Demo it: change the title text, save, watch the emulator update with state kept. Then change something in main() and show reload doing nothing, then R fixing it.
WHAT RELOAD CANNOT DO: main() and anything run before runApp, static/global initialisers, enum members, const values (they are compile-time), and changing a class's generic parameters. Also, if you rename a StatefulWidget's State class, state is lost.
FULL REBUILD: native plugin added (e.g. sqflite, camera), or edits to AndroidManifest.xml / Info.plist / Gradle files. Symptom of forgetting: MissingPluginException at runtime.
Say this now; you will repeat it in every lab when someone says "my change isn't showing".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 present from a Mac; you are on Windows. Nothing in Flutter itself differs, but paths, shells and drivers do. This slide is the map. When I type something and your terminal disagrees, look at the Windows column on the slide before asking.
POWERSHELL GOTCHAS: line continuation is the backtick, not backslash; environment variables are $env:NAME; some commands need quotes around paths with spaces.
iOS: be blunt. "You cannot build for iPhone on Windows. Not with Flutter, not with anything. Options: a Mac in the team, a Mac mini in a cupboard as a build box, or a cloud build service. Friday I will show you both the local Mac flow and Codemagic doing it from a Git push."
core.autocrlf: prevents whole-file diffs from line-ending changes between the two OSes if the repo is shared.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walk the room. Anyone whose emulator will not boot after 5 minutes → physical phone or Chrome; do not let one machine hold the class.
FIRST BUILD IS THE DAY'S BIGGEST RISK: it is not "hundreds of MB", it is ~4 GB - a 2.8 GB NDK, Android SDK Platform 36, and the Gradle distribution, about 7-8 minutes on a fast connection. Twenty machines at once will saturate any venue network. THIS IS WHY STEP 1 STARTS THE BUILD BEFORE THE THEORY. Kick it off at 09:05, then teach Module 1 over it. Twenty machines doing it at once on venue Wi-Fi is the risk; if the connection is poor, stagger it or hand out the pre-warmed Gradle cache from the USB stick (~/.gradle on Mac, %USERPROFILE%\.gradle on Windows).
POWERSHELL 5.1 HAS NO &amp;&amp;: Windows 10/11 opens Windows PowerShell 5.1 by default. Chaining with &amp;&amp; gives "The token '&amp;&amp;' is not a valid statement separator in this version". Every command on this slide is one line at a time. Say it once at 09:10 and you will not repeat it twenty times.
GENERATED TEST BREAKS ANALYZE: flutter create writes test/widget_test.dart referencing MyApp. The moment Lab 1.4 renames the root widget to QuoteApp, flutter analyze fails with "The name 'MyApp' isn't a class". dart fix --apply does NOT fix it (it reports "Nothing to fix!"). Delete the file - that is the step above.
COMMON FAILURES: "Unable to locate adb" → Platform-Tools not installed. "Gradle task assembleDebug failed" with a Java version message → Android Studio's bundled JDK must be used: flutter config --jdk-dir "C:\Program Files\Android\Android Studio\jbr". "MissingPluginException" → full restart.
SUCCESS CRITERIA: everyone shows you a counter app with their own title. Then break.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already know how to program. This module maps Dart onto what you know and spends time only where Dart is different: null safety, named parameters, const, and Dart 3's records/sealed classes/patterns.
PACE: brisk. The stretch lane on the lab slide keeps the two strongest people busy.
FORMAT: every slide is concept on the left, runnable code on the right. All snippets run in dartpad.dev - encourage them to type along in DartPad while their emulator idles.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Scan this with them for two minutes. The two rows that surprise people: nullability is enforced at runtime (not just a compiler hint like C# 8), and every class implicitly defines an interface so you can 'implements' any class.
LEAVE THIS SLIDE UP during the break if you run early - people photograph it.
LINK: dart.dev/language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final is your default; it is JS const / C# readonly. Dart const is stricter: the value must be known at compile time, and the object graph is frozen. You will see const in front of widgets everywhere - that is a performance hint we explain this afternoon.
late: use sparingly. Legit uses: a field initialised in initState(), or lazy expensive initialisation. If someone asks why not just use nullable: late keeps the type non-null so you do not sprinkle ! everywhere.
TS PEOPLE: var infers but then locks the type; there is no 'any' unless you write dynamic, which you should not.
C# PEOPLE: var is C# var; final ≈ readonly local; const ≈ const but usable on objects.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single biggest daily difference from JS. In TypeScript, strictNullChecks is optional and 'any' bypasses it. In Dart there is no bypass: String and String? are different types, enforced at compile time and again at runtime. You will not see "Cannot read property of undefined" in a Flutter app.
OPERATORS: ?. ?? ??= are identical to TS/C#. The new one is ! - the bang. It says "I know better than the compiler". Every ! is a potential crash; in code review we ask for a justification. In this course you will see ! mostly on GlobalKey.currentState! and pathParameters['id']! where the framework guarantees the value.
PROMOTION: a null check narrows a local variable, exactly like TS. Early-return style works too.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things trip everyone in week one. First: fields do not promote. if (nickname != null) print(nickname.length) is a compile error on a field, because between the check and the use another method could set it to null. Fix: copy to a local, or use ?. Second: List&lt;String?&gt; versus List&lt;String&gt;? - the question mark position matters.
required: Dart's way of making a named parameter mandatory. In this course every widget you write will have required named parameters - Quote({required this.id}).
dynamic exists (it is what JSON decoding gives you) but you convert to real types immediately - Day 4 covers fromJson.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ACTIVITY: senior developers retain what they explain, not what they are told. Give them the primary source, a timer and a question set; then make one person teach it back. You referee.
RUN IT: put the link on the projector (also in the delegate workbook). Start a visible 10-minute timer. At 10 minutes, ask for a volunteer for Q1 - if nobody, pick the RN developer or the Flutter capstone person. Keep them to 60 seconds. Then Q4 from someone else. Only then add anything missing.
EXPECTED ANSWER Q1: a field can be changed by any other code between the check and the use (another method, another isolate is not the reason - it is aliasing), so the compiler cannot prove it stayed non-null; a local variable cannot be reassigned by anyone else.
EXPECTED ANSWER Q2: copy to a local; use ?. / ??; make the field non-nullable with late or a required constructor. Most used: copy to local.
EXPECTED ANSWER Q3: it casts away nullability and throws a TypeError at runtime if null. Acceptable when an invariant guarantees non-null that the compiler cannot see.
PRESENTER SAFETY NET: you read this doc on Saturday. If the volunteer says something wrong, do not correct them directly - ask "what would happen if another method set the field to null between those two lines?"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Named parameters are the part to internalise. In Flutter every widget is a class whose constructor takes named parameters: Text('hi', style: ..., maxLines: 2). You will write Quote({required this.id, this.premium = 0}) dozens of times.
String interpolation: '$make $model' and '${quote.premium}' - like JS template strings but with $ and single quotes.
ARROW: =&gt; is expression-bodied only. Multi-statement needs braces.
FUNCTION TYPES: int Function(String) reads as "a function taking String returning int". VoidCallback is the typedef for void Function() and is what onPressed expects.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class is the shape of every model in the course. Walk through it top to bottom.
1. final fields. 2. const constructor with required named params and a default. 3. A named constructor for the empty case. 4. factory fromJson - factory because it does not have to return a brand-new instance and can do work before constructing. 5. toJson. 6. A getter.
C# PEOPLE: this is a record-like immutable class; Dart has no auto-generated equality - either write == and hashCode, or use the equatable/freezed packages (mentioned Day 4).
JS PEOPLE: no object literals in Dart. Everything that carries data is a class (or a record, next slides).
(num).toDouble(): JSON numbers decode as int OR double depending on whether they had a decimal point; casting via num is the safe habit.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 Day 3 state is immutable: you never mutate the current state object, you build a new one. copyWith is the tool. Show it: r1.copyWith(year: 2021) returns a new object; r1 is unchanged.
EQUALITY: two QuoteRequests with the same fields are NOT == by default (identity). For state comparisons and tests you want value equality: override == and hashCode as shown, or extend Equatable. Or use freezed, which generates all of this plus JSON - many production teams do; the cost is a build_runner step, which we introduce on Day 4.
Do not write these by hand for every model in real projects; do write one by hand today so you know what the generator produces.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Nothing here is new to C#/Java people except two things: every class is implicitly an interface (so implements works on concrete classes), and mixins.
abstract interface class: Dart 3 syntax that says "this is only an interface". Use it for services you will fake in tests - QuoteService here, FakeQuoteService now, a real dio version on Day 4. This is your dependency-inversion seam and it comes back on Day 3 with Riverpod.
MIXINS: with Loggable adds log(). Flutter uses mixins heavily - SingleTickerProviderStateMixin for animations, for instance.
EXTENSIONS: like C# extension methods or Kotlin extensions. 1450.0.rands is a nice demo; we use it for money formatting all week.
super.make: Dart 2.17+ super-parameter shorthand.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Collections are what you expect, with two Dart-specific features you will use in widgets all week. Collection-if and collection-for INSIDE a list literal: children: [Header(), if (loggedIn) ProfileTile(), for (final q in quotes) QuoteTile(q)]. That replaces the JSX &amp;&amp; and .map() patterns.
THE BUG TO PRE-EMPT: map/where return lazy Iterables. Passing an Iterable where a List is required (e.g. children:) is a type error; forgetting toList() in a variable is the classic "why does my list re-compute every time" mistake.
fold vs reduce: fold takes an initial value; reduce does not and throws on an empty list.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Switch expressions are new in Dart 3 and they are how we render state on Day 3: switch (state) { Loading() =&gt; spinner, Loaded(:final q) =&gt; Text(...) }. Learn the expression form; the statement form is for legacy code.
EXHAUSTIVENESS is the selling point for a domain like insurance: add a new Cover enum value and the compiler lists every switch you must update.
Guards and relational patterns (&lt; 18) are shown so the syntax is not surprising later.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Records solve "I need to return two things" without a throwaway class. C# people: same as C# tuples/records-lite. TS people: like a typed tuple or a small object literal, with value equality for free.
GUIDANCE: records for local plumbing; classes for anything with behaviour or that crosses a module boundary.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most important slide of the primer, because Day 3 depends on it. TS people: this is a discriminated union with a kind field, but the compiler does the exhaustiveness. C# people: an abstract record hierarchy with pattern matching, but sealed means the compiler knows every subtype.
Walk through: sealed base, four subclasses, one switch expression that destructures fields with (:final quote). Then say the line: "add QuoteExpired tomorrow and every switch in the app refuses to compile until you handle it." For an insurance product with many states, that is the safety net.
Spend a minute here. Ask someone to add a fifth state in DartPad and watch the error appear.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Photograph this one. These are the seven things I will point at in code review during labs.
The int/double row matters for the API on Day 4: a premium of 1200 in JSON decodes as int, 1200.50 as double. (j['x'] as num).toDouble() handles both.
dart fix --apply adds missing const and other analyser fixes across the project - run it before every commit.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Walk around; this one has no toolchain risk so it is a good time to fix the machines that failed Lab 1.1 one-on-one.
CHECKPOINTS: after 10 minutes everyone should have the enum and QuoteRequest compiling. After 25, calculatePremium prints. Sealed state is the last 10.
COMMON ERRORS: "The parameter 'model' can't have a value of 'null' because of its type" → make it String?. "Non-nullable instance field must be initialized" → add required. "The switch expression is not exhaustive" → good, that is the lesson; add the missing case.
SOLUTION: Appendix B (slide at end). Show the solution on the projector at the end, line by line, and ask for one alternative someone took.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Short module, the group is strong here. The aim is vocabulary and the two Flutter-specific idioms: FutureBuilder/StreamBuilder appear tomorrow, and "never block the UI thread" leads to isolates.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Side by side, nothing surprising. Point out the three Dart-only details: 'on DioException catch (e)' filters by type; 'catch (e, st)' gives you the stack trace; Future.wait is Promise.all.
UNAWAITED FUTURES: calling an async function without await still starts it (like JS). The linter flags it (unawaited_futures); wrap in unawaited() if intentional.
C# PEOPLE: Future = Task, async/await identical, Future.wait = Task.WhenAll. No ConfigureAwait - Dart is single-threaded with an event loop like JS.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practical points. Timeouts: every network call in this course gets .timeout(); insurance users on mobile data will thank you. Sequential vs parallel: the record .wait form is Dart 3 and gives typed results; Future.wait is the classic form.
mounted: the Flutter-specific one. After an await, the widget may have been disposed (user navigated away). Touching context or calling setState then throws. Rule: if (!context.mounted) return; - you will see it on Day 2 and 3.
unawaited(): from dart:async; makes intent explicit and silences the lint.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rxjs people will feel at home; C# people map it to IAsyncEnumerable or IObservable. Streams show up in Flutter for real-time data: Supabase/Firebase realtime, auth state changes, connectivity, sockets.
THE LEAK: .listen returns a StreamSubscription. If a widget subscribes in initState it must cancel in dispose, or you leak and get "setState called after dispose". StreamBuilder and Riverpod's StreamProvider handle that for you; prefer them.
async* / yield: generator syntax like JS async generators.
Single-subscription vs broadcast: the default stream throws if you listen twice. Use .broadcast() on the controller or .asBroadcastStream().</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slide, because someone will ask "is Dart multi-threaded". Answer: single-threaded event loop like JS, plus isolates which are like web workers - separate heap, message passing, no shared memory.
WHEN: CPU-bound work over ~16 ms (one frame). Typical: decoding large JSON, crypto, image manipulation. Not for network calls - those are already async.
compute() takes a top-level function and an argument; Isolate.run takes a closure. Both return a Future.
This is the answer to a Friday performance question, so file it.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25 minutes, still in DartPad. This lab produces the fake service that the real app uses until Day 4, so make sure everyone finishes step 2 at minimum.
NOTE: DartPad has no dart:io but Future.delayed and Stopwatch work fine.
COMMON ERRORS: forgetting async* on the stream function ("yield can only be used in generators"); forgetting to await Future.delayed so the fake returns instantly; catching Exception vs Error - Dart throws Exception subclasses for expected failures.
SOLUTION: Appendix C.</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the emulator earns its keep. We go from the counter app to the skeleton of the quote app, with the Lab 1.2 model pasted in. Tomorrow is layout; today is structure and state basics.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In React the style prop carries padding. In Flutter, Padding is a widget that wraps another widget. Center is a widget. Even Theme and MediaQuery are widgets that sit in the tree and give their descendants access to data. Once this clicks, the framework is small: a handful of widget types, nested.
NESTING: yes, the trees get deep. Two answers: the IDE's UI guides show structure, and "Extract Widget" turns a subtree into its own class in one keystroke. We do that in the lab.
RN COMPARISON on the slide: same UI, side by side.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React people: virtual DOM → fibre → DOM. Flutter: widget → element → render object. Same idea. Angular people: template → component instance → DOM.
WHY YOU CARE: (1) Rebuilding widgets is cheap; do not fear build() running often. (2) State lives in the element, which is why StatefulWidget keeps its counter across rebuilds. (3) Keys: when a list reorders, keys tell Flutter which element matches which widget - same as React keys. (4) BuildContext: the element. Theme.of(context) walks up the element tree.
Do not go deeper than this today; Day 2 shows the Widget Inspector which makes the element tree visible.
LINK: docs.flutter.dev/resources/inside-flutter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concept people think they understand and do not. Drawing it beats a slide.
TIME CUT: this was a 20-minute Read &amp; Break Down. Module 4 does not have 20 minutes - Lab 1.4 needs 40 of the 75. So YOU draw it in five minutes and use the four questions as prompts. Inside Flutter becomes optional reading tonight.
RUN IT: draw the three boxes, ask Q1, then Q2, then Q3, then the framework mapping. Prompt with "where does _counter live?" if they stall.
EXPECTED: Q1 widgets are immutable, hold only configuration, no lifecycle; creating them is allocating small objects. Q2 runtimeType and key of the new widget vs the existing element's widget; same → update in place; different → new element. Keys disambiguate siblings of the same type (lists). Q3 the Element tree (StatefulElement owns the State); the widget object is replaced every build but the element and its State persist. Q4 React: vDOM ≈ widget tree, fibre ≈ element tree, DOM ≈ render tree. Angular: template ≈ widget, component instance ≈ element/state, DOM ≈ render.
IF SHORT ON TIME: cut to read + Q3 only.</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Type this live from a blank main.dart. Explain each line as you go - the projector should show you writing it, not a finished file.
main(): Dart entry point. runApp(): takes any widget and makes it the root. MaterialApp: sets up the theme, navigation (Navigator), text direction, localisation; there is also CupertinoApp for iOS-style and WidgetsApp for bare-bones. home: the first screen. Scaffold: gives you AppBar, body, FloatingActionButton, Drawer, BottomNavigationBar slots and correct Material layout.
super.key: every widget takes an optional Key; forwarding it lets parents identify this widget in lists.
colorSchemeSeed: Material 3 derives a full palette from one colour; tomorrow we build BrandTheme on this.
PRESENTER: this typed-from-scratch demo is the one you drilled on Friday. Do it without notes.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React analogy: StatelessWidget = function component with props only; StatefulWidget = component with useState. The odd part for newcomers is the two-class split. The Widget object is thrown away and recreated whenever the parent rebuilds; the State object survives, attached to the element. That is why _cover keeps its value.
setState: pass a closure that changes state; Flutter marks the element dirty and calls build() again before the next frame. Changing state outside setState does not rebuild - classic bug.
Naming: State class is private (_CoverPickerState) by convention.
Access widget fields from State via widget.amount.
WHEN TO USE WHICH: default to Stateless; go Stateful only for truly local UI state (toggle, text field focus, animation). Shared or business state goes to Riverpod on Day 3.</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methods you will actually use. initState for setup (TextEditingController, subscriptions, animation controllers). dispose to tear those down - forgetting dispose is the most common leak; the framework asserts in debug mode when a controller is not disposed. build must be pure. didUpdateWidget when the parent changes props and you need to react (e.g. reset a controller).
didChangeDependencies: exists, rarely needed; runs when an inherited widget (Theme, MediaQuery) changes.
mounted: true between initState and dispose. Check it after awaits.
Angular people: ngOnInit / ngOnChanges / ngOnDestroy map cleanly.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template app, with comments. Three things to point at: widget.title (config comes from the Widget; state lives in State), setState wrapping the mutation, and Theme.of(context) as your first inherited-widget lookup.
DEMO: run it, tap a few times, change the Text string, save, r → counter kept. Change _counter = 0 to = 10, r → nothing (initialisers do not reload), R → starts at 10. This is the hot reload lesson made concrete.
const on Text: the analyser will suggest it; accept the suggestion and explain: const widgets are built once and skipped on rebuild.</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Same on both OSes except the cache path. Demo: flutter pub add intl, then in main.dart use NumberFormat.currency(locale: 'en_ZA', symbol: 'R ').format(1450) - a nice quick win for money formatting in the quote app.
CHOOSING PACKAGES: pub.dev shows likes, pub points, popularity, and a "Flutter Favorite" badge; also check the last-published date and whether it supports the platforms you need. Prefer packages by the Dart/Flutter teams (dart.dev, flutter.dev publishers) and Flutter Favorites.
CARET CONSTRAINT: ^5.4.0 means &gt;=5.4.0 &lt;6.0.0, same semantics as npm.
pubspec.lock: commit it for apps (reproducible builds), same as package-lock.json.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DevTools live: Command Palette → Flutter: Open DevTools → Widget Inspector. Turn on Select Widget Mode, tap the counter text on the emulator, show it jumping to the source line. Then open Layout Explorer on the Column. That is the tool that will explain every overflow error tomorrow.
p in the flutter run terminal toggles debug paint - shows every widget's bounds. Great for layout teaching.
debugPrint: use it instead of print; on Android, print truncates long lines.
assert: only runs in debug builds; free in release.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does not impose structure; teams do. Feature-first is the structure most Flutter teams converge on and the one the Riverpod docs recommend. Layer-first (all models together, all screens together) works for tiny apps and rots after that.
Set it up now so every subsequent lab has an obvious home for its files. Tell them the file names - future slides reference them.
IMPORTS: package imports (import 'package:quote_app/features/quote/domain/quote.dart') over relative imports for anything outside the same folder; consistent and refactor-safe.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this is the one that must succeed for everyone - tomorrow's layout lab starts from it.
CHECKPOINTS: 10 min folders + pasted model compiles (flutter analyze clean). 25 min CaptureScreen shows and the button updates the text. Last 15 extract widget + inspector.
COMMON ERRORS: "Target of URI doesn't exist" → wrong import path; use package:quote_app/... . "setState() called after dispose" → they went async in the stretch without mounted check. Red screen "A RenderFlex overflowed" → tell them tomorrow fixes it; wrap in SingleChildScrollView for now.
CLOSE: everyone shows their premium updating on the emulator. Take a photo of the room's screens if the client likes evidence.
SOLUTION: Appendix D.</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Day 2 is the weakest area in the survey. Sending them into the primary doc the night before, with questions, means tomorrow's first hour starts from their explanations, not mine.
TOMORROW MORNING: before the Day 2 title slide, ask three people to take Q1, Q2 and Q3 at the whiteboard. Five minutes each. Then Q4 from anyone. Only then open the Day 2 deck.
EXPECTED: Q1 parent gives min/max width/height; child picks a size within them; parent positions the child. Q2 with no child, Container tries to be as big as allowed; Center is loose but bounded so it fills; a Column's main axis is unbounded so "as big as possible" is meaningless and it gets zero height. Q3 infinite max width/height, typically from a ListView / SingleChildScrollView / Column in the main axis; the fix is Expanded or an explicit size.
IF SOMEONE DID NOT READ: pair them with someone who did for the whiteboard round; do not skip the activity.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15:30 recap. Walk the bullets in 3 minutes, then Q&amp;A. Ask each person for one thing that surprised them; write the answers down - they tell you what to re-explain tomorrow morning.
HOMEWORK: the Read &amp; Break Down slide before this one - constraints doc, four questions, three volunteers at 09:00 tomorrow.
PRESENTER: after class, note which machines had emulator issues and pre-empt them tomorrow. Update the starter repo with anything you changed live.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 read this before Day 1 and keep it bookmarked.
THE USB STICK IS THE WHOLE PLAN. Build it the night before: Flutter SDK zips (macOS + Windows), Android Studio installers, a pre-warmed pub cache (~/.pub-cache after running pub get on the solution repo) and Gradle cache (~/.gradle), the course repo zipped with all lab branches, the five .pptx decks, and printed/PDF copies of the docs the Read &amp; Break Down slides link to. That single stick removes every network dependency in the course.
THE "I DO NOT KNOW" PROTOCOL: say "I do not know - let us look" and open the doc. Then write the question on the whiteboard as an open item and answer it after the next break. Senior developers respect that; they do not respect a confident wrong answer. You have four certifications and a shipped App Store app - your authority is real, it just is not Flutter trivia.
DO NOT let one broken machine hold twenty people. Move that person to DartPad or Chrome and carry 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slides are for you and for the projector when something breaks. Not part of the timed content.</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Put this on the projector when a delegate says "that path does not exist on my machine".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ones that will actually happen today: rows 1-5 and 9.</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1.</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VW 2020 → R 1000.00 · VW 2020 → R 1500.00 · VW 2012 → R 720.00, then the four state lines.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VW 2020 → R 1000.00 · VW 2020 → R 1500.00 · VW 2012 → R 720.00, then the four state lines.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parallel timing line: ~1500 ms proves Future.wait ran them concurrently.</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parallel timing line: ~1500 ms proves Future.wait ran them concurrently.</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collection-if on the badge and the ! on _premium - justified because it is guarded by the if on the line above. Stretch async version is on the branch.</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collection-if on the badge and the ! on _premium - justified because it is guarded by the if on the line above. Stretch async version is on the branch.</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repo placeholder with the real URL before Monday.</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6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6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sz="1000" dirty="0"/>
              <a:t>© Copyright Microsoft Corporation. All rights reserved.</a:t>
            </a:r>
          </a:p>
        </p:txBody>
      </p:sp>
    </p:spTree>
    <p:extLst>
      <p:ext uri="{BB962C8B-B14F-4D97-AF65-F5344CB8AC3E}">
        <p14:creationId xmlns:p14="http://schemas.microsoft.com/office/powerpoint/2010/main" val="14336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B55108-207A-D9FF-AF4B-A304A5DEBCBF}"/>
              </a:ext>
            </a:extLst>
          </p:cNvPr>
          <p:cNvSpPr>
            <a:spLocks noGrp="1"/>
          </p:cNvSpPr>
          <p:nvPr>
            <p:ph type="title"/>
          </p:nvPr>
        </p:nvSpPr>
        <p:spPr>
          <a:xfrm>
            <a:off x="589745" y="586191"/>
            <a:ext cx="5747521" cy="369279"/>
          </a:xfrm>
        </p:spPr>
        <p:txBody>
          <a:bodyPr/>
          <a:lstStyle/>
          <a:p>
            <a:r>
              <a:rPr lang="en-US" sz="2400"/>
              <a:t>Hello!</a:t>
            </a:r>
          </a:p>
        </p:txBody>
      </p:sp>
      <p:sp>
        <p:nvSpPr>
          <p:cNvPr id="5" name="Text Placeholder 2">
            <a:extLst>
              <a:ext uri="{FF2B5EF4-FFF2-40B4-BE49-F238E27FC236}">
                <a16:creationId xmlns:a16="http://schemas.microsoft.com/office/drawing/2014/main" id="{2553B6DE-CBCC-D805-6A97-2E9248B43F2C}"/>
              </a:ext>
            </a:extLst>
          </p:cNvPr>
          <p:cNvSpPr txBox="1">
            <a:spLocks/>
          </p:cNvSpPr>
          <p:nvPr/>
        </p:nvSpPr>
        <p:spPr>
          <a:xfrm>
            <a:off x="589745" y="1086183"/>
            <a:ext cx="6301481"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563">
              <a:defRPr/>
            </a:pPr>
            <a:r>
              <a:rPr lang="en-US" sz="2000">
                <a:solidFill>
                  <a:srgbClr val="000000"/>
                </a:solidFill>
                <a:latin typeface="Segoe UI"/>
              </a:rPr>
              <a:t>Thank you for joining me today</a:t>
            </a:r>
          </a:p>
        </p:txBody>
      </p:sp>
      <p:sp>
        <p:nvSpPr>
          <p:cNvPr id="8" name="Rounded Rectangle 3_1">
            <a:extLst>
              <a:ext uri="{FF2B5EF4-FFF2-40B4-BE49-F238E27FC236}">
                <a16:creationId xmlns:a16="http://schemas.microsoft.com/office/drawing/2014/main" id="{02A69FC5-E869-7938-B593-C7A42F844DCF}"/>
              </a:ext>
            </a:extLst>
          </p:cNvPr>
          <p:cNvSpPr/>
          <p:nvPr/>
        </p:nvSpPr>
        <p:spPr>
          <a:xfrm>
            <a:off x="584983" y="1871355"/>
            <a:ext cx="5968153" cy="3032019"/>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4281" rtlCol="0" anchor="ctr"/>
          <a:lstStyle/>
          <a:p>
            <a:pPr defTabSz="932563">
              <a:spcBef>
                <a:spcPts val="1200"/>
              </a:spcBef>
              <a:defRPr/>
            </a:pPr>
            <a:r>
              <a:rPr lang="en-US" sz="2000" kern="0" dirty="0">
                <a:solidFill>
                  <a:srgbClr val="000000"/>
                </a:solidFill>
                <a:latin typeface="+mj-lt"/>
              </a:rPr>
              <a:t>Instructor: Clynton Botterill</a:t>
            </a:r>
            <a:endParaRPr lang="en-US" sz="2000" kern="0" dirty="0">
              <a:solidFill>
                <a:srgbClr val="000000"/>
              </a:solidFill>
            </a:endParaRPr>
          </a:p>
          <a:p>
            <a:pPr defTabSz="932563">
              <a:spcBef>
                <a:spcPts val="1800"/>
              </a:spcBef>
              <a:defRPr/>
            </a:pPr>
            <a:r>
              <a:rPr lang="en-US" sz="1400" kern="0" dirty="0">
                <a:solidFill>
                  <a:srgbClr val="000000"/>
                </a:solidFill>
              </a:rPr>
              <a:t>Microsoft Certified Trainer, with various certifications in cloud computing and software development</a:t>
            </a:r>
          </a:p>
          <a:p>
            <a:pPr defTabSz="932563">
              <a:spcBef>
                <a:spcPts val="1200"/>
              </a:spcBef>
              <a:defRPr/>
            </a:pPr>
            <a:r>
              <a:rPr lang="en-US" sz="1400" kern="0" dirty="0">
                <a:solidFill>
                  <a:srgbClr val="000000"/>
                </a:solidFill>
              </a:rPr>
              <a:t>I have been training for 3 years now and been in the software field for about 8 years</a:t>
            </a:r>
          </a:p>
        </p:txBody>
      </p:sp>
      <p:sp>
        <p:nvSpPr>
          <p:cNvPr id="21" name="Text Placeholder 7">
            <a:extLst>
              <a:ext uri="{FF2B5EF4-FFF2-40B4-BE49-F238E27FC236}">
                <a16:creationId xmlns:a16="http://schemas.microsoft.com/office/drawing/2014/main" id="{02AB5424-9D84-FAB9-4FA9-A13D7E3A190C}"/>
              </a:ext>
            </a:extLst>
          </p:cNvPr>
          <p:cNvSpPr txBox="1">
            <a:spLocks/>
          </p:cNvSpPr>
          <p:nvPr/>
        </p:nvSpPr>
        <p:spPr>
          <a:xfrm>
            <a:off x="927834" y="5161529"/>
            <a:ext cx="5314196" cy="811063"/>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200" dirty="0"/>
          </a:p>
        </p:txBody>
      </p:sp>
      <p:pic>
        <p:nvPicPr>
          <p:cNvPr id="7" name="Picture Placeholder 6" descr="A person in a black suit&#10;&#10;Description automatically generated">
            <a:extLst>
              <a:ext uri="{FF2B5EF4-FFF2-40B4-BE49-F238E27FC236}">
                <a16:creationId xmlns:a16="http://schemas.microsoft.com/office/drawing/2014/main" id="{09E3F0AC-255B-D575-2C9E-A0AB9EEC3062}"/>
              </a:ext>
            </a:extLst>
          </p:cNvPr>
          <p:cNvPicPr>
            <a:picLocks noGrp="1" noChangeAspect="1"/>
          </p:cNvPicPr>
          <p:nvPr>
            <p:ph type="pic" sz="quarter" idx="14"/>
          </p:nvPr>
        </p:nvPicPr>
        <p:blipFill>
          <a:blip r:embed="rId3"/>
          <a:srcRect l="3183" r="3183"/>
          <a:stretch>
            <a:fillRect/>
          </a:stretch>
        </p:blipFill>
        <p:spPr/>
      </p:pic>
      <p:pic>
        <p:nvPicPr>
          <p:cNvPr id="22" name="Picture Placeholder 21" descr="A logo of a company&#10;&#10;Description automatically generated">
            <a:extLst>
              <a:ext uri="{FF2B5EF4-FFF2-40B4-BE49-F238E27FC236}">
                <a16:creationId xmlns:a16="http://schemas.microsoft.com/office/drawing/2014/main" id="{ACFCAEB7-E62B-9114-6DDE-AED5A500ADE2}"/>
              </a:ext>
            </a:extLst>
          </p:cNvPr>
          <p:cNvPicPr>
            <a:picLocks noGrp="1" noChangeAspect="1"/>
          </p:cNvPicPr>
          <p:nvPr>
            <p:ph type="pic" sz="quarter" idx="30"/>
          </p:nvPr>
        </p:nvPicPr>
        <p:blipFill>
          <a:blip r:embed="rId4"/>
          <a:srcRect/>
          <a:stretch>
            <a:fillRect/>
          </a:stretch>
        </p:blipFill>
        <p:spPr/>
      </p:pic>
      <p:pic>
        <p:nvPicPr>
          <p:cNvPr id="12" name="Picture Placeholder 11" descr="A logo of a company&#10;&#10;Description automatically generated">
            <a:extLst>
              <a:ext uri="{FF2B5EF4-FFF2-40B4-BE49-F238E27FC236}">
                <a16:creationId xmlns:a16="http://schemas.microsoft.com/office/drawing/2014/main" id="{EF110BF6-DCD8-61D6-A3CE-0A20F4DFDE6D}"/>
              </a:ext>
            </a:extLst>
          </p:cNvPr>
          <p:cNvPicPr>
            <a:picLocks noGrp="1" noChangeAspect="1"/>
          </p:cNvPicPr>
          <p:nvPr>
            <p:ph type="pic" sz="quarter" idx="31"/>
          </p:nvPr>
        </p:nvPicPr>
        <p:blipFill>
          <a:blip r:embed="rId5"/>
          <a:srcRect/>
          <a:stretch>
            <a:fillRect/>
          </a:stretch>
        </p:blipFill>
        <p:spPr/>
      </p:pic>
      <p:pic>
        <p:nvPicPr>
          <p:cNvPr id="28" name="Picture Placeholder 27" descr="A blue and white logo&#10;&#10;Description automatically generated">
            <a:extLst>
              <a:ext uri="{FF2B5EF4-FFF2-40B4-BE49-F238E27FC236}">
                <a16:creationId xmlns:a16="http://schemas.microsoft.com/office/drawing/2014/main" id="{8D287A09-DCBF-2598-EF3B-4D642CFA6C79}"/>
              </a:ext>
            </a:extLst>
          </p:cNvPr>
          <p:cNvPicPr>
            <a:picLocks noGrp="1" noChangeAspect="1"/>
          </p:cNvPicPr>
          <p:nvPr>
            <p:ph type="pic" sz="quarter" idx="32"/>
          </p:nvPr>
        </p:nvPicPr>
        <p:blipFill>
          <a:blip r:embed="rId6"/>
          <a:srcRect/>
          <a:stretch>
            <a:fillRect/>
          </a:stretch>
        </p:blipFill>
        <p:spPr/>
      </p:pic>
      <p:pic>
        <p:nvPicPr>
          <p:cNvPr id="32" name="Picture Placeholder 31" descr="A hexagon with white text&#10;&#10;Description automatically generated">
            <a:extLst>
              <a:ext uri="{FF2B5EF4-FFF2-40B4-BE49-F238E27FC236}">
                <a16:creationId xmlns:a16="http://schemas.microsoft.com/office/drawing/2014/main" id="{6B992C49-B25A-EB00-070B-64E163328EAD}"/>
              </a:ext>
            </a:extLst>
          </p:cNvPr>
          <p:cNvPicPr>
            <a:picLocks noGrp="1" noChangeAspect="1"/>
          </p:cNvPicPr>
          <p:nvPr>
            <p:ph type="pic" sz="quarter" idx="33"/>
          </p:nvPr>
        </p:nvPicPr>
        <p:blipFill>
          <a:blip r:embed="rId7"/>
          <a:srcRect l="22578" r="22578"/>
          <a:stretch>
            <a:fillRect/>
          </a:stretch>
        </p:blipFill>
        <p:spPr/>
      </p:pic>
      <p:pic>
        <p:nvPicPr>
          <p:cNvPr id="30" name="Picture Placeholder 29" descr="A logo for a company&#10;&#10;Description automatically generated">
            <a:extLst>
              <a:ext uri="{FF2B5EF4-FFF2-40B4-BE49-F238E27FC236}">
                <a16:creationId xmlns:a16="http://schemas.microsoft.com/office/drawing/2014/main" id="{066B98C6-B1CE-16C3-1AF1-FB71955325C7}"/>
              </a:ext>
            </a:extLst>
          </p:cNvPr>
          <p:cNvPicPr>
            <a:picLocks noGrp="1" noChangeAspect="1"/>
          </p:cNvPicPr>
          <p:nvPr>
            <p:ph type="pic" sz="quarter" idx="34"/>
          </p:nvPr>
        </p:nvPicPr>
        <p:blipFill>
          <a:blip r:embed="rId8"/>
          <a:srcRect/>
          <a:stretch>
            <a:fillRect/>
          </a:stretch>
        </p:blipFill>
        <p:spPr/>
      </p:pic>
      <p:sp>
        <p:nvSpPr>
          <p:cNvPr id="3" name="Footer Placeholder 2">
            <a:extLst>
              <a:ext uri="{FF2B5EF4-FFF2-40B4-BE49-F238E27FC236}">
                <a16:creationId xmlns:a16="http://schemas.microsoft.com/office/drawing/2014/main" id="{5622EB63-491C-85C2-F489-E7594D45B3DE}"/>
              </a:ext>
            </a:extLst>
          </p:cNvPr>
          <p:cNvSpPr>
            <a:spLocks noGrp="1"/>
          </p:cNvSpPr>
          <p:nvPr>
            <p:ph type="ftr" sz="quarter" idx="3"/>
          </p:nvPr>
        </p:nvSpPr>
        <p:spPr>
          <a:xfrm>
            <a:off x="580220" y="6420659"/>
            <a:ext cx="4150723" cy="197948"/>
          </a:xfrm>
          <a:prstGeom prst="rect">
            <a:avLst/>
          </a:prstGeom>
        </p:spPr>
        <p:txBody>
          <a:bodyPr vert="horz" lIns="0" tIns="0" rIns="0" bIns="0" rtlCol="0" anchor="ctr"/>
          <a:lstStyle>
            <a:defPPr>
              <a:defRPr lang="en-US"/>
            </a:defPPr>
            <a:lvl1pPr marL="0" algn="l" defTabSz="914225" rtl="0" eaLnBrk="1" latinLnBrk="0" hangingPunct="1">
              <a:defRPr lang="en-US" sz="1000" kern="1200" dirty="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a:lstStyle>
          <a:p>
            <a:pPr defTabSz="914192">
              <a:defRPr/>
            </a:pPr>
            <a:r>
              <a:rPr lang="en-ZA">
                <a:solidFill>
                  <a:srgbClr val="000000"/>
                </a:solidFill>
              </a:rPr>
              <a:t>© Copyright Microsoft Corporation. All rights reserved.</a:t>
            </a:r>
            <a:endParaRPr lang="en-US">
              <a:solidFill>
                <a:srgbClr val="000000"/>
              </a:solidFill>
            </a:endParaRPr>
          </a:p>
        </p:txBody>
      </p:sp>
      <p:pic>
        <p:nvPicPr>
          <p:cNvPr id="26" name="Picture Placeholder 25" descr="A blue and white logo with white stars&#10;&#10;Description automatically generated">
            <a:extLst>
              <a:ext uri="{FF2B5EF4-FFF2-40B4-BE49-F238E27FC236}">
                <a16:creationId xmlns:a16="http://schemas.microsoft.com/office/drawing/2014/main" id="{3486F19D-B489-ACBE-8398-E5DC4F9422D3}"/>
              </a:ext>
            </a:extLst>
          </p:cNvPr>
          <p:cNvPicPr>
            <a:picLocks noGrp="1" noChangeAspect="1"/>
          </p:cNvPicPr>
          <p:nvPr>
            <p:ph type="pic" sz="quarter" idx="19"/>
          </p:nvPr>
        </p:nvPicPr>
        <p:blipFill>
          <a:blip r:embed="rId9"/>
          <a:srcRect/>
          <a:stretch>
            <a:fillRect/>
          </a:stretch>
        </p:blipFill>
        <p:spPr/>
      </p:pic>
    </p:spTree>
    <p:extLst>
      <p:ext uri="{BB962C8B-B14F-4D97-AF65-F5344CB8AC3E}">
        <p14:creationId xmlns:p14="http://schemas.microsoft.com/office/powerpoint/2010/main" val="301540372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8851D-736D-41D4-8692-EF31AF3208D7}"/>
              </a:ext>
            </a:extLst>
          </p:cNvPr>
          <p:cNvSpPr>
            <a:spLocks noGrp="1"/>
          </p:cNvSpPr>
          <p:nvPr>
            <p:ph type="title"/>
          </p:nvPr>
        </p:nvSpPr>
        <p:spPr>
          <a:xfrm>
            <a:off x="778762" y="2795017"/>
            <a:ext cx="10308338" cy="1605533"/>
          </a:xfrm>
        </p:spPr>
        <p:txBody>
          <a:bodyPr/>
          <a:lstStyle/>
          <a:p>
            <a:r>
              <a:rPr lang="en-US" sz="4400" b="1" dirty="0"/>
              <a:t>https://</a:t>
            </a:r>
            <a:r>
              <a:rPr lang="en-US" sz="4400" b="1" dirty="0" err="1"/>
              <a:t>github.com</a:t>
            </a:r>
            <a:r>
              <a:rPr lang="en-US" sz="4400" b="1" dirty="0"/>
              <a:t>/Clynton19860/</a:t>
            </a:r>
            <a:r>
              <a:rPr lang="en-US" sz="4400" b="1" dirty="0" err="1"/>
              <a:t>flutter.git</a:t>
            </a:r>
            <a:endParaRPr lang="en-US" sz="4400" b="1" dirty="0"/>
          </a:p>
        </p:txBody>
      </p:sp>
    </p:spTree>
    <p:extLst>
      <p:ext uri="{BB962C8B-B14F-4D97-AF65-F5344CB8AC3E}">
        <p14:creationId xmlns:p14="http://schemas.microsoft.com/office/powerpoint/2010/main" val="11711148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13315C"/>
          </a:solidFill>
          <a:ln w="12700">
            <a:solidFill>
              <a:srgbClr val="13315C"/>
            </a:solidFill>
            <a:prstDash val="solid"/>
          </a:ln>
        </p:spPr>
        <p:txBody>
          <a:bodyPr/>
          <a:lstStyle/>
          <a:p>
            <a:endParaRPr lang="en-US"/>
          </a:p>
        </p:txBody>
      </p:sp>
      <p:sp>
        <p:nvSpPr>
          <p:cNvPr id="3" name="Shape 1"/>
          <p:cNvSpPr/>
          <p:nvPr/>
        </p:nvSpPr>
        <p:spPr>
          <a:xfrm>
            <a:off x="10543032" y="4480560"/>
            <a:ext cx="3108960" cy="3108960"/>
          </a:xfrm>
          <a:prstGeom prst="ellipse">
            <a:avLst/>
          </a:prstGeom>
          <a:solidFill>
            <a:srgbClr val="C9A227"/>
          </a:solidFill>
          <a:ln w="12700">
            <a:solidFill>
              <a:srgbClr val="C9A227"/>
            </a:solidFill>
            <a:prstDash val="solid"/>
          </a:ln>
        </p:spPr>
        <p:txBody>
          <a:bodyPr/>
          <a:lstStyle/>
          <a:p>
            <a:endParaRPr lang="en-US"/>
          </a:p>
        </p:txBody>
      </p:sp>
      <p:sp>
        <p:nvSpPr>
          <p:cNvPr id="4" name="Text 2"/>
          <p:cNvSpPr txBox="1"/>
          <p:nvPr/>
        </p:nvSpPr>
        <p:spPr>
          <a:xfrm>
            <a:off x="548640" y="731520"/>
            <a:ext cx="7315200" cy="365760"/>
          </a:xfrm>
          <a:prstGeom prst="rect">
            <a:avLst/>
          </a:prstGeom>
          <a:noFill/>
          <a:ln/>
        </p:spPr>
        <p:txBody>
          <a:bodyPr wrap="square" lIns="0" tIns="0" rIns="0" bIns="0" rtlCol="0" anchor="ctr"/>
          <a:lstStyle/>
          <a:p>
            <a:pPr marL="0" indent="0">
              <a:buNone/>
            </a:pPr>
            <a:r>
              <a:rPr lang="en-US" sz="1200" kern="0" spc="400" dirty="0">
                <a:solidFill>
                  <a:srgbClr val="E3C766"/>
                </a:solidFill>
                <a:latin typeface="Calibri" pitchFamily="34" charset="0"/>
                <a:ea typeface="Calibri" pitchFamily="34" charset="-122"/>
                <a:cs typeface="Calibri" pitchFamily="34" charset="-120"/>
              </a:rPr>
              <a:t>MO INTEGRATIONS  ·  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marL="0" indent="0">
              <a:buNone/>
            </a:pPr>
            <a:r>
              <a:rPr lang="en-US" sz="1800" dirty="0">
                <a:solidFill>
                  <a:srgbClr val="D7DEE8"/>
                </a:solidFill>
                <a:latin typeface="Calibri" pitchFamily="34" charset="0"/>
                <a:ea typeface="Calibri" pitchFamily="34" charset="-122"/>
                <a:cs typeface="Calibri" pitchFamily="34" charset="-120"/>
              </a:rPr>
              <a:t>Flutter Mobile Application Development · 5-Day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Day 1</a:t>
            </a:r>
            <a:endParaRPr lang="en-US" sz="4800" dirty="0"/>
          </a:p>
          <a:p>
            <a:pPr marL="0" indent="0">
              <a:buNone/>
            </a:pPr>
            <a:r>
              <a:rPr lang="en-US" sz="4800" b="1" dirty="0">
                <a:solidFill>
                  <a:srgbClr val="FFFFFF"/>
                </a:solidFill>
                <a:latin typeface="Calibri" pitchFamily="34" charset="0"/>
                <a:ea typeface="Calibri" pitchFamily="34" charset="-122"/>
                <a:cs typeface="Calibri" pitchFamily="34" charset="-120"/>
              </a:rPr>
              <a:t>Foundations &amp; Dart</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marL="0" indent="0">
              <a:buNone/>
            </a:pPr>
            <a:r>
              <a:rPr lang="en-US" sz="2000" dirty="0">
                <a:solidFill>
                  <a:srgbClr val="E3C766"/>
                </a:solidFill>
                <a:latin typeface="Calibri" pitchFamily="34" charset="0"/>
                <a:ea typeface="Calibri" pitchFamily="34" charset="-122"/>
                <a:cs typeface="Calibri" pitchFamily="34" charset="-120"/>
              </a:rPr>
              <a:t>Environment · Dart primer · Async Dart · First Flutter app</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marL="0" indent="0">
              <a:buNone/>
            </a:pPr>
            <a:r>
              <a:rPr lang="en-US" sz="1200" dirty="0">
                <a:solidFill>
                  <a:srgbClr val="AAB6C4"/>
                </a:solidFill>
                <a:latin typeface="Calibri" pitchFamily="34" charset="0"/>
                <a:ea typeface="Calibri" pitchFamily="34" charset="-122"/>
                <a:cs typeface="Calibri" pitchFamily="34" charset="-120"/>
              </a:rPr>
              <a:t>Anchor project: white-label motor-insurance quote app  ·  Instructor: Clynton Botterill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Day 1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822960"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5" name="Text 3"/>
          <p:cNvSpPr txBox="1"/>
          <p:nvPr/>
        </p:nvSpPr>
        <p:spPr>
          <a:xfrm>
            <a:off x="822960"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Setup &amp; tooling</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What Flutter is and how it renders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SDK, IDE, emulator, devices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Project anatomy, hot reload</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1.1 - toolchain verified</a:t>
            </a:r>
            <a:endParaRPr lang="en-US" sz="1200" dirty="0"/>
          </a:p>
        </p:txBody>
      </p:sp>
      <p:sp>
        <p:nvSpPr>
          <p:cNvPr id="9" name="Shape 7"/>
          <p:cNvSpPr/>
          <p:nvPr/>
        </p:nvSpPr>
        <p:spPr>
          <a:xfrm>
            <a:off x="3390138"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3664458"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11" name="Text 9"/>
          <p:cNvSpPr txBox="1"/>
          <p:nvPr/>
        </p:nvSpPr>
        <p:spPr>
          <a:xfrm>
            <a:off x="3664458"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Dart primer</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Mapped from Java / C# / TypeScript</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Null safety, named params, classes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Records, sealed classes, patterns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1.2 - quote domain model</a:t>
            </a:r>
            <a:endParaRPr lang="en-US" sz="1200" dirty="0"/>
          </a:p>
        </p:txBody>
      </p:sp>
      <p:sp>
        <p:nvSpPr>
          <p:cNvPr id="15" name="Shape 13"/>
          <p:cNvSpPr/>
          <p:nvPr/>
        </p:nvSpPr>
        <p:spPr>
          <a:xfrm>
            <a:off x="6231636"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6505956"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17" name="Text 15"/>
          <p:cNvSpPr txBox="1"/>
          <p:nvPr/>
        </p:nvSpPr>
        <p:spPr>
          <a:xfrm>
            <a:off x="6505956"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13:15 - 14:30</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Async Dart</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Future vs Promise / Task</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async / await, error handling</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Streams vs Observables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1.3 - async quote service</a:t>
            </a:r>
            <a:endParaRPr lang="en-US" sz="1200" dirty="0"/>
          </a:p>
        </p:txBody>
      </p:sp>
      <p:sp>
        <p:nvSpPr>
          <p:cNvPr id="21" name="Shape 19"/>
          <p:cNvSpPr/>
          <p:nvPr/>
        </p:nvSpPr>
        <p:spPr>
          <a:xfrm>
            <a:off x="9073134"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22" name="Shape 20"/>
          <p:cNvSpPr/>
          <p:nvPr/>
        </p:nvSpPr>
        <p:spPr>
          <a:xfrm>
            <a:off x="9347454"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23" name="Text 21"/>
          <p:cNvSpPr txBox="1"/>
          <p:nvPr/>
        </p:nvSpPr>
        <p:spPr>
          <a:xfrm>
            <a:off x="9347454"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14:45 - 16:00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First Flutter app</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Theory to 15:15: widget tree, three trees, main.dart</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Stateless vs Stateful, lifecycle, DevTools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1.4 - 15:15 to 15:55</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Recap 15:55 - 16:00</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The app we build this week</a:t>
            </a:r>
            <a:endParaRPr lang="en-US" sz="3000" dirty="0"/>
          </a:p>
        </p:txBody>
      </p:sp>
      <p:sp>
        <p:nvSpPr>
          <p:cNvPr id="3" name="Shape 1"/>
          <p:cNvSpPr/>
          <p:nvPr/>
        </p:nvSpPr>
        <p:spPr>
          <a:xfrm>
            <a:off x="54864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Onboarding</a:t>
            </a:r>
            <a:endParaRPr lang="en-US" sz="1400" dirty="0"/>
          </a:p>
        </p:txBody>
      </p:sp>
      <p:sp>
        <p:nvSpPr>
          <p:cNvPr id="7" name="Text 5"/>
          <p:cNvSpPr txBox="1"/>
          <p:nvPr/>
        </p:nvSpPr>
        <p:spPr>
          <a:xfrm>
            <a:off x="77724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Brand splash, first-run flag in shared_preferences (Day 4)</a:t>
            </a:r>
            <a:endParaRPr lang="en-US" sz="1150" dirty="0"/>
          </a:p>
        </p:txBody>
      </p:sp>
      <p:sp>
        <p:nvSpPr>
          <p:cNvPr id="8" name="Text 6"/>
          <p:cNvSpPr txBox="1"/>
          <p:nvPr/>
        </p:nvSpPr>
        <p:spPr>
          <a:xfrm>
            <a:off x="2465222"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2830982"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3059582"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3059582"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059582"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Capture form</a:t>
            </a:r>
            <a:endParaRPr lang="en-US" sz="1400" dirty="0"/>
          </a:p>
        </p:txBody>
      </p:sp>
      <p:sp>
        <p:nvSpPr>
          <p:cNvPr id="13" name="Text 11"/>
          <p:cNvSpPr txBox="1"/>
          <p:nvPr/>
        </p:nvSpPr>
        <p:spPr>
          <a:xfrm>
            <a:off x="3059582"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Driver, vehicle, cover - validated Form (Day 2)</a:t>
            </a:r>
            <a:endParaRPr lang="en-US" sz="1150" dirty="0"/>
          </a:p>
        </p:txBody>
      </p:sp>
      <p:sp>
        <p:nvSpPr>
          <p:cNvPr id="14" name="Text 12"/>
          <p:cNvSpPr txBox="1"/>
          <p:nvPr/>
        </p:nvSpPr>
        <p:spPr>
          <a:xfrm>
            <a:off x="4747565"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5113325"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5341925"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5341925"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5341925"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Quote state</a:t>
            </a:r>
            <a:endParaRPr lang="en-US" sz="1400" dirty="0"/>
          </a:p>
        </p:txBody>
      </p:sp>
      <p:sp>
        <p:nvSpPr>
          <p:cNvPr id="19" name="Text 17"/>
          <p:cNvSpPr txBox="1"/>
          <p:nvPr/>
        </p:nvSpPr>
        <p:spPr>
          <a:xfrm>
            <a:off x="5341925"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Riverpod notifier: idle → loading → loaded / failed (Day 3)</a:t>
            </a:r>
            <a:endParaRPr lang="en-US" sz="1150" dirty="0"/>
          </a:p>
        </p:txBody>
      </p:sp>
      <p:sp>
        <p:nvSpPr>
          <p:cNvPr id="20" name="Text 18"/>
          <p:cNvSpPr txBox="1"/>
          <p:nvPr/>
        </p:nvSpPr>
        <p:spPr>
          <a:xfrm>
            <a:off x="7029907"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7395667"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22" name="Shape 20"/>
          <p:cNvSpPr/>
          <p:nvPr/>
        </p:nvSpPr>
        <p:spPr>
          <a:xfrm>
            <a:off x="7624267"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3" name="Text 21"/>
          <p:cNvSpPr txBox="1"/>
          <p:nvPr/>
        </p:nvSpPr>
        <p:spPr>
          <a:xfrm>
            <a:off x="7624267"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624267"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API + storage</a:t>
            </a:r>
            <a:endParaRPr lang="en-US" sz="1400" dirty="0"/>
          </a:p>
        </p:txBody>
      </p:sp>
      <p:sp>
        <p:nvSpPr>
          <p:cNvPr id="25" name="Text 23"/>
          <p:cNvSpPr txBox="1"/>
          <p:nvPr/>
        </p:nvSpPr>
        <p:spPr>
          <a:xfrm>
            <a:off x="7624267"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dio + JSON models, saved quotes in SQLite (Day 4)</a:t>
            </a:r>
            <a:endParaRPr lang="en-US" sz="1150" dirty="0"/>
          </a:p>
        </p:txBody>
      </p:sp>
      <p:sp>
        <p:nvSpPr>
          <p:cNvPr id="26" name="Text 24"/>
          <p:cNvSpPr txBox="1"/>
          <p:nvPr/>
        </p:nvSpPr>
        <p:spPr>
          <a:xfrm>
            <a:off x="9312250"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7" name="Shape 25"/>
          <p:cNvSpPr/>
          <p:nvPr/>
        </p:nvSpPr>
        <p:spPr>
          <a:xfrm>
            <a:off x="967801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28" name="Shape 26"/>
          <p:cNvSpPr/>
          <p:nvPr/>
        </p:nvSpPr>
        <p:spPr>
          <a:xfrm>
            <a:off x="990661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9" name="Text 27"/>
          <p:cNvSpPr txBox="1"/>
          <p:nvPr/>
        </p:nvSpPr>
        <p:spPr>
          <a:xfrm>
            <a:off x="990661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990661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Ship it</a:t>
            </a:r>
            <a:endParaRPr lang="en-US" sz="1400" dirty="0"/>
          </a:p>
        </p:txBody>
      </p:sp>
      <p:sp>
        <p:nvSpPr>
          <p:cNvPr id="31" name="Text 29"/>
          <p:cNvSpPr txBox="1"/>
          <p:nvPr/>
        </p:nvSpPr>
        <p:spPr>
          <a:xfrm>
            <a:off x="990661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Tests, two brand flavours, signed AAB, CI (Day 5)</a:t>
            </a:r>
            <a:endParaRPr lang="en-US" sz="1150" dirty="0"/>
          </a:p>
        </p:txBody>
      </p:sp>
      <p:sp>
        <p:nvSpPr>
          <p:cNvPr id="32" name="Text 30"/>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One codebase, many brands. Every lab adds a piece; Friday afternoon is a project clinic against your real insurance app.</a:t>
            </a:r>
            <a:endParaRPr lang="en-US" sz="1400" dirty="0"/>
          </a:p>
        </p:txBody>
      </p:sp>
      <p:sp>
        <p:nvSpPr>
          <p:cNvPr id="33" name="Text 3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34" name="Text 3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Where the survey said we should spend the time</a:t>
            </a:r>
            <a:endParaRPr lang="en-US" sz="3000" dirty="0"/>
          </a:p>
        </p:txBody>
      </p:sp>
      <p:sp>
        <p:nvSpPr>
          <p:cNvPr id="3" name="Shape 1"/>
          <p:cNvSpPr/>
          <p:nvPr/>
        </p:nvSpPr>
        <p:spPr>
          <a:xfrm>
            <a:off x="548640" y="1554480"/>
            <a:ext cx="2567178" cy="2743200"/>
          </a:xfrm>
          <a:prstGeom prst="roundRect">
            <a:avLst>
              <a:gd name="adj" fmla="val 3562"/>
            </a:avLst>
          </a:prstGeom>
          <a:solidFill>
            <a:srgbClr val="FBECEE"/>
          </a:solidFill>
          <a:ln w="6350">
            <a:solidFill>
              <a:srgbClr val="FBECEE"/>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31520" y="1737360"/>
            <a:ext cx="2201418" cy="1188720"/>
          </a:xfrm>
          <a:prstGeom prst="rect">
            <a:avLst/>
          </a:prstGeom>
          <a:noFill/>
          <a:ln/>
        </p:spPr>
        <p:txBody>
          <a:bodyPr wrap="square" lIns="0" tIns="0" rIns="0" bIns="0" rtlCol="0" anchor="ctr"/>
          <a:lstStyle/>
          <a:p>
            <a:pPr marL="0" indent="0" algn="ctr">
              <a:buNone/>
            </a:pPr>
            <a:r>
              <a:rPr lang="en-US" sz="4800" b="1" dirty="0">
                <a:solidFill>
                  <a:srgbClr val="B23A48"/>
                </a:solidFill>
                <a:latin typeface="Calibri" pitchFamily="34" charset="0"/>
                <a:ea typeface="Calibri" pitchFamily="34" charset="-122"/>
                <a:cs typeface="Calibri" pitchFamily="34" charset="-120"/>
              </a:rPr>
              <a:t>1.6</a:t>
            </a:r>
            <a:endParaRPr lang="en-US" sz="4800" dirty="0"/>
          </a:p>
        </p:txBody>
      </p:sp>
      <p:sp>
        <p:nvSpPr>
          <p:cNvPr id="5" name="Text 3"/>
          <p:cNvSpPr txBox="1"/>
          <p:nvPr/>
        </p:nvSpPr>
        <p:spPr>
          <a:xfrm>
            <a:off x="731520"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Publishing to stores</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(lowest) → Day 5</a:t>
            </a:r>
            <a:endParaRPr lang="en-US" sz="1300" dirty="0"/>
          </a:p>
        </p:txBody>
      </p:sp>
      <p:sp>
        <p:nvSpPr>
          <p:cNvPr id="6" name="Shape 4"/>
          <p:cNvSpPr/>
          <p:nvPr/>
        </p:nvSpPr>
        <p:spPr>
          <a:xfrm>
            <a:off x="3390138" y="1554480"/>
            <a:ext cx="2567178" cy="2743200"/>
          </a:xfrm>
          <a:prstGeom prst="roundRect">
            <a:avLst>
              <a:gd name="adj" fmla="val 3562"/>
            </a:avLst>
          </a:prstGeom>
          <a:solidFill>
            <a:srgbClr val="FBECEE"/>
          </a:solidFill>
          <a:ln w="6350">
            <a:solidFill>
              <a:srgbClr val="FBECEE"/>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3573018" y="1737360"/>
            <a:ext cx="2201418" cy="1188720"/>
          </a:xfrm>
          <a:prstGeom prst="rect">
            <a:avLst/>
          </a:prstGeom>
          <a:noFill/>
          <a:ln/>
        </p:spPr>
        <p:txBody>
          <a:bodyPr wrap="square" lIns="0" tIns="0" rIns="0" bIns="0" rtlCol="0" anchor="ctr"/>
          <a:lstStyle/>
          <a:p>
            <a:pPr marL="0" indent="0" algn="ctr">
              <a:buNone/>
            </a:pPr>
            <a:r>
              <a:rPr lang="en-US" sz="4800" b="1" dirty="0">
                <a:solidFill>
                  <a:srgbClr val="B23A48"/>
                </a:solidFill>
                <a:latin typeface="Calibri" pitchFamily="34" charset="0"/>
                <a:ea typeface="Calibri" pitchFamily="34" charset="-122"/>
                <a:cs typeface="Calibri" pitchFamily="34" charset="-120"/>
              </a:rPr>
              <a:t>1.8</a:t>
            </a:r>
            <a:endParaRPr lang="en-US" sz="4800" dirty="0"/>
          </a:p>
        </p:txBody>
      </p:sp>
      <p:sp>
        <p:nvSpPr>
          <p:cNvPr id="8" name="Text 6"/>
          <p:cNvSpPr txBox="1"/>
          <p:nvPr/>
        </p:nvSpPr>
        <p:spPr>
          <a:xfrm>
            <a:off x="3573018"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State management</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 Day 3</a:t>
            </a:r>
            <a:endParaRPr lang="en-US" sz="1300" dirty="0"/>
          </a:p>
        </p:txBody>
      </p:sp>
      <p:sp>
        <p:nvSpPr>
          <p:cNvPr id="9" name="Shape 7"/>
          <p:cNvSpPr/>
          <p:nvPr/>
        </p:nvSpPr>
        <p:spPr>
          <a:xfrm>
            <a:off x="6231636" y="1554480"/>
            <a:ext cx="2567178" cy="2743200"/>
          </a:xfrm>
          <a:prstGeom prst="roundRect">
            <a:avLst>
              <a:gd name="adj" fmla="val 3562"/>
            </a:avLst>
          </a:prstGeom>
          <a:solidFill>
            <a:srgbClr val="FBECEE"/>
          </a:solidFill>
          <a:ln w="6350">
            <a:solidFill>
              <a:srgbClr val="FBECEE"/>
            </a:solidFill>
            <a:prstDash val="solid"/>
          </a:ln>
          <a:effectLst>
            <a:outerShdw blurRad="38100" dist="12700" dir="5400000" algn="bl" rotWithShape="0">
              <a:srgbClr val="000000">
                <a:alpha val="8000"/>
              </a:srgbClr>
            </a:outerShdw>
          </a:effectLst>
        </p:spPr>
        <p:txBody>
          <a:bodyPr/>
          <a:lstStyle/>
          <a:p>
            <a:endParaRPr lang="en-US"/>
          </a:p>
        </p:txBody>
      </p:sp>
      <p:sp>
        <p:nvSpPr>
          <p:cNvPr id="10" name="Text 8"/>
          <p:cNvSpPr txBox="1"/>
          <p:nvPr/>
        </p:nvSpPr>
        <p:spPr>
          <a:xfrm>
            <a:off x="6414516" y="1737360"/>
            <a:ext cx="2201418" cy="1188720"/>
          </a:xfrm>
          <a:prstGeom prst="rect">
            <a:avLst/>
          </a:prstGeom>
          <a:noFill/>
          <a:ln/>
        </p:spPr>
        <p:txBody>
          <a:bodyPr wrap="square" lIns="0" tIns="0" rIns="0" bIns="0" rtlCol="0" anchor="ctr"/>
          <a:lstStyle/>
          <a:p>
            <a:pPr marL="0" indent="0" algn="ctr">
              <a:buNone/>
            </a:pPr>
            <a:r>
              <a:rPr lang="en-US" sz="4800" b="1" dirty="0">
                <a:solidFill>
                  <a:srgbClr val="B23A48"/>
                </a:solidFill>
                <a:latin typeface="Calibri" pitchFamily="34" charset="0"/>
                <a:ea typeface="Calibri" pitchFamily="34" charset="-122"/>
                <a:cs typeface="Calibri" pitchFamily="34" charset="-120"/>
              </a:rPr>
              <a:t>2.2</a:t>
            </a:r>
            <a:endParaRPr lang="en-US" sz="4800" dirty="0"/>
          </a:p>
        </p:txBody>
      </p:sp>
      <p:sp>
        <p:nvSpPr>
          <p:cNvPr id="11" name="Text 9"/>
          <p:cNvSpPr txBox="1"/>
          <p:nvPr/>
        </p:nvSpPr>
        <p:spPr>
          <a:xfrm>
            <a:off x="6414516"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Widgets &amp; layout</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 Day 2</a:t>
            </a:r>
            <a:endParaRPr lang="en-US" sz="1300" dirty="0"/>
          </a:p>
        </p:txBody>
      </p:sp>
      <p:sp>
        <p:nvSpPr>
          <p:cNvPr id="12" name="Shape 10"/>
          <p:cNvSpPr/>
          <p:nvPr/>
        </p:nvSpPr>
        <p:spPr>
          <a:xfrm>
            <a:off x="9073134" y="1554480"/>
            <a:ext cx="2567178" cy="274320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9256014" y="1737360"/>
            <a:ext cx="2201418" cy="1188720"/>
          </a:xfrm>
          <a:prstGeom prst="rect">
            <a:avLst/>
          </a:prstGeom>
          <a:noFill/>
          <a:ln/>
        </p:spPr>
        <p:txBody>
          <a:bodyPr wrap="square" lIns="0" tIns="0" rIns="0" bIns="0" rtlCol="0" anchor="ctr"/>
          <a:lstStyle/>
          <a:p>
            <a:pPr marL="0" indent="0" algn="ctr">
              <a:buNone/>
            </a:pPr>
            <a:r>
              <a:rPr lang="en-US" sz="4800" b="1" dirty="0">
                <a:solidFill>
                  <a:srgbClr val="0B2545"/>
                </a:solidFill>
                <a:latin typeface="Calibri" pitchFamily="34" charset="0"/>
                <a:ea typeface="Calibri" pitchFamily="34" charset="-122"/>
                <a:cs typeface="Calibri" pitchFamily="34" charset="-120"/>
              </a:rPr>
              <a:t>4.0+</a:t>
            </a:r>
            <a:endParaRPr lang="en-US" sz="4800" dirty="0"/>
          </a:p>
        </p:txBody>
      </p:sp>
      <p:sp>
        <p:nvSpPr>
          <p:cNvPr id="14" name="Text 12"/>
          <p:cNvSpPr txBox="1"/>
          <p:nvPr/>
        </p:nvSpPr>
        <p:spPr>
          <a:xfrm>
            <a:off x="9256014"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OOP, REST/JSON, Git</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 taught as Flutter idiom only</a:t>
            </a:r>
            <a:endParaRPr lang="en-US" sz="1300" dirty="0"/>
          </a:p>
        </p:txBody>
      </p:sp>
      <p:sp>
        <p:nvSpPr>
          <p:cNvPr id="15" name="Text 13"/>
          <p:cNvSpPr txBox="1"/>
          <p:nvPr/>
        </p:nvSpPr>
        <p:spPr>
          <a:xfrm>
            <a:off x="548640" y="4572000"/>
            <a:ext cx="11091672" cy="14630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Averages from the pre-course skills survey (1 = never done it, 5 = very confident). We move fast where you are strong and slow where you are not. Dart ranged from 1 to 5, so this morning's primer is brisk with a stretch lane.</a:t>
            </a:r>
            <a:endParaRPr lang="en-US" sz="1400" dirty="0"/>
          </a:p>
        </p:txBody>
      </p:sp>
      <p:sp>
        <p:nvSpPr>
          <p:cNvPr id="16" name="Text 1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7" name="Text 1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1  ·  09:00 - 10:30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Setup &amp; tooling</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how Flutter renders and why it has no bridge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Install and verify the SDK on macOS or Windows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Run an app on an emulator and a physical device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Navigate a Flutter project and use hot reload</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What Flutter is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UI toolkit from Google. </a:t>
            </a:r>
            <a:r>
              <a:rPr lang="en-US" sz="1400" dirty="0">
                <a:solidFill>
                  <a:srgbClr val="1F2933"/>
                </a:solidFill>
                <a:latin typeface="Calibri" pitchFamily="34" charset="0"/>
                <a:ea typeface="Calibri" pitchFamily="34" charset="-122"/>
                <a:cs typeface="Calibri" pitchFamily="34" charset="-120"/>
              </a:rPr>
              <a:t>One Dart codebase → Android, iOS, web, Windows, macOS, Linux.</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 owns every pixel. </a:t>
            </a:r>
            <a:r>
              <a:rPr lang="en-US" sz="1400" dirty="0">
                <a:solidFill>
                  <a:srgbClr val="1F2933"/>
                </a:solidFill>
                <a:latin typeface="Calibri" pitchFamily="34" charset="0"/>
                <a:ea typeface="Calibri" pitchFamily="34" charset="-122"/>
                <a:cs typeface="Calibri" pitchFamily="34" charset="-120"/>
              </a:rPr>
              <a:t>Flutter does not use native buttons or text fields. It draws its own on a GPU canvas via Impeller.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Result: </a:t>
            </a:r>
            <a:r>
              <a:rPr lang="en-US" sz="1400" dirty="0">
                <a:solidFill>
                  <a:srgbClr val="1F2933"/>
                </a:solidFill>
                <a:latin typeface="Calibri" pitchFamily="34" charset="0"/>
                <a:ea typeface="Calibri" pitchFamily="34" charset="-122"/>
                <a:cs typeface="Calibri" pitchFamily="34" charset="-120"/>
              </a:rPr>
              <a:t>identical UI on every platform, no bridge, no platform-specific UI bugs.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Trade-off: </a:t>
            </a:r>
            <a:r>
              <a:rPr lang="en-US" sz="1400" dirty="0">
                <a:solidFill>
                  <a:srgbClr val="1F2933"/>
                </a:solidFill>
                <a:latin typeface="Calibri" pitchFamily="34" charset="0"/>
                <a:ea typeface="Calibri" pitchFamily="34" charset="-122"/>
                <a:cs typeface="Calibri" pitchFamily="34" charset="-120"/>
              </a:rPr>
              <a:t>the app does not automatically look "native"; you choose Material or Cupertino.</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Who uses it: </a:t>
            </a:r>
            <a:r>
              <a:rPr lang="en-US" sz="1400" dirty="0">
                <a:solidFill>
                  <a:srgbClr val="1F2933"/>
                </a:solidFill>
                <a:latin typeface="Calibri" pitchFamily="34" charset="0"/>
                <a:ea typeface="Calibri" pitchFamily="34" charset="-122"/>
                <a:cs typeface="Calibri" pitchFamily="34" charset="-120"/>
              </a:rPr>
              <a:t>Google Pay, BMW, Toyota, Alibaba, Nubank, eBay Motors.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Everything is a widget - including layout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Scaffold(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appBar: AppBar(title: Text('Get a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body: Center(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child: Column(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mainAxisSize: MainAxisSize.min,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children: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Text('Monthly premium'),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Text('R 1 450', style: TextStyle(fontSize: 40)),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FilledButton(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onPressed: ()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child: Text('Accept'),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Architecture: three layers</a:t>
            </a:r>
            <a:endParaRPr lang="en-US" sz="3000" dirty="0"/>
          </a:p>
        </p:txBody>
      </p:sp>
      <p:sp>
        <p:nvSpPr>
          <p:cNvPr id="3" name="Shape 1"/>
          <p:cNvSpPr/>
          <p:nvPr/>
        </p:nvSpPr>
        <p:spPr>
          <a:xfrm>
            <a:off x="548640"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Framework (Dart)</a:t>
            </a:r>
            <a:endParaRPr lang="en-US" sz="1400" dirty="0"/>
          </a:p>
        </p:txBody>
      </p:sp>
      <p:sp>
        <p:nvSpPr>
          <p:cNvPr id="7" name="Text 5"/>
          <p:cNvSpPr txBox="1"/>
          <p:nvPr/>
        </p:nvSpPr>
        <p:spPr>
          <a:xfrm>
            <a:off x="777240"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Widgets, rendering, animation, Material/Cupertino. This is what you write against.</a:t>
            </a:r>
            <a:endParaRPr lang="en-US" sz="1150" dirty="0"/>
          </a:p>
        </p:txBody>
      </p:sp>
      <p:sp>
        <p:nvSpPr>
          <p:cNvPr id="8" name="Text 6"/>
          <p:cNvSpPr txBox="1"/>
          <p:nvPr/>
        </p:nvSpPr>
        <p:spPr>
          <a:xfrm>
            <a:off x="3986784"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4352544" y="1737360"/>
            <a:ext cx="3483864" cy="2377440"/>
          </a:xfrm>
          <a:prstGeom prst="roundRect">
            <a:avLst>
              <a:gd name="adj" fmla="val 3846"/>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4581144"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4581144"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581144"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Engine (C++)</a:t>
            </a:r>
            <a:endParaRPr lang="en-US" sz="1400" dirty="0"/>
          </a:p>
        </p:txBody>
      </p:sp>
      <p:sp>
        <p:nvSpPr>
          <p:cNvPr id="13" name="Text 11"/>
          <p:cNvSpPr txBox="1"/>
          <p:nvPr/>
        </p:nvSpPr>
        <p:spPr>
          <a:xfrm>
            <a:off x="4581144"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Impeller renderer, Dart VM/AOT runtime, text layout, platform channels.</a:t>
            </a:r>
            <a:endParaRPr lang="en-US" sz="1150" dirty="0"/>
          </a:p>
        </p:txBody>
      </p:sp>
      <p:sp>
        <p:nvSpPr>
          <p:cNvPr id="14" name="Text 12"/>
          <p:cNvSpPr txBox="1"/>
          <p:nvPr/>
        </p:nvSpPr>
        <p:spPr>
          <a:xfrm>
            <a:off x="7790688"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8156448"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8385048"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8385048"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85048"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Embedder (native)</a:t>
            </a:r>
            <a:endParaRPr lang="en-US" sz="1400" dirty="0"/>
          </a:p>
        </p:txBody>
      </p:sp>
      <p:sp>
        <p:nvSpPr>
          <p:cNvPr id="19" name="Text 17"/>
          <p:cNvSpPr txBox="1"/>
          <p:nvPr/>
        </p:nvSpPr>
        <p:spPr>
          <a:xfrm>
            <a:off x="8385048"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Kotlin/Java on Android, Swift/ObjC on iOS. Hosts the engine, provides a surface, input, and lifecycle.</a:t>
            </a:r>
            <a:endParaRPr lang="en-US" sz="1150" dirty="0"/>
          </a:p>
        </p:txBody>
      </p:sp>
      <p:sp>
        <p:nvSpPr>
          <p:cNvPr id="20" name="Text 18"/>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You spend 99% of your time in the top layer. Platform channels (Day 5) let Dart call into the embedder when you need a native API the plugin ecosystem does not cover.</a:t>
            </a:r>
            <a:endParaRPr lang="en-US" sz="1400" dirty="0"/>
          </a:p>
        </p:txBody>
      </p:sp>
      <p:sp>
        <p:nvSpPr>
          <p:cNvPr id="21" name="Text 1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22" name="Text 2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Flutter vs React Native vs native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1" cy="2496312"/>
        </p:xfrm>
        <a:graphic>
          <a:graphicData uri="http://schemas.openxmlformats.org/drawingml/2006/table">
            <a:tbl>
              <a:tblPr/>
              <a:tblGrid>
                <a:gridCol w="2107418">
                  <a:extLst>
                    <a:ext uri="{9D8B030D-6E8A-4147-A177-3AD203B41FA5}">
                      <a16:colId xmlns:a16="http://schemas.microsoft.com/office/drawing/2014/main" val="20000"/>
                    </a:ext>
                  </a:extLst>
                </a:gridCol>
                <a:gridCol w="2994751">
                  <a:extLst>
                    <a:ext uri="{9D8B030D-6E8A-4147-A177-3AD203B41FA5}">
                      <a16:colId xmlns:a16="http://schemas.microsoft.com/office/drawing/2014/main" val="20001"/>
                    </a:ext>
                  </a:extLst>
                </a:gridCol>
                <a:gridCol w="2994751">
                  <a:extLst>
                    <a:ext uri="{9D8B030D-6E8A-4147-A177-3AD203B41FA5}">
                      <a16:colId xmlns:a16="http://schemas.microsoft.com/office/drawing/2014/main" val="20002"/>
                    </a:ext>
                  </a:extLst>
                </a:gridCol>
                <a:gridCol w="2994751">
                  <a:extLst>
                    <a:ext uri="{9D8B030D-6E8A-4147-A177-3AD203B41FA5}">
                      <a16:colId xmlns:a16="http://schemas.microsoft.com/office/drawing/2014/main" val="20003"/>
                    </a:ext>
                  </a:extLst>
                </a:gridCol>
              </a:tblGrid>
              <a:tr h="0">
                <a:tc>
                  <a:txBody>
                    <a:bodyPr/>
                    <a:lstStyle/>
                    <a:p>
                      <a:pPr marL="0" indent="0">
                        <a:buNone/>
                      </a:pP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Flutter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React Native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Native (Kotlin / Swift)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Language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JavaScript / TypeScript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Kotlin, Swift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UI rendering</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Own canvas (Impeller) - pixel-identical</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Native views via JSI / Fabric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Native views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AOT compiled, no bridge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JS engine + native, near-native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Best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Look &amp; feel</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Same everywhere; Material or Cupertino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Platform-native by default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Platform-native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Web / desktop</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Web, Windows, macOS, Linux</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Web via react-native-web; desktop limited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OTA updates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Shorebird (3rd party)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Expo EAS Update built in</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Ecosystem</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pub.dev, ~50k packages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npm, huge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Platform SDKs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Team fit here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C# / Java / TS devs - Dart is a small jump</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JS/TS devs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Two codebases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Dart: JIT in development, AOT in production</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Development: </a:t>
            </a:r>
            <a:r>
              <a:rPr lang="en-US" sz="1400" dirty="0">
                <a:solidFill>
                  <a:srgbClr val="1F2933"/>
                </a:solidFill>
                <a:latin typeface="Calibri" pitchFamily="34" charset="0"/>
                <a:ea typeface="Calibri" pitchFamily="34" charset="-122"/>
                <a:cs typeface="Calibri" pitchFamily="34" charset="-120"/>
              </a:rPr>
              <a:t>Dart runs on a JIT VM. Change code → hot reload injects it into the running app in under a second, keeping state.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Release: </a:t>
            </a:r>
            <a:r>
              <a:rPr lang="en-US" sz="1400" dirty="0">
                <a:solidFill>
                  <a:srgbClr val="1F2933"/>
                </a:solidFill>
                <a:latin typeface="Calibri" pitchFamily="34" charset="0"/>
                <a:ea typeface="Calibri" pitchFamily="34" charset="-122"/>
                <a:cs typeface="Calibri" pitchFamily="34" charset="-120"/>
              </a:rPr>
              <a:t>ahead-of-time compiled to native ARM / x64. No interpreter, no bridge, predictable performance.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Sound null safety: </a:t>
            </a:r>
            <a:r>
              <a:rPr lang="en-US" sz="1400" dirty="0">
                <a:solidFill>
                  <a:srgbClr val="1F2933"/>
                </a:solidFill>
                <a:latin typeface="Calibri" pitchFamily="34" charset="0"/>
                <a:ea typeface="Calibri" pitchFamily="34" charset="-122"/>
                <a:cs typeface="Calibri" pitchFamily="34" charset="-120"/>
              </a:rPr>
              <a:t>nullability is part of the type. The compiler, not you, proves a value cannot be null.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Familiar: </a:t>
            </a:r>
            <a:r>
              <a:rPr lang="en-US" sz="1400" dirty="0">
                <a:solidFill>
                  <a:srgbClr val="1F2933"/>
                </a:solidFill>
                <a:latin typeface="Calibri" pitchFamily="34" charset="0"/>
                <a:ea typeface="Calibri" pitchFamily="34" charset="-122"/>
                <a:cs typeface="Calibri" pitchFamily="34" charset="-120"/>
              </a:rPr>
              <a:t>C-style syntax, classes, generics, async/await. If you read TypeScript or C#, you can read Dart today.</a:t>
            </a:r>
            <a:endParaRPr lang="en-US" sz="1400" dirty="0"/>
          </a:p>
        </p:txBody>
      </p:sp>
      <p:sp>
        <p:nvSpPr>
          <p:cNvPr id="4" name="Shape 2"/>
          <p:cNvSpPr/>
          <p:nvPr/>
        </p:nvSpPr>
        <p:spPr>
          <a:xfrm>
            <a:off x="5787969" y="1325880"/>
            <a:ext cx="5852343" cy="3931920"/>
          </a:xfrm>
          <a:prstGeom prst="roundRect">
            <a:avLst>
              <a:gd name="adj" fmla="val 1860"/>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37124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Same file, two lives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     flutter run          → JIT, hot reload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release: flutter build apk    → AOT native code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void main() =&gt; runApp(const QuoteApp());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Null safety is in the type system:</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String name = 'Sive';   // never null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String? nickname;       // may be null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print(nickname?.length ?? 0);</a:t>
            </a:r>
            <a:endParaRPr lang="en-US" sz="1100" dirty="0"/>
          </a:p>
        </p:txBody>
      </p:sp>
      <p:sp>
        <p:nvSpPr>
          <p:cNvPr id="7" name="Shape 5"/>
          <p:cNvSpPr/>
          <p:nvPr/>
        </p:nvSpPr>
        <p:spPr>
          <a:xfrm>
            <a:off x="5787969" y="5394960"/>
            <a:ext cx="5852343"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5925129" y="5440680"/>
            <a:ext cx="5578023" cy="594360"/>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Hot reload keeps app state. Hot restart (capital R) resets it. Full rebuild is only needed for native code or new plugins.</a:t>
            </a:r>
            <a:endParaRPr lang="en-US" sz="1100" dirty="0"/>
          </a:p>
        </p:txBody>
      </p:sp>
      <p:sp>
        <p:nvSpPr>
          <p:cNvPr id="9" name="Text 7"/>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0" name="Text 8"/>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Install the Flutter SDK</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Two rules: no spaces in the path, not inside Program Files. Then add bin to PATH and open a new terminal.</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1. Download stable zip (Apple Silicon or Intel)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docs.flutter.dev/get-started/install/macos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mkdir -p ~/development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cd ~/development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unzip ~/Downloads/flutter_macos_*-stable.zip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2. PATH - add to ~/.zshrc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echo 'export PATH="$HOME/development/flutter/bin:$PATH"' &gt;&gt; ~/.zshrc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source ~/.zshrc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3. Verify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--version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Xcode + CocoaPods needed only for iOS builds: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xcode-select --install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sudo gem install cocoapods</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1. Download stable zip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docs.flutter.dev/get-started/install/windows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Extract to C:\src\flutter  (NOT Program Files)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Expand-Archive $HOME\Downloads\flutter_windows_*-stable.zip C:\src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2. PATH - user environment variable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Settings &gt; System &gt; About &gt; Advanced system settings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&gt; Environment Variables &gt; User &gt; Path &gt; New:</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C:\src\flutter\bin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or from PowerShell (user scope):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$u = [Environment]::GetEnvironmentVariable("Path", "User")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[Environment]::SetEnvironmentVariable("Path",</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"$u;C:\src\flutter\bin", "User")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3. Open a NEW PowerShell, then: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--version</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Windows: enable long paths once - git config --system core.longpaths true. Also exclude the project folder and C:\src\flutter from antivirus scanning or Gradle builds crawl.</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Android toolchain: Android Studio + SDK + emulator driver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Android Studio is the SDK manager and the emulator host, even if you code in VS Code.</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Install Android Studio (developer.android.com/studio)</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First-run wizard: Standard install → accepts 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Platform, Android Virtual Device.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Studio → More Actions → SDK Manager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Platforms: tick the latest stable API</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Tools:  Android SDK Build-Tools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Command-line Tools (latest)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Emulator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Platform-Tools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Accept licences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Apple Silicon: emulator is ARM64 - fast, no driver</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Install Android Studio (developer.android.com/studio)</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First-run wizard: Standard install.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Manager → SDK Tools, tick: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Build-Tools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Command-line Tools (latest)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Emulator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Platform-Tools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Emulator Hypervisor Driver  (AMD / Intel)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OR -- enable Windows Hypervisor Platform:</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Control Panel &gt; Programs &gt; Turn Windows features 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&gt; Windows Hypervisor Platform  (reboot)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Accept licences (new PowerShell)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Corporate laptops: if Hyper-V / virtualisation is disabled by BIOS or policy the emulator will not boot. Fallback = physical phone with USB debugging, or flutter run -d chrome for UI-only labs.</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flutter doctor - read it, fix it, repeat</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Green ticks for Flutter, Android toolchain, and one IDE are required. Chrome and Visual Studio warnings can be ignored today.</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-v          # verbose: paths &amp; versions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Typical fixes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sudo xcodebuild -license accept          # iOS only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sudo xcode-select -s /Applications/Xcode.app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config --android-sdk ~/Library/Android/sdk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Upgrade / channel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upgrade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channel stable</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-v          # verbose: paths &amp; versions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Typical fixes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"cmdline-tools component is missing"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SDK Manager &gt; SDK Tools &gt; Android 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Command-line Tools (latest)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config --android-sdk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"$env:LOCALAPPDATA\Android\Sdk"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"Unable to find git in your PATH" → install Git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git-scm.com, tick "Git from the command line"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upgrade</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Expected on Windows today: [!] Visual Studio not installed (only for Windows desktop apps) - ignore. [!] Chrome - only needed for web.</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Create and start an emulator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One Pixel-class device, latest stable API, started once from Device Manager so it is cached for the rest of the week.</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GUI: Android Studio → Device Manager → Create Device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Pixel 8 → latest stable API (arm64-v8a) → Finish →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CLI alternative - sdkmanager is DEPRECATED, the GUI route above is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the reliable one. See Appendix 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sdkmanager "system-images;android-36;google_apis;arm64-v8a"</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avdmanager create avd -n pixel8 -k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"system-images;android-36;google_apis;arm64-v8a" -d pixel_8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List and launch</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 --launch pixel8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GUI: Android Studio → Device Manager → Create Device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Pixel 8 → latest stable API (x86_64) → Finish →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CLI alternative - sdkmanager is DEPRECATED, the GUI route above is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the reliable one. See Appendix 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sdkmanager "system-images;android-36;google_apis;x86_64"</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avdmanager create avd -n pixel8 -k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"system-images;android-36;google_apis;x86_64" -d pixel_8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List and launch</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 --launch pixel8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Emulator hangs on the boot logo → acceleration is missing (previous slide). Emulator boots but is very slow → allocate more RAM in Device Manager &gt; Edit &gt; Show Advanced Settings, or use a physical phone.</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Run on a physical Android phone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Faster than an emulator and the fallback for any machine that cannot virtualise.</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On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Settings → About → tap Build number 7× (Developer)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Developer options → USB debugging 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Plug in, accept the "Allow USB debugging" prompt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devices          # should list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run -d &lt;deviceId&gt;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Wireless (Android 11+)</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Developer options → Wireless debugging → Pair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pair 192.168.0.42:37123</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connect 192.168.0.42:42001</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On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Settings → About → tap Build number 7× (Developer)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Developer options → USB debugging 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Plug in, accept the "Allow USB debugging" prompt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devices          # should list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run -d &lt;deviceId&gt;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Phone not listed? Install the OEM USB driver: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Samsung → Smart Switch; Google → Google USB Driver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Manager &gt; SDK Tools); Huawei → HiSuite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adb is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$env:LOCALAPPDATA\Android\Sdk\platform-tools\adb.exe</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Windows often needs a vendor USB driver before adb sees the phone. macOS needs nothing. Keep one spare USB-C cable at the front; charging cables without data lines are the #1 cause of "not detected".</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VS Code setup (what we use all week)</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Extensions: </a:t>
            </a:r>
            <a:r>
              <a:rPr lang="en-US" sz="1400" dirty="0">
                <a:solidFill>
                  <a:srgbClr val="1F2933"/>
                </a:solidFill>
                <a:latin typeface="Calibri" pitchFamily="34" charset="0"/>
                <a:ea typeface="Calibri" pitchFamily="34" charset="-122"/>
                <a:cs typeface="Calibri" pitchFamily="34" charset="-120"/>
              </a:rPr>
              <a:t>Flutter (installs Dart). Optional: Error Lens, GitLens, Flutter Widget Snippets.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Command Palette </a:t>
            </a:r>
            <a:r>
              <a:rPr lang="en-US" sz="1400" dirty="0">
                <a:solidFill>
                  <a:srgbClr val="1F2933"/>
                </a:solidFill>
                <a:latin typeface="Calibri" pitchFamily="34" charset="0"/>
                <a:ea typeface="Calibri" pitchFamily="34" charset="-122"/>
                <a:cs typeface="Calibri" pitchFamily="34" charset="-120"/>
              </a:rPr>
              <a:t>(Ctrl/Cmd+Shift+P): "Flutter: New Project", "Flutter: Select Device", "Flutter: Open DevTools".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Run: </a:t>
            </a:r>
            <a:r>
              <a:rPr lang="en-US" sz="1400" dirty="0">
                <a:solidFill>
                  <a:srgbClr val="1F2933"/>
                </a:solidFill>
                <a:latin typeface="Calibri" pitchFamily="34" charset="0"/>
                <a:ea typeface="Calibri" pitchFamily="34" charset="-122"/>
                <a:cs typeface="Calibri" pitchFamily="34" charset="-120"/>
              </a:rPr>
              <a:t>F5 starts debugging with hot reload on save. The status bar bottom-right picks the device.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Refactors: </a:t>
            </a:r>
            <a:r>
              <a:rPr lang="en-US" sz="1400" dirty="0">
                <a:solidFill>
                  <a:srgbClr val="1F2933"/>
                </a:solidFill>
                <a:latin typeface="Calibri" pitchFamily="34" charset="0"/>
                <a:ea typeface="Calibri" pitchFamily="34" charset="-122"/>
                <a:cs typeface="Calibri" pitchFamily="34" charset="-120"/>
              </a:rPr>
              <a:t>Ctrl/Cmd+. on any widget → "Wrap with Padding / Center / Column", "Extract Widget". You will use this constantly.</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Settings worth turning on: </a:t>
            </a:r>
            <a:r>
              <a:rPr lang="en-US" sz="1400" dirty="0">
                <a:solidFill>
                  <a:srgbClr val="1F2933"/>
                </a:solidFill>
                <a:latin typeface="Calibri" pitchFamily="34" charset="0"/>
                <a:ea typeface="Calibri" pitchFamily="34" charset="-122"/>
                <a:cs typeface="Calibri" pitchFamily="34" charset="-120"/>
              </a:rPr>
              <a:t>"dart.previewFlutterUiGuides", format on save, "dart.lineLength": 100.</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settings.json</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.vscode/settings.json (project)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"editor.formatOnSave": true,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"dart.lineLength": 100,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"dart.previewFlutterUiGuides": true,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"dart.flutterHotReloadOnSave": "all",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"editor.rulers": [100],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"editor.selectionHighlight": false,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"editor.suggestSelection": "first",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"editor.tabCompletion": "onlySnippets",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"editor.wordBasedSuggestions": "off"</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Handy snippets (type + Tab)</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stless  → StatelessWidget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stful   → StatefulWidget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Anatomy of a Flutter project</a:t>
            </a:r>
            <a:endParaRPr lang="en-US" sz="3000" dirty="0"/>
          </a:p>
        </p:txBody>
      </p:sp>
      <p:sp>
        <p:nvSpPr>
          <p:cNvPr id="3" name="Text 1"/>
          <p:cNvSpPr txBox="1"/>
          <p:nvPr/>
        </p:nvSpPr>
        <p:spPr>
          <a:xfrm>
            <a:off x="548640" y="1325880"/>
            <a:ext cx="5408676"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lib/ </a:t>
            </a:r>
            <a:r>
              <a:rPr lang="en-US" sz="1400" dirty="0">
                <a:solidFill>
                  <a:srgbClr val="1F2933"/>
                </a:solidFill>
                <a:latin typeface="Calibri" pitchFamily="34" charset="0"/>
                <a:ea typeface="Calibri" pitchFamily="34" charset="-122"/>
                <a:cs typeface="Calibri" pitchFamily="34" charset="-120"/>
              </a:rPr>
              <a:t>all your Dart. main.dart is the entry point. Everything else is yours to structure.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pubspec.yaml </a:t>
            </a:r>
            <a:r>
              <a:rPr lang="en-US" sz="1400" dirty="0">
                <a:solidFill>
                  <a:srgbClr val="1F2933"/>
                </a:solidFill>
                <a:latin typeface="Calibri" pitchFamily="34" charset="0"/>
                <a:ea typeface="Calibri" pitchFamily="34" charset="-122"/>
                <a:cs typeface="Calibri" pitchFamily="34" charset="-120"/>
              </a:rPr>
              <a:t>name, version, dependencies, assets, fonts. The package.json / .csproj of Flutter.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android/ · ios/ </a:t>
            </a:r>
            <a:r>
              <a:rPr lang="en-US" sz="1400" dirty="0">
                <a:solidFill>
                  <a:srgbClr val="1F2933"/>
                </a:solidFill>
                <a:latin typeface="Calibri" pitchFamily="34" charset="0"/>
                <a:ea typeface="Calibri" pitchFamily="34" charset="-122"/>
                <a:cs typeface="Calibri" pitchFamily="34" charset="-120"/>
              </a:rPr>
              <a:t>real native projects. You edit them for app id, permissions, signing, flavours (Day 5).</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test/ </a:t>
            </a:r>
            <a:r>
              <a:rPr lang="en-US" sz="1400" dirty="0">
                <a:solidFill>
                  <a:srgbClr val="1F2933"/>
                </a:solidFill>
                <a:latin typeface="Calibri" pitchFamily="34" charset="0"/>
                <a:ea typeface="Calibri" pitchFamily="34" charset="-122"/>
                <a:cs typeface="Calibri" pitchFamily="34" charset="-120"/>
              </a:rPr>
              <a:t>unit and widget tests (Day 5). integration_test/ for on-device tests.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build/ · .dart_tool/ </a:t>
            </a:r>
            <a:r>
              <a:rPr lang="en-US" sz="1400" dirty="0">
                <a:solidFill>
                  <a:srgbClr val="1F2933"/>
                </a:solidFill>
                <a:latin typeface="Calibri" pitchFamily="34" charset="0"/>
                <a:ea typeface="Calibri" pitchFamily="34" charset="-122"/>
                <a:cs typeface="Calibri" pitchFamily="34" charset="-120"/>
              </a:rPr>
              <a:t>generated. Git-ignored. Delete with flutter clean if things get weird.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web/ · macos/ · windows/ · linux/ </a:t>
            </a:r>
            <a:r>
              <a:rPr lang="en-US" sz="1400" dirty="0">
                <a:solidFill>
                  <a:srgbClr val="1F2933"/>
                </a:solidFill>
                <a:latin typeface="Calibri" pitchFamily="34" charset="0"/>
                <a:ea typeface="Calibri" pitchFamily="34" charset="-122"/>
                <a:cs typeface="Calibri" pitchFamily="34" charset="-120"/>
              </a:rPr>
              <a:t>other targets; delete or ignore if unused.</a:t>
            </a:r>
            <a:endParaRPr lang="en-US" sz="1400" dirty="0"/>
          </a:p>
        </p:txBody>
      </p:sp>
      <p:sp>
        <p:nvSpPr>
          <p:cNvPr id="4" name="Shape 2"/>
          <p:cNvSpPr/>
          <p:nvPr/>
        </p:nvSpPr>
        <p:spPr>
          <a:xfrm>
            <a:off x="6231636" y="1325880"/>
            <a:ext cx="5408676"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tree</a:t>
            </a:r>
            <a:endParaRPr lang="en-US" sz="800" dirty="0"/>
          </a:p>
        </p:txBody>
      </p:sp>
      <p:sp>
        <p:nvSpPr>
          <p:cNvPr id="6" name="Text 4"/>
          <p:cNvSpPr txBox="1"/>
          <p:nvPr/>
        </p:nvSpPr>
        <p:spPr>
          <a:xfrm>
            <a:off x="6368796" y="1435608"/>
            <a:ext cx="5134356" cy="453542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quote_app/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lib/</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main.dart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widget_test.dart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app/build.gradle(.kts)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app/src/main/AndroidManifest.xml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ios/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Runner.xcodeproj</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web/  macos/  windows/  linux/</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pubspec.yaml      ← dependencies, assets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pubspec.lock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analysis_options.yaml   ← lint rules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.dart_tool/  build/     ← generated</a:t>
            </a:r>
            <a:endParaRPr lang="en-US" sz="11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Flutter CLI essentials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1" cy="3051048"/>
        </p:xfrm>
        <a:graphic>
          <a:graphicData uri="http://schemas.openxmlformats.org/drawingml/2006/table">
            <a:tbl>
              <a:tblPr/>
              <a:tblGrid>
                <a:gridCol w="3771168">
                  <a:extLst>
                    <a:ext uri="{9D8B030D-6E8A-4147-A177-3AD203B41FA5}">
                      <a16:colId xmlns:a16="http://schemas.microsoft.com/office/drawing/2014/main" val="20000"/>
                    </a:ext>
                  </a:extLst>
                </a:gridCol>
                <a:gridCol w="4658502">
                  <a:extLst>
                    <a:ext uri="{9D8B030D-6E8A-4147-A177-3AD203B41FA5}">
                      <a16:colId xmlns:a16="http://schemas.microsoft.com/office/drawing/2014/main" val="20001"/>
                    </a:ext>
                  </a:extLst>
                </a:gridCol>
                <a:gridCol w="2662001">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Command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create quote_app</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New project with Android/iOS/web targets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Once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create --org za.co.moint quote_app</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Sets the package / bundle id from the start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Prefer this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run  ·  flutter run -d chrome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Build + run on selected device; r reload, R restart, q quit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Every lab</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pub add dio  ·  flutter pub get</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Add a dependency / install from pubspec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Adding packages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pub outdated  ·  flutter pub upgrade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Show / apply newer versions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Weekly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analyze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Static analysis with lint rules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Before commit, in CI</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test</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Run unit + widget tests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Day 5, CI</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clean</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Delete build outputs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When builds misbehave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build apk / appbundle / ipa</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Release artefacts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Day 5</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dart format .  ·  dart fix --apply</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Format code / apply automated fixes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Any time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Hot reload vs hot restart vs full rebuild</a:t>
            </a:r>
            <a:endParaRPr lang="en-US" sz="3000" dirty="0"/>
          </a:p>
        </p:txBody>
      </p:sp>
      <p:sp>
        <p:nvSpPr>
          <p:cNvPr id="3" name="Shape 1"/>
          <p:cNvSpPr/>
          <p:nvPr/>
        </p:nvSpPr>
        <p:spPr>
          <a:xfrm>
            <a:off x="548640"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77240"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Hot reload  ·  r  ·  under 1 s</a:t>
            </a:r>
            <a:endParaRPr lang="en-US" sz="1700" dirty="0"/>
          </a:p>
        </p:txBody>
      </p:sp>
      <p:sp>
        <p:nvSpPr>
          <p:cNvPr id="5" name="Text 3"/>
          <p:cNvSpPr txBox="1"/>
          <p:nvPr/>
        </p:nvSpPr>
        <p:spPr>
          <a:xfrm>
            <a:off x="777240" y="1965960"/>
            <a:ext cx="4951476" cy="32004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Injects changed Dart into the running VM</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Keeps app state (navigation stack, form values)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Works for: widget build methods, most logic</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Does NOT pick up: changes to main(), global initialisers, enum values, const values, generic type changes</a:t>
            </a:r>
            <a:endParaRPr lang="en-US" sz="1300" dirty="0"/>
          </a:p>
        </p:txBody>
      </p:sp>
      <p:sp>
        <p:nvSpPr>
          <p:cNvPr id="6" name="Shape 4"/>
          <p:cNvSpPr/>
          <p:nvPr/>
        </p:nvSpPr>
        <p:spPr>
          <a:xfrm>
            <a:off x="6231636"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6460236"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Hot restart  ·  R  ·  a few seconds</a:t>
            </a:r>
            <a:endParaRPr lang="en-US" sz="1700" dirty="0"/>
          </a:p>
        </p:txBody>
      </p:sp>
      <p:sp>
        <p:nvSpPr>
          <p:cNvPr id="8" name="Text 6"/>
          <p:cNvSpPr txBox="1"/>
          <p:nvPr/>
        </p:nvSpPr>
        <p:spPr>
          <a:xfrm>
            <a:off x="6460236" y="1965960"/>
            <a:ext cx="4951476" cy="32004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Re-runs main() from scratch on the same build</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State is lost</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Use when reload "did nothing" or after changing initialisation code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Full rebuild (stop, flutter run) only for: new plugins with native code, pubspec changes to native deps, AndroidManifest / Info.plist edits</a:t>
            </a:r>
            <a:endParaRPr lang="en-US" sz="1300" dirty="0"/>
          </a:p>
        </p:txBody>
      </p:sp>
      <p:sp>
        <p:nvSpPr>
          <p:cNvPr id="9" name="Text 7"/>
          <p:cNvSpPr txBox="1"/>
          <p:nvPr/>
        </p:nvSpPr>
        <p:spPr>
          <a:xfrm>
            <a:off x="548640" y="5486400"/>
            <a:ext cx="11091672" cy="640080"/>
          </a:xfrm>
          <a:prstGeom prst="rect">
            <a:avLst/>
          </a:prstGeom>
          <a:noFill/>
          <a:ln/>
        </p:spPr>
        <p:txBody>
          <a:bodyPr wrap="square" lIns="0" tIns="0" rIns="0" bIns="0" rtlCol="0" anchor="ctr"/>
          <a:lstStyle/>
          <a:p>
            <a:pPr marL="0" indent="0">
              <a:buNone/>
            </a:pPr>
            <a:r>
              <a:rPr lang="en-US" sz="1300" i="1" dirty="0">
                <a:solidFill>
                  <a:srgbClr val="1F2933"/>
                </a:solidFill>
                <a:latin typeface="Calibri" pitchFamily="34" charset="0"/>
                <a:ea typeface="Calibri" pitchFamily="34" charset="-122"/>
                <a:cs typeface="Calibri" pitchFamily="34" charset="-120"/>
              </a:rPr>
              <a:t>Rule of thumb: try r; if the change is not visible, R; if it still fails or you added a plugin, stop and run again.</a:t>
            </a:r>
            <a:endParaRPr lang="en-US" sz="1300" dirty="0"/>
          </a:p>
        </p:txBody>
      </p:sp>
      <p:sp>
        <p:nvSpPr>
          <p:cNvPr id="10" name="Text 8"/>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1" name="Text 9"/>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Windows room, macOS presenter: the differences that matter</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Paths: </a:t>
            </a:r>
            <a:r>
              <a:rPr lang="en-US" sz="1600" dirty="0">
                <a:solidFill>
                  <a:srgbClr val="1F2933"/>
                </a:solidFill>
                <a:latin typeface="Calibri" pitchFamily="34" charset="0"/>
                <a:ea typeface="Calibri" pitchFamily="34" charset="-122"/>
                <a:cs typeface="Calibri" pitchFamily="34" charset="-120"/>
              </a:rPr>
              <a:t>SDK at C:\src\flutter vs ~/development/flutter. Pub cache at %LOCALAPPDATA%\Pub\Cache vs ~/.pub-cache. Android SDK at %LOCALAPPDATA%\Android\Sdk vs ~/Library/Android/sdk.</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Shell: </a:t>
            </a:r>
            <a:r>
              <a:rPr lang="en-US" sz="1600" dirty="0">
                <a:solidFill>
                  <a:srgbClr val="1F2933"/>
                </a:solidFill>
                <a:latin typeface="Calibri" pitchFamily="34" charset="0"/>
                <a:ea typeface="Calibri" pitchFamily="34" charset="-122"/>
                <a:cs typeface="Calibri" pitchFamily="34" charset="-120"/>
              </a:rPr>
              <a:t>PowerShell line continuation is a backtick ( ` ), zsh is a backslash. $env:VAR vs $VAR. Quoting differs.</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Emulator: </a:t>
            </a:r>
            <a:r>
              <a:rPr lang="en-US" sz="1600" dirty="0">
                <a:solidFill>
                  <a:srgbClr val="1F2933"/>
                </a:solidFill>
                <a:latin typeface="Calibri" pitchFamily="34" charset="0"/>
                <a:ea typeface="Calibri" pitchFamily="34" charset="-122"/>
                <a:cs typeface="Calibri" pitchFamily="34" charset="-120"/>
              </a:rPr>
              <a:t>Windows needs a hypervisor driver; Apple Silicon does not.</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USB devices: </a:t>
            </a:r>
            <a:r>
              <a:rPr lang="en-US" sz="1600" dirty="0">
                <a:solidFill>
                  <a:srgbClr val="1F2933"/>
                </a:solidFill>
                <a:latin typeface="Calibri" pitchFamily="34" charset="0"/>
                <a:ea typeface="Calibri" pitchFamily="34" charset="-122"/>
                <a:cs typeface="Calibri" pitchFamily="34" charset="-120"/>
              </a:rPr>
              <a:t>Windows usually needs a vendor driver; macOS does not.</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iOS: </a:t>
            </a:r>
            <a:r>
              <a:rPr lang="en-US" sz="1600" dirty="0">
                <a:solidFill>
                  <a:srgbClr val="1F2933"/>
                </a:solidFill>
                <a:latin typeface="Calibri" pitchFamily="34" charset="0"/>
                <a:ea typeface="Calibri" pitchFamily="34" charset="-122"/>
                <a:cs typeface="Calibri" pitchFamily="34" charset="-120"/>
              </a:rPr>
              <a:t>cannot be built on Windows at all. Friday: iOS demo from the Mac + Codemagic cloud build for the team.</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Line endings: </a:t>
            </a:r>
            <a:r>
              <a:rPr lang="en-US" sz="1600" dirty="0">
                <a:solidFill>
                  <a:srgbClr val="1F2933"/>
                </a:solidFill>
                <a:latin typeface="Calibri" pitchFamily="34" charset="0"/>
                <a:ea typeface="Calibri" pitchFamily="34" charset="-122"/>
                <a:cs typeface="Calibri" pitchFamily="34" charset="-120"/>
              </a:rPr>
              <a:t>set git config --global core.autocrlf true on Windows so Dart files do not churn.</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5" name="Text 3"/>
          <p:cNvSpPr txBox="1"/>
          <p:nvPr/>
        </p:nvSpPr>
        <p:spPr>
          <a:xfrm>
            <a:off x="685800" y="5440680"/>
            <a:ext cx="10817352" cy="59436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Every command slide in this course has a macOS column and a Windows column. Appendix A has the full path and command map.</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Toolchain verified</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25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Every machine runs the template app on an emulator or phone with working hot reload.</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FIRST, BEFORE ANYTHING ELSE - three SEPARATE lines (Windows PowerShell 5.1 has no &amp;&amp;):  flutter create --org za.co.moint quote_app  /  cd quote_app  /  flutter build apk --debug  - then leave it running while the instructor teaches. It downloads ~4 GB (NDK 2.8 GB, SDK Platform, Gradle) and takes 7-8 minutes.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While that runs: flutter doctor → resolve every red X (Windows column on the slides; ask if stuck more than 5 min).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Start your emulator (or plug in a phone) → flutter devices shows it.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When the build finishes: flutter run → this one is fast because the first build warmed everything.</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Delete the generated test that still references MyApp:  del test\widget_test.dart  (macOS: rm test/widget_test.dart) - we write a real one on Day 5. Without this, flutter analyze fails and dart fix will NOT repair it.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Change the AppBar title text in lib/main.dart, save → press r → see it update without losing the counter value.</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Press R and confirm the counter resets. Press q to quit.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Open VS Code in the folder, press F5, confirm the debugger attaches.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Commit, one line at a time (no &amp;&amp; in PowerShell 5.1): git init  /  git add .  /  git commit -m "Day 1: template app"</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the Error Lens extension and break a line on purpose; read the inline error.</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Run the app in Chrome: flutter run -d chrome. Note what looks different.</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Look inside android/app/build.gradle(.kts) and find applicationId - we change it on Day 5.</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Dart primer for experienced developers</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and write null-safe Dart fluently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named parameters, final/const, and constructors idiomatically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Model domain data with classes, records, enums and sealed types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Recognise the five Dart habits that differ from TypeScript, C# and Java</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Dart in one table (vs TypeScript, C#, Java)</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3496056"/>
        </p:xfrm>
        <a:graphic>
          <a:graphicData uri="http://schemas.openxmlformats.org/drawingml/2006/table">
            <a:tbl>
              <a:tblPr/>
              <a:tblGrid>
                <a:gridCol w="2218334">
                  <a:extLst>
                    <a:ext uri="{9D8B030D-6E8A-4147-A177-3AD203B41FA5}">
                      <a16:colId xmlns:a16="http://schemas.microsoft.com/office/drawing/2014/main" val="20000"/>
                    </a:ext>
                  </a:extLst>
                </a:gridCol>
                <a:gridCol w="2883835">
                  <a:extLst>
                    <a:ext uri="{9D8B030D-6E8A-4147-A177-3AD203B41FA5}">
                      <a16:colId xmlns:a16="http://schemas.microsoft.com/office/drawing/2014/main" val="20001"/>
                    </a:ext>
                  </a:extLst>
                </a:gridCol>
                <a:gridCol w="2883835">
                  <a:extLst>
                    <a:ext uri="{9D8B030D-6E8A-4147-A177-3AD203B41FA5}">
                      <a16:colId xmlns:a16="http://schemas.microsoft.com/office/drawing/2014/main" val="20002"/>
                    </a:ext>
                  </a:extLst>
                </a:gridCol>
                <a:gridCol w="3105668">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Concept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TypeScript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Dart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Immutable binding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const x = 1</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readonly / const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final x = 1; (runtime) · const x = 1; (compile-time)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Nullable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string | null (optional check)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string? (warnings)</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String? - enforced at compile AND runtime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Named args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Object destructuring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Named arguments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f({required int age, bool x = true})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Class fields via ctor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Parameter properties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Primary constructors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Quote({required this.id})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Interfaces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interface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interface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Every class is an interface: implements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Mixins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mixin Loggable {}  ·  class A with Loggable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Records / tuples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Tuple types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Tuples / records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(double, String) · ({int a, int b})</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Discriminated unions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Union + kind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Abstract records + switch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sealed class + switch expression</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Async</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Promise&lt;T&gt;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Task&lt;T&gt;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Future&lt;T&gt;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Streams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Observable (rxjs)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IAsyncEnumerable&lt;T&gt;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Stream&lt;T&gt;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Packages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npm / package.json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NuGet / .csproj</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pub / pubspec.yaml</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Variables: var, final, const, late</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var </a:t>
            </a:r>
            <a:r>
              <a:rPr lang="en-US" sz="1400" dirty="0">
                <a:solidFill>
                  <a:srgbClr val="1F2933"/>
                </a:solidFill>
                <a:latin typeface="Calibri" pitchFamily="34" charset="0"/>
                <a:ea typeface="Calibri" pitchFamily="34" charset="-122"/>
                <a:cs typeface="Calibri" pitchFamily="34" charset="-120"/>
              </a:rPr>
              <a:t>type is inferred once, then fixed. var n = 1; n = "x"; is a compile error.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final </a:t>
            </a:r>
            <a:r>
              <a:rPr lang="en-US" sz="1400" dirty="0">
                <a:solidFill>
                  <a:srgbClr val="1F2933"/>
                </a:solidFill>
                <a:latin typeface="Calibri" pitchFamily="34" charset="0"/>
                <a:ea typeface="Calibri" pitchFamily="34" charset="-122"/>
                <a:cs typeface="Calibri" pitchFamily="34" charset="-120"/>
              </a:rPr>
              <a:t>assigned once, at runtime. This is JS const. Use it by default.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const </a:t>
            </a:r>
            <a:r>
              <a:rPr lang="en-US" sz="1400" dirty="0">
                <a:solidFill>
                  <a:srgbClr val="1F2933"/>
                </a:solidFill>
                <a:latin typeface="Calibri" pitchFamily="34" charset="0"/>
                <a:ea typeface="Calibri" pitchFamily="34" charset="-122"/>
                <a:cs typeface="Calibri" pitchFamily="34" charset="-120"/>
              </a:rPr>
              <a:t>compile-time constant. Deep-immutable. Also used on widget constructors for performance (later).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late </a:t>
            </a:r>
            <a:r>
              <a:rPr lang="en-US" sz="1400" dirty="0">
                <a:solidFill>
                  <a:srgbClr val="1F2933"/>
                </a:solidFill>
                <a:latin typeface="Calibri" pitchFamily="34" charset="0"/>
                <a:ea typeface="Calibri" pitchFamily="34" charset="-122"/>
                <a:cs typeface="Calibri" pitchFamily="34" charset="-120"/>
              </a:rPr>
              <a:t>"I promise to assign this before reading it." Non-null without an initial value. Throws LateInitializationError if you lie.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Type annotations </a:t>
            </a:r>
            <a:r>
              <a:rPr lang="en-US" sz="1400" dirty="0">
                <a:solidFill>
                  <a:srgbClr val="1F2933"/>
                </a:solidFill>
                <a:latin typeface="Calibri" pitchFamily="34" charset="0"/>
                <a:ea typeface="Calibri" pitchFamily="34" charset="-122"/>
                <a:cs typeface="Calibri" pitchFamily="34" charset="-120"/>
              </a:rPr>
              <a:t>are optional but idiomatic on fields and public APIs; inference inside functions.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var count = 0;            // int, mutable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count = 5;                // ok</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count = 'five';        // error: String is not int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createdAt = DateTime.now();   // set once, at runtime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createdAt = DateTime.now();      // 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const vatRate = 0.15;               // compile-time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const brand = 'Alpha Insure';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late String token;        // assigned later, non-null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void init() { token = 'abc';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print(token) before init() → LateInitializationError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Explicit types where it helps readers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premium = 1450.0;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List&lt;String&gt; makes = ['Toyota', 'VW'];</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Null safety, part 1: the type is the contract</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String </a:t>
            </a:r>
            <a:r>
              <a:rPr lang="en-US" sz="1400" dirty="0">
                <a:solidFill>
                  <a:srgbClr val="1F2933"/>
                </a:solidFill>
                <a:latin typeface="Calibri" pitchFamily="34" charset="0"/>
                <a:ea typeface="Calibri" pitchFamily="34" charset="-122"/>
                <a:cs typeface="Calibri" pitchFamily="34" charset="-120"/>
              </a:rPr>
              <a:t>can never be null. The compiler refuses to assign null.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String? </a:t>
            </a:r>
            <a:r>
              <a:rPr lang="en-US" sz="1400" dirty="0">
                <a:solidFill>
                  <a:srgbClr val="1F2933"/>
                </a:solidFill>
                <a:latin typeface="Calibri" pitchFamily="34" charset="0"/>
                <a:ea typeface="Calibri" pitchFamily="34" charset="-122"/>
                <a:cs typeface="Calibri" pitchFamily="34" charset="-120"/>
              </a:rPr>
              <a:t>may be null. You must check before using it as a String.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 </a:t>
            </a:r>
            <a:r>
              <a:rPr lang="en-US" sz="1400" dirty="0">
                <a:solidFill>
                  <a:srgbClr val="1F2933"/>
                </a:solidFill>
                <a:latin typeface="Calibri" pitchFamily="34" charset="0"/>
                <a:ea typeface="Calibri" pitchFamily="34" charset="-122"/>
                <a:cs typeface="Calibri" pitchFamily="34" charset="-120"/>
              </a:rPr>
              <a:t>null-aware call; ?? default; ??= assign if null. Same as TS/C#.</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 </a:t>
            </a:r>
            <a:r>
              <a:rPr lang="en-US" sz="1400" dirty="0">
                <a:solidFill>
                  <a:srgbClr val="1F2933"/>
                </a:solidFill>
                <a:latin typeface="Calibri" pitchFamily="34" charset="0"/>
                <a:ea typeface="Calibri" pitchFamily="34" charset="-122"/>
                <a:cs typeface="Calibri" pitchFamily="34" charset="-120"/>
              </a:rPr>
              <a:t>the bang: "trust me, it is not null". Throws at runtime if wrong. Treat every ! as a code smell to justify.</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Flow analysis </a:t>
            </a:r>
            <a:r>
              <a:rPr lang="en-US" sz="1400" dirty="0">
                <a:solidFill>
                  <a:srgbClr val="1F2933"/>
                </a:solidFill>
                <a:latin typeface="Calibri" pitchFamily="34" charset="0"/>
                <a:ea typeface="Calibri" pitchFamily="34" charset="-122"/>
                <a:cs typeface="Calibri" pitchFamily="34" charset="-120"/>
              </a:rPr>
              <a:t>promotes a local after a null check, exactly like TS narrowing. Fields are NOT promoted (next slide).</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name = 'Sive';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name = null;               // compile 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nickname;             // starts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print(nickname?.length);      //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print(nickname ?? 'none');    // 'none'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nickname ??= 'S';             // assign if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int len = nickname!.length;   // ok now, throws if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Promotion on locals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maybe = fetch();</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if (maybe != null)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print(maybe.length);        // maybe is String here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Early return also promotes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if (maybe == null) return;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print(maybe.toUpperCase());   // String</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Null safety, part 2: fields, collections, and the patterns that fix them</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Fields do not promote. </a:t>
            </a:r>
            <a:r>
              <a:rPr lang="en-US" sz="1400" dirty="0">
                <a:solidFill>
                  <a:srgbClr val="1F2933"/>
                </a:solidFill>
                <a:latin typeface="Calibri" pitchFamily="34" charset="0"/>
                <a:ea typeface="Calibri" pitchFamily="34" charset="-122"/>
                <a:cs typeface="Calibri" pitchFamily="34" charset="-120"/>
              </a:rPr>
              <a:t>this.nickname != null does not narrow - another method could change it. Copy to a local first, or use ?. / ??.</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Collections: </a:t>
            </a:r>
            <a:r>
              <a:rPr lang="en-US" sz="1400" dirty="0">
                <a:solidFill>
                  <a:srgbClr val="1F2933"/>
                </a:solidFill>
                <a:latin typeface="Calibri" pitchFamily="34" charset="0"/>
                <a:ea typeface="Calibri" pitchFamily="34" charset="-122"/>
                <a:cs typeface="Calibri" pitchFamily="34" charset="-120"/>
              </a:rPr>
              <a:t>List&lt;String?&gt; is a list that may contain nulls; List&lt;String&gt;? is a list that may itself be null. Different things.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required </a:t>
            </a:r>
            <a:r>
              <a:rPr lang="en-US" sz="1400" dirty="0">
                <a:solidFill>
                  <a:srgbClr val="1F2933"/>
                </a:solidFill>
                <a:latin typeface="Calibri" pitchFamily="34" charset="0"/>
                <a:ea typeface="Calibri" pitchFamily="34" charset="-122"/>
                <a:cs typeface="Calibri" pitchFamily="34" charset="-120"/>
              </a:rPr>
              <a:t>on a named parameter replaces "non-optional". Non-nullable named params must be required or have a default.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Avoid: </a:t>
            </a:r>
            <a:r>
              <a:rPr lang="en-US" sz="1400" dirty="0">
                <a:solidFill>
                  <a:srgbClr val="1F2933"/>
                </a:solidFill>
                <a:latin typeface="Calibri" pitchFamily="34" charset="0"/>
                <a:ea typeface="Calibri" pitchFamily="34" charset="-122"/>
                <a:cs typeface="Calibri" pitchFamily="34" charset="-120"/>
              </a:rPr>
              <a:t>dynamic (opts out of typing) and ! (opts out of safety). Prefer ?., ??, if-null returns, and required.</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Driver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String? nickname;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greet()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 if (nickname != null) print(nickname.length); // 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n = nickname;               // copy to local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(n != null) print(n.length);   // promoted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print(nickname?.length ?? 0);     // or null-aware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List&lt;String?&gt; a = ['x', null];   // items may be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List&lt;String&gt;? b;                 // list may be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b?.first;                        // guard the list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quote({required int age, int? claims})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c = claims ?? 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age &lt; 25 ? 2000 + c * 150 : 1200 + c * 100;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quote(age: 30);                  // claims omitted → null</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0B2545"/>
          </a:solidFill>
          <a:ln w="12700">
            <a:solidFill>
              <a:srgbClr val="0B2545"/>
            </a:solidFill>
            <a:prstDash val="solid"/>
          </a:ln>
        </p:spPr>
        <p:txBody>
          <a:bodyPr/>
          <a:lstStyle/>
          <a:p>
            <a:endParaRPr lang="en-US"/>
          </a:p>
        </p:txBody>
      </p:sp>
      <p:sp>
        <p:nvSpPr>
          <p:cNvPr id="3" name="Text 1"/>
          <p:cNvSpPr txBox="1"/>
          <p:nvPr/>
        </p:nvSpPr>
        <p:spPr>
          <a:xfrm>
            <a:off x="548640" y="457200"/>
            <a:ext cx="2011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10 min read + 5 min debrief</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marL="0" indent="0">
              <a:buNone/>
            </a:pPr>
            <a:r>
              <a:rPr lang="en-US" sz="2800" b="1" dirty="0">
                <a:solidFill>
                  <a:srgbClr val="0B2545"/>
                </a:solidFill>
                <a:latin typeface="Calibri" pitchFamily="34" charset="0"/>
                <a:ea typeface="Calibri" pitchFamily="34" charset="-122"/>
                <a:cs typeface="Calibri" pitchFamily="34" charset="-120"/>
              </a:rPr>
              <a:t>Why fields don't promote - read it, then teach it back</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822960" y="1783080"/>
            <a:ext cx="10543032" cy="457200"/>
          </a:xfrm>
          <a:prstGeom prst="rect">
            <a:avLst/>
          </a:prstGeom>
          <a:noFill/>
          <a:ln/>
        </p:spPr>
        <p:txBody>
          <a:bodyPr wrap="square" lIns="0" tIns="0" rIns="0" bIns="0" rtlCol="0" anchor="ctr"/>
          <a:lstStyle/>
          <a:p>
            <a:pPr marL="0" indent="0">
              <a:buNone/>
            </a:pPr>
            <a:r>
              <a:rPr lang="en-US" sz="1800" b="1" dirty="0">
                <a:solidFill>
                  <a:srgbClr val="0B2545"/>
                </a:solidFill>
                <a:latin typeface="Courier New" pitchFamily="34" charset="0"/>
                <a:ea typeface="Courier New" pitchFamily="34" charset="-122"/>
                <a:cs typeface="Courier New" pitchFamily="34" charset="-120"/>
              </a:rPr>
              <a:t>dart.dev/null-safety/understanding-null-safety</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marL="0" indent="0">
              <a:buNone/>
            </a:pPr>
            <a:r>
              <a:rPr lang="en-US" sz="1200" dirty="0">
                <a:solidFill>
                  <a:srgbClr val="5B6773"/>
                </a:solidFill>
                <a:latin typeface="Calibri" pitchFamily="34" charset="0"/>
                <a:ea typeface="Calibri" pitchFamily="34" charset="-122"/>
                <a:cs typeface="Calibri" pitchFamily="34" charset="-120"/>
              </a:rPr>
              <a:t>Sections: "Flow analysis" and "Working with nullable fields" (about 8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In one sentence: why can a local variable be promoted after a null check but a field cannot?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are the three idioms the doc recommends for nullable fields? Which one will you use most?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does the "!" operator actually do at runtime, and what does the doc say about when it is acceptable?</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Find one sentence in the doc you disagree with or would phrase differently for your team.</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2" name="Text 10"/>
          <p:cNvSpPr txBox="1"/>
          <p:nvPr/>
        </p:nvSpPr>
        <p:spPr>
          <a:xfrm>
            <a:off x="7706563" y="3017520"/>
            <a:ext cx="3705149"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One volunteer explains Q1 to the room in under 60 seconds, no slides.</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Someone else adds what they would change (Q4).</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Instructor fills gaps only after both have spoken.</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Functions: positional, optional, named, arrow</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Positional </a:t>
            </a:r>
            <a:r>
              <a:rPr lang="en-US" sz="1400" dirty="0">
                <a:solidFill>
                  <a:srgbClr val="1F2933"/>
                </a:solidFill>
                <a:latin typeface="Calibri" pitchFamily="34" charset="0"/>
                <a:ea typeface="Calibri" pitchFamily="34" charset="-122"/>
                <a:cs typeface="Calibri" pitchFamily="34" charset="-120"/>
              </a:rPr>
              <a:t>f(a, b). Optional positional in square brackets: f(a, [b]).</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Named </a:t>
            </a:r>
            <a:r>
              <a:rPr lang="en-US" sz="1400" dirty="0">
                <a:solidFill>
                  <a:srgbClr val="1F2933"/>
                </a:solidFill>
                <a:latin typeface="Calibri" pitchFamily="34" charset="0"/>
                <a:ea typeface="Calibri" pitchFamily="34" charset="-122"/>
                <a:cs typeface="Calibri" pitchFamily="34" charset="-120"/>
              </a:rPr>
              <a:t>f({required a, b = 1}). Called as f(a: 1). Any order. This is how every widget constructor works.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Arrow </a:t>
            </a:r>
            <a:r>
              <a:rPr lang="en-US" sz="1400" dirty="0">
                <a:solidFill>
                  <a:srgbClr val="1F2933"/>
                </a:solidFill>
                <a:latin typeface="Calibri" pitchFamily="34" charset="0"/>
                <a:ea typeface="Calibri" pitchFamily="34" charset="-122"/>
                <a:cs typeface="Calibri" pitchFamily="34" charset="-120"/>
              </a:rPr>
              <a:t>=&gt; for single-expression bodies. Same as JS/C# lambdas.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Functions are values </a:t>
            </a:r>
            <a:r>
              <a:rPr lang="en-US" sz="1400" dirty="0">
                <a:solidFill>
                  <a:srgbClr val="1F2933"/>
                </a:solidFill>
                <a:latin typeface="Calibri" pitchFamily="34" charset="0"/>
                <a:ea typeface="Calibri" pitchFamily="34" charset="-122"/>
                <a:cs typeface="Calibri" pitchFamily="34" charset="-120"/>
              </a:rPr>
              <a:t>pass them, store them, return them. Type: int Function(String).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Closures </a:t>
            </a:r>
            <a:r>
              <a:rPr lang="en-US" sz="1400" dirty="0">
                <a:solidFill>
                  <a:srgbClr val="1F2933"/>
                </a:solidFill>
                <a:latin typeface="Calibri" pitchFamily="34" charset="0"/>
                <a:ea typeface="Calibri" pitchFamily="34" charset="-122"/>
                <a:cs typeface="Calibri" pitchFamily="34" charset="-120"/>
              </a:rPr>
              <a:t>capture variables like JS. Used for every onPressed callback.</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positional + optional positional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label(String make, [String? model])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model == null ? make : '$make $model';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named with required and defaults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premium(double base,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{required int age, bool comprehensive = true})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loading = age &lt; 25 ? 1.5 : 1.0;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comprehensive ? base * 1.4 * loading : base * loading;</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premium(1000, age: 34);                       // 1400.0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premium(1000, age: 22, comprehensive: false); // 1500.0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function types &amp; closures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int Function(int) twice = (x) =&gt; x * 2;</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List&lt;int&gt; Function() counter()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var n = 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 =&gt; [n++];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void Function() onTap = () =&gt; print('tapped');</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Classes and constructors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Field-initialising ctor </a:t>
            </a:r>
            <a:r>
              <a:rPr lang="en-US" sz="1400" dirty="0">
                <a:solidFill>
                  <a:srgbClr val="1F2933"/>
                </a:solidFill>
                <a:latin typeface="Calibri" pitchFamily="34" charset="0"/>
                <a:ea typeface="Calibri" pitchFamily="34" charset="-122"/>
                <a:cs typeface="Calibri" pitchFamily="34" charset="-120"/>
              </a:rPr>
              <a:t>Quote({required this.id}) assigns fields directly. No boilerplate body.</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const constructor </a:t>
            </a:r>
            <a:r>
              <a:rPr lang="en-US" sz="1400" dirty="0">
                <a:solidFill>
                  <a:srgbClr val="1F2933"/>
                </a:solidFill>
                <a:latin typeface="Calibri" pitchFamily="34" charset="0"/>
                <a:ea typeface="Calibri" pitchFamily="34" charset="-122"/>
                <a:cs typeface="Calibri" pitchFamily="34" charset="-120"/>
              </a:rPr>
              <a:t>all fields final → instances can be compile-time constants. Widgets rely on this.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Named constructors </a:t>
            </a:r>
            <a:r>
              <a:rPr lang="en-US" sz="1400" dirty="0">
                <a:solidFill>
                  <a:srgbClr val="1F2933"/>
                </a:solidFill>
                <a:latin typeface="Calibri" pitchFamily="34" charset="0"/>
                <a:ea typeface="Calibri" pitchFamily="34" charset="-122"/>
                <a:cs typeface="Calibri" pitchFamily="34" charset="-120"/>
              </a:rPr>
              <a:t>Quote.empty(), Quote.fromJson(...) - multiple ways to build one type.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factory </a:t>
            </a:r>
            <a:r>
              <a:rPr lang="en-US" sz="1400" dirty="0">
                <a:solidFill>
                  <a:srgbClr val="1F2933"/>
                </a:solidFill>
                <a:latin typeface="Calibri" pitchFamily="34" charset="0"/>
                <a:ea typeface="Calibri" pitchFamily="34" charset="-122"/>
                <a:cs typeface="Calibri" pitchFamily="34" charset="-120"/>
              </a:rPr>
              <a:t>a constructor that may return an existing/cached/sub-type instance; the fromJson convention.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Getters/setters </a:t>
            </a:r>
            <a:r>
              <a:rPr lang="en-US" sz="1400" dirty="0">
                <a:solidFill>
                  <a:srgbClr val="1F2933"/>
                </a:solidFill>
                <a:latin typeface="Calibri" pitchFamily="34" charset="0"/>
                <a:ea typeface="Calibri" pitchFamily="34" charset="-122"/>
                <a:cs typeface="Calibri" pitchFamily="34" charset="-120"/>
              </a:rPr>
              <a:t>look like fields to callers. No parentheses.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id;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double premium;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this.id,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this.premium,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this.currency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named constructor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Quote.empty() : id = '', premium = 0, currency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factory - the fromJson convention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factory Quote.fromJson(Map&lt;String, dynamic&gt; j) =&gt;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id: j['id'] as String,</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premium: (j['premium'] as num).toDouble(),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currency: j['currency'] as String?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Map&lt;String, dynamic&gt; toJson()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{'id': id, 'premium': premium, 'currency':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String get display =&gt; '$currency ${premium.toStringAsFixed(2)}';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Immutability: copyWith, ==, and when to reach for a package</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Dart objects are mutable by default </a:t>
            </a:r>
            <a:r>
              <a:rPr lang="en-US" sz="1400" dirty="0">
                <a:solidFill>
                  <a:srgbClr val="1F2933"/>
                </a:solidFill>
                <a:latin typeface="Calibri" pitchFamily="34" charset="0"/>
                <a:ea typeface="Calibri" pitchFamily="34" charset="-122"/>
                <a:cs typeface="Calibri" pitchFamily="34" charset="-120"/>
              </a:rPr>
              <a:t>but Flutter state works best with immutable models and new copies.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copyWith </a:t>
            </a:r>
            <a:r>
              <a:rPr lang="en-US" sz="1400" dirty="0">
                <a:solidFill>
                  <a:srgbClr val="1F2933"/>
                </a:solidFill>
                <a:latin typeface="Calibri" pitchFamily="34" charset="0"/>
                <a:ea typeface="Calibri" pitchFamily="34" charset="-122"/>
                <a:cs typeface="Calibri" pitchFamily="34" charset="-120"/>
              </a:rPr>
              <a:t>the idiom for "same object, one field changed". Null means "keep".</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Equality </a:t>
            </a:r>
            <a:r>
              <a:rPr lang="en-US" sz="1400" dirty="0">
                <a:solidFill>
                  <a:srgbClr val="1F2933"/>
                </a:solidFill>
                <a:latin typeface="Calibri" pitchFamily="34" charset="0"/>
                <a:ea typeface="Calibri" pitchFamily="34" charset="-122"/>
                <a:cs typeface="Calibri" pitchFamily="34" charset="-120"/>
              </a:rPr>
              <a:t>default == is identity. Override == and hashCode for value equality, or use the equatable package.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freezed </a:t>
            </a:r>
            <a:r>
              <a:rPr lang="en-US" sz="1400" dirty="0">
                <a:solidFill>
                  <a:srgbClr val="1F2933"/>
                </a:solidFill>
                <a:latin typeface="Calibri" pitchFamily="34" charset="0"/>
                <a:ea typeface="Calibri" pitchFamily="34" charset="-122"/>
                <a:cs typeface="Calibri" pitchFamily="34" charset="-120"/>
              </a:rPr>
              <a:t>code-generates copyWith, ==, toString, JSON and union types. Popular in production; we show it on Day 4.</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QuoteRequest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make;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int 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Cover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QuoteRequest(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this.make, required this.year, required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 copyWith({String? make, int? year, Cover? cover})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make: make ?? this.make,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year: year ?? this.year,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 cover ??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bool operator ==(Object o)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 is QuoteRequest &amp;&amp;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o.make == make &amp;&amp; o.year == year &amp;&amp; o.cover ==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int get hashCode =&gt; Object.hash(make, year,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r1 = const QuoteRequest(make: 'VW', year: 2020, cover: Cover.comprehensive);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r2 = r1.copyWith(year: 2021);   // r1 untouched</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Inheritance, abstract classes, interfaces, mixins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extends </a:t>
            </a:r>
            <a:r>
              <a:rPr lang="en-US" sz="1400" dirty="0">
                <a:solidFill>
                  <a:srgbClr val="1F2933"/>
                </a:solidFill>
                <a:latin typeface="Calibri" pitchFamily="34" charset="0"/>
                <a:ea typeface="Calibri" pitchFamily="34" charset="-122"/>
                <a:cs typeface="Calibri" pitchFamily="34" charset="-120"/>
              </a:rPr>
              <a:t>single inheritance, super calls, @override. Same as C#/Java.</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abstract class </a:t>
            </a:r>
            <a:r>
              <a:rPr lang="en-US" sz="1400" dirty="0">
                <a:solidFill>
                  <a:srgbClr val="1F2933"/>
                </a:solidFill>
                <a:latin typeface="Calibri" pitchFamily="34" charset="0"/>
                <a:ea typeface="Calibri" pitchFamily="34" charset="-122"/>
                <a:cs typeface="Calibri" pitchFamily="34" charset="-120"/>
              </a:rPr>
              <a:t>cannot be instantiated; may have implemented members.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implements </a:t>
            </a:r>
            <a:r>
              <a:rPr lang="en-US" sz="1400" dirty="0">
                <a:solidFill>
                  <a:srgbClr val="1F2933"/>
                </a:solidFill>
                <a:latin typeface="Calibri" pitchFamily="34" charset="0"/>
                <a:ea typeface="Calibri" pitchFamily="34" charset="-122"/>
                <a:cs typeface="Calibri" pitchFamily="34" charset="-120"/>
              </a:rPr>
              <a:t>any class doubles as an interface; you must implement every member. abstract interface class is the explicit form.</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mixin … with </a:t>
            </a:r>
            <a:r>
              <a:rPr lang="en-US" sz="1400" dirty="0">
                <a:solidFill>
                  <a:srgbClr val="1F2933"/>
                </a:solidFill>
                <a:latin typeface="Calibri" pitchFamily="34" charset="0"/>
                <a:ea typeface="Calibri" pitchFamily="34" charset="-122"/>
                <a:cs typeface="Calibri" pitchFamily="34" charset="-120"/>
              </a:rPr>
              <a:t>reusable behaviour without inheritance. Order matters: last wins.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extension </a:t>
            </a:r>
            <a:r>
              <a:rPr lang="en-US" sz="1400" dirty="0">
                <a:solidFill>
                  <a:srgbClr val="1F2933"/>
                </a:solidFill>
                <a:latin typeface="Calibri" pitchFamily="34" charset="0"/>
                <a:ea typeface="Calibri" pitchFamily="34" charset="-122"/>
                <a:cs typeface="Calibri" pitchFamily="34" charset="-120"/>
              </a:rPr>
              <a:t>add methods to existing types, even ones you do not own.</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abstract interface class QuoteService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Future&lt;Quote&gt; getQuote(QuoteRequest 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mixin Loggable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void log(String m) =&gt; print('[$runtimeType] $m');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FakeQuoteService with Loggable implements QuoteService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Future&lt;Quote&gt; getQuote(QuoteRequest r) async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log('quoting ${r.make}');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await Future.delayed(const Duration(seconds: 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Quote(id: 'q1', premium: r.year &lt; 2015 ? 1800 : 1200);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Vehicle { const Vehicle(this.make); final String make;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Car extends Vehicle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Car(super.make, this.doors);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int doors;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extension Money on double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String get rands =&gt; 'R ${toStringAsFixed(2)}';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print(1450.0.rands);   // R 1450.00</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Collections: List, Set, Map, and collection expressions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Literals </a:t>
            </a:r>
            <a:r>
              <a:rPr lang="en-US" sz="1400" dirty="0">
                <a:solidFill>
                  <a:srgbClr val="1F2933"/>
                </a:solidFill>
                <a:latin typeface="Calibri" pitchFamily="34" charset="0"/>
                <a:ea typeface="Calibri" pitchFamily="34" charset="-122"/>
                <a:cs typeface="Calibri" pitchFamily="34" charset="-120"/>
              </a:rPr>
              <a:t>[...] List, {...} Set, {k: v} Map. Generic types inferred or explicit.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Spread and if/for inside literals </a:t>
            </a:r>
            <a:r>
              <a:rPr lang="en-US" sz="1400" dirty="0">
                <a:solidFill>
                  <a:srgbClr val="1F2933"/>
                </a:solidFill>
                <a:latin typeface="Calibri" pitchFamily="34" charset="0"/>
                <a:ea typeface="Calibri" pitchFamily="34" charset="-122"/>
                <a:cs typeface="Calibri" pitchFamily="34" charset="-120"/>
              </a:rPr>
              <a:t>build lists declaratively - used constantly in widget children.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Iterable is lazy </a:t>
            </a:r>
            <a:r>
              <a:rPr lang="en-US" sz="1400" dirty="0">
                <a:solidFill>
                  <a:srgbClr val="1F2933"/>
                </a:solidFill>
                <a:latin typeface="Calibri" pitchFamily="34" charset="0"/>
                <a:ea typeface="Calibri" pitchFamily="34" charset="-122"/>
                <a:cs typeface="Calibri" pitchFamily="34" charset="-120"/>
              </a:rPr>
              <a:t>.map() and .where() return Iterables; call .toList() when you need a List. #1 beginner bug.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Common methods </a:t>
            </a:r>
            <a:r>
              <a:rPr lang="en-US" sz="1400" dirty="0">
                <a:solidFill>
                  <a:srgbClr val="1F2933"/>
                </a:solidFill>
                <a:latin typeface="Calibri" pitchFamily="34" charset="0"/>
                <a:ea typeface="Calibri" pitchFamily="34" charset="-122"/>
                <a:cs typeface="Calibri" pitchFamily="34" charset="-120"/>
              </a:rPr>
              <a:t>map, where, firstWhere, any, every, fold, reduce, sorted (via sort), join, take, skip.</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makes = &lt;String&gt;['Toyota', 'VW', 'BMW'];</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years = {2019, 2020, 2020};        // Set → {2019, 2020}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byMake = {'VW': 1200.0, 'BMW': 2100.0};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collection-if, collection-for, spread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showLuxury = true;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list =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'Toyota',</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if (showLuxury) 'BMW',</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for (final m in makes) m.toUpperCase(),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...makes,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lazy iterables - remember toList()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cheap = byMake.entries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.where((e) =&gt; e.value &lt; 2000)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.map((e) =&gt; e.key)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.toList();                           // ['VW']</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total = byMake.values.fold&lt;double&gt;(0.0, (a, b) =&gt; a + b);</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first = makes.firstWhere((m) =&gt; m.startsWith('B'),</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orElse: () =&gt; 'none');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makes.sort();                            // in place</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Control flow and switch expressions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if / for / while </a:t>
            </a:r>
            <a:r>
              <a:rPr lang="en-US" sz="1400" dirty="0">
                <a:solidFill>
                  <a:srgbClr val="1F2933"/>
                </a:solidFill>
                <a:latin typeface="Calibri" pitchFamily="34" charset="0"/>
                <a:ea typeface="Calibri" pitchFamily="34" charset="-122"/>
                <a:cs typeface="Calibri" pitchFamily="34" charset="-120"/>
              </a:rPr>
              <a:t>identical to C-family. for-in over Iterables.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switch statement </a:t>
            </a:r>
            <a:r>
              <a:rPr lang="en-US" sz="1400" dirty="0">
                <a:solidFill>
                  <a:srgbClr val="1F2933"/>
                </a:solidFill>
                <a:latin typeface="Calibri" pitchFamily="34" charset="0"/>
                <a:ea typeface="Calibri" pitchFamily="34" charset="-122"/>
                <a:cs typeface="Calibri" pitchFamily="34" charset="-120"/>
              </a:rPr>
              <a:t>no fall-through needed; break is implicit.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switch expression (Dart 3) </a:t>
            </a:r>
            <a:r>
              <a:rPr lang="en-US" sz="1400" dirty="0">
                <a:solidFill>
                  <a:srgbClr val="1F2933"/>
                </a:solidFill>
                <a:latin typeface="Calibri" pitchFamily="34" charset="0"/>
                <a:ea typeface="Calibri" pitchFamily="34" charset="-122"/>
                <a:cs typeface="Calibri" pitchFamily="34" charset="-120"/>
              </a:rPr>
              <a:t>returns a value; must be exhaustive; uses patterns. This is the one to learn.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Exhaustiveness </a:t>
            </a:r>
            <a:r>
              <a:rPr lang="en-US" sz="1400" dirty="0">
                <a:solidFill>
                  <a:srgbClr val="1F2933"/>
                </a:solidFill>
                <a:latin typeface="Calibri" pitchFamily="34" charset="0"/>
                <a:ea typeface="Calibri" pitchFamily="34" charset="-122"/>
                <a:cs typeface="Calibri" pitchFamily="34" charset="-120"/>
              </a:rPr>
              <a:t>on enums and sealed classes the compiler errors if you miss a case. Add a case, every switch in the app flags itself.</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enum Cover { thirdParty, thirdPartyFireTheft, comprehensive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statement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String describe(Cover 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case Cover.thirdParty:          return 'TP';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case Cover.thirdPartyFireTheft: return 'TPFT';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case Cover.comprehensive:       return 'Comp';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EXPRESSION - preferred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double factor(Cover c) =&gt; switch (c)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Cover.thirdParty          =&gt; 0.6,</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Cover.thirdPartyFireTheft =&gt; 0.8,</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Cover.comprehensive       =&gt; 1.0,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guards and ranges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String band(int age) =&gt; switch (age)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&lt; 18            =&gt; 'not eligible',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&gt;= 18 &amp;&amp; &lt; 25   =&gt; 'young driver',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_               =&gt; 'standard',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Records: lightweight tuples with names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Positional record </a:t>
            </a:r>
            <a:r>
              <a:rPr lang="en-US" sz="1400" dirty="0">
                <a:solidFill>
                  <a:srgbClr val="1F2933"/>
                </a:solidFill>
                <a:latin typeface="Calibri" pitchFamily="34" charset="0"/>
                <a:ea typeface="Calibri" pitchFamily="34" charset="-122"/>
                <a:cs typeface="Calibri" pitchFamily="34" charset="-120"/>
              </a:rPr>
              <a:t>(double, String) - access with $1, $2.</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Named record </a:t>
            </a:r>
            <a:r>
              <a:rPr lang="en-US" sz="1400" dirty="0">
                <a:solidFill>
                  <a:srgbClr val="1F2933"/>
                </a:solidFill>
                <a:latin typeface="Calibri" pitchFamily="34" charset="0"/>
                <a:ea typeface="Calibri" pitchFamily="34" charset="-122"/>
                <a:cs typeface="Calibri" pitchFamily="34" charset="-120"/>
              </a:rPr>
              <a:t>({double amount, String currency}) - access by name.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Destructuring </a:t>
            </a:r>
            <a:r>
              <a:rPr lang="en-US" sz="1400" dirty="0">
                <a:solidFill>
                  <a:srgbClr val="1F2933"/>
                </a:solidFill>
                <a:latin typeface="Calibri" pitchFamily="34" charset="0"/>
                <a:ea typeface="Calibri" pitchFamily="34" charset="-122"/>
                <a:cs typeface="Calibri" pitchFamily="34" charset="-120"/>
              </a:rPr>
              <a:t>final (a, b) = f(); final (:amount, :currency) = 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Use for </a:t>
            </a:r>
            <a:r>
              <a:rPr lang="en-US" sz="1400" dirty="0">
                <a:solidFill>
                  <a:srgbClr val="1F2933"/>
                </a:solidFill>
                <a:latin typeface="Calibri" pitchFamily="34" charset="0"/>
                <a:ea typeface="Calibri" pitchFamily="34" charset="-122"/>
                <a:cs typeface="Calibri" pitchFamily="34" charset="-120"/>
              </a:rPr>
              <a:t>returning two values, small ad-hoc groupings, keys. Not for domain models (use classes).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Value equality is built in </a:t>
            </a:r>
            <a:r>
              <a:rPr lang="en-US" sz="1400" dirty="0">
                <a:solidFill>
                  <a:srgbClr val="1F2933"/>
                </a:solidFill>
                <a:latin typeface="Calibri" pitchFamily="34" charset="0"/>
                <a:ea typeface="Calibri" pitchFamily="34" charset="-122"/>
                <a:cs typeface="Calibri" pitchFamily="34" charset="-120"/>
              </a:rPr>
              <a:t>(1, 2) == (1, 2) is true.</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two values without a class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String) priceWithCurrency(Quote q)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(q.premium, q.currency);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(amount, currency) = priceWithCurrency(quote);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print('$currency $amount');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named record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min, double max}) range(List&lt;double&gt; xs)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(min: xs.reduce((a, b) =&gt; a &lt; b ? a : b),</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max: xs.reduce((a, b) =&gt; a &gt; b ? a : b));</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r = range([1200, 1800, 950]);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print(r.min);   // 950.0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(:min, :max) = 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records as map keys / in sets - value equality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seen = &lt;(String, int)&gt;{};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seen.add(('VW', 2020));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print(seen.contains(('VW', 2020)));   // true</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Sealed classes + patterns = discriminated unions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sealed class </a:t>
            </a:r>
            <a:r>
              <a:rPr lang="en-US" sz="1400" dirty="0">
                <a:solidFill>
                  <a:srgbClr val="1F2933"/>
                </a:solidFill>
                <a:latin typeface="Calibri" pitchFamily="34" charset="0"/>
                <a:ea typeface="Calibri" pitchFamily="34" charset="-122"/>
                <a:cs typeface="Calibri" pitchFamily="34" charset="-120"/>
              </a:rPr>
              <a:t>all subtypes must be declared in the same library. The compiler knows the full set.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switch is exhaustive </a:t>
            </a:r>
            <a:r>
              <a:rPr lang="en-US" sz="1400" dirty="0">
                <a:solidFill>
                  <a:srgbClr val="1F2933"/>
                </a:solidFill>
                <a:latin typeface="Calibri" pitchFamily="34" charset="0"/>
                <a:ea typeface="Calibri" pitchFamily="34" charset="-122"/>
                <a:cs typeface="Calibri" pitchFamily="34" charset="-120"/>
              </a:rPr>
              <a:t>miss a subtype → compile error. No default branch needed or wanted.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Object patterns </a:t>
            </a:r>
            <a:r>
              <a:rPr lang="en-US" sz="1400" dirty="0">
                <a:solidFill>
                  <a:srgbClr val="1F2933"/>
                </a:solidFill>
                <a:latin typeface="Calibri" pitchFamily="34" charset="0"/>
                <a:ea typeface="Calibri" pitchFamily="34" charset="-122"/>
                <a:cs typeface="Calibri" pitchFamily="34" charset="-120"/>
              </a:rPr>
              <a:t>Loaded(:final quote) destructures fields in the case.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This is how we model UI state </a:t>
            </a:r>
            <a:r>
              <a:rPr lang="en-US" sz="1400" dirty="0">
                <a:solidFill>
                  <a:srgbClr val="1F2933"/>
                </a:solidFill>
                <a:latin typeface="Calibri" pitchFamily="34" charset="0"/>
                <a:ea typeface="Calibri" pitchFamily="34" charset="-122"/>
                <a:cs typeface="Calibri" pitchFamily="34" charset="-120"/>
              </a:rPr>
              <a:t>Idle / Loading / Loaded / Failed. Day 3 builds on exactly this.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sealed class QuoteState { const QuoteState();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QuoteIdle    extends QuoteState { const QuoteIdle();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QuoteLoading extends QuoteState { const QuoteLoading();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QuoteLoaded  extends QuoteState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QuoteLoaded(this.quote);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Quote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QuoteFailed  extends QuoteState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QuoteFailed(this.message);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String 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describe(QuoteState s) =&gt; switch (s)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QuoteIdle()             =&gt; 'Fill in the form',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QuoteLoading()          =&gt; 'Calculating…',</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QuoteLoaded(:final quote)   =&gt; 'Premium ${quote.display}',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QuoteFailed(:final message) =&gt; 'Error: $message',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Add a subtype tomorrow → every switch fails to compile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until you handle it. That is the point.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Five Dart habits that surprise TS / C# / Java developers</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2493264"/>
        </p:xfrm>
        <a:graphic>
          <a:graphicData uri="http://schemas.openxmlformats.org/drawingml/2006/table">
            <a:tbl>
              <a:tblPr/>
              <a:tblGrid>
                <a:gridCol w="3105668">
                  <a:extLst>
                    <a:ext uri="{9D8B030D-6E8A-4147-A177-3AD203B41FA5}">
                      <a16:colId xmlns:a16="http://schemas.microsoft.com/office/drawing/2014/main" val="20000"/>
                    </a:ext>
                  </a:extLst>
                </a:gridCol>
                <a:gridCol w="3993002">
                  <a:extLst>
                    <a:ext uri="{9D8B030D-6E8A-4147-A177-3AD203B41FA5}">
                      <a16:colId xmlns:a16="http://schemas.microsoft.com/office/drawing/2014/main" val="20001"/>
                    </a:ext>
                  </a:extLst>
                </a:gridCol>
                <a:gridCol w="3993002">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Habit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Do this instead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Forgetting .toList()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map/where return lazy Iterables; type errors at children:</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Chain .toList() at the end, or use collection-for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Using ! to silence the compiler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Runtime null crash later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 ??, early return, required, or copy field to a local</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Mutating state objects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Widgets don't rebuild; Riverpod/Bloc don't notify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Immutable models + copyWith; assign a new object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 on your own classes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Identity comparison; two equal quotes are "different"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Override ==/hashCode, or equatable / freezed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Missing const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Widgets rebuild needlessly; lint warns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Add const where the analyser suggests (dart fix --apply)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Expecting int/double interchange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1 is int, 1.0 is double; JSON numbers vary</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Cast through num: (j['x'] as num).toDouble()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print for debugging</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Works, but noisy in release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debugPrint, or the logger package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Quote domain model in DartPad</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A null-safe, immutable domain model for the quote app, exercised from main(). Ready-to-paste versions of every code block today are in the repo under dartpad/ - open the file, select all, paste into dartpad.dev, Run.</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Open dartpad.dev (New Pad → Dart). Everything today runs in the browser; no SDK needed.</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enum Cover { thirdParty, thirdPartyFireTheft, comprehensive } with a double get factor via switch expression (0.6 / 0.8 / 1.0).</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class QuoteRequest: make, model (nullable), year, driverAge, cover. const constructor, required named params, copyWith.</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class Quote: id, premium, currency = "ZAR", a display getter, fromJson / toJson.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Write double calculatePremium(QuoteRequest r): base 1000; ×1.5 if driverAge &lt; 25; ×1.2 if year &lt; 2015; × cover.factor. Round to 2 decimals.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the sealed QuoteState (Idle / Loading / Loaded / Failed) and String describe(QuoteState) with an exhaustive switch expression.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main(): build three requests with copyWith, print each premium, then print describe() for all four states.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Save the pad URL - you will paste this code into the app in Lab 1.4.</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Override == and hashCode on QuoteRequest and prove r1.copyWith() == r1.</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QuoteExpired to the sealed class and watch describe() fail to compile until you handle it.</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an extension Money on double with a rands getter and use it in Quote.display.</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3  ·  13:15 - 14:30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Async Dart</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Map Future to Promise / Task and Stream to Observable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async / await with proper error handling and timeouts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Run work in parallel with Future.wait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Produce and consume Streams; know when an Isolate is needed</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Future&lt;T&gt; is Promise&lt;T&gt; / Task&lt;T&gt;</a:t>
            </a:r>
            <a:endParaRPr lang="en-US" sz="3000" dirty="0"/>
          </a:p>
        </p:txBody>
      </p:sp>
      <p:sp>
        <p:nvSpPr>
          <p:cNvPr id="3" name="Shape 1"/>
          <p:cNvSpPr/>
          <p:nvPr/>
        </p:nvSpPr>
        <p:spPr>
          <a:xfrm>
            <a:off x="548640"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77240"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TypeScript</a:t>
            </a:r>
            <a:endParaRPr lang="en-US" sz="1700" dirty="0"/>
          </a:p>
        </p:txBody>
      </p:sp>
      <p:sp>
        <p:nvSpPr>
          <p:cNvPr id="5" name="Shape 3"/>
          <p:cNvSpPr/>
          <p:nvPr/>
        </p:nvSpPr>
        <p:spPr>
          <a:xfrm>
            <a:off x="777240"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6" name="Text 4"/>
          <p:cNvSpPr txBox="1"/>
          <p:nvPr/>
        </p:nvSpPr>
        <p:spPr>
          <a:xfrm>
            <a:off x="914400"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async function getQuote(id: string): Promise&lt;Quote&gt;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res = await fetch(`/quotes/${id}`);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(!res.ok) throw new Error('HTTP ' + res.status);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(await res.json()) as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try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q = await getQuote('q1');</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catch (e)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console.error(e);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finally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setLoading(false);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const all = await Promise.all([a(), b()]);</a:t>
            </a:r>
            <a:endParaRPr lang="en-US" sz="1000" dirty="0"/>
          </a:p>
        </p:txBody>
      </p:sp>
      <p:sp>
        <p:nvSpPr>
          <p:cNvPr id="7" name="Shape 5"/>
          <p:cNvSpPr/>
          <p:nvPr/>
        </p:nvSpPr>
        <p:spPr>
          <a:xfrm>
            <a:off x="6231636" y="1325880"/>
            <a:ext cx="5408676" cy="4023360"/>
          </a:xfrm>
          <a:prstGeom prst="roundRect">
            <a:avLst>
              <a:gd name="adj" fmla="val 2273"/>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6460236"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Dart</a:t>
            </a:r>
            <a:endParaRPr lang="en-US" sz="1700" dirty="0"/>
          </a:p>
        </p:txBody>
      </p:sp>
      <p:sp>
        <p:nvSpPr>
          <p:cNvPr id="9" name="Shape 7"/>
          <p:cNvSpPr/>
          <p:nvPr/>
        </p:nvSpPr>
        <p:spPr>
          <a:xfrm>
            <a:off x="6460236"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10" name="Text 8"/>
          <p:cNvSpPr txBox="1"/>
          <p:nvPr/>
        </p:nvSpPr>
        <p:spPr>
          <a:xfrm>
            <a:off x="6597396"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Future&lt;Quote&gt; getQuote(String id) async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res = await dio.get('/quotes/$id');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(res.statusCode != 200) throw Exception('HTTP');</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Quote.fromJson(res.data);</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try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q = await getQuote('q1');</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 DioException catch (e)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debugPrint('network: ${e.message}');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catch (e, st)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debugPrint('$e\n$st');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finally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setLoading(false);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all = await Future.wait([a(), b()]);</a:t>
            </a:r>
            <a:endParaRPr lang="en-US" sz="1000" dirty="0"/>
          </a:p>
        </p:txBody>
      </p:sp>
      <p:sp>
        <p:nvSpPr>
          <p:cNvPr id="11" name="Text 9"/>
          <p:cNvSpPr txBox="1"/>
          <p:nvPr/>
        </p:nvSpPr>
        <p:spPr>
          <a:xfrm>
            <a:off x="548640" y="5486400"/>
            <a:ext cx="11091672" cy="640080"/>
          </a:xfrm>
          <a:prstGeom prst="rect">
            <a:avLst/>
          </a:prstGeom>
          <a:noFill/>
          <a:ln/>
        </p:spPr>
        <p:txBody>
          <a:bodyPr wrap="square" lIns="0" tIns="0" rIns="0" bIns="0" rtlCol="0" anchor="ctr"/>
          <a:lstStyle/>
          <a:p>
            <a:pPr marL="0" indent="0">
              <a:buNone/>
            </a:pPr>
            <a:r>
              <a:rPr lang="en-US" sz="1300" i="1" dirty="0">
                <a:solidFill>
                  <a:srgbClr val="1F2933"/>
                </a:solidFill>
                <a:latin typeface="Calibri" pitchFamily="34" charset="0"/>
                <a:ea typeface="Calibri" pitchFamily="34" charset="-122"/>
                <a:cs typeface="Calibri" pitchFamily="34" charset="-120"/>
              </a:rPr>
              <a:t>Same shape. Differences: typed catch with "on", stack trace as a second catch parameter, Future.wait instead of Promise.all. An un-awaited Future still runs (no lazy evaluation).</a:t>
            </a:r>
            <a:endParaRPr lang="en-US" sz="1300" dirty="0"/>
          </a:p>
        </p:txBody>
      </p:sp>
      <p:sp>
        <p:nvSpPr>
          <p:cNvPr id="12" name="Text 10"/>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3" name="Text 11"/>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async / await details you will hit this week</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Every async function returns a Future </a:t>
            </a:r>
            <a:r>
              <a:rPr lang="en-US" sz="1400" dirty="0">
                <a:solidFill>
                  <a:srgbClr val="1F2933"/>
                </a:solidFill>
                <a:latin typeface="Calibri" pitchFamily="34" charset="0"/>
                <a:ea typeface="Calibri" pitchFamily="34" charset="-122"/>
                <a:cs typeface="Calibri" pitchFamily="34" charset="-120"/>
              </a:rPr>
              <a:t>even void ones: Future&lt;void&gt;. Mark them so callers can await.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Timeouts </a:t>
            </a:r>
            <a:r>
              <a:rPr lang="en-US" sz="1400" dirty="0">
                <a:solidFill>
                  <a:srgbClr val="1F2933"/>
                </a:solidFill>
                <a:latin typeface="Calibri" pitchFamily="34" charset="0"/>
                <a:ea typeface="Calibri" pitchFamily="34" charset="-122"/>
                <a:cs typeface="Calibri" pitchFamily="34" charset="-120"/>
              </a:rPr>
              <a:t>.timeout(Duration) throws TimeoutException - always set one on network calls.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Sequential vs parallel </a:t>
            </a:r>
            <a:r>
              <a:rPr lang="en-US" sz="1400" dirty="0">
                <a:solidFill>
                  <a:srgbClr val="1F2933"/>
                </a:solidFill>
                <a:latin typeface="Calibri" pitchFamily="34" charset="0"/>
                <a:ea typeface="Calibri" pitchFamily="34" charset="-122"/>
                <a:cs typeface="Calibri" pitchFamily="34" charset="-120"/>
              </a:rPr>
              <a:t>two awaits in a row are sequential; Future.wait runs them together.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Error propagation </a:t>
            </a:r>
            <a:r>
              <a:rPr lang="en-US" sz="1400" dirty="0">
                <a:solidFill>
                  <a:srgbClr val="1F2933"/>
                </a:solidFill>
                <a:latin typeface="Calibri" pitchFamily="34" charset="0"/>
                <a:ea typeface="Calibri" pitchFamily="34" charset="-122"/>
                <a:cs typeface="Calibri" pitchFamily="34" charset="-120"/>
              </a:rPr>
              <a:t>throw inside async → rejected Future; unhandled → crashes in debug, logged in release.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In widgets </a:t>
            </a:r>
            <a:r>
              <a:rPr lang="en-US" sz="1400" dirty="0">
                <a:solidFill>
                  <a:srgbClr val="1F2933"/>
                </a:solidFill>
                <a:latin typeface="Calibri" pitchFamily="34" charset="0"/>
                <a:ea typeface="Calibri" pitchFamily="34" charset="-122"/>
                <a:cs typeface="Calibri" pitchFamily="34" charset="-120"/>
              </a:rPr>
              <a:t>after an await, check if (!context.mounted) return; before touching UI. Tomorrow.</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Future&lt;void&gt; submit(QuoteRequest r) async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try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quote = await service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.getQuote(r)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.timeout(const Duration(seconds: 8));</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print(quote.display);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on TimeoutException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print('Slow network, try again');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sequential (2 s total)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a = await slow(1); final b = await slow(1);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parallel (1 s total)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(x, y) = await (slow(1), slow(1)).wait;   // Dart 3 records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or: final rs = await Future.wait([slow(1), slow(1)]);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fire-and-forget on purpose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unawaited(analytics.log('quote_started'));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 chaining still exists, prefer await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service.getQuote(r).then(print).catchError(print);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Stream&lt;T&gt; is Observable&lt;T&gt; / IAsyncEnumerable&lt;T&gt;</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sequence of async values </a:t>
            </a:r>
            <a:r>
              <a:rPr lang="en-US" sz="1400" dirty="0">
                <a:solidFill>
                  <a:srgbClr val="1F2933"/>
                </a:solidFill>
                <a:latin typeface="Calibri" pitchFamily="34" charset="0"/>
                <a:ea typeface="Calibri" pitchFamily="34" charset="-122"/>
                <a:cs typeface="Calibri" pitchFamily="34" charset="-120"/>
              </a:rPr>
              <a:t>ticks, socket messages, database changes, auth state.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Produce </a:t>
            </a:r>
            <a:r>
              <a:rPr lang="en-US" sz="1400" dirty="0">
                <a:solidFill>
                  <a:srgbClr val="1F2933"/>
                </a:solidFill>
                <a:latin typeface="Calibri" pitchFamily="34" charset="0"/>
                <a:ea typeface="Calibri" pitchFamily="34" charset="-122"/>
                <a:cs typeface="Calibri" pitchFamily="34" charset="-120"/>
              </a:rPr>
              <a:t>async* + yield, or a StreamController.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Consume </a:t>
            </a:r>
            <a:r>
              <a:rPr lang="en-US" sz="1400" dirty="0">
                <a:solidFill>
                  <a:srgbClr val="1F2933"/>
                </a:solidFill>
                <a:latin typeface="Calibri" pitchFamily="34" charset="0"/>
                <a:ea typeface="Calibri" pitchFamily="34" charset="-122"/>
                <a:cs typeface="Calibri" pitchFamily="34" charset="-120"/>
              </a:rPr>
              <a:t>await for, or .listen((v) {...}) which returns a subscription you must cancel.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Transform </a:t>
            </a:r>
            <a:r>
              <a:rPr lang="en-US" sz="1400" dirty="0">
                <a:solidFill>
                  <a:srgbClr val="1F2933"/>
                </a:solidFill>
                <a:latin typeface="Calibri" pitchFamily="34" charset="0"/>
                <a:ea typeface="Calibri" pitchFamily="34" charset="-122"/>
                <a:cs typeface="Calibri" pitchFamily="34" charset="-120"/>
              </a:rPr>
              <a:t>map, where, take, distinct, asyncMap, debounce (via rxdart).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Single- vs broadcast </a:t>
            </a:r>
            <a:r>
              <a:rPr lang="en-US" sz="1400" dirty="0">
                <a:solidFill>
                  <a:srgbClr val="1F2933"/>
                </a:solidFill>
                <a:latin typeface="Calibri" pitchFamily="34" charset="0"/>
                <a:ea typeface="Calibri" pitchFamily="34" charset="-122"/>
                <a:cs typeface="Calibri" pitchFamily="34" charset="-120"/>
              </a:rPr>
              <a:t>default streams allow one listener; .asBroadcastStream() for many.</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produce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Stream&lt;int&gt; countdown(int from) async*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for (var i = from; i &gt;= 0; i--)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await Future.delayed(const Duration(seconds: 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yield i;</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consume - await for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for (final n in countdown(3)) print(n);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consume - listen (remember to cancel)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sub = countdown(3).listen(print);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Future.delayed(const Duration(seconds: 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sub.cancel();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controller: push values manually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ctrl = StreamController&lt;String&gt;.broadcast();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ctrl.stream.where((s) =&gt; s.isNotEmpty).listen(print);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ctrl.add('quote_started');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ctrl.close();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Flutter: StreamBuilder&lt;T&gt;(stream: ..., builder: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Riverpod: StreamProvider  (Day 3/4)</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Isolates: when async is not enough</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Dart is single-threaded </a:t>
            </a:r>
            <a:r>
              <a:rPr lang="en-US" sz="1400" dirty="0">
                <a:solidFill>
                  <a:srgbClr val="1F2933"/>
                </a:solidFill>
                <a:latin typeface="Calibri" pitchFamily="34" charset="0"/>
                <a:ea typeface="Calibri" pitchFamily="34" charset="-122"/>
                <a:cs typeface="Calibri" pitchFamily="34" charset="-120"/>
              </a:rPr>
              <a:t>async/await interleaves I/O; it does not run CPU work in parallel.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Heavy CPU work blocks the UI </a:t>
            </a:r>
            <a:r>
              <a:rPr lang="en-US" sz="1400" dirty="0">
                <a:solidFill>
                  <a:srgbClr val="1F2933"/>
                </a:solidFill>
                <a:latin typeface="Calibri" pitchFamily="34" charset="0"/>
                <a:ea typeface="Calibri" pitchFamily="34" charset="-122"/>
                <a:cs typeface="Calibri" pitchFamily="34" charset="-120"/>
              </a:rPr>
              <a:t>parsing a 5 MB JSON, image processing, big loops → dropped frames.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Isolate </a:t>
            </a:r>
            <a:r>
              <a:rPr lang="en-US" sz="1400" dirty="0">
                <a:solidFill>
                  <a:srgbClr val="1F2933"/>
                </a:solidFill>
                <a:latin typeface="Calibri" pitchFamily="34" charset="0"/>
                <a:ea typeface="Calibri" pitchFamily="34" charset="-122"/>
                <a:cs typeface="Calibri" pitchFamily="34" charset="-120"/>
              </a:rPr>
              <a:t>a separate memory heap + event loop. No shared state; messages are copied.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compute() </a:t>
            </a:r>
            <a:r>
              <a:rPr lang="en-US" sz="1400" dirty="0">
                <a:solidFill>
                  <a:srgbClr val="1F2933"/>
                </a:solidFill>
                <a:latin typeface="Calibri" pitchFamily="34" charset="0"/>
                <a:ea typeface="Calibri" pitchFamily="34" charset="-122"/>
                <a:cs typeface="Calibri" pitchFamily="34" charset="-120"/>
              </a:rPr>
              <a:t>Flutter helper: run a top-level function in an isolate and get the result as a Future.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Rule </a:t>
            </a:r>
            <a:r>
              <a:rPr lang="en-US" sz="1400" dirty="0">
                <a:solidFill>
                  <a:srgbClr val="1F2933"/>
                </a:solidFill>
                <a:latin typeface="Calibri" pitchFamily="34" charset="0"/>
                <a:ea typeface="Calibri" pitchFamily="34" charset="-122"/>
                <a:cs typeface="Calibri" pitchFamily="34" charset="-120"/>
              </a:rPr>
              <a:t>if it takes more than ~16 ms of CPU, move it off the main isolate.</a:t>
            </a:r>
            <a:endParaRPr lang="en-US" sz="1400" dirty="0"/>
          </a:p>
        </p:txBody>
      </p:sp>
      <p:sp>
        <p:nvSpPr>
          <p:cNvPr id="4" name="Shape 2"/>
          <p:cNvSpPr/>
          <p:nvPr/>
        </p:nvSpPr>
        <p:spPr>
          <a:xfrm>
            <a:off x="5787969" y="1325880"/>
            <a:ext cx="5852343" cy="3931920"/>
          </a:xfrm>
          <a:prstGeom prst="roundRect">
            <a:avLst>
              <a:gd name="adj" fmla="val 1860"/>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37124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import 'package:flutter/foundation.dart';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must be a top-level or static function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List&lt;Quote&gt; parseQuotes(String body)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list = jsonDecode(body) as List;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return list.map((e) =&gt; Quote.fromJson(e)).toList();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Future&lt;List&lt;Quote&gt;&gt; load(String body) =&gt;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compute(parseQuotes, body);   // runs off the UI thread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Dart 2.19+: Isolate.run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final quotes = await Isolate.run(() =&gt; parseQuotes(body));</a:t>
            </a:r>
            <a:endParaRPr lang="en-US" sz="1100" dirty="0"/>
          </a:p>
        </p:txBody>
      </p:sp>
      <p:sp>
        <p:nvSpPr>
          <p:cNvPr id="7" name="Shape 5"/>
          <p:cNvSpPr/>
          <p:nvPr/>
        </p:nvSpPr>
        <p:spPr>
          <a:xfrm>
            <a:off x="5787969" y="5394960"/>
            <a:ext cx="5852343"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5925129" y="5440680"/>
            <a:ext cx="5578023" cy="594360"/>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Network I/O is already non-blocking. Isolates are for CPU, not for waiting.</a:t>
            </a:r>
            <a:endParaRPr lang="en-US" sz="1100" dirty="0"/>
          </a:p>
        </p:txBody>
      </p:sp>
      <p:sp>
        <p:nvSpPr>
          <p:cNvPr id="9" name="Text 7"/>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0" name="Text 8"/>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Async quote service</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25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A fake QuoteService with realistic latency, failure, timeout, and a Stream of quote states.</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your Lab 1.2 pad, add abstract interface class QuoteService { Future&lt;Quote&gt; getQuote(QuoteRequest r); }</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Implement FakeQuoteService: await Future.delayed(1500 ms); throw Exception("Vehicle too old") if year &lt; 2000; else return Quote with calculatePremium.</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Write Future&lt;void&gt; runOnce(QuoteRequest r): try/on/catch with .timeout(3 s); print the result or the error.</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Write Stream&lt;QuoteState&gt; quoteStates(QuoteService s, QuoteRequest r) async*: yield Loading, then Loaded or Failed.</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main(): await for over quoteStates(...) and print describe(state) for a valid and an invalid request.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Run three requests in parallel with Future.wait and print how long they took (Stopwatch).</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Make FakeQuoteService fail randomly 30% of the time and add one retry with exponential back-off.</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 Stream transformer that debounces repeated identical requests (hint: distinct()).</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4  ·  14:45 - 16:00  (theory to 15:15 · lab 15:15-15:55 · recap 15:55)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Your first Flutter app</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the widget tree and the three trees behind 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main.dart, MaterialApp and Scaffold line by line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between StatelessWidget and StatefulWidget and use setState correctly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DevTools and the Widget Inspector</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Leave with the quote app skeleton running</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Everything is a widget</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widget is an immutable description </a:t>
            </a:r>
            <a:r>
              <a:rPr lang="en-US" sz="1400" dirty="0">
                <a:solidFill>
                  <a:srgbClr val="1F2933"/>
                </a:solidFill>
                <a:latin typeface="Calibri" pitchFamily="34" charset="0"/>
                <a:ea typeface="Calibri" pitchFamily="34" charset="-122"/>
                <a:cs typeface="Calibri" pitchFamily="34" charset="-120"/>
              </a:rPr>
              <a:t>of a piece of UI: what to show and how to configure children.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Visible widgets </a:t>
            </a:r>
            <a:r>
              <a:rPr lang="en-US" sz="1400" dirty="0">
                <a:solidFill>
                  <a:srgbClr val="1F2933"/>
                </a:solidFill>
                <a:latin typeface="Calibri" pitchFamily="34" charset="0"/>
                <a:ea typeface="Calibri" pitchFamily="34" charset="-122"/>
                <a:cs typeface="Calibri" pitchFamily="34" charset="-120"/>
              </a:rPr>
              <a:t>Text, Icon, Image, ElevatedButton, TextField.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Layout widgets </a:t>
            </a:r>
            <a:r>
              <a:rPr lang="en-US" sz="1400" dirty="0">
                <a:solidFill>
                  <a:srgbClr val="1F2933"/>
                </a:solidFill>
                <a:latin typeface="Calibri" pitchFamily="34" charset="0"/>
                <a:ea typeface="Calibri" pitchFamily="34" charset="-122"/>
                <a:cs typeface="Calibri" pitchFamily="34" charset="-120"/>
              </a:rPr>
              <a:t>Row, Column, Padding, Center, Expanded, SizedBox. They draw nothing themselves.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Behaviour widgets </a:t>
            </a:r>
            <a:r>
              <a:rPr lang="en-US" sz="1400" dirty="0">
                <a:solidFill>
                  <a:srgbClr val="1F2933"/>
                </a:solidFill>
                <a:latin typeface="Calibri" pitchFamily="34" charset="0"/>
                <a:ea typeface="Calibri" pitchFamily="34" charset="-122"/>
                <a:cs typeface="Calibri" pitchFamily="34" charset="-120"/>
              </a:rPr>
              <a:t>GestureDetector, Theme, MediaQuery, Navigator - wrap children to add behaviour or context.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Composition over inheritance </a:t>
            </a:r>
            <a:r>
              <a:rPr lang="en-US" sz="1400" dirty="0">
                <a:solidFill>
                  <a:srgbClr val="1F2933"/>
                </a:solidFill>
                <a:latin typeface="Calibri" pitchFamily="34" charset="0"/>
                <a:ea typeface="Calibri" pitchFamily="34" charset="-122"/>
                <a:cs typeface="Calibri" pitchFamily="34" charset="-120"/>
              </a:rPr>
              <a:t>you build UIs by nesting, not by subclassing Button.</a:t>
            </a:r>
            <a:endParaRPr lang="en-US" sz="1400" dirty="0"/>
          </a:p>
        </p:txBody>
      </p:sp>
      <p:sp>
        <p:nvSpPr>
          <p:cNvPr id="4" name="Shape 2"/>
          <p:cNvSpPr/>
          <p:nvPr/>
        </p:nvSpPr>
        <p:spPr>
          <a:xfrm>
            <a:off x="5787969" y="1325880"/>
            <a:ext cx="5852343" cy="3931920"/>
          </a:xfrm>
          <a:prstGeom prst="roundRect">
            <a:avLst>
              <a:gd name="adj" fmla="val 1860"/>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37124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React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&lt;View style={{padding: 16}}&gt;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&lt;Text style={{fontSize: 24}}&gt;Premium&lt;/Text&gt;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&lt;Pressable onPress={go}&gt;&lt;Text&gt;Accept&lt;/Text&gt;&lt;/Pressable&gt;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&lt;/View&gt;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Flutter - layout and style are widgets too</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Padding(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padding: const EdgeInsets.all(16),</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child: Column(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children: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const Text('Premium', style: TextStyle(fontSize: 24)),</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FilledButton(onPressed: go, child: const Text('Accept')),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5787969" y="5394960"/>
            <a:ext cx="5852343"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5925129" y="5440680"/>
            <a:ext cx="5578023" cy="594360"/>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Deep nesting is normal. VS Code: Ctrl/Cmd+. → "Extract Widget" keeps it readable.</a:t>
            </a:r>
            <a:endParaRPr lang="en-US" sz="1100" dirty="0"/>
          </a:p>
        </p:txBody>
      </p:sp>
      <p:sp>
        <p:nvSpPr>
          <p:cNvPr id="9" name="Text 7"/>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0" name="Text 8"/>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Three trees: widget → element → render object</a:t>
            </a:r>
            <a:endParaRPr lang="en-US" sz="3000" dirty="0"/>
          </a:p>
        </p:txBody>
      </p:sp>
      <p:sp>
        <p:nvSpPr>
          <p:cNvPr id="3" name="Shape 1"/>
          <p:cNvSpPr/>
          <p:nvPr/>
        </p:nvSpPr>
        <p:spPr>
          <a:xfrm>
            <a:off x="548640"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Widget tree</a:t>
            </a:r>
            <a:endParaRPr lang="en-US" sz="1400" dirty="0"/>
          </a:p>
        </p:txBody>
      </p:sp>
      <p:sp>
        <p:nvSpPr>
          <p:cNvPr id="7" name="Text 5"/>
          <p:cNvSpPr txBox="1"/>
          <p:nvPr/>
        </p:nvSpPr>
        <p:spPr>
          <a:xfrm>
            <a:off x="777240"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Your build() output. Immutable, cheap, rebuilt often. This is JSX / the virtual DOM description.</a:t>
            </a:r>
            <a:endParaRPr lang="en-US" sz="1150" dirty="0"/>
          </a:p>
        </p:txBody>
      </p:sp>
      <p:sp>
        <p:nvSpPr>
          <p:cNvPr id="8" name="Text 6"/>
          <p:cNvSpPr txBox="1"/>
          <p:nvPr/>
        </p:nvSpPr>
        <p:spPr>
          <a:xfrm>
            <a:off x="3986784"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4352544" y="1737360"/>
            <a:ext cx="3483864" cy="2377440"/>
          </a:xfrm>
          <a:prstGeom prst="roundRect">
            <a:avLst>
              <a:gd name="adj" fmla="val 3846"/>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4581144"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4581144"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581144"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Element tree</a:t>
            </a:r>
            <a:endParaRPr lang="en-US" sz="1400" dirty="0"/>
          </a:p>
        </p:txBody>
      </p:sp>
      <p:sp>
        <p:nvSpPr>
          <p:cNvPr id="13" name="Text 11"/>
          <p:cNvSpPr txBox="1"/>
          <p:nvPr/>
        </p:nvSpPr>
        <p:spPr>
          <a:xfrm>
            <a:off x="4581144"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Live instances Flutter keeps between builds; holds State and BuildContext. React's fibre tree.</a:t>
            </a:r>
            <a:endParaRPr lang="en-US" sz="1150" dirty="0"/>
          </a:p>
        </p:txBody>
      </p:sp>
      <p:sp>
        <p:nvSpPr>
          <p:cNvPr id="14" name="Text 12"/>
          <p:cNvSpPr txBox="1"/>
          <p:nvPr/>
        </p:nvSpPr>
        <p:spPr>
          <a:xfrm>
            <a:off x="7790688"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8156448"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8385048"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8385048"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85048"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Render tree</a:t>
            </a:r>
            <a:endParaRPr lang="en-US" sz="1400" dirty="0"/>
          </a:p>
        </p:txBody>
      </p:sp>
      <p:sp>
        <p:nvSpPr>
          <p:cNvPr id="19" name="Text 17"/>
          <p:cNvSpPr txBox="1"/>
          <p:nvPr/>
        </p:nvSpPr>
        <p:spPr>
          <a:xfrm>
            <a:off x="8385048"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Layout and paint. Only touched when a widget's configuration actually changes.</a:t>
            </a:r>
            <a:endParaRPr lang="en-US" sz="1150" dirty="0"/>
          </a:p>
        </p:txBody>
      </p:sp>
      <p:sp>
        <p:nvSpPr>
          <p:cNvPr id="20" name="Text 18"/>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You write widgets only. Flutter diffs each new widget tree against the element tree by type and key, updates in place where they match, and re-creates only where they differ - the same reconciliation idea as React. BuildContext is a widget's element: its position in the tree, used to look up ancestors like Theme.of(context).</a:t>
            </a:r>
            <a:endParaRPr lang="en-US" sz="1400" dirty="0"/>
          </a:p>
        </p:txBody>
      </p:sp>
      <p:sp>
        <p:nvSpPr>
          <p:cNvPr id="21" name="Text 1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22" name="Text 2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463040" cy="292608"/>
          </a:xfrm>
          <a:prstGeom prst="roundRect">
            <a:avLst>
              <a:gd name="adj" fmla="val 50000"/>
            </a:avLst>
          </a:prstGeom>
          <a:solidFill>
            <a:srgbClr val="0B2545"/>
          </a:solidFill>
          <a:ln w="12700">
            <a:solidFill>
              <a:srgbClr val="0B2545"/>
            </a:solidFill>
            <a:prstDash val="solid"/>
          </a:ln>
        </p:spPr>
        <p:txBody>
          <a:bodyPr/>
          <a:lstStyle/>
          <a:p>
            <a:endParaRPr lang="en-US"/>
          </a:p>
        </p:txBody>
      </p:sp>
      <p:sp>
        <p:nvSpPr>
          <p:cNvPr id="3" name="Text 1"/>
          <p:cNvSpPr txBox="1"/>
          <p:nvPr/>
        </p:nvSpPr>
        <p:spPr>
          <a:xfrm>
            <a:off x="548640" y="457200"/>
            <a:ext cx="14630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WHITEBOARD</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5 min · led from the front</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marL="0" indent="0">
              <a:buNone/>
            </a:pPr>
            <a:r>
              <a:rPr lang="en-US" sz="2800" b="1" dirty="0">
                <a:solidFill>
                  <a:srgbClr val="0B2545"/>
                </a:solidFill>
                <a:latin typeface="Calibri" pitchFamily="34" charset="0"/>
                <a:ea typeface="Calibri" pitchFamily="34" charset="-122"/>
                <a:cs typeface="Calibri" pitchFamily="34" charset="-120"/>
              </a:rPr>
              <a:t>The three trees - draw it together (5 min)</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822960" y="1783080"/>
            <a:ext cx="10543032" cy="457200"/>
          </a:xfrm>
          <a:prstGeom prst="rect">
            <a:avLst/>
          </a:prstGeom>
          <a:noFill/>
          <a:ln/>
        </p:spPr>
        <p:txBody>
          <a:bodyPr wrap="square" lIns="0" tIns="0" rIns="0" bIns="0" rtlCol="0" anchor="ctr"/>
          <a:lstStyle/>
          <a:p>
            <a:pPr marL="0" indent="0">
              <a:buNone/>
            </a:pPr>
            <a:r>
              <a:rPr lang="en-US" sz="1800" b="1" dirty="0">
                <a:solidFill>
                  <a:srgbClr val="0B2545"/>
                </a:solidFill>
                <a:latin typeface="Courier New" pitchFamily="34" charset="0"/>
                <a:ea typeface="Courier New" pitchFamily="34" charset="-122"/>
                <a:cs typeface="Courier New" pitchFamily="34" charset="-120"/>
              </a:rPr>
              <a:t>docs.flutter.dev/resources/inside-flutter</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marL="0" indent="0">
              <a:buNone/>
            </a:pPr>
            <a:r>
              <a:rPr lang="en-US" sz="1200" dirty="0">
                <a:solidFill>
                  <a:srgbClr val="5B6773"/>
                </a:solidFill>
                <a:latin typeface="Calibri" pitchFamily="34" charset="0"/>
                <a:ea typeface="Calibri" pitchFamily="34" charset="-122"/>
                <a:cs typeface="Calibri" pitchFamily="34" charset="-120"/>
              </a:rPr>
              <a:t>Instructor-led whiteboard sketch. This page is OPTIONAL reading tonight, alongside the constraints doc.</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Why is it cheap to create thousands of widget objects per frame? What keeps them cheap?</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does Flutter compare when it decides whether to reuse an Element - and where do Keys come in?</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Which tree holds State, and why does that mean a StatefulWidget keeps its counter across rebuilds?</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Map it to your framework: React fibre / Angular component instance - where does each tree land?</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2" name="Text 10"/>
          <p:cNvSpPr txBox="1"/>
          <p:nvPr/>
        </p:nvSpPr>
        <p:spPr>
          <a:xfrm>
            <a:off x="7706563" y="3017520"/>
            <a:ext cx="3705149"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YOU draw widget → element → render for the counter app while asking the four questions.</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Take answers from the room; do not wait for silence.</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Photograph the whiteboard. Inside Flutter is optional reading tonight.</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main.dart, line by line</a:t>
            </a:r>
            <a:endParaRPr lang="en-US" sz="3000" dirty="0"/>
          </a:p>
        </p:txBody>
      </p:sp>
      <p:sp>
        <p:nvSpPr>
          <p:cNvPr id="3" name="Shape 1"/>
          <p:cNvSpPr/>
          <p:nvPr/>
        </p:nvSpPr>
        <p:spPr>
          <a:xfrm>
            <a:off x="548640" y="1325880"/>
            <a:ext cx="11091672" cy="4206240"/>
          </a:xfrm>
          <a:prstGeom prst="roundRect">
            <a:avLst>
              <a:gd name="adj" fmla="val 173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lib/main.dart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'package:flutter/material.dart';     // Material widgets, Theme, Scaffold…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void main()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runApp(const QuoteApp());                     // inflate the root widget and attach to the screen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QuoteApp extends StatelessWidget {         // no mutable state → Stateless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QuoteApp({super.key});                   // const ctor; key forwarded to the framework</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          // called whenever Flutter needs this widget's UI</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MaterialApp(                          // app-wide: theme, navigation, localisation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title: 'Quote App',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theme: ThemeData(colorSchemeSeed: const Color(0xFF0B2545), useMaterial3: true),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home: const HomeScreen(),                  // first screen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HomeScreen extends StatelessWidget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HomeScreen({super.key});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=&gt; Scaffold(       // page chrome: app bar, body, FAB, drawer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appBar: AppBar(title: const Text('Get a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body: const Center(child: Text('Hello, Flutter')),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marL="0" indent="0">
              <a:buNone/>
            </a:pPr>
            <a:r>
              <a:rPr lang="en-US" sz="1200" dirty="0">
                <a:solidFill>
                  <a:srgbClr val="5B6773"/>
                </a:solidFill>
                <a:latin typeface="Calibri" pitchFamily="34" charset="0"/>
                <a:ea typeface="Calibri" pitchFamily="34" charset="-122"/>
                <a:cs typeface="Calibri" pitchFamily="34" charset="-120"/>
              </a:rPr>
              <a:t>main() → runApp → MaterialApp → Scaffold → your widgets. MaterialApp is &lt;App&gt; + router + theme provider in one; Scaffold is the page frame.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StatelessWidget vs StatefulWidget</a:t>
            </a:r>
            <a:endParaRPr lang="en-US" sz="3000" dirty="0"/>
          </a:p>
        </p:txBody>
      </p:sp>
      <p:sp>
        <p:nvSpPr>
          <p:cNvPr id="3" name="Shape 1"/>
          <p:cNvSpPr/>
          <p:nvPr/>
        </p:nvSpPr>
        <p:spPr>
          <a:xfrm>
            <a:off x="548640"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77240"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StatelessWidget - pure function of its inputs</a:t>
            </a:r>
            <a:endParaRPr lang="en-US" sz="1700" dirty="0"/>
          </a:p>
        </p:txBody>
      </p:sp>
      <p:sp>
        <p:nvSpPr>
          <p:cNvPr id="5" name="Shape 3"/>
          <p:cNvSpPr/>
          <p:nvPr/>
        </p:nvSpPr>
        <p:spPr>
          <a:xfrm>
            <a:off x="777240"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6" name="Text 4"/>
          <p:cNvSpPr txBox="1"/>
          <p:nvPr/>
        </p:nvSpPr>
        <p:spPr>
          <a:xfrm>
            <a:off x="914400"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PremiumBadge extends StatelessWidget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PremiumBadge({super.key, required this.amount});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double 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style = Theme.of(context).textTheme.headlineMedium;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Text('R ${amount.toStringAsFixed(0)}', style: style);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Rebuilt when the parent passes new inputs.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No internal mutable state. Prefer this.</a:t>
            </a:r>
            <a:endParaRPr lang="en-US" sz="1000" dirty="0"/>
          </a:p>
        </p:txBody>
      </p:sp>
      <p:sp>
        <p:nvSpPr>
          <p:cNvPr id="7" name="Shape 5"/>
          <p:cNvSpPr/>
          <p:nvPr/>
        </p:nvSpPr>
        <p:spPr>
          <a:xfrm>
            <a:off x="6231636" y="1325880"/>
            <a:ext cx="5408676" cy="4023360"/>
          </a:xfrm>
          <a:prstGeom prst="roundRect">
            <a:avLst>
              <a:gd name="adj" fmla="val 2273"/>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6460236"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StatefulWidget - owns mutable state</a:t>
            </a:r>
            <a:endParaRPr lang="en-US" sz="1700" dirty="0"/>
          </a:p>
        </p:txBody>
      </p:sp>
      <p:sp>
        <p:nvSpPr>
          <p:cNvPr id="9" name="Shape 7"/>
          <p:cNvSpPr/>
          <p:nvPr/>
        </p:nvSpPr>
        <p:spPr>
          <a:xfrm>
            <a:off x="6460236"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10" name="Text 8"/>
          <p:cNvSpPr txBox="1"/>
          <p:nvPr/>
        </p:nvSpPr>
        <p:spPr>
          <a:xfrm>
            <a:off x="6597396"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CoverPicker extends StatefulWidget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CoverPicker({super.key});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State&lt;CoverPicker&gt; createState() =&gt; _CoverPickerState();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_CoverPickerState extends State&lt;CoverPicker&gt;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Cover _cover = Cover.comprehensive;      // the state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SegmentedButton&lt;Cover&gt;(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segments: [for (final c in Cover.values)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ButtonSegment(value: c, label: Text(c.name))],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selected: {_cover},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onSelectionChanged: (s) =&gt; setState(() =&gt; _cover = s.first),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11" name="Text 9"/>
          <p:cNvSpPr txBox="1"/>
          <p:nvPr/>
        </p:nvSpPr>
        <p:spPr>
          <a:xfrm>
            <a:off x="548640" y="5486400"/>
            <a:ext cx="11091672" cy="640080"/>
          </a:xfrm>
          <a:prstGeom prst="rect">
            <a:avLst/>
          </a:prstGeom>
          <a:noFill/>
          <a:ln/>
        </p:spPr>
        <p:txBody>
          <a:bodyPr wrap="square" lIns="0" tIns="0" rIns="0" bIns="0" rtlCol="0" anchor="ctr"/>
          <a:lstStyle/>
          <a:p>
            <a:pPr marL="0" indent="0">
              <a:buNone/>
            </a:pPr>
            <a:r>
              <a:rPr lang="en-US" sz="1300" i="1" dirty="0">
                <a:solidFill>
                  <a:srgbClr val="1F2933"/>
                </a:solidFill>
                <a:latin typeface="Calibri" pitchFamily="34" charset="0"/>
                <a:ea typeface="Calibri" pitchFamily="34" charset="-122"/>
                <a:cs typeface="Calibri" pitchFamily="34" charset="-120"/>
              </a:rPr>
              <a:t>Two classes for one stateful widget: the Widget (immutable config, recreated on every parent build) and the State (persists in the element tree). setState(() {...}) mutates the state and schedules a rebuild of this subtree only.</a:t>
            </a:r>
            <a:endParaRPr lang="en-US" sz="1300" dirty="0"/>
          </a:p>
        </p:txBody>
      </p:sp>
      <p:sp>
        <p:nvSpPr>
          <p:cNvPr id="12" name="Text 10"/>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3" name="Text 11"/>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StatefulWidget lifecycle</a:t>
            </a:r>
            <a:endParaRPr lang="en-US" sz="3000" dirty="0"/>
          </a:p>
        </p:txBody>
      </p:sp>
      <p:sp>
        <p:nvSpPr>
          <p:cNvPr id="3" name="Shape 1"/>
          <p:cNvSpPr/>
          <p:nvPr/>
        </p:nvSpPr>
        <p:spPr>
          <a:xfrm>
            <a:off x="54864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createState()</a:t>
            </a:r>
            <a:endParaRPr lang="en-US" sz="1400" dirty="0"/>
          </a:p>
        </p:txBody>
      </p:sp>
      <p:sp>
        <p:nvSpPr>
          <p:cNvPr id="7" name="Text 5"/>
          <p:cNvSpPr txBox="1"/>
          <p:nvPr/>
        </p:nvSpPr>
        <p:spPr>
          <a:xfrm>
            <a:off x="77724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Once. Widget asks for its State object.</a:t>
            </a:r>
            <a:endParaRPr lang="en-US" sz="1150" dirty="0"/>
          </a:p>
        </p:txBody>
      </p:sp>
      <p:sp>
        <p:nvSpPr>
          <p:cNvPr id="8" name="Text 6"/>
          <p:cNvSpPr txBox="1"/>
          <p:nvPr/>
        </p:nvSpPr>
        <p:spPr>
          <a:xfrm>
            <a:off x="2465222"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2830982"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3059582"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3059582"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059582"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initState()</a:t>
            </a:r>
            <a:endParaRPr lang="en-US" sz="1400" dirty="0"/>
          </a:p>
        </p:txBody>
      </p:sp>
      <p:sp>
        <p:nvSpPr>
          <p:cNvPr id="13" name="Text 11"/>
          <p:cNvSpPr txBox="1"/>
          <p:nvPr/>
        </p:nvSpPr>
        <p:spPr>
          <a:xfrm>
            <a:off x="3059582"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Once. Subscribe, start controllers, read initial data. No context lookups that depend on inherited widgets yet.</a:t>
            </a:r>
            <a:endParaRPr lang="en-US" sz="1150" dirty="0"/>
          </a:p>
        </p:txBody>
      </p:sp>
      <p:sp>
        <p:nvSpPr>
          <p:cNvPr id="14" name="Text 12"/>
          <p:cNvSpPr txBox="1"/>
          <p:nvPr/>
        </p:nvSpPr>
        <p:spPr>
          <a:xfrm>
            <a:off x="4747565"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5113325"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5341925"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5341925"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5341925"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build()</a:t>
            </a:r>
            <a:endParaRPr lang="en-US" sz="1400" dirty="0"/>
          </a:p>
        </p:txBody>
      </p:sp>
      <p:sp>
        <p:nvSpPr>
          <p:cNvPr id="19" name="Text 17"/>
          <p:cNvSpPr txBox="1"/>
          <p:nvPr/>
        </p:nvSpPr>
        <p:spPr>
          <a:xfrm>
            <a:off x="5341925"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Many times. Pure: read state, return widgets. No side effects.</a:t>
            </a:r>
            <a:endParaRPr lang="en-US" sz="1150" dirty="0"/>
          </a:p>
        </p:txBody>
      </p:sp>
      <p:sp>
        <p:nvSpPr>
          <p:cNvPr id="20" name="Text 18"/>
          <p:cNvSpPr txBox="1"/>
          <p:nvPr/>
        </p:nvSpPr>
        <p:spPr>
          <a:xfrm>
            <a:off x="7029907"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7395667"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22" name="Shape 20"/>
          <p:cNvSpPr/>
          <p:nvPr/>
        </p:nvSpPr>
        <p:spPr>
          <a:xfrm>
            <a:off x="7624267"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3" name="Text 21"/>
          <p:cNvSpPr txBox="1"/>
          <p:nvPr/>
        </p:nvSpPr>
        <p:spPr>
          <a:xfrm>
            <a:off x="7624267"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624267"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setState()</a:t>
            </a:r>
            <a:endParaRPr lang="en-US" sz="1400" dirty="0"/>
          </a:p>
        </p:txBody>
      </p:sp>
      <p:sp>
        <p:nvSpPr>
          <p:cNvPr id="25" name="Text 23"/>
          <p:cNvSpPr txBox="1"/>
          <p:nvPr/>
        </p:nvSpPr>
        <p:spPr>
          <a:xfrm>
            <a:off x="7624267"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Any time. Mutate state → schedule build(). didUpdateWidget() when parent passes new config.</a:t>
            </a:r>
            <a:endParaRPr lang="en-US" sz="1150" dirty="0"/>
          </a:p>
        </p:txBody>
      </p:sp>
      <p:sp>
        <p:nvSpPr>
          <p:cNvPr id="26" name="Text 24"/>
          <p:cNvSpPr txBox="1"/>
          <p:nvPr/>
        </p:nvSpPr>
        <p:spPr>
          <a:xfrm>
            <a:off x="9312250"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7" name="Shape 25"/>
          <p:cNvSpPr/>
          <p:nvPr/>
        </p:nvSpPr>
        <p:spPr>
          <a:xfrm>
            <a:off x="967801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28" name="Shape 26"/>
          <p:cNvSpPr/>
          <p:nvPr/>
        </p:nvSpPr>
        <p:spPr>
          <a:xfrm>
            <a:off x="990661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9" name="Text 27"/>
          <p:cNvSpPr txBox="1"/>
          <p:nvPr/>
        </p:nvSpPr>
        <p:spPr>
          <a:xfrm>
            <a:off x="990661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990661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dispose()</a:t>
            </a:r>
            <a:endParaRPr lang="en-US" sz="1400" dirty="0"/>
          </a:p>
        </p:txBody>
      </p:sp>
      <p:sp>
        <p:nvSpPr>
          <p:cNvPr id="31" name="Text 29"/>
          <p:cNvSpPr txBox="1"/>
          <p:nvPr/>
        </p:nvSpPr>
        <p:spPr>
          <a:xfrm>
            <a:off x="990661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Once. Cancel subscriptions, dispose controllers. Skipping this leaks.</a:t>
            </a:r>
            <a:endParaRPr lang="en-US" sz="1150" dirty="0"/>
          </a:p>
        </p:txBody>
      </p:sp>
      <p:sp>
        <p:nvSpPr>
          <p:cNvPr id="32" name="Text 30"/>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React mapping: initState ≈ useEffect(() =&gt; …, []) mount; dispose ≈ its cleanup; didUpdateWidget ≈ effect with a dependency; build ≈ render. Rule for build(): no network calls, no setState, no heavy work - it can run 60 times a second.</a:t>
            </a:r>
            <a:endParaRPr lang="en-US" sz="1400" dirty="0"/>
          </a:p>
        </p:txBody>
      </p:sp>
      <p:sp>
        <p:nvSpPr>
          <p:cNvPr id="33" name="Text 3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34" name="Text 3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The counter app, annotated</a:t>
            </a:r>
            <a:endParaRPr lang="en-US" sz="3000" dirty="0"/>
          </a:p>
        </p:txBody>
      </p:sp>
      <p:sp>
        <p:nvSpPr>
          <p:cNvPr id="3" name="Shape 1"/>
          <p:cNvSpPr/>
          <p:nvPr/>
        </p:nvSpPr>
        <p:spPr>
          <a:xfrm>
            <a:off x="548640" y="1325880"/>
            <a:ext cx="11091672" cy="4206240"/>
          </a:xfrm>
          <a:prstGeom prst="roundRect">
            <a:avLst>
              <a:gd name="adj" fmla="val 173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lib/main.dart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CounterPage extends StatefulWidget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CounterPage({super.key, required this.title});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title;                                     // config from parent → widget.title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State&lt;CounterPage&gt; createState() =&gt; _CounterPageState();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_CounterPageState extends State&lt;CounterPage&gt;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int _counter = 0;                                       // state survives rebuilds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void _increment() =&gt; setState(() =&gt; _counter++);        // mutate inside setState → rebuild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theme = Theme.of(context);                      // inherited lookup via context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Scaffold(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appBar: AppBar(title: Text(widget.title)),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body: Center(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child: Column(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mainAxisAlignment: MainAxisAlignment.center,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children: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Text('You have pushed the button this many times:'),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Text('$_counter', style: theme.textTheme.headlineMedium),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floatingActionButton: FloatingActionButton(onPressed: _increment, child: const Icon(Icons.add)),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marL="0" indent="0">
              <a:buNone/>
            </a:pPr>
            <a:r>
              <a:rPr lang="en-US" sz="1200" dirty="0">
                <a:solidFill>
                  <a:srgbClr val="5B6773"/>
                </a:solidFill>
                <a:latin typeface="Calibri" pitchFamily="34" charset="0"/>
                <a:ea typeface="Calibri" pitchFamily="34" charset="-122"/>
                <a:cs typeface="Calibri" pitchFamily="34" charset="-120"/>
              </a:rPr>
              <a:t>Hot reload (r) keeps _counter. Hot restart (R) resets it. Try both now.</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Adding a package from pub.dev</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pub.dev is npm/NuGet for Dart. Check the Likes, Pub Points, and "Flutter Favorite" badge, then add with the CLI so versions are pinned correctly.</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runtime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intl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dev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--dev mocktail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specific version / constraint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dio:^5.4.0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after editing pubspec.yaml by hand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get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see what is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 cache location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ls ~/.pub-cache</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runtime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intl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dev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--dev mocktail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specific version / constraint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dio:^5.4.0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after editing pubspec.yaml by hand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get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see what is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 cache location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dir $env:LOCALAPPDATA\Pub\Cache</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A package with native code (sqflite, camera, path_provider…) needs a full stop-and-run after adding, not hot reload. Symptom if you forget: MissingPluginException.</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Debugging: DevTools and the Widget Inspector</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Breakpoints </a:t>
            </a:r>
            <a:r>
              <a:rPr lang="en-US" sz="1400" dirty="0">
                <a:solidFill>
                  <a:srgbClr val="1F2933"/>
                </a:solidFill>
                <a:latin typeface="Calibri" pitchFamily="34" charset="0"/>
                <a:ea typeface="Calibri" pitchFamily="34" charset="-122"/>
                <a:cs typeface="Calibri" pitchFamily="34" charset="-120"/>
              </a:rPr>
              <a:t>F5 in VS Code, click the gutter. Debug console shows print/debugPrint.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Open DevTools </a:t>
            </a:r>
            <a:r>
              <a:rPr lang="en-US" sz="1400" dirty="0">
                <a:solidFill>
                  <a:srgbClr val="1F2933"/>
                </a:solidFill>
                <a:latin typeface="Calibri" pitchFamily="34" charset="0"/>
                <a:ea typeface="Calibri" pitchFamily="34" charset="-122"/>
                <a:cs typeface="Calibri" pitchFamily="34" charset="-120"/>
              </a:rPr>
              <a:t>VS Code Command Palette → "Flutter: Open DevTools", or the link printed by flutter run.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Widget Inspector </a:t>
            </a:r>
            <a:r>
              <a:rPr lang="en-US" sz="1400" dirty="0">
                <a:solidFill>
                  <a:srgbClr val="1F2933"/>
                </a:solidFill>
                <a:latin typeface="Calibri" pitchFamily="34" charset="0"/>
                <a:ea typeface="Calibri" pitchFamily="34" charset="-122"/>
                <a:cs typeface="Calibri" pitchFamily="34" charset="-120"/>
              </a:rPr>
              <a:t>click any element on the emulator to jump to its widget in the tree and its source line. Toggle "Select Widget Mode".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Layout Explorer </a:t>
            </a:r>
            <a:r>
              <a:rPr lang="en-US" sz="1400" dirty="0">
                <a:solidFill>
                  <a:srgbClr val="1F2933"/>
                </a:solidFill>
                <a:latin typeface="Calibri" pitchFamily="34" charset="0"/>
                <a:ea typeface="Calibri" pitchFamily="34" charset="-122"/>
                <a:cs typeface="Calibri" pitchFamily="34" charset="-120"/>
              </a:rPr>
              <a:t>visualises Row/Column flex, constraints and overflow. Tomorrow's best friend.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Performance / Memory / Network tabs </a:t>
            </a:r>
            <a:r>
              <a:rPr lang="en-US" sz="1400" dirty="0">
                <a:solidFill>
                  <a:srgbClr val="1F2933"/>
                </a:solidFill>
                <a:latin typeface="Calibri" pitchFamily="34" charset="0"/>
                <a:ea typeface="Calibri" pitchFamily="34" charset="-122"/>
                <a:cs typeface="Calibri" pitchFamily="34" charset="-120"/>
              </a:rPr>
              <a:t>Day 5.</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debugPrint vs print </a:t>
            </a:r>
            <a:r>
              <a:rPr lang="en-US" sz="1400" dirty="0">
                <a:solidFill>
                  <a:srgbClr val="1F2933"/>
                </a:solidFill>
                <a:latin typeface="Calibri" pitchFamily="34" charset="0"/>
                <a:ea typeface="Calibri" pitchFamily="34" charset="-122"/>
                <a:cs typeface="Calibri" pitchFamily="34" charset="-120"/>
              </a:rPr>
              <a:t>debugPrint throttles long output on Android and is stripped less noisily.</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quick visual aids you can toggle at runtime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'package:flutter/rendering.dart';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void main()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debugPaintSizeEnabled = true;   // draw boxes around every widget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runApp(const QuoteApp());</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in code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debugPrint('state: $state');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assert(premium &gt;= 0, 'premium negative');   // debug-only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flutter run key shortcuts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  hot reload      R  hot restart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  toggle debug paint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  toggle Android/iOS rendering</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  dump widget tree to console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  quit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Project structure for the quote app (feature-first)</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core/ </a:t>
            </a:r>
            <a:r>
              <a:rPr lang="en-US" sz="1400" dirty="0">
                <a:solidFill>
                  <a:srgbClr val="1F2933"/>
                </a:solidFill>
                <a:latin typeface="Calibri" pitchFamily="34" charset="0"/>
                <a:ea typeface="Calibri" pitchFamily="34" charset="-122"/>
                <a:cs typeface="Calibri" pitchFamily="34" charset="-120"/>
              </a:rPr>
              <a:t>theme, routing, networking, shared widgets. Nothing domain-specific.</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features/&lt;name&gt;/ </a:t>
            </a:r>
            <a:r>
              <a:rPr lang="en-US" sz="1400" dirty="0">
                <a:solidFill>
                  <a:srgbClr val="1F2933"/>
                </a:solidFill>
                <a:latin typeface="Calibri" pitchFamily="34" charset="0"/>
                <a:ea typeface="Calibri" pitchFamily="34" charset="-122"/>
                <a:cs typeface="Calibri" pitchFamily="34" charset="-120"/>
              </a:rPr>
              <a:t>one folder per feature: data (API, storage), domain (models, logic), presentation (screens, widgets, providers).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main.dart </a:t>
            </a:r>
            <a:r>
              <a:rPr lang="en-US" sz="1400" dirty="0">
                <a:solidFill>
                  <a:srgbClr val="1F2933"/>
                </a:solidFill>
                <a:latin typeface="Calibri" pitchFamily="34" charset="0"/>
                <a:ea typeface="Calibri" pitchFamily="34" charset="-122"/>
                <a:cs typeface="Calibri" pitchFamily="34" charset="-120"/>
              </a:rPr>
              <a:t>bootstrapping only: runApp, ProviderScope (Day 3), router (Day 4).</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Why </a:t>
            </a:r>
            <a:r>
              <a:rPr lang="en-US" sz="1400" dirty="0">
                <a:solidFill>
                  <a:srgbClr val="1F2933"/>
                </a:solidFill>
                <a:latin typeface="Calibri" pitchFamily="34" charset="0"/>
                <a:ea typeface="Calibri" pitchFamily="34" charset="-122"/>
                <a:cs typeface="Calibri" pitchFamily="34" charset="-120"/>
              </a:rPr>
              <a:t>features are deletable and testable in isolation; new developers find things by feature, not by layer.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Today </a:t>
            </a:r>
            <a:r>
              <a:rPr lang="en-US" sz="1400" dirty="0">
                <a:solidFill>
                  <a:srgbClr val="1F2933"/>
                </a:solidFill>
                <a:latin typeface="Calibri" pitchFamily="34" charset="0"/>
                <a:ea typeface="Calibri" pitchFamily="34" charset="-122"/>
                <a:cs typeface="Calibri" pitchFamily="34" charset="-120"/>
              </a:rPr>
              <a:t>create the folders and move the Lab 1.2 model into features/quote/domain.</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tree</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lib/</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main.dart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app.dart                 ← MaterialApp + theme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core/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theme/brand_theme.dart      (Day 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routing/router.dart         (Day 4)</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network/dio_client.dart     (Day 4)</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widgets/                    shared UI</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features/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onboarding/</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presentation/onboarding_screen.dart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domain/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quote_request.dart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quote_state.dart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premium_calculator.dart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data/</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quote_service.dart          (interface + fake)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quote_repository.dart       (Day 4)</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presentation/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capture_screen.dart         (Day 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result_screen.dart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quote_provider.dart         (Day 3)</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1.4</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Quote app skeleton</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40 min · 15:15-15:55</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The quote app runs on your emulator with the domain model inside it and one stateful screen.</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quote_app, create the folder structure from the previous slide (empty files are fine for Day 2+ items).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Paste your Lab 1.2/1.3 code into features/quote/domain/*.dart and data/quote_service.dart. Fix imports (package:quote_app/…).</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app.dart: QuoteApp (StatelessWidget) returning MaterialApp(title, theme with colorSchemeSeed, home: CaptureScreen()).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main.dart: void main() =&gt; runApp(const QuoteApp());</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CaptureScreen (StatefulWidget): Scaffold with AppBar "Get a quote", a SegmentedButton for Cover stored in state, a FilledButton "Calculate", and a Text showing the premium.</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On button press: build a QuoteRequest(make: "VW", year: 2020, driverAge: 30, cover: _cover) → calculatePremium → setState the result.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Extract the premium Text into a PremiumBadge StatelessWidget using Ctrl/Cmd+. → Extract Widget.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Open the Widget Inspector, select the badge, confirm it maps to your file. Commit "Day 1: skeleton".</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Make the Calculate button async: await FakeQuoteService().getQuote(...) with a loading indicator; guard with if (!mounted) return;.</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flutter pub add intl and format the premium with NumberFormat.currency(locale: "en_ZA", symbol: "R ").</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 second screen ResultScreen and Navigator.push to it (preview of Day 4).</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0B2545"/>
          </a:solidFill>
          <a:ln w="12700">
            <a:solidFill>
              <a:srgbClr val="0B2545"/>
            </a:solidFill>
            <a:prstDash val="solid"/>
          </a:ln>
        </p:spPr>
        <p:txBody>
          <a:bodyPr/>
          <a:lstStyle/>
          <a:p>
            <a:endParaRPr lang="en-US"/>
          </a:p>
        </p:txBody>
      </p:sp>
      <p:sp>
        <p:nvSpPr>
          <p:cNvPr id="3" name="Text 1"/>
          <p:cNvSpPr txBox="1"/>
          <p:nvPr/>
        </p:nvSpPr>
        <p:spPr>
          <a:xfrm>
            <a:off x="548640" y="457200"/>
            <a:ext cx="2011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Homework · 25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marL="0" indent="0">
              <a:buNone/>
            </a:pPr>
            <a:r>
              <a:rPr lang="en-US" sz="2800" b="1" dirty="0">
                <a:solidFill>
                  <a:srgbClr val="0B2545"/>
                </a:solidFill>
                <a:latin typeface="Calibri" pitchFamily="34" charset="0"/>
                <a:ea typeface="Calibri" pitchFamily="34" charset="-122"/>
                <a:cs typeface="Calibri" pitchFamily="34" charset="-120"/>
              </a:rPr>
              <a:t>Tonight: read the constraints doc - tomorrow starts with your explanation</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822960" y="1783080"/>
            <a:ext cx="10543032" cy="457200"/>
          </a:xfrm>
          <a:prstGeom prst="rect">
            <a:avLst/>
          </a:prstGeom>
          <a:noFill/>
          <a:ln/>
        </p:spPr>
        <p:txBody>
          <a:bodyPr wrap="square" lIns="0" tIns="0" rIns="0" bIns="0" rtlCol="0" anchor="ctr"/>
          <a:lstStyle/>
          <a:p>
            <a:pPr marL="0" indent="0">
              <a:buNone/>
            </a:pPr>
            <a:r>
              <a:rPr lang="en-US" sz="1800" b="1" dirty="0">
                <a:solidFill>
                  <a:srgbClr val="0B2545"/>
                </a:solidFill>
                <a:latin typeface="Courier New" pitchFamily="34" charset="0"/>
                <a:ea typeface="Courier New" pitchFamily="34" charset="-122"/>
                <a:cs typeface="Courier New" pitchFamily="34" charset="-120"/>
              </a:rPr>
              <a:t>docs.flutter.dev/ui/layout/constraints</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marL="0" indent="0">
              <a:buNone/>
            </a:pPr>
            <a:r>
              <a:rPr lang="en-US" sz="1200" dirty="0">
                <a:solidFill>
                  <a:srgbClr val="5B6773"/>
                </a:solidFill>
                <a:latin typeface="Calibri" pitchFamily="34" charset="0"/>
                <a:ea typeface="Calibri" pitchFamily="34" charset="-122"/>
                <a:cs typeface="Calibri" pitchFamily="34" charset="-120"/>
              </a:rPr>
              <a:t>Whole page, including all 29 examples (about 25 minutes). Run a few in DartPad.</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Say the rule "constraints go down, sizes go up, parent sets position" in your own words, with one example.</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Why does a Container with no child fill its parent, but the same Container inside a Column has zero height?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is an "unbounded constraint" and which two widgets most often cause it?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Pick one of the 29 examples that surprised you and be ready to show it.</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2" name="Text 10"/>
          <p:cNvSpPr txBox="1"/>
          <p:nvPr/>
        </p:nvSpPr>
        <p:spPr>
          <a:xfrm>
            <a:off x="7706563" y="3017520"/>
            <a:ext cx="3705149"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09:00 tomorrow: three delegates each explain one question at the whiteboard before any slide goes up.</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We then break the layout live and fix it using what you read.</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This is the #1 gap in the survey (2.2) - the reading is the prep.</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54864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Day 1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Flutter draws every pixel itself - no bridge, identical UI, AOT in release.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flutter doctor clean, emulator or phone running, hot reload r / restart R.</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Dart = TypeScript-shaped with C# classes: final by default, null safety enforced, named params everywhere.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Records, sealed classes and switch expressions model state exhaustively - Day 3 builds on this.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Future = Promise/Task, Stream = Observable; isolates for CPU work only.</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Everything is a widget; three trees; Stateless vs Stateful; setState rebuilds one subtree.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Quote app skeleton with feature-first structure is committed.</a:t>
            </a:r>
            <a:endParaRPr lang="en-US" sz="1500" dirty="0"/>
          </a:p>
        </p:txBody>
      </p:sp>
      <p:sp>
        <p:nvSpPr>
          <p:cNvPr id="5" name="Shape 3"/>
          <p:cNvSpPr/>
          <p:nvPr/>
        </p:nvSpPr>
        <p:spPr>
          <a:xfrm>
            <a:off x="7589520" y="1554480"/>
            <a:ext cx="4023360" cy="3840480"/>
          </a:xfrm>
          <a:prstGeom prst="roundRect">
            <a:avLst>
              <a:gd name="adj" fmla="val 2381"/>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818120" y="1691640"/>
            <a:ext cx="365760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Widgets &amp; layout - the constraint model</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Row / Column / Stack / Expanded, overflow errors and fixes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Lists, forms and validation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Material 3 theming → BrandTheme for white-label</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Lab: the real quote capture screen</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993002">
                  <a:extLst>
                    <a:ext uri="{9D8B030D-6E8A-4147-A177-3AD203B41FA5}">
                      <a16:colId xmlns:a16="http://schemas.microsoft.com/office/drawing/2014/main" val="20000"/>
                    </a:ext>
                  </a:extLst>
                </a:gridCol>
                <a:gridCol w="7098670">
                  <a:extLst>
                    <a:ext uri="{9D8B030D-6E8A-4147-A177-3AD203B41FA5}">
                      <a16:colId xmlns:a16="http://schemas.microsoft.com/office/drawing/2014/main" val="20001"/>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Do this instead - the class keeps moving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Twenty machines all downloading 2.8 GB of NDK at once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START THE BUILD BEFORE YOU TEACH. At 09:05, before any theory: flutter create quote_app then flutter build apk --debug. It pulls the NDK, SDK Platform and Gradle dist (~4 GB, 7-8 min on a good line). Teach Module 1 theory over the top of it. Never let this run during a lab.</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Red X on Android license status unknown across the room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EXPECTED on current Android command-line tools (23.0+) - a known Flutter detection bug, not their machine. Say so BEFORE anyone runs doctor. The real test is a build: flutter build apk --debug. If that works, the toolchain is fine. Do not send them chasing licences.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flutter doctor will not go clean on a machine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That delegate does ALL of today in dartpad.dev (Labs 1.2 and 1.3 are browser-only by design). Pair them for Lab 1.4. Fix the install at lunch, not in front of the room.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Emulator will not boot (no hypervisor, CloudPC, corporate policy)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1. Physical Android phone + USB debugging.  2. flutter run -d chrome.  Both work for every lab today and tomorrow.</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First Gradle build crawls or fails downloading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USB stick: copy the pre-warmed .gradle and Pub cache, then flutter pub get --offline. Do this for the whole room at once rather than one at a time.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Venue internet is down entirely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USB stick has: SDK installers (both OS), pub + Gradle caches, the course repo as a zip, the five decks, and PDF copies of every doc used in Read &amp; Break Down. Nothing today needs the network.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Projector / HDMI dies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Decks are on the USB stick; delegates open them locally and you narrate. Keep going.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You lose your thread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Every slide carries the full script in the notes. Use presenter view - second display shows notes, projector shows the slide.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 delegate knows a detail you do not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"Let us check the docs" → open docs.flutter.dev on the projector and read it together. Never bluff; this room will spot it and you lose them for the week.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8">
    <p:bg>
      <p:bgPr>
        <a:solidFill>
          <a:srgbClr val="C9A227"/>
        </a:solidFill>
        <a:effectLst/>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marL="0" indent="0">
              <a:buNone/>
            </a:pPr>
            <a:r>
              <a:rPr lang="en-US" sz="1400" kern="0" spc="400" dirty="0">
                <a:solidFill>
                  <a:srgbClr val="0B2545"/>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marL="0" indent="0">
              <a:buNone/>
            </a:pPr>
            <a:r>
              <a:rPr lang="en-US" sz="4000" b="1" dirty="0">
                <a:solidFill>
                  <a:srgbClr val="0B2545"/>
                </a:solidFill>
                <a:latin typeface="Calibri" pitchFamily="34" charset="0"/>
                <a:ea typeface="Calibri" pitchFamily="34" charset="-122"/>
                <a:cs typeface="Calibri" pitchFamily="34" charset="-120"/>
              </a:rPr>
              <a:t>Day 1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marL="0" indent="0">
              <a:buNone/>
            </a:pPr>
            <a:r>
              <a:rPr lang="en-US" sz="1600" dirty="0">
                <a:solidFill>
                  <a:srgbClr val="0B2545"/>
                </a:solidFill>
                <a:latin typeface="Calibri" pitchFamily="34" charset="0"/>
                <a:ea typeface="Calibri" pitchFamily="34" charset="-122"/>
                <a:cs typeface="Calibri" pitchFamily="34" charset="-120"/>
              </a:rPr>
              <a:t>A · Command &amp; path map (macOS / Windows)   B · Lab 1.2 solution   C · Lab 1.3 solution   D · Lab 1.4 solution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 · Paths, variables and shell differences</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662001">
                  <a:extLst>
                    <a:ext uri="{9D8B030D-6E8A-4147-A177-3AD203B41FA5}">
                      <a16:colId xmlns:a16="http://schemas.microsoft.com/office/drawing/2014/main" val="20000"/>
                    </a:ext>
                  </a:extLst>
                </a:gridCol>
                <a:gridCol w="4214835">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Item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macOS (zsh)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Windows (PowerShell)</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Flutter SDK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~/development/flutter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C:\src\flutter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Add to PATH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~/.zshrc: export PATH="$HOME/development/flutter/bin:$PATH"</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Settings → Environment Variables → User Path → C:\src\flutter\bin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Android SDK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~/Library/Android/sdk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%LOCALAPPDATA%\Android\Sdk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adb</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~/Library/Android/sdk/platform-tools/adb</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%LOCALAPPDATA%\Android\Sdk\platform-tools\adb.exe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Pub cache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~/.pub-cache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%LOCALAPPDATA%\Pub\Cache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Gradle cache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~/.gradle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%USERPROFILE%\.gradle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Env variable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$HOME, $VAR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$env:USERPROFILE, $env:VAR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Line continuation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backslash \</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backtick   </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Home shortcut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$HOME or ~ (PowerShell 7)</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Open file explorer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open .</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explorer .  /  ii .</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Edit hosts / env</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nano ~/.zshrc</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notepad $PROFILE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JDK for Gradle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Android Studio bundled JBR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config --jdk-dir "C:\Program Files\Android\Android Studio\jbr"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2"/>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E · Troubleshooting: symptom → fix</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extLst>
                    <a:ext uri="{9D8B030D-6E8A-4147-A177-3AD203B41FA5}">
                      <a16:colId xmlns:a16="http://schemas.microsoft.com/office/drawing/2014/main" val="20000"/>
                    </a:ext>
                  </a:extLst>
                </a:gridCol>
                <a:gridCol w="3105668">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Symptom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Cause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Fix</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flutter not recognised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PATH not applied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Open a NEW terminal; verify Path entry; no spaces in SDK path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cmdline-tools component is missing</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SDK tool not installed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SDK Manager → SDK Tools → Android SDK Command-line Tools (latest)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Android license status unknown AND --licenses says "no longer needed"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Known Flutter bug with cmdline-tools 23.0 (new android CLI replaced sdkmanager) - licences ARE accepted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Cosmetic. Verify: ls &lt;sdk&gt;/licenses has files, then prove with flutter build apk --debug. If the build works, carry on. flutter/flutter#191487</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Android license status unknown on OLDER cmdline-tools</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Licences genuinely not accepted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doctor --android-licenses → y to all</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Multiple adb binaries found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platform-tools installed twice (standalone + Android Studio)</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Remove the duplicate, keep Android Studio's. macOS: brew uninstall --cask android-platform-tools. Windows: remove the standalone platform-tools folder from PATH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Emulator stuck on boot logo</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No hardware acceleration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Win: Hypervisor Driver / WHPX + BIOS VT-x; CloudPC: use phone or Chrome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adb devices empty (Windows)</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Missing USB driver / charge-only cable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Install OEM driver (Google USB Driver via SDK Manager); swap cable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Gradle: Unsupported class file major version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Wrong JDK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config --jdk-dir &lt;Android Studio&gt;/jbr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First build takes 10+ min or fails downloading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It downloads ~4 GB: NDK 2.8 GB + SDK Platform + Gradle dist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Expected. Start it BEFORE the theory, not during a lab. Fallbacks: pre-warmed Android\Sdk, .gradle and Pub cache from USB; tether one machine; or pair two delegates on one warmed machine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MissingPluginException</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Hot reload after adding native plugin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Stop and flutter run again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Hot reload "did nothing"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Change in main()/initialiser/const/enum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Press R (hot restart)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setState() called after dispose()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Async callback after navigation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if (!mounted) return; after every await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2"/>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Filename too long (Windows git)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Long paths off</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git config --system core.longpaths true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Build inexplicably broken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Stale artefacts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clean &amp;&amp; flutter pub get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4"/>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 · Lab 1.2 solution - enum, request, quote</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enum Cover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thirdParty, thirdPartyFireTheft, comprehensive;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double get factor =&gt; switch (this)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Cover.thirdParty =&gt; 0.6, Cover.thirdPartyFireTheft =&gt; 0.8, Cover.comprehensive =&gt; 1.0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QuoteRequest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make; final String? model; final int year; final int driverAge; final Cover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QuoteRequest({required this.make, this.model, required this.year,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this.driverAge, required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 copyWith({String? make, String? model, int? year, int? driverAge, Cover? cover})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QuoteRequest(make: make ?? this.make, model: model ?? this.model, year: year ?? this.year,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driverAge: driverAge ?? this.driverAge, cover: cover ??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bool operator ==(Object o) =&gt; o is QuoteRequest &amp;&amp; o.make == make &amp;&amp; o.model == model &amp;&amp;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o.year == year &amp;&amp; o.driverAge == driverAge &amp;&amp; o.cover ==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int get hashCode =&gt; Object.hash(make, model, year, driverAge,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extension Money on double { String get rands =&gt; 'R ${toStringAsFixed(2)}';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id; final double premium; final String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Quote({required this.id, required this.premium, this.currency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String get display =&gt; '$currency ${premium.toStringAsFixed(2)}';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factory Quote.fromJson(Map&lt;String, dynamic&gt; j) =&gt; Quote(id: j['id'] as String,</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premium: (j['premium'] as num).toDouble(), currency: j['currency'] as String?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Map&lt;String, dynamic&gt; toJson() =&gt; {'id': id, 'premium': premium, 'currency':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 · Lab 1.2 solution - calculator, sealed state, main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double calculatePremium(QuoteRequest r)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var p = 1000.0;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if (r.driverAge &lt; 25) p *= 1.5;</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if (r.year &lt; 2015) p *= 1.2;</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 *= r.cover.factor;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return (p * 100).roundToDouble() / 100;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sealed class QuoteState { const QuoteState();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QuoteIdle extends QuoteState { const QuoteIdle();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QuoteLoading extends QuoteState { const QuoteLoading();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QuoteLoaded extends QuoteState { const QuoteLoaded(this.quote); final Quote quote;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QuoteFailed extends QuoteState { const QuoteFailed(this.message); final String message;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 · Lab 1.2 solution - calculator, sealed state, main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String describe(QuoteState s) =&gt; switch (s)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QuoteIdle() =&gt; 'Fill in the form',</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QuoteLoading() =&gt; 'Calculating…',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QuoteLoaded(:final quote) =&gt; 'Premium ${quote.display}',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QuoteFailed(:final message) =&gt; 'Error: $message',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void main()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const base = QuoteRequest(make: 'VW', year: 2020, driverAge: 30, cover: Cover.comprehensive);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young = base.copyWith(driverAge: 22);</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old = base.copyWith(year: 2012, cover: Cover.thirdParty);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for (final r in [base, young, old]) print('${r.make} ${r.year} → ${calculatePremium(r).rands}');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for (final s in [const QuoteIdle(), const QuoteLoading(),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QuoteLoaded(Quote(id: 'q1', premium: calculatePremium(base))), const QuoteFailed('too old')])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print(describe(s));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 · Lab 1.3 solution - fake service, timeout, state stream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1.3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abstract interface class QuoteService { Future&lt;Quote&gt; getQuote(QuoteRequest r);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FakeQuoteService implements QuoteService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@override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Future&lt;Quote&gt; getQuote(QuoteRequest r)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Future.delayed(const Duration(milliseconds: 1500));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if (r.year &lt; 2000) throw Exception('Vehicle too old to insure');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return Quote(id: 'q-${r.hashCode}', premium: calculatePremium(r));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Future&lt;void&gt; runOnce(QuoteService s, QuoteRequest r)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try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q = await s.getQuote(r).timeout(const Duration(seconds: 3));</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print('OK ${q.display}');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on TimeoutException { print('Timed out');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catch (e) { print('Failed: $e');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 · Lab 1.3 solution - fake service, timeout, state stream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1.3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Stream&lt;QuoteState&gt; quoteStates(QuoteService s, QuoteRequest r)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yield const QuoteLoading();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try { yield QuoteLoaded(await s.getQuote(r));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catch (e) { yield QuoteFailed(e.toString());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void main()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svc = FakeQuoteService();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const ok = QuoteRequest(make: 'VW', year: 2020, driverAge: 30, cover: Cover.comprehensive);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for (final st in quoteStates(svc, ok)) print(describe(st));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for (final st in quoteStates(svc, ok.copyWith(year: 1998))) print(describe(st));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sw = Stopwatch()..start();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Future.wait([svc.getQuote(ok), svc.getQuote(ok), svc.getQuote(ok)]);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print('3 parallel quotes in ${sw.elapsedMilliseconds} ms');   // ≈1500, not 4500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 · Lab 1.4 solution - app.dart and capture_screen.dart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1.4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lib/app.dart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QuoteApp extends StatelessWidget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QuoteApp({super.key});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=&gt; MaterialApp(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title: 'Quote App',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theme: ThemeData(colorSchemeSeed: const Color(0xFF0B2545), useMaterial3: true),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home: const CaptureScreen());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lib/features/quote/presentation/capture_screen.dart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CaptureScreen extends StatefulWidget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CaptureScreen({super.key});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State&lt;CaptureScreen&gt; createState() =&gt; _CaptureScreenState();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_CaptureScreenState extends State&lt;CaptureScreen&gt;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 _cover = Cover.comprehensive;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double? _premium;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void _calculate()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r = QuoteRequest(make: 'VW', year: 2020, driverAge: 30, cover: _cover);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setState(() =&gt; _premium = calculatePremium(r));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 · Lab 1.4 solution - app.dart and capture_screen.dart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1.4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=&gt; Scaffold(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appBar: AppBar(title: const Text('Get a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body: Padding(padding: const EdgeInsets.all(16), child: Column(children: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SegmentedButton&lt;Cover&gt;(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segments: [for (final c in Cover.values) ButtonSegment(value: c, label: Text(c.name))],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selected: {_cover},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onSelectionChanged: (s) =&gt; setState(() =&gt; _cover = s.first)),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SizedBox(height: 24),</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FilledButton(onPressed: _calculate, child: const Text('Calculate')),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SizedBox(height: 24),</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(_premium != null) PremiumBadge(amount: _premium!),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PremiumBadge extends StatelessWidget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PremiumBadge({super.key, required this.amount});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double 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Text(amount.rands, style: Theme.of(context).textTheme.headlineMedium);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 · Links used today</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extLst>
                    <a:ext uri="{9D8B030D-6E8A-4147-A177-3AD203B41FA5}">
                      <a16:colId xmlns:a16="http://schemas.microsoft.com/office/drawing/2014/main" val="20000"/>
                    </a:ext>
                  </a:extLst>
                </a:gridCol>
                <a:gridCol w="776417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Install (macOS / Windows)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docs.flutter.dev/get-started/install/macos  ·  docs.flutter.dev/get-started/install/windows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Emulator acceleration (Windows)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developer.android.com/studio/run/emulator-acceleration</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Architecture overview</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docs.flutter.dev/resources/architectural-overview</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Dart language tour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dart.dev/language  (null safety: dart.dev/null-safety; patterns: dart.dev/language/patterns)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DartPad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dartpad.dev</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Async / Streams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dart.dev/libraries/async/async-await  ·  dart.dev/libraries/async/using-streams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Isolates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dart.dev/language/isolates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Widgets intro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docs.flutter.dev/ui/widgets-intro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Inside Flutter (three trees)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docs.flutter.dev/resources/inside-flutter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DevTools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docs.flutter.dev/tools/devtools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Packages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pub.dev  ·  Flutter Favorites: docs.flutter.dev/packages-and-plugins/favorites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Course repo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github.com/Clynton19860/flutter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Reading for tomorrow</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docs.flutter.dev/ui/layout/constraints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601</TotalTime>
  <Words>23973</Words>
  <Application>Microsoft Macintosh PowerPoint</Application>
  <PresentationFormat>Widescreen</PresentationFormat>
  <Paragraphs>1907</Paragraphs>
  <Slides>70</Slides>
  <Notes>69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Aptos</vt:lpstr>
      <vt:lpstr>Arial</vt:lpstr>
      <vt:lpstr>Calibri</vt:lpstr>
      <vt:lpstr>Calibri Light</vt:lpstr>
      <vt:lpstr>Courier New</vt:lpstr>
      <vt:lpstr>Segoe UI</vt:lpstr>
      <vt:lpstr>Office Theme</vt:lpstr>
      <vt:lpstr>Hello!</vt:lpstr>
      <vt:lpstr>https://github.com/Clynton19860/flutter.git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Day 1 - Foundations &amp; Dart</dc:title>
  <dc:subject>MO Integrations Flutter Training</dc:subject>
  <dc:creator>MO Integrations</dc:creator>
  <cp:lastModifiedBy>THYNK  PAY</cp:lastModifiedBy>
  <cp:revision>4</cp:revision>
  <dcterms:created xsi:type="dcterms:W3CDTF">2026-09-06T15:57:31Z</dcterms:created>
  <dcterms:modified xsi:type="dcterms:W3CDTF">2026-09-07T15:42:31Z</dcterms:modified>
</cp:coreProperties>
</file>