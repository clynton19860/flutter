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with the promise and the reassurance, in that order.
THE PROMISE: "By Friday you will have built a working order app on a phone, from nothing, in a language you have not used before."
THE REASSURANCE, and this room needs it more than they will admit: "Nobody here is expected to know anything about mobile development. We start with what an app actually is. If you have never installed an emulator or seen an APK, today is built for you."
THE FRAMING FOR JAVA PEOPLE: "Most of what you know transfers. Dart was designed by people who wrote a lot of Java. Variables, types, classes, loops, generics, exceptions: all there, mostly with the same spelling. What is genuinely new is the way the screen is built, and that is one idea repeated many times."
DO NOT open with a list of differences. A senior room that hears "forget what you know" switches off inside two minutes.
PRESENTER CHECKLIST: emulator booted; a terminal open; dartpad.dev open in a browser tab; one machine already through its first build so you can show a running app early if the room's installs are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blocks. The morning is understanding and setup. The afternoon is typing code.
SAY THIS ABOUT THE MORNING: the install is the least interesting part of the whole week and the most likely to eat time. Everything this afternoon runs in a web browser, so a broken install cannot stop anybody taking part. Repeat that sentence every time someone looks worried, and someone will.
PACE WARNING FOR YOURSELF: this day is deliberately slower than a normal Flutter course. Resist the urge to speed up because a few people look comfortable. The people who are quiet are the ones setting your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Eighty minutes and no Flutter yet. This module exists because a room of backend developers carries a set of assumptions that quietly break on mobile, and finding that out on Thursday is expensive.
If somebody in the room has shipped an Android app, say so out loud and use them. "Thabo has done this, so shout if I get something wrong." It costs you nothing and it buys the room's attention.
THE ONE SENTENCE THIS MODULE MUST LAND: on a server you are one of many processes on hardware you control; on a phone you are a guest, on one thread, in someone's pocket, and you can be killed at any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Do not read the table. Put it up, give them a minute of silence, then ask "which row is going to catch you out?" and teach whichever they pick.
THE ROWS THAT MATTER MOST are concurrency and the 200 ms one. On a server a slow method costs you one request out of a large pool. Here it costs the user interface, visibly, for everybody using the app.
THE UPDATE ROW IS WORTH A MINUTE. Backend teams are used to fixing forward. On mobile a bad release sits in the wild for days: store review takes time, and users have to accept the update. That changes how much you test before you ship, and it is why Day 8 spends time on testing.
THE LAST ROW SOUNDS OBVIOUS AND IS NOT. A human is slow, imprecise and impatient, and will do things in an order you did not design for. Server APIs get well-formed requests from other programs. Your UI gets a fat thumb on a moving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this is genuinely new information for a backend room.
THE COMPARISON THAT LANDS: a .jar contains bytecode and nothing else. It assumes a JVM is already on the machine. An .apk assumes nothing: it carries your compiled code, the engine that runs it, and every asset your app needs.
libapp.so IS THE INTERESTING FILE. That is your Dart, compiled to ARM machine code. Not bytecode. Machine code. It is why Flutter apps do not need a runtime installed and do not have a warm-up period.
libflutter.so is the engine, and it is why a Flutter app has a size floor of roughly fifteen to twenty megabytes. For an internal enterprise app nobody cares. For a consumer app in a market with expensive data it is a real consideration, and you should say so rather than pretending otherwise.
classes.dex SURPRISES PEOPLE: yes, there is some Java and Kotlin in there. It is a thin shim that creates the Android Activity and hands control to the engine. Your application logic is not in it.
APK VERSUS AAB: an APK installs directly. An App Bundle is what you upload to Google Play, and Play generates a trimmed APK for each device: only that screen density, only that CPU architecture. It is smaller for the user. We build one on Day 8.
DEMO IF YOU HAVE ONE READY: rename a built APK to .zip and open it on the projector. It takes thirty seconds and it makes the whole thing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set expectations honestly.
THE HARDWARE ACCELERATION POINT: on Windows it is virtualisation in the BIOS, and often a fight between Hyper-V and the older HAXM driver. On a corporate laptop with locked BIOS settings you may simply not be able to fix it. Know that before you spend twenty minutes.
PUSH THE PHONE OPTION HARDER THAN YOU NORMALLY WOULD in a room like this. Most people have an Android phone in their pocket. It is faster than the emulator, it needs no virtualisation, and it is more convincing to watch your own app on your own phone.
DEVELOPER OPTIONS, step by step, because half the room has never done it: Settings, About phone, tap Build number seven times, go back, Developer options, turn on USB debugging, plug in, and accept the dialog on the phone. Do it on the projector with your own phone.
THE iOS ANSWER: be direct. You need a Mac to build for iOS. Not to write the code, not to test the logic, but to compile and sign. Somebody always asks and a straight answer is better than a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This is the concept that most often bites server developers, because nothing in their world behaves this way.
YOUR PROCESS IS NOT YOURS. Android and iOS will kill a backgrounded app whenever the foreground app wants memory. There is no shutdown hook, no finalizer, no graceful stop. It simply stops existing.
THE PRACTICAL RULE, and put it on the whiteboard: save when you become paused, not when you exit, because there is no exit. If the user has typed half an order and takes a phone call, that half order must survive.
paused DOES NOT MEAN FROZEN. Timers keep firing, network calls keep completing, and your code keeps running while the app is off screen. That is a common source of bugs where a callback fires against a screen that is no longer there. We handle it properly on Day 5.
ROTATION: on Android, rotating the device destroys and recreates the Activity by default. Flutter handles this for you far better than native Android does, but it is worth mentioning because someone will rotate their emulator and be surprised.
A GOOD QUESTION TO ASK: "how long does your service run for?" Weeks. "How long do you think a phone app stays in memory?" Often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Concepts for half an hour, then installation.
DO THIS BEFORE YOU TEACH ANYTHING IN THIS BLOCK: anyone whose machine already has Flutter should start a build now. The command is on the install slide. It downloads about four gigabytes and takes seven to eight minutes. Start it, then talk over it.
Say clearly that the whole afternoon runs in a browser at dartpad.dev. Nobody can be blocked. That single sentence removes most of the anxiety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Keep it plain. This is the slide for the person who has genuinely never looked at Flutter before.
THE PIXEL POINT IS THE ONE THAT MATTERS and it is worth labouring, because it is what separates Flutter from most alternatives. Older cross-platform tools wrapped the platform's own controls, which meant every difference between Android and iOS leaked into your code and your design. Flutter sidestepped that by drawing everything itself.
THE TRADE-OFF, and be fair about it: a Flutter text field is not the platform's text field. It behaves very similarly and Flutter works hard at that, but if your requirement is "must be indistinguishable from a native control in every respect", that is a real consideration.
THE OPEN SOURCE POINT IS PRACTICAL, not ideological. When a widget does something you do not expect, you can control-click into its source and read it. That is a genuinely useful debugging tool and we use it later in the week.
DO NOT SAY "write once run anywhere" to a Java room. You will get a laugh, and not the good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be genuinely even-handed. Somewhere in this room is a person who thinks the company should have picked native Kotlin, and pretending Flutter has no costs loses that person for the whole week.
THE HONEST CASE FOR FLUTTER: one codebase for both platforms, identical appearance, very fast iteration, and a mature ecosystem.
THE HONEST COSTS: you learn a new language, the app has a size floor because the engine ships inside it, and anything genuinely platform-specific needs a plugin or a bridge you write yourself.
WHEN NATIVE IS THE RIGHT ANSWER, and say it: if the app is Android only, if it is deeply tied to platform hardware, or if the team is already expert in Kotlin and has no iOS requirement, native is a perfectly good decision.
IF SOMEONE ASKS ABOUT KOTLIN MULTIPLATFORM: it is a real option and it would keep them in a familiar language. It is younger, its iOS story settled much later, and the third-party library ecosystem is smaller. That is a fair summary. Do not oversell Flutter against it.
DO NOT let this become a twenty-minute debate. Put it on the whiteboard as a discussion item for Friday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The only reason this slide exists is so that nobody is surprised later when we mention "the engine", and so that the platform channel session on Day 8 has somewhere to attach.
DO NOT GO DEEPER THAN THIS TODAY. There is a detailed architecture document and it is excellent, but it is the wrong reading for Day 1. It is in the links slide for anyone who wants it tonight.
THE ANALOGY IS ROUGH AND THAT IS FINE. Say it is rough. A room of engineers will accept an imperfect analogy that is labelled as one, and will pick apart an imperfect analogy that is presented as exact.
THE POINT TO LAND: you do not need to understand the bottom two layers to build a real app. Some people in the room will assume they have to understand everything before they can start, and that assumption slows them down all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the mapping to the JVM makes this land immediately with this room.
DURING DEVELOPMENT: the Dart virtual machine compiles as it runs, in the same way HotSpot does for Java. Because that VM is alive while your app runs, Flutter can push changed code into it without restarting. That is hot reload.
COMPARE WITH THE JVM: Java has HotSwap, and everybody here has been told by their IDE to restart because they added a method. Dart hot reload adds methods, adds fields, changes classes, and rebuilds the whole screen from your new code, in about a second, while your app keeps its state.
IN PRODUCTION: compiled all the way to ARM machine code before it ships. That is why there is no warm-up, no first-call slowness, and predictable frame times.
PROFILE MODE, and say this firmly: every performance number anyone quotes this week must come from profile mode. A debug build carries assertions and no optimisation and can be five times slower. Otherwise somebody reports on Thursday that Flutter is slow, from a debug build, and it takes you an hour to unpick.
YOU DO NOT NEED TO SELL THIS SLIDE. Demonstrate hot reload in the next module and the room sells it to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Read the note out loud BEFORE anybody types. Windows opens PowerShell 5.1 by default and chaining with &amp;&amp; produces an error about an invalid statement separator. Saying it once now saves you saying it twenty times.
STEP 3 IS THE ONE PEOPLE SKIP. The PATH change only applies to new terminals. Someone will type flutter, be told it is not recognised, and conclude the install failed. Say it twice.
THE ANTIVIRUS POINT IS REAL AND NOT A THROWAWAY. Corporate endpoint protection scanning the build cache is the number one cause of "Flutter is slow on Windows". If IT will not add exclusions, warn the room that their build times are not representative of real development.
MAC USERS: the Homebrew cask is by far the smoothest path and it sets the PATH for you.
WHILE THEY INSTALL, WALK THE ROOM. Do not stand at the front. The people who will lose the morning are the ones who will not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Get every machine that can start a build started, then keep teaching while it runs. This is the most valuable scheduling decision of your day.
--org com.example sets the package name that identifies the app on the device. Changing it later means editing several native files, so it is worth setting now even though we will never publish this app.
THE SDK TOOLS TAB IS A SUB-TAB and people miss it, because the first tab shown is SDK Platforms. Point at the screen and wait until you see hands moving.
IF DOCTOR STILL SHOWS A LICENCE WARNING after accepting them all, do not chase it. There is a known cosmetic detection bug with recent command-line tools. The proof that the toolchain works is that flutter build apk --debug succeeds. Say that and move on.
IF THE VENUE NETWORK CANNOT HANDLE TWENTY SIMULTANEOUS FOUR-GIGABYTE DOWNLOADS, and it might not, stagger them. Half the room now, half after the next slide. Or tether one machine, build once, and share the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Put this up and leave it up while people work. It is the most useful slide of the morning.
THE MIDDLE COLUMN IS THE WHOLE POINT. Doctor prints a lot of red that does not matter for this course. Without this table you will spend an hour helping people chase iPhone and CocoaPods warnings on Windows laptops that will never build for iPhone.
THE ONLY TEST THAT REALLY MATTERS: flutter build apk --debug succeeds, and flutter devices lists something. Everything else is advisory.
KEEP THIS ON YOUR SECOND DISPLAY FOR THE REST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read it from the inside out exactly as the comment does. Do not assume anything is obvious.
Text is the words. Center puts one thing in the middle. Scaffold gives you the standard page shape with an app bar and a body. MaterialApp wraps everything and sets up theming and navigation. runApp hands it all to Flutter.
THE WORD TO INTRODUCE IS WIDGET. Every one of those five things is a widget. A widget is a description of a piece of the screen. Padding is a widget. Centering is a widget. That sounds excessive right now and by tomorrow afternoon it will feel obvious.
THE SHIFT FOR THIS ROOM: they are used to a template of some kind, JSP or Thymeleaf or an XML layout. Here the screen is ordinary code, which means the compiler catches your mistakes, refactoring works, and you can use if and for inside your layout without a template language.
const AND super.key: tell them plainly that both will be explained properly, const this afternoon and keys on Day 5, and that for now they should just copy the pattern. Saying "we will come back to that" is much better than a vague half-answer.
DO NOT EXPLAIN build() OR StatelessWidget IN DETAIL TODAY. That is Day 5. Today is only "this is what a Flutter file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Do not describe this. Demonstrate it, and make it theatrical, because it is the moment the room decides the week is worth it.
THE DEMO: run the app, change the text on screen, save, and count out loud. One second. Then change a colour, save. Then navigate somewhere, change something, save, and point out that you are still where you were.
AGAINST THE JVM: everyone here has been told by their IDE that a change requires a restart. HotSwap only replaces method bodies. This replaces classes, adds fields, and rebuilds the screen, while keeping your state.
THE FOUR CASES THAT NEED A RESTART are on the slide. Read them aloud, because "hot reload is broken" is the most common false alarm of the week and nine times out of ten it is one of these four.
THE FIFTH CASE, and it is the sneaky one: a compile error scrolled past in the terminal and the person keeps saving and staring at the phone. Teach them now to look at the terminal, not the device, when nothing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30 minutes, hard stop. Circulate the whole time and do not sit down.
CHECKPOINTS: at 10 minutes everyone should have a device listed or have switched to Chrome. At 20 minutes everyone should have an app on screen. Anyone not there at 20 minutes gets paired with a neighbour, and you keep moving.
STEPS 6 TO 8 ARE THE ACTUAL LESSON. Getting the app running is plumbing. Feeling the difference between reload and restart is the thing they will use a hundred times a day. Make sure nobody skips them because they ran out of time.
STEP 9: flutter create writes a test file that refers to a class we replace later in the week. If it survives, flutter analyze fails and it looks like the delegate broke something. Delete it now while it costs nothing. On Windows: del test\widget_test.dart. On macOS: rm test/widget_test.dart.
IF SOMEBODY CANNOT GET ANY DEVICE AT ALL: flutter run -d chrome, and move on. Everything for the next three days works in a browser. Do not let one laptop cost somebody the week.
POWERSHELL, AGAIN: one command per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Ninety minutes, all in the browser at dartpad.dev, so nobody is blocked by their install. Say that at the start of the block.
THE FRAMING: "Dart was designed by people who had written a lot of Java. Most of this will look familiar and you should say so when it does. I would rather go too slowly than leave anyone behind, so stop me."
PITCH IT LOWER THAN FEELS NATURAL. This is a room of experienced engineers meeting a new language, which is a different thing from a room of experienced engineers using a language they know. Familiar concepts with unfamiliar spelling are genuinely tiring for the first day.
GO SLOWLY ON: string interpolation, final versus const, and nullable types. Go quickly on everything else.
OPEN dartpad.dev ON THE PROJECTOR AND LEAVE IT THERE for the rest of the day. Type every example live. Do not show finished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Type this live in DartPad and run it. Five minutes.
THE FIRST THING THEY NOTICE is that there is no class. Let them notice it, then confirm it. Dart supports top-level functions and top-level variables. That is not a scripting shortcut; it is a deliberate design choice, and it is why Dart files feel lighter than Java files.
THE SECOND THING: no public static void, no String[] args. Just void main(). If you do want command line arguments, main can take a List&lt;String&gt;, but for our purposes it never will.
print INSTEAD OF System.out.println. That is the whole difference. Nobody needs a paragraph about it.
THE FILE NAMING RULE IS WORTH THIRTY SECONDS: Java forces the file name to match the public class. Dart has no such rule, which is why Dart files are named in lowercase with underscores rather than UpperCamelCase.
GET THEM ALL TO OPEN dartpad.dev NOW and type this themselves. It takes two minutes and it means the first time they type Dart is with you watching, not alone in 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and go quickly. The point is reassurance rather than new information.
SEMICOLONS AND BRACES ARE THE SAME. Say it plainly. People coming from Java worry about syntax surprises, and there mostly are not any.
THE THREE COMMENT FORMS: two slashes for a line, slash-star for a block, and three slashes for documentation. The triple slash is the one worth pointing out, because it is what appears when you hover over something in the editor, and it is the equivalent of Javadoc.
NAMING: variables and functions in lowerCamelCase, types in UpperCamelCase, files in lowercase_with_underscores. The analyser enforces all of it and will underline anything you get wrong.
DEMO THE ANALYSER IF YOU CAN: name a class in lowercase in DartPad and show the warning appear. Thirty seconds, and it teaches them that the tooling has their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Type all of it live and run it.
THE var QUESTION IS THE ONE TO HANDLE CAREFULLY, because this room may be on Java 8 and may never have seen it. Ask for a show of hands on who uses var in Java. If most hands stay down, spend an extra two minutes here.
WHAT var MEANS: the compiler works out the type from the value on the right and then fixes it forever. var sku = 'SKU-1042' makes sku a String, permanently. Assigning a number to it afterwards is a compile error. Demonstrate that error in DartPad; it takes twenty seconds and it kills the misconception immediately.
WHAT var DOES NOT MEAN: it is not JavaScript's var, it is not a variant, and it is not dynamic. Dart does have a dynamic type that turns off type checking, and we will not use it once this week.
THE CONVENTION for this course: write the type when it makes the code clearer to a reader, and use var when the type is obvious from the line itself. Nobody will be marked down either way.
KEEP THE PACE GENTLE HERE. This is the first slide where they are actually writing Dart, and confidence built now pays for the rest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Three things are genuinely new here.
NO PRIMITIVES: int is an object. That means you can call methods on it directly: quantity.isEven, quantity.toDouble(). It also means the int versus Integer distinction, and the boxing rules that come with it, simply do not exist. Somebody in this room has lost a day to a NullPointerException from unboxing a null Integer. Say so.
THE TWO DIVISION OPERATORS ARE THE TRAP. In Java, 7 / 2 with two ints gives you 3. In Dart, a single slash ALWAYS gives a double, so 7 / 2 is 3.5. For integer division you use tilde-slash: 7 ~/ 2 is 3. Demonstrate both in DartPad, because this one silently produces wrong numbers rather than an error.
num IS THE PARENT of int and double. You will meet it when you decode JSON, because a JSON number could be either. That is why Day 8 has casts that look like (json['price'] as num).toDouble().
tryParse VERSUS parse: tryParse returns null when the text is not a number; parse throws. For anything a user typed, use tryParse. That is the habit we build into the form validation on Day 7.
toStringAsFixed(2) is how you format money. They will use it on every screen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this is one of the small features that genuinely improves quality of life. Go slowly and let them enjoy it.
INTERPOLATION: a dollar sign followed by a variable name inserts its value. Braces are needed when it is an expression rather than a plain name. Type both forms live and run them.
THE JAVA COMPARISON IS IN THE CODE and it is worth reading out. Concatenating with plus, or reaching for String.format with positional placeholders, against one readable line. This is the single most common thing they will type all week.
THE COMMON MISTAKE, and warn about it now: forgetting the braces around an expression. Writing dollar-sign qty times 250 does not do what you want, because only qty is interpolated and the rest is literal text. Show that mistake deliberately in DartPad. It is much better learned here than in a lab.
TRIPLE QUOTES for multi-line text, with no escaping and no plus signs. Java only got text blocks in version 15 and they came with indentation rules. This is simpler.
THE STRING METHODS are mostly named the same as Java. Do not read them all out. Point out that split returns a List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this is one of the small features that genuinely improves quality of life. Go slowly and let them enjoy it.
INTERPOLATION: a dollar sign followed by a variable name inserts its value. Braces are needed when it is an expression rather than a plain name. Type both forms live and run them.
THE JAVA COMPARISON IS IN THE CODE and it is worth reading out. Concatenating with plus, or reaching for String.format with positional placeholders, against one readable line. This is the single most common thing they will type all week.
THE COMMON MISTAKE, and warn about it now: forgetting the braces around an expression. Writing dollar-sign qty times 250 does not do what you want, because only qty is interpolated and the rest is literal text. Show that mistake deliberately in DartPad. It is much better learned here than in a lab.
TRIPLE QUOTES for multi-line text, with no escaping and no plus signs. Java only got text blocks in version 15 and they came with indentation rules. This is simpler.
THE STRING METHODS are mostly named the same as Java. Do not read them all out. Point out that split returns a List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slide looks minor and is not, because const becomes a performance mechanism on Day 5.
final IS EXACTLY JAVA'S final. Assigned once, at runtime. Nothing new. Move quickly through it.
const IS NEW: the value must be knowable when the program is compiled, before it ever runs. DateTime.now() cannot be const, because the compiler cannot know what time it will be. The number 0.15 can.
THE identical DEMO IS THE POINT OF THE SLIDE. Run it. Two const lists with the same contents are literally the same object in memory, because the compiler created one and reused it. Two final lists are two separate objects. Let them see true and then false printed.
WHY THIS WILL MATTER ON DAY 3: a const widget is created once and skipped on every rebuild. In Flutter, const is not a style preference; it is how you avoid unnecessary work. The analyser will suggest const constantly and there is a command that adds them all for you.
THE RULE TO GIVE THEM, and put it on the whiteboard: use final by default, use const whenever the compiler lets you, and use var only when the value genuinely changes.
EXPECT THIS QUESTION: "why not just make everything const?" Because most values are not known until the program runs. The compiler will tell you which is which, so try const first and let it correct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this is the highest-value slide of the afternoon. Do not rush it.
START WITH THE PAIN THEY KNOW: NullPointerException. Ask how many production incidents in the room have been an NPE. Every hand goes up. Then say that this entire class of bug is a compile error in Dart.
THE CORE IDEA: nullability is part of the type. String and String? are different types and the compiler enforces the difference everywhere. It is not a library, not an annotation, not a lint, and there is no opting out.
DEMONSTRATE THE COMPILE ERROR. Type customer = null and let them see the red underline before the program ever runs. That is the moment it lands.
THE THREE TOOLS, and drill them: check it with an if, ask safely with question-mark-dot, or supply a fallback with double question mark. That is the whole vocabulary for now.
FLOW ANALYSIS IS THE PART THAT DELIGHTS PEOPLE. After if (notes != null), the compiler knows notes is a plain String for the rest of that block. No unwrapping, no map, no orElse. Hover over the variable in DartPad and show the type change.
AGAINST OPTIONAL: Optional is a wrapper object you have to construct and unwrap, it cannot sensibly be used on fields, most codebases apply it inconsistently, and it does not stop anyone assigning null to a plain String. Dart's version costs nothing at runtime because the information is erased after compilation.
DO NOT MENTION THE BANG OPERATOR TODAY. It is on tomorrow's slides. Introducing an escape hatch on the same day as the rule teaches people to reach for the escape hatch.
IF SOMEBODY ASKS ABOUT late: say it exists, it means "I promise this is set before it is read", and that we meet it properly on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this is the highest-value slide of the afternoon. Do not rush it.
START WITH THE PAIN THEY KNOW: NullPointerException. Ask how many production incidents in the room have been an NPE. Every hand goes up. Then say that this entire class of bug is a compile error in Dart.
THE CORE IDEA: nullability is part of the type. String and String? are different types and the compiler enforces the difference everywhere. It is not a library, not an annotation, not a lint, and there is no opting out.
DEMONSTRATE THE COMPILE ERROR. Type customer = null and let them see the red underline before the program ever runs. That is the moment it lands.
THE THREE TOOLS, and drill them: check it with an if, ask safely with question-mark-dot, or supply a fallback with double question mark. That is the whole vocabulary for now.
FLOW ANALYSIS IS THE PART THAT DELIGHTS PEOPLE. After if (notes != null), the compiler knows notes is a plain String for the rest of that block. No unwrapping, no map, no orElse. Hover over the variable in DartPad and show the type change.
AGAINST OPTIONAL: Optional is a wrapper object you have to construct and unwrap, it cannot sensibly be used on fields, most codebases apply it inconsistently, and it does not stop anyone assigning null to a plain String. Dart's version costs nothing at runtime because the information is erased after compilation.
DO NOT MENTION THE BANG OPERATOR TODAY. It is on tomorrow's slides. Introducing an escape hatch on the same day as the rule teaches people to reach for the escape hatch.
IF SOMEBODY ASKS ABOUT late: say it exists, it means "I promise this is set before it is read", and that we meet it properly on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30 minutes, hard stop. This is the first time most of the room has written Dart alone, so circulate constantly and look at screens rather than waiting for hands.
CHECKPOINTS: at 10 minutes everyone should have their first interpolated line printing. At 20 minutes the totals should be correct.
THE EXPECTED OUTPUT IS IN THE HANDBOOK so they can check themselves without queueing at your desk. Line total 10000.00, VAT 1500.00, total 11500.00. Put those on the whiteboard too.
THE LAST STEP IS THE ACTUAL LESSON. Removing the question mark produces a compile error that explains itself. Everyone must see it. If anyone runs out of time, do it on the projector at the hard stop.
COMMON ERRORS TO EXPECT: forgetting the braces around an expression in interpolation, so it prints literal text. Trying to reassign a final. Trying to make something const that is calculated at runtime. Using a single slash for division and being surprised by a decimal.
WALK THE ROOM WITH ONE QUESTION: "what type is that variable?" It catches most mistakes before they run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last hour. Almost all of this is familiar, so move at a good pace and spend the saved time on named parameters, which are the one genuinely new idea.
KEEP DARTPAD ON THE PROJECTOR and keep typing live.
END THE DAY ON THE LAB, not on a slide. People should leave having just made something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Go fast through if and the ternary; they know both.
THE ?? OPERATOR is the new one and they met it on the null slide. Reinforce it here in the context of making a decision: "use this value, or that one if the first is null". In Java that is a ternary against null, or Optional.orElse.
switch: point out that Dart does not need break on every case, because it does not fall through by default. Anyone who has ever shipped a missing-break bug will appreciate that.
DO NOT TEACH SWITCH EXPRESSIONS TODAY. That is tomorrow, alongside sealed classes, where it belongs and where it will make sense. Today's switch is the plain statement form they already know.
IF THE ROOM IS ON JAVA 8: their switch cannot take a String in older versions and definitely cannot return a value. Do not build a comparison on a feature they may not have. Keep it to the shape of the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Go fast through if and the ternary; they know both.
THE ?? OPERATOR is the new one and they met it on the null slide. Reinforce it here in the context of making a decision: "use this value, or that one if the first is null". In Java that is a ternary against null, or Optional.orElse.
switch: point out that Dart does not need break on every case, because it does not fall through by default. Anyone who has ever shipped a missing-break bug will appreciate that.
DO NOT TEACH SWITCH EXPRESSIONS TODAY. That is tomorrow, alongside sealed classes, where it belongs and where it will make sense. Today's switch is the plain statement form they already know.
IF THE ROOM IS ON JAVA 8: their switch cannot take a String in older versions and definitely cannot return a value. Do not build a comparison on a feature they may not have. Keep it to the shape of the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 minutes. This is the most familiar slide of the week and you should say so.
THE ONLY DIFFERENCE WORTH NAMING: Java writes for (String s : items) with a colon. Dart writes for (final sku in skus) with the word in. That is genuinely the whole difference.
final IN THE LOOP VARIABLE: it is the convention, because the variable is fresh on each pass and never reassigned. Not required, but the analyser prefers it and so should they.
forEach WITH A FUNCTION exists and reads nicely, but the analyser prefers a for-in loop for anything with a body of more than one line. Mention it so they recognise it, and tell them to prefer for-in.
DO NOT TEACH map, where OR fold TODAY. That is tomorrow, and it lands much better once they have classes to iterate over. Today is only the loop.
IF YOU ARE RUNNING SHORT, this is the slide to compress. Five minutes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Concentrate on the four things that differ.
LITERALS: you create a list with square brackets and a map with curly brackets, right there in the code. No new ArrayList, no Arrays.asList, no Map.of. That alone removes a lot of noise.
INDEXING USES SQUARE BRACKETS, not a get method. skus[0], not skus.get(0). Same for maps: stock['SKU-1'], not stock.get.
A MISSING MAP KEY RETURNS null, it does not throw. That is the same as Java's HashMap and worth confirming, because the nullable type system now makes it visible: the type of stock['SKU-9'] is int?, not int, and the compiler will hold you to it.
THE EMPTY LIST NEEDS ITS TYPE. var empty = &lt;String&gt;[] with the type in angle brackets before the brackets. Without it the compiler infers a list of nothing useful. This catches people, so demonstrate it.
first AND last ARE PROPERTIES, not methods, and they throw on an empty list. firstOrNull exists for the safe version.
DO NOT GO INTO Set TODAY beyond mentioning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Concentrate on the four things that differ.
LITERALS: you create a list with square brackets and a map with curly brackets, right there in the code. No new ArrayList, no Arrays.asList, no Map.of. That alone removes a lot of noise.
INDEXING USES SQUARE BRACKETS, not a get method. skus[0], not skus.get(0). Same for maps: stock['SKU-1'], not stock.get.
A MISSING MAP KEY RETURNS null, it does not throw. That is the same as Java's HashMap and worth confirming, because the nullable type system now makes it visible: the type of stock['SKU-9'] is int?, not int, and the compiler will hold you to it.
THE EMPTY LIST NEEDS ITS TYPE. var empty = &lt;String&gt;[] with the type in angle brackets before the brackets. Without it the compiler infers a list of nothing useful. This catches people, so demonstrate it.
first AND last ARE PROPERTIES, not methods, and they throw on an empty list. firstOrNull exists for the safe version.
DO NOT GO INTO Set TODAY beyond mentioning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named parameters get most of it. This is the one genuinely new idea in the block.
TOP-LEVEL FUNCTIONS AGAIN: a function does not need a class. Reinforce it; it is still slightly surprising on day one.
THE FAT ARROW: shorthand for a body that is a single expression, with an implicit return. Show both forms of the same function side by side, as the code does. They will see the arrow everywhere from tomorrow.
NAMED PARAMETERS ARE THE HEADLINE. Braces in the signature, and callers pass name colon value. Contrast it out loud: discounted(1000, 0.05) against discounted(amount: 1000, rate: 0.05). In the first one you have to go and look at the signature to know what 0.05 is.
required IS A KEYWORD, not an annotation. If a parameter is required and the caller leaves it out, that is a compile error, not a runtime null.
DEFAULT VALUES go in the signature. In Java that needs overloads or a builder. Here it is one line.
WHY THIS MATTERS FOR THE WEEK, and say it explicitly: from Day 5 you will write widgets with eight or nine parameters. Named parameters are why that stays readable, and they are the reason Flutter does not need a builder pattern for its widgets.
SHOW THE EDITOR AUTOCOMPLETE if you can. Typing a widget name and seeing named parameters appear is the moment people stop worrying about memorising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named parameters get most of it. This is the one genuinely new idea in the block.
TOP-LEVEL FUNCTIONS AGAIN: a function does not need a class. Reinforce it; it is still slightly surprising on day one.
THE FAT ARROW: shorthand for a body that is a single expression, with an implicit return. Show both forms of the same function side by side, as the code does. They will see the arrow everywhere from tomorrow.
NAMED PARAMETERS ARE THE HEADLINE. Braces in the signature, and callers pass name colon value. Contrast it out loud: discounted(1000, 0.05) against discounted(amount: 1000, rate: 0.05). In the first one you have to go and look at the signature to know what 0.05 is.
required IS A KEYWORD, not an annotation. If a parameter is required and the caller leaves it out, that is a compile error, not a runtime null.
DEFAULT VALUES go in the signature. In Java that needs overloads or a builder. Here it is one line.
WHY THIS MATTERS FOR THE WEEK, and say it explicitly: from Day 5 you will write widgets with eight or nine parameters. Named parameters are why that stays readable, and they are the reason Flutter does not need a builder pattern for its widgets.
SHOW THE EDITOR AUTOCOMPLETE if you can. Typing a widget name and seeing named parameters appear is the moment people stop worrying about memorising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30 minutes, hard stop at 15:55. This is the payoff lab of the day and everything in it was taught in the last two hours.
CHECKPOINTS: at 10 minutes the three functions compile. At 20 minutes the loop prints one line per SKU. At 30 minutes the totals are right.
THE ONE NEW THING IN THE LAB is the exclamation mark in quantities[sku]!, and they have not met it. Handle it out loud before they start: "a map lookup can return null, so the type is int? not int. The exclamation mark says trust me, it is there. We will talk about when that is acceptable tomorrow morning." Do not let it become a mystery.
COMMON ERRORS: forgetting the type on an empty collection. Using plus to build the output line instead of interpolation. Declaring the running total as final and then trying to add to it. Calling a named parameter positionally.
END THE DAY ON THIS. Take the last five minutes for the recap, but the lab is the last thing they do, so they leave having made something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Read the recap slowly. For a room meeting a new language, hearing the day summarised back is worth more than it is to an experienced audience.
ASK THIS: "what surprised you most today?" Not "any questions". An open question at the end of day one gets silence; a specific one gets answers, and the answers tell you what to reinforce tomorrow morning.
THEN ASK: "whose app is running right now?" Anyone whose hand stays down gets ten minutes with you before they leave. A broken install going home overnight becomes a lost morning tomorrow, every single time.
SET UP TOMORROW IN ONE SENTENCE: "Tomorrow we turn today's variables into real objects, and by lunchtime you will have modelled the whole order domain."
PRESENTER, TONIGHT: check the Day 2 DartPad examples still run. Make sure anyone who left without a working install has a plan. Have the Day 2 handbook ready before 09:00.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OPTIONAL, and say the word out loud: this is day one of a new language and the room is tired. A compulsory reading on day one gets resented and half-done. An optional one gets done by the four people who are enjoying themselves, and those four make good whiteboard volunteers tomorrow.
SCOPE IT TIGHTLY. Two pages, named explicitly. Left open, someone reads the whole tour, arrives confused about sealed classes, and slows the morning down.
NAME THE TWO VOLUNTEERS BEFORE THEY LEAVE. An unnamed slot gets filled by nobody.
EXPECTED: Q2 dynamic turns off type checking entirely, so mistakes become runtime crashes instead of compile errors; we avoid it because the whole point of this type system is catching things early. Q3 an uninitialised variable is null, which is exactly why a non-nullable variable must be given a value before it is used, and the compiler enforces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 failure mode of Day 1 is always the same: the install absorbs the room and the language never gets taught.
THE DEFENCE IS ALREADY BUILT IN. Both afternoon labs run in a browser. That gives you three hours of slack on every install problem, and you should use it deliberately rather than as a panic move.
THE SECOND FAILURE MODE, and it is specific to a room like this: they are senior, they do not want to look lost, and they will not ask. Watch faces and screens rather than waiting for hands. Ask people to type things rather than asking whether they follow.
IF YOU END THE DAY WITH SOME PEOPLE STILL NOT INSTALLED, that is survivable. Do not let it reach Day 2 lunchtime. Twenty minutes at the end of today is the cheapest twenty minutes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Put these on the projector at every lab hard stop so anyone behind can copy the answer and rejoin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Put this on screen at the hard stop and have anyone behind copy it before the next module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Put this on screen at the hard stop and have anyone behind copy it before the next module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The exclamation mark is the one thing here they have not been taught. Explain it at the hard stop rather than leaving it as a mystery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The exclamation mark is the one thing here they have not been taught. Explain it at the hard stop rather than leaving it as a mystery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 the second display for the whole day. It removes most of the queue at your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here is also in the delegate handbook, so nobody needs to photograph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1</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Getting Oriented</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What a mobile app is · What Flutter is · Getting it running · Meeting Dart</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No prior mobile experience assumed  ·  Day 1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1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What a mobile app is</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How it differs from a server process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What actually gets installed on a phone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Emulators and real devices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app lifecycle and the one UI thread</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What Flutter is</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Why Flutter, and the honest comparison</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three layers, in plain terms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Installing it, step by step</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1.1 - your first running app</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Meeting Dart</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Hello world, and how a file is laid out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Variables, types, numbers, text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final and const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1.2 - your first Dart program</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Decisions, loops, functions</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if, switch, and the ?? operator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Loops and lists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Functions and named parameters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1.3 - putting it together</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09:10 - 10:30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What a mobile app actually is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Describe how a mobile app differs from a server process you deploy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Say what is inside an installed app and how it gets there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what an emulator is and when to use a real phone instead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Describe the app lifecycle and why there is no reliable "on exit"</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server process against a mobile app</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662001"/>
                <a:gridCol w="4214835"/>
                <a:gridCol w="4214835"/>
              </a:tblGrid>
              <a:tr h="0">
                <a:tc>
                  <a:txBody>
                    <a:bodyPr/>
                    <a:lstStyle/>
                    <a:p>
                      <a:pP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Your Spring service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 mobile app</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Shape of the work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Request in, response out, repeat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One long session, minutes or hours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State between actions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In a database. Rebuilt per request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In memory, held the whole time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Who starts 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You deploy 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The user taps an icon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Who stops 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You, on the next release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The user, or the OS, with no warning</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Concurrency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 thread pool of two hundred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One thread for the whole interface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If something takes 200 ms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One request is a bit slow</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The entire screen freezes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Resources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Add another instance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Whatever that phone has, and its battery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Failure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 500 and a log line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The user sees it, and rates you one star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Updating 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Deploy whenever you like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Store review, then users must accept 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Talking to 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HTTP from another service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 person, with a finger, on glass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What actually gets installed on the phone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inside an Android .apk</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app-release.apk          a zip file, roughly 18 MB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AndroidManifest.xml  permissions, entry point, app name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classes.dex          a small Java/Kotlin shim, not your app logic</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arm64-v8a/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libflutter.so    the Flutter engine, C++, about 6 MB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libapp.so        YOUR Dart code, compiled to ARM machine code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assets/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flutter_assets/      images, fonts, the icon, any files you bundle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res/                     launcher icons, the native splash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.jar is bytecode that needs a JVM already on the machine.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 .apk carries everything: your code, the engine that runs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every asset. Nothing is installed on the phone beforehand.</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An APK is a zip file. Unzip one and look. The equivalent on iOS is an .ipa, and an .aab is what you upload to Google Play so it can build the right APK per device.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Emulators and real devices</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What an emulator is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A virtual Android phone running on your laptop, with a virtual CPU, screen and storage. It is a full Android operating system in a window, not a simulation of one.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Why it needs hardware acceleration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Without virtualisation support turned on in the BIOS it has to emulate the processor in software and becomes unusably slow. This is the single most common Windows problem in this course.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Why a real phone is often better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Real speed, real touch, real camera, and no virtualisation to fight with. Turn on developer options by tapping the build number seven times, enable USB debugging, plug it in, accept the prompt.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web as a third option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Flutter also runs in Chrome. Nothing in the first three days needs a phone, so if your emulator will not start you can use a browser and lose nothing.</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iOS, honestly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You can write iOS code on any machine. You can only build and sign it on a Mac. That is Apple's rule, not Flutter's, and no framework gets around it.</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If your emulator refuses to start today, do not fight it. Use a phone, or use Chrome. Losing an hour to virtualisation settings is the worst possible use of your Day 1.</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app lifecycle, and why there is no "on exit"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states an app moves through</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server process starts, serves requests for weeks, and stops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when you deploy. A mobile app is nothing like that.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resumed    on screen, has focus, running normally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inactive   on screen but not focused (a call is coming in)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paused     not visible. Still in memory. Timers keep running.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detached   the Flutter engine is running with no view attached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hidden     about to be paused (newer Flutter versions)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then, without warning and with NO callback at 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operating system can kill your process to reclaim memory.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rule that follows: anything the user would be upset to lose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must be written to disk when you reach paused, not when you exit.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There is no reliable "on exit".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operating system can terminate your process to reclaim memory with no callback at all. Anything the user would be upset to lose must already be on disk.</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What Flutter is, and getting it running</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Say what Flutter is and how it compares to the alternatives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Describe the three layers without needing to touch two of them</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why development feels fast and release builds run fast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Get a Flutter app running on your own machine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What Flutter is, in four sentences</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It is a toolkit for building app screens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You write one codebase in a language called Dart, and it produces a real Android app and a real iOS app from that same code.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It draws every pixel itself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Flutter does not borrow the phone's buttons and text boxes. It ships a drawing engine and paints its own. That is why the app looks identical on every device.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It compiles to native machine code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For a release build there is no interpreter and no virtual machine on the phone. Your code runs directly on the processor.</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It is made by Google and it is open source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Used in production since 2018, including by Google itself. The whole framework is Dart source you can read and step into with a debugger.</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The one consequence to remember: because Flutter draws its own controls, your app looks the same on a Samsung and an iPhone, and an operating system update cannot change how your app looks overnight.</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honest comparison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440168"/>
                <a:gridCol w="2883835"/>
                <a:gridCol w="2883835"/>
                <a:gridCol w="2883835"/>
              </a:tblGrid>
              <a:tr h="0">
                <a:tc>
                  <a:txBody>
                    <a:bodyPr/>
                    <a:lstStyle/>
                    <a:p>
                      <a:pP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Flutter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Native Android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React Native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Language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Kotlin or Java</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TypeScript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Covers iOS too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Yes, same code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No, separate app</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Yes, same code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How the UI is drawn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Its own engine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Platform controls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Platform controls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Looks the same on both</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Yes, by design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Varies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Speed of the finished app</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Native machine code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Fastest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Good, with a bridge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App size floor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About 15 to 20 MB</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 few MB</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About 10 MB</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Learning cost for this room</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 new language, familiar ideas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Familiar language, mobile only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New language and new style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Access to phone hardware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Plugins, or write a bridge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Native modules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Maturity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Production since 2018</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Highest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Production since 2015</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three layers, and which one you live in</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framework, written in Dart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Everything you will import and use: buttons, text, layout, gestures, animation. All of it is Dart source you can read. This is where you spend the entire week.</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engine, written in C++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The drawing engine, the Dart runtime, and text layout. It is what makes the app look the same everywhere. You will not touch it.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embedder, per platform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A thin native shell: an Android Activity, an iOS view controller. It owns the window and passes touches and lifecycle events inward. You touch it only if you write a bridge to native code.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Where your code sits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On top of the framework. You are writing an application, not extending a framework, and you will not need to understand the lower two layers to be productive.</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A rough server analogy: the framework is your application code, the engine is the JVM, and the embedder is the servlet container. You live in the first, trust the second, and rarely configure the third.</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Why development feels fast, and release builds run fast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three build modes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DEVELOPMENT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run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Dart VM compiles as it runs. Because the VM is live, Flutter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can inject changed code into it while the app keeps running.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That is hot reload, and it takes about one second.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PRODUCTION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build apk --release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Your Dart is compiled all the way to ARM machine code BEFORE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ships. On the phone there is no VM to warm up and nothing to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interpret. The CPU runs your code directly.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MEASURING PERFORMANCE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run --profile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Release-style compilation, plus instrumentation. Every performance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number must come from this mode. A debug build carries assertions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no optimisation and can be five times slower.</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Two different compilers for two different jobs. During development you get instant feedback. In production you get machine code.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Installing Flutter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indent="0" marL="0">
              <a:buNone/>
            </a:pPr>
            <a:r>
              <a:rPr lang="en-US" sz="1300" dirty="0">
                <a:solidFill>
                  <a:srgbClr val="22272E"/>
                </a:solidFill>
                <a:latin typeface="Calibri" pitchFamily="34" charset="0"/>
                <a:ea typeface="Calibri" pitchFamily="34" charset="-122"/>
                <a:cs typeface="Calibri" pitchFamily="34" charset="-120"/>
              </a:rPr>
              <a:t>Two rules on both platforms: no spaces anywhere in the path, and not inside Program Files or /Applications.</a:t>
            </a:r>
            <a:endParaRPr lang="en-US" sz="1300" dirty="0"/>
          </a:p>
        </p:txBody>
      </p:sp>
      <p:sp>
        <p:nvSpPr>
          <p:cNvPr id="4" name="Shape 2"/>
          <p:cNvSpPr/>
          <p:nvPr/>
        </p:nvSpPr>
        <p:spPr>
          <a:xfrm>
            <a:off x="548640" y="1874520"/>
            <a:ext cx="1280160" cy="292608"/>
          </a:xfrm>
          <a:prstGeom prst="roundRect">
            <a:avLst>
              <a:gd name="adj" fmla="val 50000"/>
            </a:avLst>
          </a:prstGeom>
          <a:solidFill>
            <a:srgbClr val="3B7A99"/>
          </a:solidFill>
          <a:ln w="12700">
            <a:solidFill>
              <a:srgbClr val="3B7A99"/>
            </a:solidFill>
            <a:prstDash val="solid"/>
          </a:ln>
        </p:spPr>
      </p:sp>
      <p:sp>
        <p:nvSpPr>
          <p:cNvPr id="5" name="Text 3"/>
          <p:cNvSpPr txBox="1"/>
          <p:nvPr/>
        </p:nvSpPr>
        <p:spPr>
          <a:xfrm>
            <a:off x="548640" y="1874520"/>
            <a:ext cx="12801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2A7F62"/>
          </a:solidFill>
          <a:ln w="12700">
            <a:solidFill>
              <a:srgbClr val="2A7F62"/>
            </a:solidFill>
            <a:prstDash val="solid"/>
          </a:ln>
        </p:spPr>
      </p:sp>
      <p:sp>
        <p:nvSpPr>
          <p:cNvPr id="7" name="Text 5"/>
          <p:cNvSpPr txBox="1"/>
          <p:nvPr/>
        </p:nvSpPr>
        <p:spPr>
          <a:xfrm>
            <a:off x="6231636" y="1874520"/>
            <a:ext cx="17373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1B222B"/>
          </a:solidFill>
          <a:ln w="12700">
            <a:solidFill>
              <a:srgbClr val="1B222B"/>
            </a:solidFill>
            <a:prstDash val="solid"/>
          </a:ln>
        </p:spPr>
      </p:sp>
      <p:sp>
        <p:nvSpPr>
          <p:cNvPr id="9" name="Text 7"/>
          <p:cNvSpPr txBox="1"/>
          <p:nvPr/>
        </p:nvSpPr>
        <p:spPr>
          <a:xfrm>
            <a:off x="685800" y="2368296"/>
            <a:ext cx="5134356" cy="3008376"/>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simple way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brew install --cask flutter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 the manual way: download the zip for your chip from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https://docs.flutter.dev/get-started/install/macos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then add it to your PATH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echo 'export PATH="$HOME/development/flutter/bin:$PATH"' &gt;&gt; ~/.zshrc</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source ~/.zshrc</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Check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--version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Only if you also want to build for iPhone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sudo xcode-select --install</a:t>
            </a:r>
            <a:endParaRPr lang="en-US" sz="1100" dirty="0"/>
          </a:p>
        </p:txBody>
      </p:sp>
      <p:sp>
        <p:nvSpPr>
          <p:cNvPr id="10" name="Shape 8"/>
          <p:cNvSpPr/>
          <p:nvPr/>
        </p:nvSpPr>
        <p:spPr>
          <a:xfrm>
            <a:off x="6231636" y="2258568"/>
            <a:ext cx="5408676" cy="3227832"/>
          </a:xfrm>
          <a:prstGeom prst="roundRect">
            <a:avLst>
              <a:gd name="adj" fmla="val 2266"/>
            </a:avLst>
          </a:prstGeom>
          <a:solidFill>
            <a:srgbClr val="1B222B"/>
          </a:solidFill>
          <a:ln w="12700">
            <a:solidFill>
              <a:srgbClr val="1B222B"/>
            </a:solidFill>
            <a:prstDash val="solid"/>
          </a:ln>
        </p:spPr>
      </p:sp>
      <p:sp>
        <p:nvSpPr>
          <p:cNvPr id="11" name="Text 9"/>
          <p:cNvSpPr txBox="1"/>
          <p:nvPr/>
        </p:nvSpPr>
        <p:spPr>
          <a:xfrm>
            <a:off x="6368796" y="2368296"/>
            <a:ext cx="5134356" cy="3008376"/>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Download the stable Windows zip from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https://docs.flutter.dev/get-started/install/windows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Extract it so you have C:\src\flutter\bin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2. Add it to your user PATH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$u = [Environment]::GetEnvironmentVariable("Path","User")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[Environment]::SetEnvironmentVariable("Path","$u;C:\src\flutter\bin","User")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CLOSE this window. Open a NEW PowerShell.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--version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4. Ask IT to exclude C:\src\flutter and your projects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folder from antivirus scanning. Builds are three to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five times slower without this.</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3" name="Text 11"/>
          <p:cNvSpPr txBox="1"/>
          <p:nvPr/>
        </p:nvSpPr>
        <p:spPr>
          <a:xfrm>
            <a:off x="685800" y="5650992"/>
            <a:ext cx="10817352" cy="493776"/>
          </a:xfrm>
          <a:prstGeom prst="rect">
            <a:avLst/>
          </a:prstGeom>
          <a:noFill/>
          <a:ln/>
        </p:spPr>
        <p:txBody>
          <a:bodyPr wrap="square" lIns="0" tIns="0" rIns="0" bIns="0" rtlCol="0" anchor="ctr"/>
          <a:lstStyle/>
          <a:p>
            <a:pPr indent="0" marL="0">
              <a:buNone/>
            </a:pPr>
            <a:r>
              <a:rPr lang="en-US" sz="1100" dirty="0">
                <a:solidFill>
                  <a:srgbClr val="22272E"/>
                </a:solidFill>
                <a:latin typeface="Calibri" pitchFamily="34" charset="0"/>
                <a:ea typeface="Calibri" pitchFamily="34" charset="-122"/>
                <a:cs typeface="Calibri" pitchFamily="34" charset="-120"/>
              </a:rPr>
              <a:t>Windows PowerShell 5.1 has no &amp;&amp; operator. Run one command per line. This catches somebody in every single class.</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Android Studio, and start your first build now</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indent="0" marL="0">
              <a:buNone/>
            </a:pPr>
            <a:r>
              <a:rPr lang="en-US" sz="1300" dirty="0">
                <a:solidFill>
                  <a:srgbClr val="22272E"/>
                </a:solidFill>
                <a:latin typeface="Calibri" pitchFamily="34" charset="0"/>
                <a:ea typeface="Calibri" pitchFamily="34" charset="-122"/>
                <a:cs typeface="Calibri" pitchFamily="34" charset="-120"/>
              </a:rPr>
              <a:t>You need Android Studio for the Android SDK and the emulator, even if you end up writing code in a different editor.</a:t>
            </a:r>
            <a:endParaRPr lang="en-US" sz="1300" dirty="0"/>
          </a:p>
        </p:txBody>
      </p:sp>
      <p:sp>
        <p:nvSpPr>
          <p:cNvPr id="4" name="Shape 2"/>
          <p:cNvSpPr/>
          <p:nvPr/>
        </p:nvSpPr>
        <p:spPr>
          <a:xfrm>
            <a:off x="548640" y="1874520"/>
            <a:ext cx="1280160" cy="292608"/>
          </a:xfrm>
          <a:prstGeom prst="roundRect">
            <a:avLst>
              <a:gd name="adj" fmla="val 50000"/>
            </a:avLst>
          </a:prstGeom>
          <a:solidFill>
            <a:srgbClr val="3B7A99"/>
          </a:solidFill>
          <a:ln w="12700">
            <a:solidFill>
              <a:srgbClr val="3B7A99"/>
            </a:solidFill>
            <a:prstDash val="solid"/>
          </a:ln>
        </p:spPr>
      </p:sp>
      <p:sp>
        <p:nvSpPr>
          <p:cNvPr id="5" name="Text 3"/>
          <p:cNvSpPr txBox="1"/>
          <p:nvPr/>
        </p:nvSpPr>
        <p:spPr>
          <a:xfrm>
            <a:off x="548640" y="1874520"/>
            <a:ext cx="12801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2A7F62"/>
          </a:solidFill>
          <a:ln w="12700">
            <a:solidFill>
              <a:srgbClr val="2A7F62"/>
            </a:solidFill>
            <a:prstDash val="solid"/>
          </a:ln>
        </p:spPr>
      </p:sp>
      <p:sp>
        <p:nvSpPr>
          <p:cNvPr id="7" name="Text 5"/>
          <p:cNvSpPr txBox="1"/>
          <p:nvPr/>
        </p:nvSpPr>
        <p:spPr>
          <a:xfrm>
            <a:off x="6231636" y="1874520"/>
            <a:ext cx="17373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1B222B"/>
          </a:solidFill>
          <a:ln w="12700">
            <a:solidFill>
              <a:srgbClr val="1B222B"/>
            </a:solidFill>
            <a:prstDash val="solid"/>
          </a:ln>
        </p:spPr>
      </p:sp>
      <p:sp>
        <p:nvSpPr>
          <p:cNvPr id="9" name="Text 7"/>
          <p:cNvSpPr txBox="1"/>
          <p:nvPr/>
        </p:nvSpPr>
        <p:spPr>
          <a:xfrm>
            <a:off x="685800" y="2368296"/>
            <a:ext cx="5134356" cy="3008376"/>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https://developer.android.com/studio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Run the setup wizard, choose Standard.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2. In Android Studio: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More Actions &gt; SDK Manager &gt; SDK Tools tab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TICK "Android SDK Command-line Tools (latest)"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Apply.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doctor --android-licenses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press y at every prompt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START THIS NOW. It downloads about 4 GB.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cd ~/development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create --org com.example order_flow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cd order_flow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build apk --debug</a:t>
            </a:r>
            <a:endParaRPr lang="en-US" sz="1100" dirty="0"/>
          </a:p>
        </p:txBody>
      </p:sp>
      <p:sp>
        <p:nvSpPr>
          <p:cNvPr id="10" name="Shape 8"/>
          <p:cNvSpPr/>
          <p:nvPr/>
        </p:nvSpPr>
        <p:spPr>
          <a:xfrm>
            <a:off x="6231636" y="2258568"/>
            <a:ext cx="5408676" cy="3227832"/>
          </a:xfrm>
          <a:prstGeom prst="roundRect">
            <a:avLst>
              <a:gd name="adj" fmla="val 2266"/>
            </a:avLst>
          </a:prstGeom>
          <a:solidFill>
            <a:srgbClr val="1B222B"/>
          </a:solidFill>
          <a:ln w="12700">
            <a:solidFill>
              <a:srgbClr val="1B222B"/>
            </a:solidFill>
            <a:prstDash val="solid"/>
          </a:ln>
        </p:spPr>
      </p:sp>
      <p:sp>
        <p:nvSpPr>
          <p:cNvPr id="11" name="Text 9"/>
          <p:cNvSpPr txBox="1"/>
          <p:nvPr/>
        </p:nvSpPr>
        <p:spPr>
          <a:xfrm>
            <a:off x="6368796" y="2368296"/>
            <a:ext cx="5134356" cy="3008376"/>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https://developer.android.com/studio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Run the setup wizard, choose Standard.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2. In Android Studio: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More Actions &gt; SDK Manager &gt; SDK Tools tab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TICK "Android SDK Command-line Tools (latest)"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Apply.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doctor --android-licenses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press y at every prompt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START THIS NOW. It downloads about 4 GB.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cd $HOME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create --org com.example order_flow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cd order_flow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build apk --debug</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3" name="Text 11"/>
          <p:cNvSpPr txBox="1"/>
          <p:nvPr/>
        </p:nvSpPr>
        <p:spPr>
          <a:xfrm>
            <a:off x="685800" y="5650992"/>
            <a:ext cx="10817352" cy="493776"/>
          </a:xfrm>
          <a:prstGeom prst="rect">
            <a:avLst/>
          </a:prstGeom>
          <a:noFill/>
          <a:ln/>
        </p:spPr>
        <p:txBody>
          <a:bodyPr wrap="square" lIns="0" tIns="0" rIns="0" bIns="0" rtlCol="0" anchor="ctr"/>
          <a:lstStyle/>
          <a:p>
            <a:pPr indent="0" marL="0">
              <a:buNone/>
            </a:pPr>
            <a:r>
              <a:rPr lang="en-US" sz="1100" dirty="0">
                <a:solidFill>
                  <a:srgbClr val="22272E"/>
                </a:solidFill>
                <a:latin typeface="Calibri" pitchFamily="34" charset="0"/>
                <a:ea typeface="Calibri" pitchFamily="34" charset="-122"/>
                <a:cs typeface="Calibri" pitchFamily="34" charset="-120"/>
              </a:rPr>
              <a:t>That first build fetches the Android build tools and takes seven to eight minutes. Start it before the theory, not after it.</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flutter doctor: what matters and what does not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1774668"/>
                <a:gridCol w="5545836"/>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says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Blocks you?</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to do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cmdline-tools component is missing</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Android Studio, SDK Manager, SDK Tools tab, tick Android SDK Command-line Tools, Apply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Android license status unknown</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Known cosmetic bug. Prove the toolchain with flutter build apk --debug and carry on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Xcode - develop for iOS incomplete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Only matters if you build for iPhone. Not needed this week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CocoaPods not installed</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iOS only. Ignore it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Visual Studio - develop for Windows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Only for Windows desktop apps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Chrome - develop for the web</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Worth having. It gives you a device when the emulator will not start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No devices available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Start an emulator, or plug in a phone with USB debugging turned on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ourier New" pitchFamily="34" charset="0"/>
                          <a:ea typeface="Courier New" pitchFamily="34" charset="-122"/>
                          <a:cs typeface="Courier New" pitchFamily="34" charset="-120"/>
                        </a:rPr>
                        <a:t>flutter is not recognised</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You are in the old terminal window. Close it and open a new one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Your first Flutter app, line by line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lib/main.dart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'package:flutter/material.dart';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runApp(const OrderFlowApp());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OrderFlowApp extends StatelessWidget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OrderFlowApp({super.key});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MaterialApp(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title: 'OrderFlow',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home: Scaffold(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appBar: AppBar(title: const Text('Orders')),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body: const Center(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Text('No orders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Read it from the inside out: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        the words on 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Center      puts its child in the middle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Scaffold    gives you the standard page: app bar, body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MaterialApp sets up theming, navigation and text direction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runApp      hands the whole thing to Flutter to draw</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There is no XML, no FXML and no template file. The screen is described in code, so the compiler checks it and your IDE understands it.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Hot reload: the reason people put up with a new language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keys in the terminal where flutter run is running</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    hot reload    load changed code, KEEP what is on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    hot restart   start the app again, LOSE what is on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    show layout guides on the device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o    switch between Android and iOS look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    open DevTools in a browser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q    quit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Hot reload cannot handle these four. Press R instead: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you changed main(), or anything outside a class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2. you changed an enum, or a class's parent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you added an image or edited pubspec.yaml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4. it stopped working entirely (read the terminal, not the phone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there is almost certainly a compile error scrolled past)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Hot reload keeps what is on screen. Hot restart does not. Neither one runs a full build, which is why you iterate in seconds.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1.1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Your first running app</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Flutter app running on your emulator, your phone, or Chrome, and hot reload working.</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flutter doctor -v and read every line. Use the table from two slides back to decide what actually matters.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If you have not already: flutter create --org com.example order_flow, then move into that folder.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Start an emulator from Android Studio Device Manager, or plug in a phone with USB debugging on.</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flutter devices. If nothing is listed, you have no device yet. Use flutter run -d chrome instead.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flutter run. The first build takes seven to eight minutes. Every one after that takes seconds.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Find the app bar title in lib/main.dart, change the text, and save. Watch it update without restarting.</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Tap the plus button a few times, then change the text again and save. Notice the count survives.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Now press R in the terminal for a hot restart. Notice the count goes back to zero. That is the difference.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Delete the file test/widget_test.dart. We write a real test on Day 8 and this generated one gets in the way.</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Run flutter analyze. It should report no issues.</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Run flutter run -d chrome and see the same app in a browser.</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Press p in the terminal and look at the layout guides drawn over the app.</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Press o and watch the app switch between the Android and iPhone look.</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Meeting Dart</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a Dart file and know where the program starts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Declare variables, and use numbers, text and booleans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string interpolation instead of concatenation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final and const, and what a nullable type means</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Hello, Dart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Every Dart program starts here. Same idea as public static void main.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print('Hello from 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public class Hello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public static void main(String[] args)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System.out.println("Hello from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print('Hello from 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 class required. A Dart file can hold functions and variables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directly at the top level. There is no "everything must be in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class" rule.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Dart file can hold functions and variables directly. There is no rule that everything must live inside a class.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How a Dart file is laid out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Statements end with a semicolon, exactly like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print('two');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Line comment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Block comment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Doc comment. This is what shows up on hover in the editor.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Curly braces group statements, exactly like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(true)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print('inside the block');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Naming, and the analyser will nag you about all of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lowerCamelCase   variables, functions, parameters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UpperCamelCase   classes, enums, extensions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lowercase_with_underscores   file names and package names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Java uses UpperCamelCase file names because the file must match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class. Dart does not have that rule, so files are snake_case.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Semicolons, curly braces and comments are exactly as you expect. Only the naming conventions differ, and the analyser will tell you when you get them wrong.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Variables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Declare with the type, exactly like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customer = 'Acme Ltd';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int quantity = 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double unitPrice = 250.0;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isUrgent =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Or let the compiler work it out. This is still fully typed: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sku is a String forever, and assigning an int to it is an 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sku = 'SKU-1042';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Java 10 added var for local variables and it means the same thing.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If your team is on Java 8, this will be new. It is not a variant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type and it is not dynamic. The type is fixed at compile time.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print(customer);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print(isUrgent);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You can write the type or let the compiler infer it. Either way the type is fixed at compile time. var is not a variant type and it is not dynamic.</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Numbers and the types you will use daily</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types you will use every day.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int quantity = 40;            // whole numbers, 64-bit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unitPrice = 250.0;     // decimals, 64-bit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num anyNumber = 40;           // the parent of int and double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bool isUrgent = true;         // true or false only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customer = 'Acme Ltd'; // 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There are no primitives in Dart. int is an object, so there is no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 versus Integer, no boxing, and no NullPointerException from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unboxing a null Integer.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print(quantity.isEven);          //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print(quantity.toDouble());      // 40.0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print(unitPrice.round());        //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Integer division and remainder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print(7 ~/ 2);    // 3   (note the tilde-slash, not just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print(7 / 2);     // 3.5 (a single slash always gives you a double)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print(7 % 2);     // 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Converting text to numbers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int? maybeQty = int.tryParse('40');     // 40, or null if it is not a number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price = double.parse('250.0');   // throws if it is not a number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tryParse returns null on failure. parse throws. Prefer tryParse for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anything a user typed.</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There are no primitives. int is a real object, so there is no int versus Integer, no boxing, and no NullPointerException from unboxing.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Text, and string interpolation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Single or double quotes. Single is the convention.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a = 'Acme Ltd';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b = "Acme Ltd";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Joining text: Java uses + or String.format. Dart uses interpolation.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sku = 'SKU-1042';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qty = 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dollar sign and a variable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print('Ordered $qty of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Braces when it is an expression rather than a plain variable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print('Total: ${qty *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print('Upper: ${sku.toUpperCase()}');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Java equivalent: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System.out.println("Ordered " + qty + " of " +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System.out.printf("Total: %d%n", qty * 250);</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Text, and string interpolation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Multi-line text needs no escaping and no concatenation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note =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Dear customer,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Your order has been received.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Useful methods, mostly named the same as Java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print(sku.length);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print(sku.toLowerCase());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print(sku.contains('1042'));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print(sku.startsWith('SKU'));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print(sku.split('-'));           // [SKU, 1042]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  padded  '.trim());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print(note);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dollar sign for a variable, and braces around anything more complicated. After a week of this, string concatenation with plus looks archaic.</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final and const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final: assigned once. This is Java's final, and it behaves the same.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customer =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customer = 'Beta Co';        // ERROR: already assigned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final works with values only known at runtime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rightNow = DateTime.now();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const: known at COMPILE time. Java has no direct equivalent.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vatRate = 0.15;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const bad = DateTime.now();  // ERROR: not knowable at compile time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Why const matters, and this becomes important on Day 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the compiler creates ONE object and reuses it everywhere.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a = [1, 2, 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b = [1, 2, 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print(identical(a, b));         // true - literally the same object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c = [1, 2, 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d = [1, 2, 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print(identical(c, d));         // false - two separate lists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print(rightNow);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print(vatRate);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rule for this week: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 final by default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 const whenever the compiler will let you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 var only when the value genuinely changes</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final means assigned once. const means known at compile time and shared. Java has the first and not the second, and the second matters more than it looks.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Null, and why Dart will not let you crash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In Java, every object reference can be null and the compiler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does not care. That is where NullPointerException comes from.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In Dart, a type cannot hold null unless you say so.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customer = 'Acme Ltd';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customer = null;             // COMPILE ERROR, not a runtime crash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Add a question mark to allow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notes;                  // starts as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print(notes);                   //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The compiler will not let you use it without dealing with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print(notes.length);         // ERROR: notes might be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Three ways to deal with it: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Null, and why Dart will not let you crash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1. Check it. After the check the compiler knows it is safe.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(notes != null)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print(notes.length);          // fine, notes is a String here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2. Ask safely. Returns null instead of crashing.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print(notes?.length);           // null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3. Supply a fallback.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print(notes?.length ?? 0);      //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Compare with Java 8's Optional: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Optional&lt;String&gt; notes = Optional.empty();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notes.map(String::length).orElse(0);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Optional is a wrapper object you opt into and most codebases use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inconsistently. Dart's version is the type system itself, it costs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nothing at runtime, and there is no way to opt out.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String cannot hold null. A String? can. The compiler will not let you use the second one until you have dealt with the possibility.</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1.2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Your first Dart program</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DartPad program that declares variables, formats money with interpolation, uses final and const, handles a null, and makes a decision.</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Open dartpad.dev. Nothing is installed and nothing can block you.</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Copy the starter from the handbook, Lab 1.2, and work down the TODOs in order.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to 3: variables for the customer, quantity and unit price, then one interpolated line of output.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to 6: a final line total, a const VAT rate, and the VAT and grand total printed.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a nullable String for delivery notes, printed with a fallback using ??.</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8: an if, else if, else chain printing bulk, standard or small.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Check your output against the expected output printed in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When it works, break it on purpose: remove the question mark from the notes type and read the error.</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Use toStringAsFixed(2) everywhere so every amount has exactly two decimal places.</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Replace the if chain with a ternary and decide which you find more readable.</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Try to make the line total const instead of final, and explain to your neighbour why the compiler refuses.</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Decisions, loops and functions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if, switch and the ?? operator to make decisions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Loop over a range and over a collection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a List and a Map for the things you would use ArrayList and HashMap for</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 function, including one with named parameters</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Making decisions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quantity =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if / else if / else - identical to Java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(quantity &gt; 100)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print('bulk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else if (quantity &gt; 10)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print('standard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else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print('small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Ternary - identical to Java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label = quantity &gt; 10 ? 'standard' : 'small';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print(label);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Comparison and logic operators are all the same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  !=  &lt;  &gt;  &lt;=  &gt;=  &amp;&amp;  ||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Making decisions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One Dart-only operator: ?? supplies a value when the left is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note;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display = note ?? 'no notes';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print(display);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switch on a value. Dart does not need break on each case.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status = 'submitted';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switch (status)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case 'draft':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print('Still being edited');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case 'submitted':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print('Waiting for picking');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default: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print('Unknown status');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if, else and the ternary are identical to Java. The ?? operator is the one addition, and switch no longer needs a break on every case.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Loops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Classic for loop - identical to Java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(var i = 0; i &lt; 3; i++)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print('line $i');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For-each. Java: for (String s : items)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var skus = ['SKU-1', 'SKU-2', 'SKU-3'];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sku in skus)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while and do-while - identical to Java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var remaining = 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while (remaining &gt; 0)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print('remaining $remaining');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remaining--;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break and continue work exactly as you expect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sku in skus)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(sku == 'SKU-2') continue;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(sku == 'SKU-3') break;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print('processing $sku');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forEach with a function, if you prefer that style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skus.forEach((sku) =&gt; print(sku));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classic for loop, for-in, while and do-while are all identical to Java. Only the for-in keyword differs: in rather than a colon.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Lists and Maps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 List is Java's ArrayList. There is no separate array type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that you use day to day.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skus = ['SKU-1', 'SKU-2', 'SKU-3'];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Or declare the type explicitly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List&lt;String&gt; more = ['SKU-4'];</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An empty list needs its type, because there is nothing to infer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empty = &lt;String&gt;[];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print(skus.length);          // 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print(skus[0]);              // SKU-1   (square brackets, not .get(0))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print(skus.first);           // SKU-1</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print(skus.last);            // SKU-3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print(skus.isEmpty);         // false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print(skus.contains('SKU-2'));</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Lists and Maps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skus.add('SKU-9');</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skus.remove('SKU-1');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skus.addAll(more);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print(skus);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Sorting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skus.sort();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print(skus);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Map is Java's HashMap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stock = &lt;String, int&gt;{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'SKU-1':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'SKU-2':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print(stock['SKU-1']);       //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print(stock['SKU-9']);       // null, not an exception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stock['SKU-3'] = 7;</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print(stock.keys);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List is your ArrayList and a Map is your HashMap. The literal syntax with square and curly brackets is the main difference.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Functions, and named parameters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top-level function. It does not have to live inside a class.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double lineTotal(int quantity, double unitPrice)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quantity * unitPrice;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the body is a single expression, use the fat arrow.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It means "return this". These two are identical.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double lineTotalShort(int quantity, double unitPrice) =&gt;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quantity * unitPrice;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means it returns nothing, same as Java.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printTotal(double amount)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print('Total: $amount');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Functions, and named parameters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NAMED PARAMETERS. Java has nothing like this and you will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 them constantly from Day 3 onward.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double discounted({required double amount, double rate = 0.0})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amount * (1 - rate);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print(lineTotal(40,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At the call site you write the names. Compare this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discounted(1000, 0.05)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with this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print(discounted(amount: 1000, rate: 0.05));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rate has a default, so it can be left out entirely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print(discounted(amount: 1000));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printTotal(lineTotal(40,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fat arrow is shorthand for a single-expression body. Named parameters have no Java equivalent and they are why Flutter code reads the way it does.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1.3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Putting the day together</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Three functions, a List, a Map, a loop, and a formatted report printed to the console. Everything from today, in one program.</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Continue in the same DartPad, below your Lab 1.2 code, or start a new pad.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a lineTotal function using the fat arrow form.</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2: a withVat function using named parameters, with a default rate of 0.15.</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a band function returning bulk, standard or small.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and 5: a List of three SKUs and a Map of SKU to quantity.</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6: loop over the map keys and print one formatted line per SKU using your functions.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add up the quantities into a running total and print it.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8: print the band for that running total.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Check against the expected output in the handbook.</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second Map of SKU to unit price and use it instead of the hard-coded 250.0.</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Print a line of dashes and a grand total row so it looks like a real report.</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band use a switch statement instead of if chains and decide which you prefer.</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1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mobile app is one long session in someone's pocket, on one thread, that the operating system can end at any moment.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What ships is a package containing your compiled code, the Flutter engine, and every asset. Nothing needs to be installed first.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Flutter draws its own pixels, which is why it looks the same on every device.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Development uses a live virtual machine, which gives you hot reload. Release builds are compiled to machine code.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Dart files need no class. main() is where it starts and print() is how you look at things.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final is assigned once. const is known at compile time and shared. Prefer const wherever the compiler allows it.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type cannot hold null unless you add a question mark, and then the compiler makes you deal with it.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Functions can be top level, the fat arrow is a one-expression body, and named parameters make long argument lists readable.</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Classes and objects in Dart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Collections properly: map, where and fold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Enums, and modelling the states of an order</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Sealed classes and switch expressions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Errors, exceptions, and async with await</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2E3440"/>
          </a:solidFill>
          <a:ln w="12700">
            <a:solidFill>
              <a:srgbClr val="2E3440"/>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Optional · 15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2E3440"/>
                </a:solidFill>
                <a:latin typeface="Calibri" pitchFamily="34" charset="0"/>
                <a:ea typeface="Calibri" pitchFamily="34" charset="-122"/>
                <a:cs typeface="Calibri" pitchFamily="34" charset="-120"/>
              </a:rPr>
              <a:t>Optional tonight: the Dart language tour, first two pages</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2E3440"/>
                </a:solidFill>
                <a:latin typeface="Courier New" pitchFamily="34" charset="0"/>
                <a:ea typeface="Courier New" pitchFamily="34" charset="-122"/>
                <a:cs typeface="Courier New" pitchFamily="34" charset="-120"/>
              </a:rPr>
              <a:t>dart.dev/language</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646E7A"/>
                </a:solidFill>
                <a:latin typeface="Calibri" pitchFamily="34" charset="0"/>
                <a:ea typeface="Calibri" pitchFamily="34" charset="-122"/>
                <a:cs typeface="Calibri" pitchFamily="34" charset="-120"/>
              </a:rPr>
              <a:t>The "Introduction" and "Variables" pages only. Do not read further; the rest of the tour covers things we do tomorrow (about 15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one thing on those two pages that we did not cover today, and be ready to say what it is for.</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The tour describes a "dynamic" type. What is it, and why do you think we are not going to use it this week?</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the section on the default value of an uninitialised variable. What is it, and how does that interact with what we learned about null?</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09:00 tomorrow: two people take one question each, three minutes at the whiteboard, before we open any laptops.</a:t>
            </a:r>
            <a:endParaRPr lang="en-US" sz="1250" dirty="0"/>
          </a:p>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This is optional. If you would rather sleep, sleep. Nothing tomorrow depends on it.</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cannot install Flutter at all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dartpad.dev. Every lab this afternoon runs there. Help them over lunch or during Lab 1.3. Nobody loses a day over a laptop</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emulator will not start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ourier New" pitchFamily="34" charset="0"/>
                          <a:ea typeface="Courier New" pitchFamily="34" charset="-122"/>
                          <a:cs typeface="Courier New" pitchFamily="34" charset="-120"/>
                        </a:rPr>
                        <a:t>flutter run -d chrome, or a phone over USB. Nothing in the first three days needs an emulator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venue network cannot handle twenty 4 GB downloads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Stagger them: half the room, then the other half. Or tether one machine, build once, and share the caches on a USB drive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first builds are still running when you need them</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Carry on. Labs 1.2 and 1.3 are browser only, so you have three hours of slack before anyone needs a device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ourier New" pitchFamily="34" charset="0"/>
                          <a:ea typeface="Courier New" pitchFamily="34" charset="-122"/>
                          <a:cs typeface="Courier New" pitchFamily="34" charset="-120"/>
                        </a:rPr>
                        <a:t>Android license status unknown will not clear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Known cosmetic bug on recent tools. Prove the toolchain with flutter build apk --debug and move on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quieter than you expected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Stop asking "any questions". Ask "what would you type here?" and wait. Silence on day one is usually not understanding</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You are running behind at 14:45</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Compress loops and lists to five minutes. Never compress null safety or named parameters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well ahead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Push the stretch goals, and start the classes material from Day 2 rather than finishing early</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1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1.2 starter and solution   B · Lab 1.3 starter and solution   C · Commands   D · Troubleshooting   E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1.2 starter</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 1.2 STARTER - paste into dartpad.dev and fill in the TODOs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1: create a String variable for the customer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2: create an int for the quantity, and a double for unit 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3: print a single line: "Acme Ltd ordered 40 units at R 250.00"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using string interpolation, not the plus operator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4: work out the line total (quantity times unit 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and store it in a final variable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5: create a const for the VAT rate of 0.15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6: print the VAT amount and the total including VAT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7: create a nullable String for delivery notes, leave it null,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and print "Notes: none" using the ?? operator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8: use an if / else if / else to print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"bulk"     when quantity is over 100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"standard" when quantity is over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"small"    otherwise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Also in the delegate handbook, where it can be copied without retyping.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1.2 solution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customer = 'Acme Ltd';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quantity = 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unitPrice = 250.0;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print('$customer ordered $quantity units at R ${unitPrice.toStringAsFixed(2)}');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lineTotal = quantity *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vatRate = 0.15;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vat = lineTotal * vatRate;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total = lineTotal + vat;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print('Line total  R ${lineTotal.toStringAsFixed(2)}');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print('VAT         R ${vat.toStringAsFixed(2)}');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print('Total       R ${total.toStringAsFixed(2)}');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notes;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print('Notes: ${notes ?? 'none'}');</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1.2 solution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(quantity &gt; 100)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print('bulk');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else if (quantity &gt; 10)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print('standard');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else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print('small');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Expected output: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Acme Ltd ordered 40 units at R 250.00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Line total  R 10000.00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VAT         R 1500.00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Total       R 11500.00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Notes: none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standard</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Expected output is in the comment at the bottom. Line total 10000.00, VAT 1500.00, total 11500.00.</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1.3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1.3 STARTER - continue in the same DartPad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write a function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lineTotal(int quantity, double unitPrice)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using the fat arrow form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write a function with named parameters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withVat({required double amount, double rate = 0.15})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that returns the amount plus VAT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write a function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band(int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returning 'bulk', 'standard' or 'small'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4: make a List&lt;String&gt; of three SKUs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5: make a Map&lt;String, int&gt; of SKU to quantity, three entries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6: loop over the map's keys with for-in and print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"SKU-1 x 40 = R 10000.00" for each, using your functions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(assume every unit price is 250.0)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7: add up all the quantities into a running total and print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8: print the band for the running 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1.3 solution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double lineTotal(int quantity, double unitPrice) =&gt; quantity *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double withVat({required double amount, double rate = 0.15})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amount * (1 + rate);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String band(int quantity)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(quantity &gt; 100) return 'bulk';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(quantity &gt; 10) return 'standard';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'small';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skus = ['SKU-1', 'SKU-2', 'SKU-3'];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quantities = &lt;String, int&gt;{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'SKU-1': 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'SKU-2':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'SKU-3': 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unitPrice = 250.0;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runningTotal = 0;</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1.3 solution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for (final sku in quantities.keys)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qty = quantities[sku]!;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total = lineTotal(qty,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print('$sku x $qty = R ${total.toStringAsFixed(2)}');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runningTotal = runningTotal + qty;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print('Units total  $runningTotal');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print('With VAT     R ${withVat(amount: lineTotal(runningTotal, unitPrice)).toStringAsFixed(2)}');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print('Band         ${band(runningTotal)}');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print(skus);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Expected output: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SKU-1 x 40 = R 10000.00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SKU-2 x 10 = R 2500.00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SKU-3 x 5 = R 1250.00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Units total  55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 VAT     R 15812.50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Band         standard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[SKU-1, SKU-2, SKU-3]</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Note the exclamation mark in quantities[sku]!. A map lookup returns a nullable type, and that mark asserts it is present.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Commands used today</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identical on Windows and macOS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doctor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doctor -v</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devices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create --org com.example order_flow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run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analyze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dart fix --apply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dart format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clean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flutter pub get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Every one of these is the same on both operating systems. Only the install commands differ.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Troubleshooting: symptom to fix</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Cause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flutter is not recognised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Old terminal window</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Close it and open a new one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The token '&amp;&amp;' is not a valid statement separator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PowerShell 5.1</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One command per line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cmdline-tools component is missing</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SDK Tools not installed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Android Studio, SDK Manager, SDK Tools tab, tick it, Apply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Android license status unknown</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Known detection bug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Cosmetic. Prove it with flutter build apk --debug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No devices available</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No emulator or phone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Start an emulator, or flutter run -d chrome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Emulator extremely slow (Windows)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No hardware acceleration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Enable virtualisation in the BIOS, or use a phone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Hot reload changes nothing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Changed main, or a compile error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Press R for a restart, and read the terminal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A value of type Null can't be assigned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Assigning null to a non-nullable type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Add a question mark to the type, or give it a real value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The property ... can't be unconditionally accessed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Using a nullable value without a check</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 or ??, or check with an if first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Invalid constant value</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Runtime value in a const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final instead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Expected to find ';'</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Missing semicolon, usually a line earlier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Look at the line above the one reported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7 / 2 gives 3.5 not 3</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single slash always returns a double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 for integer division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Undefined name in DartPad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Typo, or the variable is out of scope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Dart is case sensitive. Check the spelling exactly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Links used today</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Install Flutter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docs.flutter.dev/get-started/install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DartPad, the online editor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dartpad.dev</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Dart language tour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Variables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dart.dev/language/variables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Understanding null safety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dart.dev/null-safety/understanding-null-safety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Built-in types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dart.dev/language/built-in-types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Functions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dart.dev/language/functions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Android Studio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developer.android.com/studio</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Set up an emulator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developer.android.com/studio/run/managing-avds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Architecture, for the curious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docs.flutter.dev/resources/architectural-overview</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Optional homework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 (Introduction and Variables only)</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1 - Getting Oriented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1</dc:title>
  <dc:subject>Flutter Mobile Development for Java Developers</dc:subject>
  <dc:creator>Flutter for Java Developers</dc:creator>
  <cp:lastModifiedBy>Flutter for Java Developers</cp:lastModifiedBy>
  <cp:revision>1</cp:revision>
  <dcterms:created xsi:type="dcterms:W3CDTF">2026-09-10T19:07:09Z</dcterms:created>
  <dcterms:modified xsi:type="dcterms:W3CDTF">2026-09-10T19:07:09Z</dcterms:modified>
</cp:coreProperties>
</file>