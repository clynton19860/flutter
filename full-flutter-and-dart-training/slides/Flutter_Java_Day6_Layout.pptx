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Open by naming the stakes without frightening anyone.
"Layout is where every Flutter beginner loses time. Not because it is hard, but because it works differently from every layout system you have used, and until you have the rule it looks arbitrary. There is one rule. It takes three sentences. By this afternoon layout errors will be obvious rather than mysterious."
THE WHOLE DAY HANGS ON MODULE 1. If they leave the morning without the constraints rule, the rest of the day is memorisation. If they have it, everything else is an application of it.
PRESENTER CHECKLIST: emulator running with yesterday's project; four broken-layout examples prepared as separate files so demonstrating an error is a file switch rather than live typing; DevTools open with the Layout Explorer tab visible; the constraints document open in a browser tab.
OPEN WITH THE HOMEWORK. Three named volunteers at the whiteboard before any laptop is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modules, three labs, and the day is deliberately hands-heavy. Around sixty per cent of today is them typing.
SAY THIS ABOUT THE LABS: every one of them includes breaking something on purpose and reading the error. That is not filler. The fastest way to stop fearing layout errors is to cause four of them deliberately, in a safe setting, with the answer already on the slide.
TIMING: protect module 2. If module 1 runs long, take it out of the reading of the constraints document, not out of the four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Seventy minutes, and it is the most important module of the day.
START WITH THE HOMEWORK DEBRIEF, not with a slide. Three volunteers, three questions, ten minutes. If they answer well, confirm and move faster. If nobody read it, put the answers up, spend five minutes, and carry on without making it a thing.
THE TEACHING SEQUENCE: state the rule, show the three constraint kinds, then demonstrate one widget behaving three different ways in three different parents. That demonstration is what makes it click.
DO EVERY DEMO LIVE ON THE DEVICE. This is a module where watching a box appear, disappear and resize is worth more than any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Write the three sentences on the whiteboard before you show the slide, and leave them there all day.
SENTENCE ONE: a parent passes its child a range. Minimum and maximum width, minimum and maximum height. Not a size, a RANGE.
SENTENCE TWO: the child picks a size inside that range and reports it back. The child chooses; the parent constrains.
SENTENCE THREE: the parent decides where to put it.
THE CONSEQUENCE PEOPLE FIND SURPRISING: a widget cannot know its own position, and it cannot be bigger than its parent allows no matter what you ask for. Setting width: 500 inside something 200 wide gets you 200.
THE THREE CONSTRAINT KINDS ARE THE VOCABULARY for the rest of the day. Tight means minimum equals maximum, so you get exactly that. Loose means zero to something, so be what you like up to that. Unbounded means the maximum is infinity.
UNBOUNDED IS THE ONE THAT CAUSES TROUBLE and it deserves a sentence of its own. Nothing can be infinitely big. So a widget whose strategy is "fill my parent" has no answer when the parent says "be as big as you like", and it either collapses to zero or throws.
NAME THE FOUR SOURCES OF UNBOUNDED CONSTRAINTS: ListView, SingleChildScrollView, and the main axis of Row and Column. Almost every layout error today traces back to one of those four.
COMPARE BRIEFLY WITH WHAT THEY KNOW: HTML and CSS let a child escape its parent, with absolute positioning, negative margins and overflow. Flutter does not. A child is always inside its parent's constraints, which is more restrictive and far more 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and this is the demonstration that makes the rule stick. Run all three on the device, in order, hot reloading between them.
ONE, INSIDE CENTER: Center gives loose but BOUNDED constraints, zero to the screen size. A Container with no child and no size says "make me as big as I am allowed", and it is allowed the whole screen. So it fills it.
TWO, INSIDE A COLUMN: the Column's main axis is vertical and UNBOUNDED. "As big as I am allowed" now has no answer, because the answer is infinity. The Container collapses to zero height and vanishes.
PAUSE THERE. The box has disappeared and nothing is wrong. Let the room sit with it. This is the single most common "my widget is not showing" problem in Flutter, and having seen it deliberately is worth an hour of debugging later.
THREE, GIVEN A SIZE: tight constraints. Exactly 100 by 40, in any parent, anywhere.
THE DIAGNOSTIC QUESTION IS THE TAKEAWAY. Write it on the whiteboard next to the three sentences: WHO GAVE THIS WIDGET ITS CONSTRAINTS, AND WHAT WERE THEY?
Then say this: for the rest of today, when someone raises a hand about a layout problem, that is the question I will ask you. Not what is wrong, but who gave that widget its constraints. It is the question that solves almost all of them, and it is the habit rather than the knowledge that matters.
IF YOU HAVE TIME, add a fourth case: the same Container inside a Row, which collapses horizontally instead of vertically. Same rule, different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and it is one of the highest-value slides of the week.
START BY NAMING THE HABIT: engineers learn to ignore long error messages. Flutter's are long and they are good, and the people who read them debug layout in seconds while everyone else guesses.
THREE THINGS TO LOOK FOR, and drill this order: the first line says WHAT went wrong. RenderFlex means a Row or a Column. The direction word, right or bottom, tells you WHICH AXIS, so right means a Row and bottom means a Column. The relevant error-causing widget section gives you the file and line.
THAT IS ALREADY ENOUGH TO FIX MOST OF THEM. What, which axis, where. Then ask the diagnostic question.
THE YELLOW AND BLACK STRIPES appear on the device in debug builds, so you often see an overflow before you read anything. Point at them the first time they appear today.
DEMO THIS LIVE. Cause an overflow on the projector, let the error scroll past, then scroll back up and read it out loud, pointing at each of the three parts. Ninety seconds, and it changes how the room debugs for the rest of the course.
SAY THIS TOO: the error does not tell you the fix, and it cannot, because the fix depends on what you meant. Expanded, ellipsis, a smaller font and a scroll view are all legitimate answers to the same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hundred and five minutes including the lab, and it is the core of the day.
THE FOUR ERRORS SLIDE IS THE ONE THAT EARNS THE MODULE. Break each one live and fix it live. Do not describe them.
FOR ANYONE WHO KNOWS CSS FLEXBOX this maps almost directly, and saying so early saves ten minutes. For everyone else, teach it on its own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Build this up live, one property at a time, hot reloading after each.
MAIN AXIS is the direction the widget lays out. For a Row that is horizontal, for a Column vertical. mainAxisAlignment distributes the free space along it.
CROSS AXIS is the other one. crossAxisAlignment decides how children sit across it.
THE ONE PEOPLE MIX UP is that a Column's cross axis is horizontal. Say it twice and put it on the whiteboard, because reasoning about the wrong axis is the source of a lot of confused fiddling.
mainAxisSize: max fills the parent and is the default. min shrink-wraps. That distinction matters inside a Card or a dialog, where a Column that fills everything looks wrong.
CrossAxisAlignment.stretch IS THE PRACTICAL ONE they will use most. In a Column it makes children full width, which is how every full-width button in the course is made. Demo it.
FOR THE CSS PEOPLE: Row is flex-direction row, mainAxisAlignment is justify-content, crossAxisAlignment is align-items, Expanded is flex one. Say it once for the people who know it and then stop, because half the room will not.
THE DIFFERENCE FROM FLEXBOX THAT MATTERS: a Row child with no Expanded gets UNBOUNDED width, so long text does not wrap, it overflows. In CSS it would wrap by default. That single difference explains most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Build this up live, one property at a time, hot reloading after each.
MAIN AXIS is the direction the widget lays out. For a Row that is horizontal, for a Column vertical. mainAxisAlignment distributes the free space along it.
CROSS AXIS is the other one. crossAxisAlignment decides how children sit across it.
THE ONE PEOPLE MIX UP is that a Column's cross axis is horizontal. Say it twice and put it on the whiteboard, because reasoning about the wrong axis is the source of a lot of confused fiddling.
mainAxisSize: max fills the parent and is the default. min shrink-wraps. That distinction matters inside a Card or a dialog, where a Column that fills everything looks wrong.
CrossAxisAlignment.stretch IS THE PRACTICAL ONE they will use most. In a Column it makes children full width, which is how every full-width button in the course is made. Demo it.
FOR THE CSS PEOPLE: Row is flex-direction row, mainAxisAlignment is justify-content, crossAxisAlignment is align-items, Expanded is flex one. Say it once for the people who know it and then stop, because half the room will not.
THE DIFFERENCE FROM FLEXBOX THAT MATTERS: a Row child with no Expanded gets UNBOUNDED width, so long text does not wrap, it overflows. In CSS it would wrap by default. That single difference explains most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EXPANDED FORCES THE SIZE. The child gets exactly its share of whatever is left after the fixed-size children have taken theirs. It is the answer to most overflow errors.
FLEXIBLE ALLOWS IT. The child may take up to its share and may take less. The difference matters when the child would naturally be small: with Expanded it is stretched, with Flexible it is not.
flex IS A RATIO, not a size. Two Expanded children with flex two and flex one split the leftover space two to one. Demo that with the two buttons on the slide; it is the exact requirement in Lab 6.1.
SPACER is an Expanded with nothing in it, and it is the neat way to push one thing to the left and another to the right.
SIZEDBOX IS THE IDIOM FOR SPACING and they should prefer it over Padding between children. It says what it means and it is cheaper.
THE ALIGNMENT OPTIONS: read spaceBetween, spaceAround and spaceEvenly out and demo the difference. It takes a minute and saves people guessing.
THE LAST BLOCK ON THE SLIDE IS THE IMPORTANT ONE and it sets up the next slide. A Row hands its children unbounded width. A Text asked for unbounded width will ask for as much as it needs and overflow. That is not a bug in Text, it is the rule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EXPANDED FORCES THE SIZE. The child gets exactly its share of whatever is left after the fixed-size children have taken theirs. It is the answer to most overflow errors.
FLEXIBLE ALLOWS IT. The child may take up to its share and may take less. The difference matters when the child would naturally be small: with Expanded it is stretched, with Flexible it is not.
flex IS A RATIO, not a size. Two Expanded children with flex two and flex one split the leftover space two to one. Demo that with the two buttons on the slide; it is the exact requirement in Lab 6.1.
SPACER is an Expanded with nothing in it, and it is the neat way to push one thing to the left and another to the right.
SIZEDBOX IS THE IDIOM FOR SPACING and they should prefer it over Padding between children. It says what it means and it is cheaper.
THE ALIGNMENT OPTIONS: read spaceBetween, spaceAround and spaceEvenly out and demo the difference. It takes a minute and saves people guessing.
THE LAST BLOCK ON THE SLIDE IS THE IMPORTANT ONE and it sets up the next slide. A Row hands its children unbounded width. A Text asked for unbounded width will ask for as much as it needs and overflow. That is not a bug in Text, it is the rule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Twenty-five minutes, and this is the highest-value slide of the day. Break each one live on the device and fix it live. Do not just read them.
ONE, RENDERFLEX OVERFLOWED. A Row or Column child is bigger than the space. The fix is Expanded for a bounded width, or making the axis scrollable. Cause it with a long product description, read the message, wrap it in Expanded, watch the stripes vanish.
TWO, VERTICAL VIEWPORT UNBOUNDED HEIGHT. A ListView inside a Column. The Column offers infinity and the ListView needs a bound. The fix is Expanded. Mention shrinkWrap and immediately warn against it: it lays out every child, which defeats the purpose of a lazy list, and it is fine only for a handful of rows.
THREE, INCORRECT USE OF PARENTDATAWIDGET. Expanded somewhere that is not directly inside a Row, Column or Flex. Usually somebody wrapped a Container child by accident. The fix is to move it.
FOUR, BOXCONSTRAINTS FORCES AN INFINITE WIDTH. A TextField in a Row. The field wants to fill the width and the Row offers infinity. Expanded fixes it. They will hit this for real tomorrow when they build the form.
KEEP THE BROKEN VERSIONS AS PREPARED FILES rather than typing mistakes live. Switching files is faster and it cannot go wrong in front of the room.
THEN OPEN DEVTOOLS. Flutter Inspector, Layout Explorer, select the Row. It shows the flex factors and the overflow visually. This is the moment to teach the tool, because they now have a problem it solves.
SAY THIS AT THE END: these four cover the overwhelming majority of layout errors you will ever see. You now have all four, with the fixes. That is genuinely reassuring and it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Twenty-five minutes, and this is the highest-value slide of the day. Break each one live on the device and fix it live. Do not just read them.
ONE, RENDERFLEX OVERFLOWED. A Row or Column child is bigger than the space. The fix is Expanded for a bounded width, or making the axis scrollable. Cause it with a long product description, read the message, wrap it in Expanded, watch the stripes vanish.
TWO, VERTICAL VIEWPORT UNBOUNDED HEIGHT. A ListView inside a Column. The Column offers infinity and the ListView needs a bound. The fix is Expanded. Mention shrinkWrap and immediately warn against it: it lays out every child, which defeats the purpose of a lazy list, and it is fine only for a handful of rows.
THREE, INCORRECT USE OF PARENTDATAWIDGET. Expanded somewhere that is not directly inside a Row, Column or Flex. Usually somebody wrapped a Container child by accident. The fix is to move it.
FOUR, BOXCONSTRAINTS FORCES AN INFINITE WIDTH. A TextField in a Row. The field wants to fill the width and the Row offers infinity. Expanded fixes it. They will hit this for real tomorrow when they build the form.
KEEP THE BROKEN VERSIONS AS PREPARED FILES rather than typing mistakes live. Switching files is faster and it cannot go wrong in front of the room.
THEN OPEN DEVTOOLS. Flutter Inspector, Layout Explorer, select the Row. It shows the flex factors and the overflow visually. This is the moment to teach the tool, because they now have a problem it solves.
SAY THIS AT THE END: these four cover the overwhelming majority of layout errors you will ever see. You now have all four, with the fixes. That is genuinely reassuring and it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40 minutes, hard stop. Circulate constantly and ask one question at every desk: who gave that widget its constraints?
CHECKPOINTS: at 12 minutes the LineTile row renders without overflowing. At 25 minutes the two buttons split correctly. At 35 minutes both errors have been caused and fixed.
STEPS 5 AND 7 ARE THE POINT OF THE LAB. Causing an error deliberately, with the fix already on a slide, is what removes the fear. Do not let anyone skip them because they are running short; skip step 8 instead.
MAKE THEM WRITE THE ANSWERS DOWN in step 5. Which widget, which axis. Reading an error and extracting those two facts is the skill, and writing it down forces the extraction.
COMMON ERRORS: putting Expanded on the wrong child, so the total gets the space instead of the description. Nesting a Column in a Row without an Expanded, which overflows in a confusing way. Forgetting maxLines with overflow, which does nothing on its own.
THE SECOND STRETCH GOAL IS A GENUINELY GOOD EXERCISE and the answer surprises people: with Flexible, a short description does not stretch, so the total sits right next to it rather than at the far right. Worth demonstrating at the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Ninety minutes including the lab.
STACK IS QUICK and mostly intuitive. The responsive half is where the useful thinking is, and the MediaQuery versus LayoutBuilder distinction is the thing most people get wrong for months.
THE PRACTICAL TARGET: by the end of the module their screen should look right in portrait, in landscape, and in a resized browser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Build the banner live, one child at a time.
PAINT ORDER IS LIST ORDER. The first child is at the back. That is worth saying because people assume z-order needs configuring.
NON-POSITIONED CHILDREN are laid out by the Stack's alignment, and the Stack sizes itself to fit the biggest of them. That is why the sized Container needs to come first.
POSITIONED takes left, top, right, bottom, width and height. You give it enough to determine position and size, and giving both left and right determines the width.
NEGATIVE OFFSETS ARE THE FUN PART. A chip hanging off the bottom edge needs clipBehavior: Clip.none, otherwise the overhang is clipped away silently. That silent clipping catches everyone once.
Positioned.fill covers the whole Stack, and it is how you build overlays, scrims, and full-area tap targets. The faded watermark icon uses it.
THE TRAP: a Stack whose children are ALL Positioned has no size of its own, because nothing tells it how big to be. It collapses. Give it a sized child, or StackFit.expand. That is the same constraints rule from this morning, in a new place.
FOR THE CSS PEOPLE: Stack is position relative, Positioned is position absolute. One sentence, then move on.
WHERE THEY WILL USE IT: badges on icons, a status chip on a card, an image with a caption overlay, and a loading scrim over a screen. Name those four so it does not feel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Build the banner live, one child at a time.
PAINT ORDER IS LIST ORDER. The first child is at the back. That is worth saying because people assume z-order needs configuring.
NON-POSITIONED CHILDREN are laid out by the Stack's alignment, and the Stack sizes itself to fit the biggest of them. That is why the sized Container needs to come first.
POSITIONED takes left, top, right, bottom, width and height. You give it enough to determine position and size, and giving both left and right determines the width.
NEGATIVE OFFSETS ARE THE FUN PART. A chip hanging off the bottom edge needs clipBehavior: Clip.none, otherwise the overhang is clipped away silently. That silent clipping catches everyone once.
Positioned.fill covers the whole Stack, and it is how you build overlays, scrims, and full-area tap targets. The faded watermark icon uses it.
THE TRAP: a Stack whose children are ALL Positioned has no size of its own, because nothing tells it how big to be. It collapses. Give it a sized child, or StackFit.expand. That is the same constraints rule from this morning, in a new place.
FOR THE CSS PEOPLE: Stack is position relative, Positioned is position absolute. One sentence, then move on.
WHERE THEY WILL USE IT: badges on icons, a status chip on a card, an image with a caption overlay, and a loading scrim over a screen. Name those four so it does not feel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The distinction in the caption is the content of the slide.
MEDIAQUERY IS THE WHOLE SCREEN. Useful for a top-level decision like whether this is a phone or a tablet.
LAYOUTBUILDER IS YOUR SLOT, which is what you usually actually want. Once an app bar, some padding and a SafeArea have taken their share, your slot is smaller than the screen. Inside a Row it can be far smaller.
MAKE THE POINT CONCRETELY: a widget that decides to go two-column because the SCREEN is 800 wide, while actually sitting in a 300 wide panel, is broken. That is the bug this distinction prevents.
sizeOf RATHER THAN of. MediaQuery.of rebuilds your widget when anything in MediaQuery changes, including the keyboard appearing. sizeOf rebuilds only on a size change. Use sizeOf.
SAFEAREA GOES INSIDE THE SCAFFOLD BODY, not around the Scaffold. Around the Scaffold you get a white bar where the app bar should be. Everybody does it once.
TEXT SCALING IS AN ACCESSIBILITY REQUIREMENT, not a nicety. Users set 130 per cent fonts and some set 200. The rule is: never fix a height around text. Day 8 tests at 200 per cent and anything with a hard-coded height breaks.
THE BREAKPOINTS: compact under 600, medium 600 to 840, expanded above. Our app switches at 700, deliberately above the Material medium breakpoint, so a phone in landscape stays single column.
DEMO THE ROTATION on the emulator. Ctrl and left arrow on Windows, Cmd and left arrow on a Mac, or the toolbar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Twenty minutes. The distinction in the caption is the content of the slide.
MEDIAQUERY IS THE WHOLE SCREEN. Useful for a top-level decision like whether this is a phone or a tablet.
LAYOUTBUILDER IS YOUR SLOT, which is what you usually actually want. Once an app bar, some padding and a SafeArea have taken their share, your slot is smaller than the screen. Inside a Row it can be far smaller.
MAKE THE POINT CONCRETELY: a widget that decides to go two-column because the SCREEN is 800 wide, while actually sitting in a 300 wide panel, is broken. That is the bug this distinction prevents.
sizeOf RATHER THAN of. MediaQuery.of rebuilds your widget when anything in MediaQuery changes, including the keyboard appearing. sizeOf rebuilds only on a size change. Use sizeOf.
SAFEAREA GOES INSIDE THE SCAFFOLD BODY, not around the Scaffold. Around the Scaffold you get a white bar where the app bar should be. Everybody does it once.
TEXT SCALING IS AN ACCESSIBILITY REQUIREMENT, not a nicety. Users set 130 per cent fonts and some set 200. The rule is: never fix a height around text. Day 8 tests at 200 per cent and anything with a hard-coded height breaks.
THE BREAKPOINTS: compact under 600, medium 600 to 840, expanded above. Our app switches at 700, deliberately above the Material medium breakpoint, so a phone in landscape stays single column.
DEMO THE ROTATION on the emulator. Ctrl and left arrow on Windows, Cmd and left arrow on a Mac, or the toolbar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hard stop. Visually the most satisfying lab of the week, because the result looks like a designed screen.
CHECKPOINTS: at 12 minutes the banner renders. At 22 minutes the chip overhangs correctly. At 32 minutes the layout switches on rotation.
STEP 7 IS THE LESSON, not the layout. The two numbers differ, and understanding why is the whole point of the module. Make people say the answer out loud: the screen is the screen, the constraints are what is left after everything above has taken its share.
THE CHIP WILL BE CLIPPED for at least half the room. That is fine and it is step 2 doing its job. Let them hit it and fix it.
COMMON ERRORS: SafeArea around the Scaffold instead of inside it. A Stack with only Positioned children, which collapses to nothing. Forgetting the SizedBox width on the banner in the wide layout, so it takes the whole row. Rotation not working because auto-rotate is off in the emulator's quick settings.
IF ROTATION WILL NOT WORK ON A MACHINE, tell them to run in Chrome and resize the window. Same effect, no emulator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last hour and it answers the question somebody has been asking since yesterday: why does the Column not scroll.
THE ANSWER, and say it now: a Column is not a scrolling widget. It lays out its children and that is all. If they do not fit, it overflows. Scrolling is a different widget.
END ON THE LAB. People should leave having built a list that scrolls, deletes and refreshes, which feels like a real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ANSWER THE COLUMN QUESTION FIRST, because it has been hanging since yesterday. A Column lays out children and does not scroll. If they do not fit, you get the overflow error from this morning. That is not a bug; it is a different widget's job.
THE THREE CONSTRUCTORS: the plain one builds every child immediately, which is fine for a handful of fixed rows. The builder builds rows on demand as they scroll into view. The separated version adds a separator between rows.
THE BUILDER IS THE ONE THEY SHOULD DEFAULT TO for anything that comes from data. Explain the mechanism briefly: itemCount tells it how many exist, itemBuilder produces one on demand, and rows that scroll off are disposed.
FOR THE ANDROID PEOPLE: this is RecyclerView, with no adapter and no view holder. For everyone else, it is virtual scrolling. One sentence each.
KEYS AGAIN: yesterday's rule applies here directly, and a list is exactly where it matters. ValueKey of something that identifies the item, never the index.
THE EMPTY STATE IS NOT OPTIONAL and it is on the slide for the third day running. An empty ListView renders nothing at all, which looks like a broken screen rather than an empty one.
padding ON THE LISTVIEW ITSELF is the idiom, rather than wrapping it in a Padding, because it keeps the scrollbar at the screen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ANSWER THE COLUMN QUESTION FIRST, because it has been hanging since yesterday. A Column lays out children and does not scroll. If they do not fit, you get the overflow error from this morning. That is not a bug; it is a different widget's job.
THE THREE CONSTRUCTORS: the plain one builds every child immediately, which is fine for a handful of fixed rows. The builder builds rows on demand as they scroll into view. The separated version adds a separator between rows.
THE BUILDER IS THE ONE THEY SHOULD DEFAULT TO for anything that comes from data. Explain the mechanism briefly: itemCount tells it how many exist, itemBuilder produces one on demand, and rows that scroll off are disposed.
FOR THE ANDROID PEOPLE: this is RecyclerView, with no adapter and no view holder. For everyone else, it is virtual scrolling. One sentence each.
KEYS AGAIN: yesterday's rule applies here directly, and a list is exactly where it matters. ValueKey of something that identifies the item, never the index.
THE EMPTY STATE IS NOT OPTIONAL and it is on the slide for the third day running. An empty ListView renders nothing at all, which looks like a broken screen rather than an empty one.
padding ON THE LISTVIEW ITSELF is the idiom, rather than wrapping it in a Padding, because it keeps the scrollbar at the screen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DISMISSIBLE HAS TWO RULES AND BOTH ARE MANDATORY. A unique key per item, and you must actually remove the item from the underlying list inside onDismissed. Miss the second and Flutter throws "A dismissed Dismissible widget is still part of the tree", which is a confusing message for an easy mistake.
SAY WHY THAT ERROR HAPPENS: the widget animated away, but the next rebuild produced it again because the data still contains it. Flutter notices the contradiction and complains.
THE BACKGROUND is what shows behind the row as it slides. A red container with a delete icon is the convention and it is worth doing properly, because a swipe with no visual feedback feels broken.
REFRESHINDICATOR WRAPS A SCROLLABLE and onRefresh must return a Future. It shows the spinner until that Future completes, which means an instant refresh looks broken. AlwaysScrollableScrollPhysics lets a short list still be pulled.
SCROLLCONTROLLER must be disposed, and that is yesterday's lifecycle rule arriving in a new place. Create in the State, dispose in dispose. Say it as a pair again.
WHERE THEY WILL NEED animateTo: jumping to the top after adding an item, or scrolling to the first validation error on a form, which is tomorrow.
DO NOT GO INTO SLIVERS. Mention that CustomScrollView and SliverAppBar give you collapsing headers, that it is the advanced version of all this, and that it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Fifteen minutes.
DISMISSIBLE HAS TWO RULES AND BOTH ARE MANDATORY. A unique key per item, and you must actually remove the item from the underlying list inside onDismissed. Miss the second and Flutter throws "A dismissed Dismissible widget is still part of the tree", which is a confusing message for an easy mistake.
SAY WHY THAT ERROR HAPPENS: the widget animated away, but the next rebuild produced it again because the data still contains it. Flutter notices the contradiction and complains.
THE BACKGROUND is what shows behind the row as it slides. A red container with a delete icon is the convention and it is worth doing properly, because a swipe with no visual feedback feels broken.
REFRESHINDICATOR WRAPS A SCROLLABLE and onRefresh must return a Future. It shows the spinner until that Future completes, which means an instant refresh looks broken. AlwaysScrollableScrollPhysics lets a short list still be pulled.
SCROLLCONTROLLER must be disposed, and that is yesterday's lifecycle rule arriving in a new place. Create in the State, dispose in dispose. Say it as a pair again.
WHERE THEY WILL NEED animateTo: jumping to the top after adding an item, or scrolling to the first validation error on a form, which is tomorrow.
DO NOT GO INTO SLIVERS. Mention that CustomScrollView and SliverAppBar give you collapsing headers, that it is the advanced version of all this, and that it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THE DELEGATE IS THE INTERESTING PART. SliverGridDelegateWithMaxCrossAxisExtent takes a maximum tile width and works out the column count from the available space. Resize and the count changes by itself.
CONTRAST IT WITH THE FIXED COUNT VERSION, which pins the columns and stretches the tiles. That is occasionally what you want and usually not.
SAY WHY THIS MATTERS: it is responsive design with no LayoutBuilder, no breakpoints and no conditional code. Compare it with the responsive shell from Lab 6.2, which needed an explicit threshold. Both are legitimate; the grid just happens to have a better default available.
childAspectRatio IS THE ONE THAT CATCHES PEOPLE. It is width divided by height, so a value above one is wider than tall. Tiles that overflow vertically almost always need this adjusted, and the error will be the RenderFlex overflow from this morning.
INKWELL INSIDE A CARD gives you the ripple on tap. InkWell needs a Material ancestor to paint on, and Card provides one. If there is no ripple, that is why.
Spacer INSIDE THE TILE pushes the text to the bottom, which is the Spacer from module 2 in a real use.
GRIDVIEW.BUILDER IS LAZY in the same way ListView.builder is. Use it for anything data-driven.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Twelve minutes.
THE DELEGATE IS THE INTERESTING PART. SliverGridDelegateWithMaxCrossAxisExtent takes a maximum tile width and works out the column count from the available space. Resize and the count changes by itself.
CONTRAST IT WITH THE FIXED COUNT VERSION, which pins the columns and stretches the tiles. That is occasionally what you want and usually not.
SAY WHY THIS MATTERS: it is responsive design with no LayoutBuilder, no breakpoints and no conditional code. Compare it with the responsive shell from Lab 6.2, which needed an explicit threshold. Both are legitimate; the grid just happens to have a better default available.
childAspectRatio IS THE ONE THAT CATCHES PEOPLE. It is width divided by height, so a value above one is wider than tall. Tiles that overflow vertically almost always need this adjusted, and the error will be the RenderFlex overflow from this morning.
INKWELL INSIDE A CARD gives you the ripple on tap. InkWell needs a Material ancestor to paint on, and Card provides one. If there is no ripple, that is why.
Spacer INSIDE THE TILE pushes the text to the bottom, which is the Spacer from module 2 in a real use.
GRIDVIEW.BUILDER IS LAZY in the same way ListView.builder is. Use it for anything data-driven.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Ten minutes and make it a decision table rather than a lecture.
SINGLECHILDSCROLLVIEW takes ONE child, which is nearly always a Column, and it builds everything. That is correct for a form, a settings page, or a details screen with a known, modest number of sections. Tomorrow's form uses one.
LISTVIEW.BUILDER is for data and for anything of unknown length.
THE TRAP WORTH NAMING: a Column inside a SingleChildScrollView gets unbounded height, so an Expanded inside that Column will fail. People try to make one section fill the remaining space inside a scroll view, and it cannot work, because there is no remaining space in something infinitely tall.
THE NESTED SCROLLING PATTERN is the one they will use constantly: a header, then Expanded wrapping a ListView. That gives the list a bound and lets it scroll inside the remaining space. It is exactly the fix for error two from this morning.
SHRINKWRAP: say it once more, clearly. It makes a ListView measure every child, which is O of n and defeats lazy building. Fine for five rows, wrong for five hundred. It is the tempting wrong answer to the nesting problem, so name it as such.
GIVE THEM THE DEFAULT: if it is data, ListView.builder with Expanded. If it is a page of content, SingleChildScrollView with a Column. That covers ninety per cent of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LAB: 35 minutes, hard stop at 15:55. The most satisfying lab of the day; by the end it behaves like a real app.
CHECKPOINTS: at 10 minutes the builder renders and scrolls. At 22 minutes swipe to delete works. At 32 minutes refresh restores.
STEP 4 IS WHERE THE ERRORS HAPPEN. The list must become mutable and must live in the State. A const list cannot be modified, and several people will start there. The Dismissible error message is good, so let them read it.
STEP 7 IS A DELIBERATE DESIGN FLAW and it is the best question in the lab. Once the list is empty, the EmptyState replaces the RefreshIndicator, so there is nothing to pull. That is a real bug that ships in real apps. The fix is stretch goal two: keep the RefreshIndicator and put the empty state inside a scrollable with AlwaysScrollableScrollPhysics.
DISCUSS IT AT THE HARD STOP even if nobody attempted the fix. It teaches that an empty state is a state of the list, not a replacement for it.
COMMON ERRORS: a const list being mutated. A missing or duplicated Dismissible key. Removing by index while the list is changing. Forgetting the mounted check in the async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Five minutes and read it carefully. This has been the densest Flutter day.
ASK THIS: "which of the four errors have you already hit today?" It tells you who needs another look at the Layout Explorer tomorrow, and it gets a laugh because everybody hit at least two.
NAME THE ACHIEVEMENT: their screen now has a designed banner, a responsive shell, a scrolling list with swipe to delete and pull to refresh, and a proper empty state. Two days ago they had never opened Flutter.
SET UP TOMORROW: "Tomorrow the app stops being a display and starts being an application. Forms that validate, more than one screen, and the moment where setState runs out of road and you need something better."
PRESENTER, TONIGHT: check everyone's Lab 6.3 builds, because tomorrow starts from it. Make sure your own reference version of the form is ready, and have go_router in your pubspec before class so nobody spends the morning on a package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the layout catalogue is large and people default to Container and Column for everything. A fifteen-minute scan with a "find one you did not know" rule builds vocabulary far faster than teaching each one.
THE NO-REPEATS ROUND keeps the last people engaged, because they have to listen to everyone before them. With a large room, cap it at twelve answers.
EXPECTED: Q1 commonly Wrap, IntrinsicHeight, FittedBox, AspectRatio or Table. Q2 Wrap moves children onto a new line when they do not fit; Row never wraps, it overflows. Status chips are the obvious use. Q3 Align takes any alignment and Center is Align with centre; SizedBox forces a size and ConstrainedBox applies minimum and maximum bounds. Q4 either a Column with an Expanded list and a fixed footer, or Scaffold.bottomNavigationBar and persistentFooterButtons.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Today is the day most likely to produce quiet, frustrated people, because layout failures look arbitrary until the rule lands.
THE FIX IS THE DIAGNOSTIC QUESTION. Ask it rather than answering it, every time, at every desk. It feels slower for the first four questions and considerably faster after that, because people start asking it of themselves.
THE MODULE THAT MUST SURVIVE is the four errors. Everything else today can be compressed. If they leave able to recognise and fix those four, the day worked.
IF YOU HAVE TO CUT, cut Stack first, then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On the projector at every hard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they will use most from this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 the second display all day. Rows one to four are the four errors from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in the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262872" y="-1463040"/>
            <a:ext cx="4754880" cy="4754880"/>
          </a:xfrm>
          <a:prstGeom prst="ellipse">
            <a:avLst/>
          </a:prstGeom>
          <a:solidFill>
            <a:srgbClr val="434C5E"/>
          </a:solidFill>
          <a:ln w="12700">
            <a:solidFill>
              <a:srgbClr val="434C5E"/>
            </a:solidFill>
            <a:prstDash val="solid"/>
          </a:ln>
        </p:spPr>
      </p:sp>
      <p:sp>
        <p:nvSpPr>
          <p:cNvPr id="3" name="Shape 1"/>
          <p:cNvSpPr/>
          <p:nvPr/>
        </p:nvSpPr>
        <p:spPr>
          <a:xfrm>
            <a:off x="10543032" y="4480560"/>
            <a:ext cx="3108960" cy="3108960"/>
          </a:xfrm>
          <a:prstGeom prst="ellipse">
            <a:avLst/>
          </a:prstGeom>
          <a:solidFill>
            <a:srgbClr val="2A9D8F"/>
          </a:solidFill>
          <a:ln w="12700">
            <a:solidFill>
              <a:srgbClr val="2A9D8F"/>
            </a:solidFill>
            <a:prstDash val="solid"/>
          </a:ln>
        </p:spPr>
      </p:sp>
      <p:sp>
        <p:nvSpPr>
          <p:cNvPr id="4" name="Text 2"/>
          <p:cNvSpPr txBox="1"/>
          <p:nvPr/>
        </p:nvSpPr>
        <p:spPr>
          <a:xfrm>
            <a:off x="548640" y="731520"/>
            <a:ext cx="7315200" cy="365760"/>
          </a:xfrm>
          <a:prstGeom prst="rect">
            <a:avLst/>
          </a:prstGeom>
          <a:noFill/>
          <a:ln/>
        </p:spPr>
        <p:txBody>
          <a:bodyPr wrap="square" lIns="0" tIns="0" rIns="0" bIns="0" rtlCol="0" anchor="ctr"/>
          <a:lstStyle/>
          <a:p>
            <a:pPr indent="0" marL="0">
              <a:buNone/>
            </a:pPr>
            <a:r>
              <a:rPr lang="en-US" sz="1200" spc="400" kern="0" dirty="0">
                <a:solidFill>
                  <a:srgbClr val="6FC5B8"/>
                </a:solidFill>
                <a:latin typeface="Calibri" pitchFamily="34" charset="0"/>
                <a:ea typeface="Calibri" pitchFamily="34" charset="-122"/>
                <a:cs typeface="Calibri" pitchFamily="34" charset="-120"/>
              </a:rPr>
              <a:t>TECHNICAL TRAINING</a:t>
            </a:r>
            <a:endParaRPr lang="en-US" sz="1200" dirty="0"/>
          </a:p>
        </p:txBody>
      </p:sp>
      <p:sp>
        <p:nvSpPr>
          <p:cNvPr id="5" name="Text 3"/>
          <p:cNvSpPr txBox="1"/>
          <p:nvPr/>
        </p:nvSpPr>
        <p:spPr>
          <a:xfrm>
            <a:off x="548640" y="1371600"/>
            <a:ext cx="8229600" cy="548640"/>
          </a:xfrm>
          <a:prstGeom prst="rect">
            <a:avLst/>
          </a:prstGeom>
          <a:noFill/>
          <a:ln/>
        </p:spPr>
        <p:txBody>
          <a:bodyPr wrap="square" lIns="0" tIns="0" rIns="0" bIns="0" rtlCol="0" anchor="ctr"/>
          <a:lstStyle/>
          <a:p>
            <a:pPr indent="0" marL="0">
              <a:buNone/>
            </a:pPr>
            <a:r>
              <a:rPr lang="en-US" sz="1800" dirty="0">
                <a:solidFill>
                  <a:srgbClr val="D7DEE8"/>
                </a:solidFill>
                <a:latin typeface="Calibri" pitchFamily="34" charset="0"/>
                <a:ea typeface="Calibri" pitchFamily="34" charset="-122"/>
                <a:cs typeface="Calibri" pitchFamily="34" charset="-120"/>
              </a:rPr>
              <a:t>Flutter for Java Developers · 8-Day Programme</a:t>
            </a:r>
            <a:endParaRPr lang="en-US" sz="1800" dirty="0"/>
          </a:p>
        </p:txBody>
      </p:sp>
      <p:sp>
        <p:nvSpPr>
          <p:cNvPr id="6" name="Text 4"/>
          <p:cNvSpPr txBox="1"/>
          <p:nvPr/>
        </p:nvSpPr>
        <p:spPr>
          <a:xfrm>
            <a:off x="548640" y="2103120"/>
            <a:ext cx="8686800" cy="146304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Day 6</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Layout</a:t>
            </a:r>
            <a:endParaRPr lang="en-US" sz="4800" dirty="0"/>
          </a:p>
        </p:txBody>
      </p:sp>
      <p:sp>
        <p:nvSpPr>
          <p:cNvPr id="7" name="Text 5"/>
          <p:cNvSpPr txBox="1"/>
          <p:nvPr/>
        </p:nvSpPr>
        <p:spPr>
          <a:xfrm>
            <a:off x="548640" y="3657600"/>
            <a:ext cx="8229600" cy="731520"/>
          </a:xfrm>
          <a:prstGeom prst="rect">
            <a:avLst/>
          </a:prstGeom>
          <a:noFill/>
          <a:ln/>
        </p:spPr>
        <p:txBody>
          <a:bodyPr wrap="square" lIns="0" tIns="0" rIns="0" bIns="0" rtlCol="0" anchor="ctr"/>
          <a:lstStyle/>
          <a:p>
            <a:pPr indent="0" marL="0">
              <a:buNone/>
            </a:pPr>
            <a:r>
              <a:rPr lang="en-US" sz="2000" dirty="0">
                <a:solidFill>
                  <a:srgbClr val="6FC5B8"/>
                </a:solidFill>
                <a:latin typeface="Calibri" pitchFamily="34" charset="0"/>
                <a:ea typeface="Calibri" pitchFamily="34" charset="-122"/>
                <a:cs typeface="Calibri" pitchFamily="34" charset="-120"/>
              </a:rPr>
              <a:t>Constraints · Row, Column and Expanded · Stack · Responsive · Lists and grids</a:t>
            </a:r>
            <a:endParaRPr lang="en-US" sz="2000" dirty="0"/>
          </a:p>
        </p:txBody>
      </p:sp>
      <p:sp>
        <p:nvSpPr>
          <p:cNvPr id="8" name="Text 6"/>
          <p:cNvSpPr txBox="1"/>
          <p:nvPr/>
        </p:nvSpPr>
        <p:spPr>
          <a:xfrm>
            <a:off x="548640" y="5760720"/>
            <a:ext cx="8229600" cy="457200"/>
          </a:xfrm>
          <a:prstGeom prst="rect">
            <a:avLst/>
          </a:prstGeom>
          <a:noFill/>
          <a:ln/>
        </p:spPr>
        <p:txBody>
          <a:bodyPr wrap="square" lIns="0" tIns="0" rIns="0" bIns="0" rtlCol="0" anchor="ctr"/>
          <a:lstStyle/>
          <a:p>
            <a:pPr indent="0" marL="0">
              <a:buNone/>
            </a:pPr>
            <a:r>
              <a:rPr lang="en-US" sz="1200" dirty="0">
                <a:solidFill>
                  <a:srgbClr val="AAB6C4"/>
                </a:solidFill>
                <a:latin typeface="Calibri" pitchFamily="34" charset="0"/>
                <a:ea typeface="Calibri" pitchFamily="34" charset="-122"/>
                <a:cs typeface="Calibri" pitchFamily="34" charset="-120"/>
              </a:rPr>
              <a:t>The day that decides whether you fight Flutter or use it  ·  Day 6 of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Day 6 agenda</a:t>
            </a:r>
            <a:endParaRPr lang="en-US" sz="3000" dirty="0"/>
          </a:p>
        </p:txBody>
      </p:sp>
      <p:sp>
        <p:nvSpPr>
          <p:cNvPr id="3" name="Shape 1"/>
          <p:cNvSpPr/>
          <p:nvPr/>
        </p:nvSpPr>
        <p:spPr>
          <a:xfrm>
            <a:off x="548640"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4" name="Shape 2"/>
          <p:cNvSpPr/>
          <p:nvPr/>
        </p:nvSpPr>
        <p:spPr>
          <a:xfrm>
            <a:off x="822960" y="1600200"/>
            <a:ext cx="548640" cy="548640"/>
          </a:xfrm>
          <a:prstGeom prst="ellipse">
            <a:avLst/>
          </a:prstGeom>
          <a:solidFill>
            <a:srgbClr val="2A9D8F"/>
          </a:solidFill>
          <a:ln w="12700">
            <a:solidFill>
              <a:srgbClr val="2A9D8F"/>
            </a:solidFill>
            <a:prstDash val="solid"/>
          </a:ln>
        </p:spPr>
      </p:sp>
      <p:sp>
        <p:nvSpPr>
          <p:cNvPr id="5"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508760"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09:00 - 10:30</a:t>
            </a:r>
            <a:endParaRPr lang="en-US" sz="1000" dirty="0"/>
          </a:p>
        </p:txBody>
      </p:sp>
      <p:sp>
        <p:nvSpPr>
          <p:cNvPr id="7" name="Text 5"/>
          <p:cNvSpPr txBox="1"/>
          <p:nvPr/>
        </p:nvSpPr>
        <p:spPr>
          <a:xfrm>
            <a:off x="1508760"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Constraints</a:t>
            </a:r>
            <a:endParaRPr lang="en-US" sz="1500" dirty="0"/>
          </a:p>
        </p:txBody>
      </p:sp>
      <p:sp>
        <p:nvSpPr>
          <p:cNvPr id="8" name="Text 6"/>
          <p:cNvSpPr txBox="1"/>
          <p:nvPr/>
        </p:nvSpPr>
        <p:spPr>
          <a:xfrm>
            <a:off x="822960"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homework debrief</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Constraints down, sizes up, parent positions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Tight, loose and unbounded</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diagnostic question</a:t>
            </a:r>
            <a:endParaRPr lang="en-US" sz="1200" dirty="0"/>
          </a:p>
        </p:txBody>
      </p:sp>
      <p:sp>
        <p:nvSpPr>
          <p:cNvPr id="9" name="Shape 7"/>
          <p:cNvSpPr/>
          <p:nvPr/>
        </p:nvSpPr>
        <p:spPr>
          <a:xfrm>
            <a:off x="3390138"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0" name="Shape 8"/>
          <p:cNvSpPr/>
          <p:nvPr/>
        </p:nvSpPr>
        <p:spPr>
          <a:xfrm>
            <a:off x="3664458" y="1600200"/>
            <a:ext cx="548640" cy="548640"/>
          </a:xfrm>
          <a:prstGeom prst="ellipse">
            <a:avLst/>
          </a:prstGeom>
          <a:solidFill>
            <a:srgbClr val="2A9D8F"/>
          </a:solidFill>
          <a:ln w="12700">
            <a:solidFill>
              <a:srgbClr val="2A9D8F"/>
            </a:solidFill>
            <a:prstDash val="solid"/>
          </a:ln>
        </p:spPr>
      </p:sp>
      <p:sp>
        <p:nvSpPr>
          <p:cNvPr id="11" name="Text 9"/>
          <p:cNvSpPr txBox="1"/>
          <p:nvPr/>
        </p:nvSpPr>
        <p:spPr>
          <a:xfrm>
            <a:off x="3664458"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350258"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10:45 - 12:30</a:t>
            </a:r>
            <a:endParaRPr lang="en-US" sz="1000" dirty="0"/>
          </a:p>
        </p:txBody>
      </p:sp>
      <p:sp>
        <p:nvSpPr>
          <p:cNvPr id="13" name="Text 11"/>
          <p:cNvSpPr txBox="1"/>
          <p:nvPr/>
        </p:nvSpPr>
        <p:spPr>
          <a:xfrm>
            <a:off x="4350258"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Row, Column, Expanded</a:t>
            </a:r>
            <a:endParaRPr lang="en-US" sz="1500" dirty="0"/>
          </a:p>
        </p:txBody>
      </p:sp>
      <p:sp>
        <p:nvSpPr>
          <p:cNvPr id="14" name="Text 12"/>
          <p:cNvSpPr txBox="1"/>
          <p:nvPr/>
        </p:nvSpPr>
        <p:spPr>
          <a:xfrm>
            <a:off x="3664458"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Main axis and cross axis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Expanded, Flexible, Spacer</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The four errors you will meet</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6.1 - build it, break it, fix it</a:t>
            </a:r>
            <a:endParaRPr lang="en-US" sz="1200" dirty="0"/>
          </a:p>
        </p:txBody>
      </p:sp>
      <p:sp>
        <p:nvSpPr>
          <p:cNvPr id="15" name="Shape 13"/>
          <p:cNvSpPr/>
          <p:nvPr/>
        </p:nvSpPr>
        <p:spPr>
          <a:xfrm>
            <a:off x="6231636"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16" name="Shape 14"/>
          <p:cNvSpPr/>
          <p:nvPr/>
        </p:nvSpPr>
        <p:spPr>
          <a:xfrm>
            <a:off x="6505956" y="1600200"/>
            <a:ext cx="548640" cy="548640"/>
          </a:xfrm>
          <a:prstGeom prst="ellipse">
            <a:avLst/>
          </a:prstGeom>
          <a:solidFill>
            <a:srgbClr val="2A9D8F"/>
          </a:solidFill>
          <a:ln w="12700">
            <a:solidFill>
              <a:srgbClr val="2A9D8F"/>
            </a:solidFill>
            <a:prstDash val="solid"/>
          </a:ln>
        </p:spPr>
      </p:sp>
      <p:sp>
        <p:nvSpPr>
          <p:cNvPr id="17" name="Text 15"/>
          <p:cNvSpPr txBox="1"/>
          <p:nvPr/>
        </p:nvSpPr>
        <p:spPr>
          <a:xfrm>
            <a:off x="6505956"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191756"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13:15 - 14:45</a:t>
            </a:r>
            <a:endParaRPr lang="en-US" sz="1000" dirty="0"/>
          </a:p>
        </p:txBody>
      </p:sp>
      <p:sp>
        <p:nvSpPr>
          <p:cNvPr id="19" name="Text 17"/>
          <p:cNvSpPr txBox="1"/>
          <p:nvPr/>
        </p:nvSpPr>
        <p:spPr>
          <a:xfrm>
            <a:off x="7191756"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Stack and responsive</a:t>
            </a:r>
            <a:endParaRPr lang="en-US" sz="1500" dirty="0"/>
          </a:p>
        </p:txBody>
      </p:sp>
      <p:sp>
        <p:nvSpPr>
          <p:cNvPr id="20" name="Text 18"/>
          <p:cNvSpPr txBox="1"/>
          <p:nvPr/>
        </p:nvSpPr>
        <p:spPr>
          <a:xfrm>
            <a:off x="6505956"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Stack and Positioned</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MediaQuery and LayoutBuilder</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SafeArea and text scaling</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6.2 - a banner and a responsive shell</a:t>
            </a:r>
            <a:endParaRPr lang="en-US" sz="1200" dirty="0"/>
          </a:p>
        </p:txBody>
      </p:sp>
      <p:sp>
        <p:nvSpPr>
          <p:cNvPr id="21" name="Shape 19"/>
          <p:cNvSpPr/>
          <p:nvPr/>
        </p:nvSpPr>
        <p:spPr>
          <a:xfrm>
            <a:off x="9073134" y="1371600"/>
            <a:ext cx="2567178" cy="4663440"/>
          </a:xfrm>
          <a:prstGeom prst="roundRect">
            <a:avLst>
              <a:gd name="adj" fmla="val 3562"/>
            </a:avLst>
          </a:prstGeom>
          <a:solidFill>
            <a:srgbClr val="F2F5F6"/>
          </a:solidFill>
          <a:ln w="6350">
            <a:solidFill>
              <a:srgbClr val="F2F5F6"/>
            </a:solidFill>
            <a:prstDash val="solid"/>
          </a:ln>
          <a:effectLst>
            <a:outerShdw sx="100000" sy="100000" kx="0" ky="0" algn="bl" rotWithShape="0" blurRad="38100" dist="12700" dir="5400000">
              <a:srgbClr val="000000">
                <a:alpha val="8000"/>
              </a:srgbClr>
            </a:outerShdw>
          </a:effectLst>
        </p:spPr>
      </p:sp>
      <p:sp>
        <p:nvSpPr>
          <p:cNvPr id="22" name="Shape 20"/>
          <p:cNvSpPr/>
          <p:nvPr/>
        </p:nvSpPr>
        <p:spPr>
          <a:xfrm>
            <a:off x="9347454" y="1600200"/>
            <a:ext cx="548640" cy="548640"/>
          </a:xfrm>
          <a:prstGeom prst="ellipse">
            <a:avLst/>
          </a:prstGeom>
          <a:solidFill>
            <a:srgbClr val="2A9D8F"/>
          </a:solidFill>
          <a:ln w="12700">
            <a:solidFill>
              <a:srgbClr val="2A9D8F"/>
            </a:solidFill>
            <a:prstDash val="solid"/>
          </a:ln>
        </p:spPr>
      </p:sp>
      <p:sp>
        <p:nvSpPr>
          <p:cNvPr id="23" name="Text 21"/>
          <p:cNvSpPr txBox="1"/>
          <p:nvPr/>
        </p:nvSpPr>
        <p:spPr>
          <a:xfrm>
            <a:off x="9347454" y="1600200"/>
            <a:ext cx="548640" cy="548640"/>
          </a:xfrm>
          <a:prstGeom prst="rect">
            <a:avLst/>
          </a:prstGeom>
          <a:noFill/>
          <a:ln/>
        </p:spPr>
        <p:txBody>
          <a:bodyPr wrap="square" lIns="0" tIns="0" rIns="0" bIns="0" rtlCol="0" anchor="ctr"/>
          <a:lstStyle/>
          <a:p>
            <a:pPr algn="ctr" indent="0" marL="0">
              <a:buNone/>
            </a:pPr>
            <a:r>
              <a:rPr lang="en-US" sz="1600" b="1" dirty="0">
                <a:solidFill>
                  <a:srgbClr val="2E3440"/>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0033254" y="1645920"/>
            <a:ext cx="1378458" cy="274320"/>
          </a:xfrm>
          <a:prstGeom prst="rect">
            <a:avLst/>
          </a:prstGeom>
          <a:noFill/>
          <a:ln/>
        </p:spPr>
        <p:txBody>
          <a:bodyPr wrap="square" lIns="0" tIns="0" rIns="0" bIns="0" rtlCol="0" anchor="ctr"/>
          <a:lstStyle/>
          <a:p>
            <a:pPr indent="0" marL="0">
              <a:buNone/>
            </a:pPr>
            <a:r>
              <a:rPr lang="en-US" sz="1000" dirty="0">
                <a:solidFill>
                  <a:srgbClr val="646E7A"/>
                </a:solidFill>
                <a:latin typeface="Calibri" pitchFamily="34" charset="0"/>
                <a:ea typeface="Calibri" pitchFamily="34" charset="-122"/>
                <a:cs typeface="Calibri" pitchFamily="34" charset="-120"/>
              </a:rPr>
              <a:t>15:00 - 16:00</a:t>
            </a:r>
            <a:endParaRPr lang="en-US" sz="1000" dirty="0"/>
          </a:p>
        </p:txBody>
      </p:sp>
      <p:sp>
        <p:nvSpPr>
          <p:cNvPr id="25" name="Text 23"/>
          <p:cNvSpPr txBox="1"/>
          <p:nvPr/>
        </p:nvSpPr>
        <p:spPr>
          <a:xfrm>
            <a:off x="10033254" y="1874520"/>
            <a:ext cx="1378458" cy="548640"/>
          </a:xfrm>
          <a:prstGeom prst="rect">
            <a:avLst/>
          </a:prstGeom>
          <a:noFill/>
          <a:ln/>
        </p:spPr>
        <p:txBody>
          <a:bodyPr wrap="square" lIns="0" tIns="0" rIns="0" bIns="0" rtlCol="0" anchor="t"/>
          <a:lstStyle/>
          <a:p>
            <a:pPr indent="0" marL="0">
              <a:buNone/>
            </a:pPr>
            <a:r>
              <a:rPr lang="en-US" sz="1500" b="1" dirty="0">
                <a:solidFill>
                  <a:srgbClr val="2E3440"/>
                </a:solidFill>
                <a:latin typeface="Calibri" pitchFamily="34" charset="0"/>
                <a:ea typeface="Calibri" pitchFamily="34" charset="-122"/>
                <a:cs typeface="Calibri" pitchFamily="34" charset="-120"/>
              </a:rPr>
              <a:t>Lists and grids</a:t>
            </a:r>
            <a:endParaRPr lang="en-US" sz="1500" dirty="0"/>
          </a:p>
        </p:txBody>
      </p:sp>
      <p:sp>
        <p:nvSpPr>
          <p:cNvPr id="26" name="Text 24"/>
          <p:cNvSpPr txBox="1"/>
          <p:nvPr/>
        </p:nvSpPr>
        <p:spPr>
          <a:xfrm>
            <a:off x="9347454" y="2560320"/>
            <a:ext cx="2018538" cy="3291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ListView and ListView.builder</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Swipe to delete, pull to refresh</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GridView that reflows</a:t>
            </a:r>
            <a:endParaRPr lang="en-US" sz="1200" dirty="0"/>
          </a:p>
          <a:p>
            <a:pPr marL="177800" indent="-177800">
              <a:spcAft>
                <a:spcPts val="500"/>
              </a:spcAft>
              <a:buSzPct val="100000"/>
              <a:buChar char="•"/>
            </a:pPr>
            <a:r>
              <a:rPr lang="en-US" sz="1200" dirty="0">
                <a:solidFill>
                  <a:srgbClr val="22272E"/>
                </a:solidFill>
                <a:latin typeface="Calibri" pitchFamily="34" charset="0"/>
                <a:ea typeface="Calibri" pitchFamily="34" charset="-122"/>
                <a:cs typeface="Calibri" pitchFamily="34" charset="-120"/>
              </a:rPr>
              <a:t>Lab 6.3 - a list that scrolls</a:t>
            </a:r>
            <a:endParaRPr lang="en-US" sz="1200" dirty="0"/>
          </a:p>
        </p:txBody>
      </p:sp>
      <p:sp>
        <p:nvSpPr>
          <p:cNvPr id="27" name="Text 2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28" name="Text 2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1  ·  09:20 - 10:30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Constraints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State the layout rule in one sentence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Tell tight, loose and unbounded constraints apart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Predict what a widget will do given its parent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Ask the diagnostic question when a layout goes wrong</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rule, in three sentences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whole layout system</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WHOLE LAYOUT SYSTEM, IN THREE SENTENCES.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1. Constraints go DOWN.    A parent tells its child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"you may be this wide and this tall"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2. Sizes go UP.            The child picks a size inside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that range and reports it back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3. The parent sets the position.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There are only three kinds of constraint.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TIGHT: minimum equals maximum. You get exactly this size.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const SizedBox(width: 100, height: 40, child: ColoredBox(color: Colors.teal))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LOOSE: minimum is zero, maximum is something real.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"Be whatever you like, up to this."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const Center(child: Text('OrderFlow'))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UNBOUNDED: maximum is infinity. "Be as big as you like."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Nothing can be as big as infinity, so a widget that wants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 fill its parent has no answer and fails.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ListView, SingleChildScrollView, and the MAIN AXIS of</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Row and Column all hand out unbounded constraints.</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Constraints go down. Sizes go up. The parent sets the position. Every layout error you will ever see is a violation of one of these three.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One widget, three parents, three results</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run all three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SAME WIDGET. THREE PARENTS. THREE RESULTS.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1. Inside Center: loose but BOUNDED, so "as big as allowed"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means the whole screen. The box fills 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Center(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Container(color: Colors.teal),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2. Inside a Column: the vertical axis is UNBOUNDED, so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"as big as allowed" has no answer and it collapses to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zero height. The box disappears entirely.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Column(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Container(color: Colors.teal),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3. Given a size: TIGHT constraints. Exactly 100 by 40,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anywhere in the tree.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const SizedBox(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width: 100,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height: 40,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ColoredBox(color: Colors.teal),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DIAGNOSTIC QUESTION, and it answers almost every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layout problem you will ever have: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WHO GAVE THIS WIDGET ITS CONSTRAINTS, AND WHAT WERE THEY?</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same Container fills the screen, disappears entirely, or is exactly 100 by 40, depending only on who its parent is.</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Reading a layout error</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what the console actually tells you</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Flutter layout error looks alarming and is unusually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informative. Read the FIRST LINE and the RELEVANT WIDGET.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Exception caught by rendering library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RenderFlex overflowed by 42 pixels on the right.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relevant error-causing widget was: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Row  Row:file:///.../line_tile.dart:24:18</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specific RenderFlex in question 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RenderFlex#a1b2c relayoutBoundary=up3 OVERFLOWING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THREE THINGS IT TELLS YOU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WHAT:  a RenderFlex, which means a Row or a Column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WHICH AXIS: "on the right" means horizontal, so a Row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WHERE: the file and line number of the widget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THEN ASK THE DIAGNOSTIC QUESTION: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who gave that widget its constraints, and what were they?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In debug, an overflow also paints yellow and black stripes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 the device so you can see it without reading anything.</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Flutter errors are long and unusually informative. The first line says what and which axis, and the relevant widget section says exactly where.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2  ·  10:45 - 12:30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Row, Column and Expanded</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main axis and cross axis alignment correctly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Choose between Expanded, Flexible, Spacer and SizedBox</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Recognise the four layout errors on sight and fix each one</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Read the DevTools Layout Explorer</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Main axis, cross axis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two widgets you use most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Column(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MAIN AXIS for a Column is vertical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mainAxisAlignment: MainAxisAlignment.start,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CROSS AXIS is the other one, so horizontal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crossAxisAlignment: CrossAxisAlignment.stretch,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max fills the parent (default), min shrink-wraps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mainAxisSize: MainAxisSize.max,</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children: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children: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Icon(Icons.inventory_2_outlined),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SizedBox(width: 8),</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Expanded takes ALL the leftover width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Expanded(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 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very long product description',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overflow: TextOverflow.ellipsis,</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Main axis, cross axis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two widgets you use most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Text('R 10 000.00',</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style: Theme.of(context).textTheme.titleMedium),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SizedBox(height: 12),</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Row(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children: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 flex splits the leftover space in a ratio</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Expanded(flex: 2, child: FilledButton(onPressed: () {}, child: const Text('Submit'))),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SizedBox(width: 8),</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Expanded(flex: 1, child: OutlinedButton(onPressed: () {}, child: const Text('Reset'))),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 Row lays out horizontally, a Column vertically. The main axis is the direction it lays out; the cross axis is the other one.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Expanded, Flexible, Spacer, SizedBox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dividing up the space</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EXPANDED: the child MUST take exactly its share of the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leftover space. It is forced to that size.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Expanded(child: Text('fills the rest'))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FLEXIBLE: the child MAY take UP TO its share. If it wants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less, it gets less.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Flexible(child: Text('takes what it needs, up to its share'))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SPACER: a flexible empty gap. Expanded with nothing in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Row(children: [Text('left'), Spacer(), Text('right')])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SIZEDBOX: a fixed gap. Prefer this over Padding for spacing.</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const SizedBox(width: 8)</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const SizedBox(height: 16)</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Expanded, Flexible, Spacer, SizedBox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dividing up the space</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MAINAXISALIGNMENT: how the free space is distributed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start  end  center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spaceBetween   first and last at the edges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spaceAround    equal space around each child</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spaceEvenly    equal space between and at the edges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CROSSAXISALIGNMENT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start  end  center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stretch    children fill the cross axis. This is how you</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make buttons full width in a Column.</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baseline   align text baselines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 ONE THAT CATCHES EVERYBODY: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Row gives its children UNBOUNDED width unless you wrap</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them in Expanded or Flexible. That is why long 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overflows instead of wrapping.</a:t>
            </a:r>
            <a:endParaRPr lang="en-US" sz="11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Expanded forces the child to take its share. Flexible lets it take up to its share. Spacer is an empty Expanded, and SizedBox is a fixed gap.</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four errors you will meet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break each one, then fix it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 "A RenderFlex overflowed by 42 pixels on the right"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Row(children: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Text('A very long product description that will not fit'),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WHY: the Row gave the Text unbounded width, so the Text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asked for all the width it needed, which was too much.</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FIX: bound 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Row(children: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Expanded(child: Text('A very long...', overflow: TextOverflow.ellipsis)),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The four errors you will meet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break each one, then fix it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2) "Vertical viewport was given unbounded height"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Column(children: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ListView(children: const [Text('a')]),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WHY: the Column's main axis is unbounded, and a ListView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needs a bound to know how much to show.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FIX: give it 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Column(children: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Expanded(child: ListView(children: const [Text('a')])),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Or, for a SHORT list only: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ListView(shrinkWrap: true, physics: NeverScrollableScrollPhysics())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3) "Incorrect use of ParentDataWidget"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Container(child: Expanded(child: Text('x')))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WHY: Expanded only means something inside a Flex.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FIX: put it directly inside a Row or Column.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Column(children: [Expanded(child: Text('x'))])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4) "BoxConstraints forces an infinite width"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Row(children: [TextField()])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WHY: TextField wants to fill the width; the Row offers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infinity.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FIX:</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Row(children: [Expanded(child: TextField())])</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Almost every layout error in Flutter is one of these four. Learn to recognise the message and the fix is mechanical.</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6.1</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Build it, break it, fix it</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40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properly laid out LineTile using Row, Expanded and Column together, a two-thirds and one-third button row, and two errors caused deliberately and fixed.</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Rework LineTile: an Icon, a gap, then the description and sku stacked vertically in an Expanded, then the line total on the right.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Make the description ellipsis when too long, and test it with a deliberately long description.</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Under the subtotal, add a button Row with Submit at flex two and Reset at flex one.</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Use CrossAxisAlignment.stretch somewhere and say out loud what changed.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BREAK IT: remove the Expanded from step 1. Read the error. Write down which widget it names and which axis.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Put it back.</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BREAK IT AGAIN: put a ListView directly inside your Column. Read that error. Fix it with Expanded.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Open DevTools, Layout Explorer, select your Row, and look at the flex factors.</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Use Spacer instead of Expanded on the totals row and decide which reads better.</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Replace Expanded with Flexible on the description and describe the difference you see.</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Make the button row stack vertically when the screen is narrow, without using LayoutBuilder yet.</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3  ·  13:15 - 14:45</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Stack and responsive layouts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Layer widgets with Stack and Positioned</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Tell MediaQuery and LayoutBuilder apart, and know which you want</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Use SafeArea correctly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Handle rotation and text scaling</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Stack and Positioned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layering things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Stack(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children are painted in order; later ones sit on top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clipBehavior: Clip.none,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non-positioned child. The Stack sizes itself to fit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Container(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height: 140,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decoration: BoxDecoration(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color: Theme.of(context).colorScheme.primaryContainer,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borderRadius: BorderRadius.circular(16),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Positioned relative to the Stack's edges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Positioned(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left: 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top: 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Text('ORD-1042',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style: Theme.of(context).textTheme.titleLarge),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Stack and Positioned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layering things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A negative offset hangs off the edge. Needs Clip.none.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Positioned(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right: 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bottom: -14,</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Chip(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label: const Text('Draft'),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backgroundColor: Theme.of(context).colorScheme.surface,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Covers the whole Stack: overlays, scrims, tap targets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Positioned.fill(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Align(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alignment: Alignment.center,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Icon(Icons.inventory_2, size: 56, color: Colors.white24),</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Stack whose children are ALL Positioned has no size of</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its own. Give it a sized child, or use fit: StackFit.expand.</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Children are painted in order, so later ones sit on top. Positioned places a child relative to the Stack edges, and negative offsets need Clip.none.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MediaQuery, LayoutBuilder, SafeArea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making it fit any screen</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1. THE SCREEN. Use sizeOf, not of, so you only rebuild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when the size actually changes.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size = MediaQuery.sizeOf(context);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isWide = size.width &gt;= 600;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2. YOUR SLOT. This is usually what you actually want,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because inside a Row or a dialog the screen size 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wrong number.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LayoutBuilder(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builder: (context, constraints)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(constraints.maxWidth &gt;= 700)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Row(children: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SizedBox(width: 280, child: summary),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Expanded(child: lines),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Column(children: [summary, Expanded(child: lines)]);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MediaQuery, LayoutBuilder, SafeArea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making it fit any screen</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3. ORIENTATION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OrientationBuilder(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builder: (context, o) =&gt;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 == Orientation.portrait ? portraitLayout : landscapeLayout,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4. THE NOTCH, THE STATUS BAR, THE GESTURE BAR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SafeArea goes INSIDE the Scaffold body, not around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Scaffold.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SafeArea(child: body)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5. TEXT SCALING. Users set 130 per cent fonts and you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must not fix a height around 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final scaler = MediaQuery.textScalerOf(context);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MATERIAL BREAKPOINTS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compact   under 600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medium    600 to 840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expanded  840 and up</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MediaQuery gives you the screen. LayoutBuilder gives you your slot. Inside a Row, a dialog or a split view, the screen size is the wrong number.</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6.2</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A banner and a responsive shell</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A Stack-based order banner with an overhanging chip, and a screen that switches from one column to two above 700 pixels.</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Create OrderBanner: a rounded Container 140 high, the order id positioned top left, a status Chip bottom right with a negative offset, and a large faded icon behind.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Remember clipBehavior: Clip.none, or the chip will be cut off.</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Wrap your screen body in SafeArea, inside the Scaffold, not around it.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Wrap the body in a LayoutBuilder.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Below 700 pixels keep the vertical layout. At 700 and above, put the banner in a fixed 280 wide column on the left and the lines in an Expanded on the right.</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Rotate the emulator to landscape and confirm it switches. In Chrome, resize the window.</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Print MediaQuery.sizeOf width and the LayoutBuilder maxWidth to the console, and explain the difference to your neighbour.</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Positioned.fill scrim over the banner that appears while loading.</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Use Wrap instead of Row for a set of status chips and narrow the window until they reflow.</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Make the banner collapse to a single line when the height is under 500, which is a phone in landscape.</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1097280"/>
            <a:ext cx="5486400" cy="457200"/>
          </a:xfrm>
          <a:prstGeom prst="rect">
            <a:avLst/>
          </a:prstGeom>
          <a:noFill/>
          <a:ln/>
        </p:spPr>
        <p:txBody>
          <a:bodyPr wrap="square" lIns="0" tIns="0" rIns="0" bIns="0" rtlCol="0" anchor="ctr"/>
          <a:lstStyle/>
          <a:p>
            <a:pPr indent="0" marL="0">
              <a:buNone/>
            </a:pPr>
            <a:r>
              <a:rPr lang="en-US" sz="1400" spc="300" kern="0" dirty="0">
                <a:solidFill>
                  <a:srgbClr val="6FC5B8"/>
                </a:solidFill>
                <a:latin typeface="Calibri" pitchFamily="34" charset="0"/>
                <a:ea typeface="Calibri" pitchFamily="34" charset="-122"/>
                <a:cs typeface="Calibri" pitchFamily="34" charset="-120"/>
              </a:rPr>
              <a:t>MODULE 4  ·  15:00 - 16:00</a:t>
            </a:r>
            <a:endParaRPr lang="en-US" sz="1400" dirty="0"/>
          </a:p>
        </p:txBody>
      </p:sp>
      <p:sp>
        <p:nvSpPr>
          <p:cNvPr id="4" name="Text 2"/>
          <p:cNvSpPr txBox="1"/>
          <p:nvPr/>
        </p:nvSpPr>
        <p:spPr>
          <a:xfrm>
            <a:off x="548640" y="1554480"/>
            <a:ext cx="6400800" cy="16459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Lists and grids</a:t>
            </a:r>
            <a:endParaRPr lang="en-US" sz="4000" dirty="0"/>
          </a:p>
        </p:txBody>
      </p:sp>
      <p:sp>
        <p:nvSpPr>
          <p:cNvPr id="5" name="Shape 3"/>
          <p:cNvSpPr/>
          <p:nvPr/>
        </p:nvSpPr>
        <p:spPr>
          <a:xfrm>
            <a:off x="6949440" y="1188720"/>
            <a:ext cx="4663440" cy="4389120"/>
          </a:xfrm>
          <a:prstGeom prst="roundRect">
            <a:avLst>
              <a:gd name="adj" fmla="val 2083"/>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223760" y="1371600"/>
            <a:ext cx="420624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By the end of this module you can</a:t>
            </a:r>
            <a:endParaRPr lang="en-US" sz="1100" dirty="0"/>
          </a:p>
        </p:txBody>
      </p:sp>
      <p:sp>
        <p:nvSpPr>
          <p:cNvPr id="7" name="Text 5"/>
          <p:cNvSpPr txBox="1"/>
          <p:nvPr/>
        </p:nvSpPr>
        <p:spPr>
          <a:xfrm>
            <a:off x="7223760" y="1783080"/>
            <a:ext cx="4206240" cy="3657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Choose between ListView, ListView.builder and SingleChildScrollView</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Build a lazy list from data and key it correctly</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Add swipe to delete and pull to refresh</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Build a grid that reflows without breakpoint code</a:t>
            </a:r>
            <a:endParaRPr lang="en-US" sz="14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ListView, and why a Column does not scroll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three constructors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Column does NOT scroll. For anything that might not fit,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or that is data-driven, use a ListView.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1. Everything built up front. Fine for a handful of items.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ListView(</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padding: const EdgeInsets.all(16),</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children: const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ListTile(title: Text('ORD-1042')),</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ListTile(title: Text('ORD-1043')),</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ListView, and why a Column does not scroll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three constructors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2. Lazy. Only builds the rows that are visible.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Use this for anything from a list of data.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ListView.builder(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padding: const EdgeInsets.all(16),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itemCount: order.lines.length,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itemBuilder: (context, index)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line = order.lines[index];</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LineTile(key: ValueKey(line.sku), line: 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3. Lazy, with a separator between rows.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ListView.separated(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itemCount: order.lines.length,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separatorBuilder: (context, index) =&gt; const SizedBox(height: 8),</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itemBuilder: (context, index) =&gt; LineTile(line: order.lines[index]),</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EMPTY STATE IS NOT OPTIONAL.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if (order.lines.isEmpty)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const EmptyState(message: 'No lines yet');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ListView builds everything up front. ListView.builder builds only what is visible. For anything data-driven, use the builder.</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Swipe to delete, pull to refresh, scroll control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three things every list eventually needs</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SWIPE TO DELETE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Dismissible(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key: ValueKey(line.sku),              // MUST be unique per item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direction: DismissDirection.endToStart,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background: Container(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alignment: Alignment.centerRight,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padding: const EdgeInsets.only(right: 16),</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color: Theme.of(context).colorScheme.error,</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 const Icon(Icons.delete, color: Colors.white),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onDismissed: (_) =&gt; _remove(line),    // MUST remove from the list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child: LineTile(line: line),</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If you do not remove the item in onDismissed, Flutter throws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 dismissed Dismissible widget is still part of the tree".</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Swipe to delete, pull to refresh, scroll control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three things every list eventually needs</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PULL TO REFRESH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RefreshIndicator(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onRefresh: () async =&gt; _reload(),     // must return a Future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ListView.builder(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physics: const AlwaysScrollableScrollPhysics(),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itemCount: lines.length,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itemBuilder: (c, i) =&gt; LineTile(line: lines[i]),</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SCROLLING PROGRAMMATICALLY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final _scroll = ScrollController();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void dispose()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_scroll.dispose();                    // always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super.dispose();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_scroll.animateTo(</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duration: const Duration(milliseconds: 300),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curve: Curves.easeOut,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Dismissible needs a unique key and you must remove the item in onDismissed. RefreshIndicator needs a Future. ScrollControllers must be disposed.</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GridView that reflows on its own  (1/2)</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 product grid</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GridView.builder(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padding: const EdgeInsets.all(16),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gridDelegate: const SliverGridDelegateWithMaxCrossAxisExtent(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maxCrossAxisExtent: 220,     // as many 220px columns as fit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mainAxisSpacing: 12,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crossAxisSpacing: 12,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childAspectRatio: 1.1,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itemCount: products.length,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itemBuilder: (context, index)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p = products[index];</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Card(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InkWell(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onTap: () =&gt; _select(p),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Padding(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padding: const EdgeInsets.all(12),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Column(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crossAxisAlignment: CrossAxisAlignment.start,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GridView that reflows on its own  (2/2)</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a product grid</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Icon(Icons.inventory_2_outlined),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Spacer(),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Text(p.name,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style: Theme.of(context).textTheme.titleMedium),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Text(p.unitPrice.rands),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MaxCrossAxisExtent means "as many columns of at most this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width as will fit". A phone gets one or two, a tablet gets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three or four, and you write no breakpoint code at all.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alternative, SliverGridDelegateWithFixedCrossAxisCount,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pins the number of columns.</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maxCrossAxisExtent means "as many columns of at most this width as will fit". A phone gets one or two, a tablet three or four, and you write no breakpoint code.</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Which scrolling widget</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choosing</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SingleChildScrollView: ONE child, usually a Column, and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builds everything. Use it for a FORM or a settings page.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SingleChildScrollView(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Column(children: [/* a known, modest number of things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ListView.builder: lazy, virtualised. Use it for DATA, 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for anything where you do not know how many rows there are.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ListView.builder(itemCount: n, itemBuilder: (c, i) =&gt; Row$i)</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COLUMN INSIDE A SINGLECHILDSCROLLVIEW gets unbounded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height, so Expanded inside it will fail. That is expected.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NESTED SCROLLING: a ListView inside a Column needs a bound.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Column(children: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header,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Expanded(child: ListView.builder(...)),    // the usual fix</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shrinkWrap: true makes a ListView measure ALL its children,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which is O(n) and defeats the point. Use it only for 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handful of rows, never for a long list.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SingleChildScrollView for a form or a settings page. ListView.builder for data. A ListView inside a Column needs a bound, and that is almost always Expanded.</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88720" cy="457200"/>
          </a:xfrm>
          <a:prstGeom prst="roundRect">
            <a:avLst>
              <a:gd name="adj" fmla="val 20000"/>
            </a:avLst>
          </a:prstGeom>
          <a:solidFill>
            <a:srgbClr val="2A9D8F"/>
          </a:solidFill>
          <a:ln w="12700">
            <a:solidFill>
              <a:srgbClr val="2A9D8F"/>
            </a:solidFill>
            <a:prstDash val="solid"/>
          </a:ln>
        </p:spPr>
      </p:sp>
      <p:sp>
        <p:nvSpPr>
          <p:cNvPr id="3" name="Text 1"/>
          <p:cNvSpPr txBox="1"/>
          <p:nvPr/>
        </p:nvSpPr>
        <p:spPr>
          <a:xfrm>
            <a:off x="548640" y="411480"/>
            <a:ext cx="1188720" cy="457200"/>
          </a:xfrm>
          <a:prstGeom prst="rect">
            <a:avLst/>
          </a:prstGeom>
          <a:noFill/>
          <a:ln/>
        </p:spPr>
        <p:txBody>
          <a:bodyPr wrap="square" lIns="0" tIns="0" rIns="0" bIns="0" rtlCol="0" anchor="ctr"/>
          <a:lstStyle/>
          <a:p>
            <a:pPr algn="ctr" indent="0" marL="0">
              <a:buNone/>
            </a:pPr>
            <a:r>
              <a:rPr lang="en-US" sz="1400" b="1" dirty="0">
                <a:solidFill>
                  <a:srgbClr val="2E3440"/>
                </a:solidFill>
                <a:latin typeface="Calibri" pitchFamily="34" charset="0"/>
                <a:ea typeface="Calibri" pitchFamily="34" charset="-122"/>
                <a:cs typeface="Calibri" pitchFamily="34" charset="-120"/>
              </a:rPr>
              <a:t>LAB 6.3</a:t>
            </a:r>
            <a:endParaRPr lang="en-US" sz="1400" dirty="0"/>
          </a:p>
        </p:txBody>
      </p:sp>
      <p:sp>
        <p:nvSpPr>
          <p:cNvPr id="4" name="Text 2"/>
          <p:cNvSpPr txBox="1"/>
          <p:nvPr/>
        </p:nvSpPr>
        <p:spPr>
          <a:xfrm>
            <a:off x="1920240" y="365760"/>
            <a:ext cx="8165592" cy="548640"/>
          </a:xfrm>
          <a:prstGeom prst="rect">
            <a:avLst/>
          </a:prstGeom>
          <a:noFill/>
          <a:ln/>
        </p:spPr>
        <p:txBody>
          <a:bodyPr wrap="square" lIns="0" tIns="0" rIns="0" bIns="0" rtlCol="0" anchor="ctr"/>
          <a:lstStyle/>
          <a:p>
            <a:pPr indent="0" marL="0">
              <a:buNone/>
            </a:pPr>
            <a:r>
              <a:rPr lang="en-US" sz="2600" b="1" dirty="0">
                <a:solidFill>
                  <a:srgbClr val="2E3440"/>
                </a:solidFill>
                <a:latin typeface="Calibri" pitchFamily="34" charset="0"/>
                <a:ea typeface="Calibri" pitchFamily="34" charset="-122"/>
                <a:cs typeface="Calibri" pitchFamily="34" charset="-120"/>
              </a:rPr>
              <a:t>A list that scrolls, deletes and refreshes</a:t>
            </a:r>
            <a:endParaRPr lang="en-US" sz="2600" dirty="0"/>
          </a:p>
        </p:txBody>
      </p:sp>
      <p:sp>
        <p:nvSpPr>
          <p:cNvPr id="5" name="Text 3"/>
          <p:cNvSpPr txBox="1"/>
          <p:nvPr/>
        </p:nvSpPr>
        <p:spPr>
          <a:xfrm>
            <a:off x="10177272" y="411480"/>
            <a:ext cx="1463040" cy="457200"/>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35 min</a:t>
            </a:r>
            <a:endParaRPr lang="en-US" sz="1200" dirty="0"/>
          </a:p>
        </p:txBody>
      </p:sp>
      <p:sp>
        <p:nvSpPr>
          <p:cNvPr id="6" name="Text 4"/>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400" b="1" dirty="0">
                <a:solidFill>
                  <a:srgbClr val="2E3440"/>
                </a:solidFill>
                <a:latin typeface="Calibri" pitchFamily="34" charset="0"/>
                <a:ea typeface="Calibri" pitchFamily="34" charset="-122"/>
                <a:cs typeface="Calibri" pitchFamily="34" charset="-120"/>
              </a:rPr>
              <a:t>Goal  </a:t>
            </a:r>
            <a:pPr indent="0" marL="0">
              <a:buNone/>
            </a:pPr>
            <a:r>
              <a:rPr lang="en-US" sz="1400" dirty="0">
                <a:solidFill>
                  <a:srgbClr val="22272E"/>
                </a:solidFill>
                <a:latin typeface="Calibri" pitchFamily="34" charset="0"/>
                <a:ea typeface="Calibri" pitchFamily="34" charset="-122"/>
                <a:cs typeface="Calibri" pitchFamily="34" charset="-120"/>
              </a:rPr>
              <a:t>The order lines in a lazy, separated ListView with swipe to delete, pull to refresh, and a real empty state.</a:t>
            </a:r>
            <a:endParaRPr lang="en-US" sz="1400" dirty="0"/>
          </a:p>
        </p:txBody>
      </p:sp>
      <p:sp>
        <p:nvSpPr>
          <p:cNvPr id="7" name="Text 5"/>
          <p:cNvSpPr txBox="1"/>
          <p:nvPr/>
        </p:nvSpPr>
        <p:spPr>
          <a:xfrm>
            <a:off x="548640" y="1691640"/>
            <a:ext cx="7098670" cy="4389120"/>
          </a:xfrm>
          <a:prstGeom prst="rect">
            <a:avLst/>
          </a:prstGeom>
          <a:noFill/>
          <a:ln/>
        </p:spPr>
        <p:txBody>
          <a:bodyPr wrap="square" lIns="0" tIns="0" rIns="0" bIns="0" rtlCol="0" anchor="t"/>
          <a:lstStyle/>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Replace the for loop of LineTiles with a ListView.builder, keyed by sku.</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Add enough lines that the list definitely overflows the screen, and confirm it scrolls.</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Switch to ListView.separated with an 8 pixel gap.</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Move the lines into a mutable List in your State, and wrap each LineTile in a Dismissible that removes it and shows a SnackBar.</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Wrap the list in a RefreshIndicator whose onRefresh restores the original lines after one second.</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Handle the empty case, so deleting every line shows your EmptyState instead of a blank area.</a:t>
            </a:r>
            <a:endParaRPr lang="en-US" sz="1300" dirty="0"/>
          </a:p>
          <a:p>
            <a:pPr marL="279400" indent="-279400">
              <a:spcAft>
                <a:spcPts val="700"/>
              </a:spcAft>
              <a:buSzPct val="100000"/>
              <a:buFont typeface="+mj-lt"/>
              <a:buAutoNum type="arabicPeriod" startAt="1"/>
            </a:pPr>
            <a:r>
              <a:rPr lang="en-US" sz="1300" dirty="0">
                <a:solidFill>
                  <a:srgbClr val="22272E"/>
                </a:solidFill>
                <a:latin typeface="Calibri" pitchFamily="34" charset="0"/>
                <a:ea typeface="Calibri" pitchFamily="34" charset="-122"/>
                <a:cs typeface="Calibri" pitchFamily="34" charset="-120"/>
              </a:rPr>
              <a:t>Delete every line, then check whether you can still pull to refresh. Think about why.</a:t>
            </a:r>
            <a:endParaRPr lang="en-US" sz="1300" dirty="0"/>
          </a:p>
        </p:txBody>
      </p:sp>
      <p:sp>
        <p:nvSpPr>
          <p:cNvPr id="8" name="Shape 6"/>
          <p:cNvSpPr/>
          <p:nvPr/>
        </p:nvSpPr>
        <p:spPr>
          <a:xfrm>
            <a:off x="7921630" y="1691640"/>
            <a:ext cx="3718682" cy="4389120"/>
          </a:xfrm>
          <a:prstGeom prst="roundRect">
            <a:avLst>
              <a:gd name="adj" fmla="val 2459"/>
            </a:avLst>
          </a:prstGeom>
          <a:solidFill>
            <a:srgbClr val="EAF2EC"/>
          </a:solidFill>
          <a:ln w="6350">
            <a:solidFill>
              <a:srgbClr val="EAF2EC"/>
            </a:solidFill>
            <a:prstDash val="solid"/>
          </a:ln>
          <a:effectLst>
            <a:outerShdw sx="100000" sy="100000" kx="0" ky="0" algn="bl" rotWithShape="0" blurRad="38100" dist="12700" dir="5400000">
              <a:srgbClr val="000000">
                <a:alpha val="8000"/>
              </a:srgbClr>
            </a:outerShdw>
          </a:effectLst>
        </p:spPr>
      </p:sp>
      <p:sp>
        <p:nvSpPr>
          <p:cNvPr id="9" name="Text 7"/>
          <p:cNvSpPr txBox="1"/>
          <p:nvPr/>
        </p:nvSpPr>
        <p:spPr>
          <a:xfrm>
            <a:off x="8104510" y="1828800"/>
            <a:ext cx="3352922" cy="365760"/>
          </a:xfrm>
          <a:prstGeom prst="rect">
            <a:avLst/>
          </a:prstGeom>
          <a:noFill/>
          <a:ln/>
        </p:spPr>
        <p:txBody>
          <a:bodyPr wrap="square" lIns="0" tIns="0" rIns="0" bIns="0" rtlCol="0" anchor="ctr"/>
          <a:lstStyle/>
          <a:p>
            <a:pPr indent="0" marL="0">
              <a:buNone/>
            </a:pPr>
            <a:r>
              <a:rPr lang="en-US" sz="1300" b="1" dirty="0">
                <a:solidFill>
                  <a:srgbClr val="2A7F62"/>
                </a:solidFill>
                <a:latin typeface="Calibri" pitchFamily="34" charset="0"/>
                <a:ea typeface="Calibri" pitchFamily="34" charset="-122"/>
                <a:cs typeface="Calibri" pitchFamily="34" charset="-120"/>
              </a:rPr>
              <a:t>Stretch (fast lane)</a:t>
            </a:r>
            <a:endParaRPr lang="en-US" sz="1300" dirty="0"/>
          </a:p>
        </p:txBody>
      </p:sp>
      <p:sp>
        <p:nvSpPr>
          <p:cNvPr id="10" name="Text 8"/>
          <p:cNvSpPr txBox="1"/>
          <p:nvPr/>
        </p:nvSpPr>
        <p:spPr>
          <a:xfrm>
            <a:off x="8104510" y="2240280"/>
            <a:ext cx="3352922" cy="36576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second screen with a GridView.builder of products at maxCrossAxisExtent 220, and rotate to see the columns change.</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Fix the problem from step 7 so the empty state is still pullable.</a:t>
            </a:r>
            <a:endParaRPr lang="en-US" sz="1200" dirty="0"/>
          </a:p>
          <a:p>
            <a:pPr marL="177800" indent="-177800">
              <a:spcAft>
                <a:spcPts val="600"/>
              </a:spcAft>
              <a:buSzPct val="100000"/>
              <a:buChar char="•"/>
            </a:pPr>
            <a:r>
              <a:rPr lang="en-US" sz="1200" dirty="0">
                <a:solidFill>
                  <a:srgbClr val="22272E"/>
                </a:solidFill>
                <a:latin typeface="Calibri" pitchFamily="34" charset="0"/>
                <a:ea typeface="Calibri" pitchFamily="34" charset="-122"/>
                <a:cs typeface="Calibri" pitchFamily="34" charset="-120"/>
              </a:rPr>
              <a:t>Add a ScrollController and a button that animates back to the top.</a:t>
            </a:r>
            <a:endParaRPr lang="en-US" sz="1200" dirty="0"/>
          </a:p>
        </p:txBody>
      </p:sp>
      <p:sp>
        <p:nvSpPr>
          <p:cNvPr id="11" name="Text 9"/>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12" name="Text 10"/>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445752" y="-1371600"/>
            <a:ext cx="4572000" cy="4572000"/>
          </a:xfrm>
          <a:prstGeom prst="ellipse">
            <a:avLst/>
          </a:prstGeom>
          <a:solidFill>
            <a:srgbClr val="434C5E"/>
          </a:solidFill>
          <a:ln w="12700">
            <a:solidFill>
              <a:srgbClr val="434C5E"/>
            </a:solidFill>
            <a:prstDash val="solid"/>
          </a:ln>
        </p:spPr>
      </p:sp>
      <p:sp>
        <p:nvSpPr>
          <p:cNvPr id="3" name="Text 1"/>
          <p:cNvSpPr txBox="1"/>
          <p:nvPr/>
        </p:nvSpPr>
        <p:spPr>
          <a:xfrm>
            <a:off x="548640" y="54864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Day 6 recap</a:t>
            </a:r>
            <a:endParaRPr lang="en-US" sz="3400" dirty="0"/>
          </a:p>
        </p:txBody>
      </p:sp>
      <p:sp>
        <p:nvSpPr>
          <p:cNvPr id="4" name="Text 2"/>
          <p:cNvSpPr txBox="1"/>
          <p:nvPr/>
        </p:nvSpPr>
        <p:spPr>
          <a:xfrm>
            <a:off x="548640" y="1554480"/>
            <a:ext cx="6583680" cy="411480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Constraints go down, sizes go up, the parent sets the position. Every layout error is a violation of one of those.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Tight means exactly this size. Loose means up to this. Unbounded means infinity, and nothing can be infinite.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ListView, SingleChildScrollView and the main axis of Row and Column all hand out unbounded constraints.</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The diagnostic question: who gave this widget its constraints, and what were they?</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Expanded forces a share of the leftover space, Flexible allows up to a share, Spacer is an empty gap.</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The four errors: RenderFlex overflow, unbounded viewport, misplaced ParentDataWidget, infinite width.</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Stack layers children in paint order. Negative offsets need Clip.none.</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MediaQuery is the screen. LayoutBuilder is your slot, and it is usually the one you want.</a:t>
            </a:r>
            <a:endParaRPr lang="en-US" sz="1500" dirty="0"/>
          </a:p>
          <a:p>
            <a:pPr marL="177800" indent="-1778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ListView.builder for data, SingleChildScrollView for a page. A ListView in a Column needs Expanded.</a:t>
            </a:r>
            <a:endParaRPr lang="en-US" sz="1500" dirty="0"/>
          </a:p>
        </p:txBody>
      </p:sp>
      <p:sp>
        <p:nvSpPr>
          <p:cNvPr id="5" name="Shape 3"/>
          <p:cNvSpPr/>
          <p:nvPr/>
        </p:nvSpPr>
        <p:spPr>
          <a:xfrm>
            <a:off x="7589520" y="1554480"/>
            <a:ext cx="4023360" cy="3840480"/>
          </a:xfrm>
          <a:prstGeom prst="roundRect">
            <a:avLst>
              <a:gd name="adj" fmla="val 2381"/>
            </a:avLst>
          </a:prstGeom>
          <a:solidFill>
            <a:srgbClr val="434C5E"/>
          </a:solidFill>
          <a:ln w="6350">
            <a:solidFill>
              <a:srgbClr val="434C5E"/>
            </a:solidFill>
            <a:prstDash val="solid"/>
          </a:ln>
          <a:effectLst>
            <a:outerShdw sx="100000" sy="100000" kx="0" ky="0" algn="bl" rotWithShape="0" blurRad="38100" dist="12700" dir="5400000">
              <a:srgbClr val="000000">
                <a:alpha val="8000"/>
              </a:srgbClr>
            </a:outerShdw>
          </a:effectLst>
        </p:spPr>
      </p:sp>
      <p:sp>
        <p:nvSpPr>
          <p:cNvPr id="6" name="Text 4"/>
          <p:cNvSpPr txBox="1"/>
          <p:nvPr/>
        </p:nvSpPr>
        <p:spPr>
          <a:xfrm>
            <a:off x="7818120" y="1691640"/>
            <a:ext cx="3657600" cy="365760"/>
          </a:xfrm>
          <a:prstGeom prst="rect">
            <a:avLst/>
          </a:prstGeom>
          <a:noFill/>
          <a:ln/>
        </p:spPr>
        <p:txBody>
          <a:bodyPr wrap="square" lIns="0" tIns="0" rIns="0" bIns="0" rtlCol="0" anchor="ctr"/>
          <a:lstStyle/>
          <a:p>
            <a:pPr indent="0" marL="0">
              <a:buNone/>
            </a:pPr>
            <a:r>
              <a:rPr lang="en-US" sz="1100" dirty="0">
                <a:solidFill>
                  <a:srgbClr val="6FC5B8"/>
                </a:solidFill>
                <a:latin typeface="Calibri" pitchFamily="34" charset="0"/>
                <a:ea typeface="Calibri" pitchFamily="34" charset="-122"/>
                <a:cs typeface="Calibri" pitchFamily="34" charset="-120"/>
              </a:rPr>
              <a:t>Tomorrow</a:t>
            </a:r>
            <a:endParaRPr lang="en-US" sz="1100" dirty="0"/>
          </a:p>
        </p:txBody>
      </p:sp>
      <p:sp>
        <p:nvSpPr>
          <p:cNvPr id="7" name="Text 5"/>
          <p:cNvSpPr txBox="1"/>
          <p:nvPr/>
        </p:nvSpPr>
        <p:spPr>
          <a:xfrm>
            <a:off x="7818120" y="2103120"/>
            <a:ext cx="365760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Forms, text fields and validation</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Navigating between screens and passing data back</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Why setState stops being enough</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State management, and injecting a service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Theming the whole app from one colour</a:t>
            </a:r>
            <a:endParaRPr lang="en-US" sz="1300" dirty="0"/>
          </a:p>
        </p:txBody>
      </p:sp>
      <p:sp>
        <p:nvSpPr>
          <p:cNvPr id="8" name="Text 6"/>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9" name="Text 7"/>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011680" cy="292608"/>
          </a:xfrm>
          <a:prstGeom prst="roundRect">
            <a:avLst>
              <a:gd name="adj" fmla="val 50000"/>
            </a:avLst>
          </a:prstGeom>
          <a:solidFill>
            <a:srgbClr val="2E3440"/>
          </a:solidFill>
          <a:ln w="12700">
            <a:solidFill>
              <a:srgbClr val="2E3440"/>
            </a:solidFill>
            <a:prstDash val="solid"/>
          </a:ln>
        </p:spPr>
      </p:sp>
      <p:sp>
        <p:nvSpPr>
          <p:cNvPr id="3" name="Text 1"/>
          <p:cNvSpPr txBox="1"/>
          <p:nvPr/>
        </p:nvSpPr>
        <p:spPr>
          <a:xfrm>
            <a:off x="548640" y="457200"/>
            <a:ext cx="2011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 &amp; BREAK DOWN</a:t>
            </a:r>
            <a:endParaRPr lang="en-US" sz="1000" dirty="0"/>
          </a:p>
        </p:txBody>
      </p:sp>
      <p:sp>
        <p:nvSpPr>
          <p:cNvPr id="4" name="Text 2"/>
          <p:cNvSpPr txBox="1"/>
          <p:nvPr/>
        </p:nvSpPr>
        <p:spPr>
          <a:xfrm>
            <a:off x="9811512" y="457200"/>
            <a:ext cx="1828800" cy="292608"/>
          </a:xfrm>
          <a:prstGeom prst="rect">
            <a:avLst/>
          </a:prstGeom>
          <a:noFill/>
          <a:ln/>
        </p:spPr>
        <p:txBody>
          <a:bodyPr wrap="square" lIns="0" tIns="0" rIns="0" bIns="0" rtlCol="0" anchor="ctr"/>
          <a:lstStyle/>
          <a:p>
            <a:pPr algn="r" indent="0" marL="0">
              <a:buNone/>
            </a:pPr>
            <a:r>
              <a:rPr lang="en-US" sz="1200" dirty="0">
                <a:solidFill>
                  <a:srgbClr val="646E7A"/>
                </a:solidFill>
                <a:latin typeface="Calibri" pitchFamily="34" charset="0"/>
                <a:ea typeface="Calibri" pitchFamily="34" charset="-122"/>
                <a:cs typeface="Calibri" pitchFamily="34" charset="-120"/>
              </a:rPr>
              <a:t>Homework · 15 min</a:t>
            </a:r>
            <a:endParaRPr lang="en-US" sz="1200" dirty="0"/>
          </a:p>
        </p:txBody>
      </p:sp>
      <p:sp>
        <p:nvSpPr>
          <p:cNvPr id="5" name="Text 3"/>
          <p:cNvSpPr txBox="1"/>
          <p:nvPr/>
        </p:nvSpPr>
        <p:spPr>
          <a:xfrm>
            <a:off x="548640" y="868680"/>
            <a:ext cx="11091672" cy="640080"/>
          </a:xfrm>
          <a:prstGeom prst="rect">
            <a:avLst/>
          </a:prstGeom>
          <a:noFill/>
          <a:ln/>
        </p:spPr>
        <p:txBody>
          <a:bodyPr wrap="square" lIns="0" tIns="0" rIns="0" bIns="0" rtlCol="0" anchor="ctr"/>
          <a:lstStyle/>
          <a:p>
            <a:pPr indent="0" marL="0">
              <a:buNone/>
            </a:pPr>
            <a:r>
              <a:rPr lang="en-US" sz="2800" b="1" dirty="0">
                <a:solidFill>
                  <a:srgbClr val="2E3440"/>
                </a:solidFill>
                <a:latin typeface="Calibri" pitchFamily="34" charset="0"/>
                <a:ea typeface="Calibri" pitchFamily="34" charset="-122"/>
                <a:cs typeface="Calibri" pitchFamily="34" charset="-120"/>
              </a:rPr>
              <a:t>Tonight: layout in practice</a:t>
            </a:r>
            <a:endParaRPr lang="en-US" sz="2800" dirty="0"/>
          </a:p>
        </p:txBody>
      </p:sp>
      <p:sp>
        <p:nvSpPr>
          <p:cNvPr id="6" name="Shape 4"/>
          <p:cNvSpPr/>
          <p:nvPr/>
        </p:nvSpPr>
        <p:spPr>
          <a:xfrm>
            <a:off x="548640" y="1691640"/>
            <a:ext cx="11091672" cy="960120"/>
          </a:xfrm>
          <a:prstGeom prst="roundRect">
            <a:avLst>
              <a:gd name="adj" fmla="val 9524"/>
            </a:avLst>
          </a:prstGeom>
          <a:solidFill>
            <a:srgbClr val="EAF0F7"/>
          </a:solidFill>
          <a:ln w="6350">
            <a:solidFill>
              <a:srgbClr val="EAF0F7"/>
            </a:solidFill>
            <a:prstDash val="solid"/>
          </a:ln>
          <a:effectLst>
            <a:outerShdw sx="100000" sy="100000" kx="0" ky="0" algn="bl" rotWithShape="0" blurRad="38100" dist="12700" dir="5400000">
              <a:srgbClr val="000000">
                <a:alpha val="8000"/>
              </a:srgbClr>
            </a:outerShdw>
          </a:effectLst>
        </p:spPr>
      </p:sp>
      <p:sp>
        <p:nvSpPr>
          <p:cNvPr id="7" name="Text 5"/>
          <p:cNvSpPr txBox="1"/>
          <p:nvPr/>
        </p:nvSpPr>
        <p:spPr>
          <a:xfrm>
            <a:off x="822960" y="1783080"/>
            <a:ext cx="10543032" cy="457200"/>
          </a:xfrm>
          <a:prstGeom prst="rect">
            <a:avLst/>
          </a:prstGeom>
          <a:noFill/>
          <a:ln/>
        </p:spPr>
        <p:txBody>
          <a:bodyPr wrap="square" lIns="0" tIns="0" rIns="0" bIns="0" rtlCol="0" anchor="ctr"/>
          <a:lstStyle/>
          <a:p>
            <a:pPr indent="0" marL="0">
              <a:buNone/>
            </a:pPr>
            <a:r>
              <a:rPr lang="en-US" sz="1800" b="1" dirty="0">
                <a:solidFill>
                  <a:srgbClr val="2E3440"/>
                </a:solidFill>
                <a:latin typeface="Courier New" pitchFamily="34" charset="0"/>
                <a:ea typeface="Courier New" pitchFamily="34" charset="-122"/>
                <a:cs typeface="Courier New" pitchFamily="34" charset="-120"/>
              </a:rPr>
              <a:t>docs.flutter.dev/ui/layout</a:t>
            </a:r>
            <a:endParaRPr lang="en-US" sz="1800" dirty="0"/>
          </a:p>
        </p:txBody>
      </p:sp>
      <p:sp>
        <p:nvSpPr>
          <p:cNvPr id="8" name="Text 6"/>
          <p:cNvSpPr txBox="1"/>
          <p:nvPr/>
        </p:nvSpPr>
        <p:spPr>
          <a:xfrm>
            <a:off x="822960" y="2212848"/>
            <a:ext cx="10543032" cy="365760"/>
          </a:xfrm>
          <a:prstGeom prst="rect">
            <a:avLst/>
          </a:prstGeom>
          <a:noFill/>
          <a:ln/>
        </p:spPr>
        <p:txBody>
          <a:bodyPr wrap="square" lIns="0" tIns="0" rIns="0" bIns="0" rtlCol="0" anchor="ctr"/>
          <a:lstStyle/>
          <a:p>
            <a:pPr indent="0" marL="0">
              <a:buNone/>
            </a:pPr>
            <a:r>
              <a:rPr lang="en-US" sz="1200" dirty="0">
                <a:solidFill>
                  <a:srgbClr val="646E7A"/>
                </a:solidFill>
                <a:latin typeface="Calibri" pitchFamily="34" charset="0"/>
                <a:ea typeface="Calibri" pitchFamily="34" charset="-122"/>
                <a:cs typeface="Calibri" pitchFamily="34" charset="-120"/>
              </a:rPr>
              <a:t>The "Layouts in Flutter" page, then skim the layout widget catalogue at docs.flutter.dev/ui/widgets/layout (about 15 minutes)</a:t>
            </a:r>
            <a:endParaRPr lang="en-US" sz="1200" dirty="0"/>
          </a:p>
        </p:txBody>
      </p:sp>
      <p:sp>
        <p:nvSpPr>
          <p:cNvPr id="9" name="Text 7"/>
          <p:cNvSpPr txBox="1"/>
          <p:nvPr/>
        </p:nvSpPr>
        <p:spPr>
          <a:xfrm>
            <a:off x="548640" y="2880360"/>
            <a:ext cx="6655003"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Answer these as you read</a:t>
            </a:r>
            <a:endParaRPr lang="en-US" sz="1400" dirty="0"/>
          </a:p>
        </p:txBody>
      </p:sp>
      <p:sp>
        <p:nvSpPr>
          <p:cNvPr id="10" name="Text 8"/>
          <p:cNvSpPr txBox="1"/>
          <p:nvPr/>
        </p:nvSpPr>
        <p:spPr>
          <a:xfrm>
            <a:off x="548640" y="3291840"/>
            <a:ext cx="6655003" cy="2743200"/>
          </a:xfrm>
          <a:prstGeom prst="rect">
            <a:avLst/>
          </a:prstGeom>
          <a:noFill/>
          <a:ln/>
        </p:spPr>
        <p:txBody>
          <a:bodyPr wrap="square" lIns="0" tIns="0" rIns="0" bIns="0" rtlCol="0" anchor="t"/>
          <a:lstStyle/>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Find one layout widget we did not use today and say what problem it solves.</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What does Wrap do that Row cannot? Where would you use it in the order app?</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What is the difference between Align and Center, and between SizedBox and ConstrainedBox?</a:t>
            </a:r>
            <a:endParaRPr lang="en-US" sz="1400" dirty="0"/>
          </a:p>
          <a:p>
            <a:pPr marL="279400" indent="-279400">
              <a:spcAft>
                <a:spcPts val="800"/>
              </a:spcAft>
              <a:buSzPct val="100000"/>
              <a:buFont typeface="+mj-lt"/>
              <a:buAutoNum type="arabicPeriod" startAt="1"/>
            </a:pPr>
            <a:r>
              <a:rPr lang="en-US" sz="1400" dirty="0">
                <a:solidFill>
                  <a:srgbClr val="22272E"/>
                </a:solidFill>
                <a:latin typeface="Calibri" pitchFamily="34" charset="0"/>
                <a:ea typeface="Calibri" pitchFamily="34" charset="-122"/>
                <a:cs typeface="Calibri" pitchFamily="34" charset="-120"/>
              </a:rPr>
              <a:t>Find the widget you would use to pin a total to the bottom of the screen while the list scrolls above it.</a:t>
            </a:r>
            <a:endParaRPr lang="en-US" sz="1400" dirty="0"/>
          </a:p>
        </p:txBody>
      </p:sp>
      <p:sp>
        <p:nvSpPr>
          <p:cNvPr id="11" name="Shape 9"/>
          <p:cNvSpPr/>
          <p:nvPr/>
        </p:nvSpPr>
        <p:spPr>
          <a:xfrm>
            <a:off x="7477963" y="2880360"/>
            <a:ext cx="4162349" cy="3154680"/>
          </a:xfrm>
          <a:prstGeom prst="roundRect">
            <a:avLst>
              <a:gd name="adj" fmla="val 2899"/>
            </a:avLst>
          </a:prstGeom>
          <a:solidFill>
            <a:srgbClr val="FBF6E3"/>
          </a:solidFill>
          <a:ln w="6350">
            <a:solidFill>
              <a:srgbClr val="FBF6E3"/>
            </a:solidFill>
            <a:prstDash val="solid"/>
          </a:ln>
          <a:effectLst>
            <a:outerShdw sx="100000" sy="100000" kx="0" ky="0" algn="bl" rotWithShape="0" blurRad="38100" dist="12700" dir="5400000">
              <a:srgbClr val="000000">
                <a:alpha val="8000"/>
              </a:srgbClr>
            </a:outerShdw>
          </a:effectLst>
        </p:spPr>
      </p:sp>
      <p:sp>
        <p:nvSpPr>
          <p:cNvPr id="12" name="Text 10"/>
          <p:cNvSpPr txBox="1"/>
          <p:nvPr/>
        </p:nvSpPr>
        <p:spPr>
          <a:xfrm>
            <a:off x="7706563" y="3017520"/>
            <a:ext cx="3705149" cy="365760"/>
          </a:xfrm>
          <a:prstGeom prst="rect">
            <a:avLst/>
          </a:prstGeom>
          <a:noFill/>
          <a:ln/>
        </p:spPr>
        <p:txBody>
          <a:bodyPr wrap="square" lIns="0" tIns="0" rIns="0" bIns="0" rtlCol="0" anchor="ctr"/>
          <a:lstStyle/>
          <a:p>
            <a:pPr indent="0" marL="0">
              <a:buNone/>
            </a:pPr>
            <a:r>
              <a:rPr lang="en-US" sz="1400" b="1" dirty="0">
                <a:solidFill>
                  <a:srgbClr val="2E3440"/>
                </a:solidFill>
                <a:latin typeface="Calibri" pitchFamily="34" charset="0"/>
                <a:ea typeface="Calibri" pitchFamily="34" charset="-122"/>
                <a:cs typeface="Calibri" pitchFamily="34" charset="-120"/>
              </a:rPr>
              <a:t>Then</a:t>
            </a:r>
            <a:endParaRPr lang="en-US" sz="1400" dirty="0"/>
          </a:p>
        </p:txBody>
      </p:sp>
      <p:sp>
        <p:nvSpPr>
          <p:cNvPr id="13" name="Text 11"/>
          <p:cNvSpPr txBox="1"/>
          <p:nvPr/>
        </p:nvSpPr>
        <p:spPr>
          <a:xfrm>
            <a:off x="7706563" y="3429000"/>
            <a:ext cx="3705149"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09:00 tomorrow: a quick round of the room. Each person names one widget and one sentence on what it is for. No repeats.</a:t>
            </a:r>
            <a:endParaRPr lang="en-US" sz="1250" dirty="0"/>
          </a:p>
          <a:p>
            <a:pPr marL="177800" indent="-177800">
              <a:spcAft>
                <a:spcPts val="700"/>
              </a:spcAft>
              <a:buSzPct val="100000"/>
              <a:buChar char="•"/>
            </a:pPr>
            <a:r>
              <a:rPr lang="en-US" sz="1250" dirty="0">
                <a:solidFill>
                  <a:srgbClr val="22272E"/>
                </a:solidFill>
                <a:latin typeface="Calibri" pitchFamily="34" charset="0"/>
                <a:ea typeface="Calibri" pitchFamily="34" charset="-122"/>
                <a:cs typeface="Calibri" pitchFamily="34" charset="-120"/>
              </a:rPr>
              <a:t>That takes six minutes and builds a shared vocabulary faster than a slide per widget would.</a:t>
            </a:r>
            <a:endParaRPr lang="en-US" sz="1250" dirty="0"/>
          </a:p>
        </p:txBody>
      </p:sp>
      <p:sp>
        <p:nvSpPr>
          <p:cNvPr id="14" name="Text 12"/>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15" name="Text 13"/>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PLAN B · When it breaks in class</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7320504"/>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If this happens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 this instead</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Your live break-it demo goes wrong</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Switch to the prepared broken file instead of debugging in front of the room. Have all four ready before class</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DevTools will not open</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Press p in the terminal for debug paint, and read the red error text on the device. The Layout Explorer is useful, not essential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An emulator will not rotate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Enable auto-rotate in the emulator quick settings, or flutter run -d chrome and resize the window</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Somebody has lost Day 5 code</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Lab 5.3 solution from the Day 5 handbook. Three minutes and they are level</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 layout question you cannot answer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Open docs.flutter.dev/ui/layout/constraints on the projector and work it out together. That page answers nearly everything</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The room is drowning in module 2</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Cut the Stack module to ten minutes and give the time back. Stack is the least important thing today</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You are behind at 15:00</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Run Lab 6.3 with steps 1 to 3 only, and demonstrate Dismissible and RefreshIndicator on the projector</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22272E"/>
                          </a:solidFill>
                          <a:latin typeface="Calibri" pitchFamily="34" charset="0"/>
                          <a:ea typeface="Calibri" pitchFamily="34" charset="-122"/>
                          <a:cs typeface="Calibri" pitchFamily="34" charset="-120"/>
                        </a:rPr>
                        <a:t>A widget just disappears and nobody knows why</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050" dirty="0">
                          <a:solidFill>
                            <a:srgbClr val="22272E"/>
                          </a:solidFill>
                          <a:latin typeface="Calibri" pitchFamily="34" charset="0"/>
                          <a:ea typeface="Calibri" pitchFamily="34" charset="-122"/>
                          <a:cs typeface="Calibri" pitchFamily="34" charset="-120"/>
                        </a:rPr>
                        <a:t>It is almost always the unbounded case. Ask the diagnostic question rather than answering it</a:t>
                      </a:r>
                      <a:endParaRPr lang="en-US" sz="10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A9D8F"/>
        </a:solidFill>
      </p:bgPr>
    </p:bg>
    <p:spTree>
      <p:nvGrpSpPr>
        <p:cNvPr id="1" name=""/>
        <p:cNvGrpSpPr/>
        <p:nvPr/>
      </p:nvGrpSpPr>
      <p:grpSpPr>
        <a:xfrm>
          <a:off x="0" y="0"/>
          <a:ext cx="0" cy="0"/>
          <a:chOff x="0" y="0"/>
          <a:chExt cx="0" cy="0"/>
        </a:xfrm>
      </p:grpSpPr>
      <p:sp>
        <p:nvSpPr>
          <p:cNvPr id="2" name="Text 0"/>
          <p:cNvSpPr txBox="1"/>
          <p:nvPr/>
        </p:nvSpPr>
        <p:spPr>
          <a:xfrm>
            <a:off x="548640" y="2011680"/>
            <a:ext cx="7315200" cy="457200"/>
          </a:xfrm>
          <a:prstGeom prst="rect">
            <a:avLst/>
          </a:prstGeom>
          <a:noFill/>
          <a:ln/>
        </p:spPr>
        <p:txBody>
          <a:bodyPr wrap="square" lIns="0" tIns="0" rIns="0" bIns="0" rtlCol="0" anchor="ctr"/>
          <a:lstStyle/>
          <a:p>
            <a:pPr indent="0" marL="0">
              <a:buNone/>
            </a:pPr>
            <a:r>
              <a:rPr lang="en-US" sz="1400" spc="400" kern="0" dirty="0">
                <a:solidFill>
                  <a:srgbClr val="2E3440"/>
                </a:solidFill>
                <a:latin typeface="Calibri" pitchFamily="34" charset="0"/>
                <a:ea typeface="Calibri" pitchFamily="34" charset="-122"/>
                <a:cs typeface="Calibri" pitchFamily="34" charset="-120"/>
              </a:rPr>
              <a:t>APPENDIX</a:t>
            </a:r>
            <a:endParaRPr lang="en-US" sz="1400" dirty="0"/>
          </a:p>
        </p:txBody>
      </p:sp>
      <p:sp>
        <p:nvSpPr>
          <p:cNvPr id="3" name="Text 1"/>
          <p:cNvSpPr txBox="1"/>
          <p:nvPr/>
        </p:nvSpPr>
        <p:spPr>
          <a:xfrm>
            <a:off x="548640" y="2468880"/>
            <a:ext cx="10058400" cy="1097280"/>
          </a:xfrm>
          <a:prstGeom prst="rect">
            <a:avLst/>
          </a:prstGeom>
          <a:noFill/>
          <a:ln/>
        </p:spPr>
        <p:txBody>
          <a:bodyPr wrap="square" lIns="0" tIns="0" rIns="0" bIns="0" rtlCol="0" anchor="ctr"/>
          <a:lstStyle/>
          <a:p>
            <a:pPr indent="0" marL="0">
              <a:buNone/>
            </a:pPr>
            <a:r>
              <a:rPr lang="en-US" sz="4000" b="1" dirty="0">
                <a:solidFill>
                  <a:srgbClr val="2E3440"/>
                </a:solidFill>
                <a:latin typeface="Calibri" pitchFamily="34" charset="0"/>
                <a:ea typeface="Calibri" pitchFamily="34" charset="-122"/>
                <a:cs typeface="Calibri" pitchFamily="34" charset="-120"/>
              </a:rPr>
              <a:t>Day 6 reference</a:t>
            </a:r>
            <a:endParaRPr lang="en-US" sz="4000" dirty="0"/>
          </a:p>
        </p:txBody>
      </p:sp>
      <p:sp>
        <p:nvSpPr>
          <p:cNvPr id="4" name="Text 2"/>
          <p:cNvSpPr txBox="1"/>
          <p:nvPr/>
        </p:nvSpPr>
        <p:spPr>
          <a:xfrm>
            <a:off x="548640" y="3566160"/>
            <a:ext cx="10058400" cy="731520"/>
          </a:xfrm>
          <a:prstGeom prst="rect">
            <a:avLst/>
          </a:prstGeom>
          <a:noFill/>
          <a:ln/>
        </p:spPr>
        <p:txBody>
          <a:bodyPr wrap="square" lIns="0" tIns="0" rIns="0" bIns="0" rtlCol="0" anchor="ctr"/>
          <a:lstStyle/>
          <a:p>
            <a:pPr indent="0" marL="0">
              <a:buNone/>
            </a:pPr>
            <a:r>
              <a:rPr lang="en-US" sz="1600" dirty="0">
                <a:solidFill>
                  <a:srgbClr val="2E3440"/>
                </a:solidFill>
                <a:latin typeface="Calibri" pitchFamily="34" charset="0"/>
                <a:ea typeface="Calibri" pitchFamily="34" charset="-122"/>
                <a:cs typeface="Calibri" pitchFamily="34" charset="-120"/>
              </a:rPr>
              <a:t>A · Lab 6.1   B · Lab 6.2   C · Lab 6.3   D · Layout picker   E · Troubleshooting   F · Links</a:t>
            </a:r>
            <a:endParaRPr lang="en-US" sz="1600" dirty="0"/>
          </a:p>
        </p:txBody>
      </p:sp>
      <p:sp>
        <p:nvSpPr>
          <p:cNvPr id="5" name="Text 3"/>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6" name="Text 4"/>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6.1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LAB 6.1 - continue from your Day 5 project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1: change LineTile so the row 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 Icon, a gap, the description and sku stacked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vertically and taking the leftover width, then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line total on the right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Use Row, Expanded and Column together.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2: make the description ellipsis when it is too long,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and test it with a deliberately long description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3: under the subtotal, add a row of two buttons: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Submit taking two thirds of the width and Reset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taking one third, using Expanded with flex</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4: use CrossAxisAlignment.stretch somewhere and say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out loud what it did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5: BREAK IT ON PURPOSE. Remove the Expanded from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1 and read the error message. Write down which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it names and which axis. Then put it back.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6: BREAK IT AGAIN. Put a ListView directly inside your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Column. Read that error. Fix it with Expanded.</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6.1 solution  (1/3)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line_tile.dart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LineTile extends StatelessWidget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LineTile({super.key, required this.line});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OrderLine 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text = Theme.of(context).textTheme;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Card(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Padding(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padding: const EdgeInsets.all(12),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Row(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Icon(Icons.inventory_2_outlined),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const SizedBox(width: 12),</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Expanded(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Column(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crossAxisAlignment: CrossAxisAlignment.start,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Text(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line.description,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style: text.titleMedium,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maxLines: 1,</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6.1 solution  (2/3)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line_tile.dart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overflow: TextOverflow.ellipsis,</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Text('${line.sku}  x${line.quantity}',</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style: text.bodySmall),</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const SizedBox(width: 12),</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Text(line.lineTotal.rands, style: text.titleMedium),</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  }</a:t>
            </a:r>
            <a:endParaRPr lang="en-US" sz="1100" dirty="0"/>
          </a:p>
          <a:p>
            <a:pPr indent="0" marL="0">
              <a:lnSpc>
                <a:spcPct val="105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A · Lab 6.1 solution  (3/3)</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line_tile.dart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two buttons, two thirds and one third: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Row(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Expanded(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flex: 2,</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FilledButton.icon(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_submit,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icon: const Icon(Icons.check),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 const Text('Submit'),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SizedBox(width: 8),</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Expanded(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flex: 1,</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OutlinedButton(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onPressed: _reset,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const Text('Reset'),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ANSWERS TO TODO 5 AND 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5: "A RenderFlex overflowed by N pixels on the right."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 names the Row, and "on the right" means the horizontal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axis. The Text asked for more width than the Row had.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6: "Vertical viewport was given unbounded height."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Column's main axis is unbounded and a ListView needs</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 bound. Expanded supplies one.</a:t>
            </a:r>
            <a:endParaRPr lang="en-US" sz="9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answers to the two deliberate breakages are in the comment at the bottom.</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6.2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LAB 6.2 - a header and a responsive shell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1: a StatelessWidget OrderBanner that uses a Stack:</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rounded Container 140 high in primaryContainer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order id positioned top left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Chip with the status label positioned bottom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right with a negative offset, so it overhangs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 large faded icon filling the Stack behind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Remember clipBehavior: Clip.none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2: wrap your screen body in SafeArea, INSIDE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Scaffold, not around it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3: wrap the body in a LayoutBuilder. Below 700 logical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pixels, keep the current vertical layout. At 700 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above, put the banner in a fixed 280 wide column on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left and the lines in an Expanded on the right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4: rotate the emulator to landscape and confirm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layout switches. In Chrome, resize the window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5: use MediaQuery.sizeOf to print the screen width to</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 console, and compare it with the constraints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your LayoutBuilder receives. Explain the difference</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6.2 solution  (1/4)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order_banner.dart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class OrderBanner extends StatelessWidget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OrderBanner({super.key, required this.order});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Order 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@override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Widget build(BuildContext context)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colors = Theme.of(context).colorScheme;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text = Theme.of(context).textTheme;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Padding(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padding: const EdgeInsets.fromLTRB(0, 0, 0, 20),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Stack(</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clipBehavior: Clip.none,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Container(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width: double.infinity,</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height: 140,</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decoration: BoxDecoration(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color: colors.primaryContainer,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borderRadius: BorderRadius.circular(16),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Positioned.fill(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Align(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alignment: Alignment.center,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Icon(Icons.inventory_2, size: 64, color: Colors.white24),</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6.2 solution  (2/4)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order_banner.dart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Positioned(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left: 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top: 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right: 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Column(</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crossAxisAlignment: CrossAxisAlignment.start,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Text(order.id,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style: text.titleLarge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?.copyWith(color: colors.onPrimaryContainer)),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Text(order.customer,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style: text.bodyMedium</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?.copyWith(color: colors.onPrimaryContainer)),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Positioned(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right: 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bottom: -14,</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Chip(</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label: Text(order.status.label),</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backgroundColor: colors.surface,</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6.2 solution  (3/4)</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order_banner.dart · 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The responsive shell, inside the Scaffold:</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body: SafeArea(</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LayoutBuilder(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builder: (context, constraints)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banner = OrderBanner(order: _order);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final lines = ListView.builder(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itemCount: _order.lines.length,</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itemBuilder: (c, i) =&gt;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LineTile(key: ValueKey(_order.lines[i].sku), line: _order.lines[i]),</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if (constraints.maxWidth &gt;= 700)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return Padding(</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padding: const EdgeInsets.all(16),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 Row(</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crossAxisAlignment: CrossAxisAlignment.start,</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children: [</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SizedBox(width: 280, child: banner),</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const SizedBox(width: 16),</a:t>
            </a:r>
            <a:endParaRPr lang="en-US" sz="900" dirty="0"/>
          </a:p>
          <a:p>
            <a:pPr indent="0" marL="0">
              <a:lnSpc>
                <a:spcPct val="105000"/>
              </a:lnSpc>
              <a:buNone/>
            </a:pPr>
            <a:r>
              <a:rPr lang="en-US" sz="900" dirty="0">
                <a:solidFill>
                  <a:srgbClr val="E3E9EF"/>
                </a:solidFill>
                <a:latin typeface="Courier New" pitchFamily="34" charset="0"/>
                <a:ea typeface="Courier New" pitchFamily="34" charset="-122"/>
                <a:cs typeface="Courier New" pitchFamily="34" charset="-120"/>
              </a:rPr>
              <a:t>              Expanded(child: lines),</a:t>
            </a:r>
            <a:endParaRPr lang="en-US" sz="9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B · Lab 6.2 solution  (4/4)</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order_banner.dart · order_screen.dart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Padding(</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padding: const EdgeInsets.all(16),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Column(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children: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banner,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Expanded(child: lines),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ANSWER TO TODO 5: MediaQuery.sizeOf gives the whole SCREEN.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LayoutBuilder gives the constraints of THIS SLOT, which 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smaller once padding, an app bar and a SafeArea have taken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their share. Inside a Row or a dialog they can differ a lot,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and the LayoutBuilder number is the one you want.</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The answer to the MediaQuery versus LayoutBuilder question is in the comment at the bottom.</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6.3 starter</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the project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LAB 6.3 - lists that scroll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1: replace the for loop of LineTiles with 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ListView.builder, keyed by 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2: add enough lines to your order that it definitely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overflows the screen, and confirm it scrolls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3: switch to ListView.separated with an 8 pixel gap</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4: wrap each LineTile in a Dismissible so a swipe from</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right to left deletes it. Keep the lines in 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mutable List in your State and remove the item in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onDismissed. Show a SnackBar naming what was removed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5: wrap the list in a RefreshIndicator whose onRefresh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restores the original lines after a one second delay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6: handle the empty state, so deleting every line shows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your EmptyState widget rather than a blank area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TODO 7 (stretch): add a second screen showing products in 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GridView.builder with maxCrossAxisExtent 220, and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confirm the column count changes when you rotate</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6.3 solution  (1/3)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class _OrderScreenState extends State&lt;OrderScreen&gt;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static const _original = &lt;OrderLine&gt;[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'SKU-1', description: 'Widget', quantity: 40, unitPrice: 250),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'SKU-2', description: 'Gasket', quantity: 10, unitPrice: 120),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'SKU-3', description: 'Bracket', quantity: 5, unitPrice: 90),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'SKU-4', description: 'Seal', quantity: 200, unitPrice: 15),</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'SKU-5', description: 'Bearing', quantity: 12, unitPrice: 340),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OrderLine(sku: 'SKU-6', description: 'Coupling', quantity: 3, unitPrice: 890),</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late List&lt;OrderLine&gt; _lines = List.of(_original);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void _remove(OrderLine line)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setState(() =&gt; _lines.remove(line));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ScaffoldMessenger.of(context).showSnackBar(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SnackBar(content: Text('Removed ${line.sku}')),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Future&lt;void&gt; _reload() async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await Future.delayed(const Duration(seconds: 1));</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if (!mounted) return;</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setState(() =&gt; _lines = List.of(_original));</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6.3 solution  (2/3)</a:t>
            </a:r>
            <a:endParaRPr lang="en-US" sz="3000" dirty="0"/>
          </a:p>
        </p:txBody>
      </p:sp>
      <p:sp>
        <p:nvSpPr>
          <p:cNvPr id="3" name="Shape 1"/>
          <p:cNvSpPr/>
          <p:nvPr/>
        </p:nvSpPr>
        <p:spPr>
          <a:xfrm>
            <a:off x="548640" y="1325880"/>
            <a:ext cx="11091672" cy="4846320"/>
          </a:xfrm>
          <a:prstGeom prst="roundRect">
            <a:avLst>
              <a:gd name="adj" fmla="val 150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order_screen.dart</a:t>
            </a:r>
            <a:endParaRPr lang="en-US" sz="800" dirty="0"/>
          </a:p>
        </p:txBody>
      </p:sp>
      <p:sp>
        <p:nvSpPr>
          <p:cNvPr id="5" name="Text 3"/>
          <p:cNvSpPr txBox="1"/>
          <p:nvPr/>
        </p:nvSpPr>
        <p:spPr>
          <a:xfrm>
            <a:off x="685800" y="1435608"/>
            <a:ext cx="10817352" cy="462686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@override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Widget build(BuildContext context)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Scaffold(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appBar: AppBar(title: const Text('OrderFlow')),</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body: SafeArea(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_lines.isEmpty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const EmptyState(message: 'No lines yet. Pull down to restore.')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 RefreshIndicator(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onRefresh: _reload,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ListView.separated(</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padding: const EdgeInsets.all(16),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physics: const AlwaysScrollableScrollPhysics(),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itemCount: _lines.length,</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separatorBuilder: (_, __) =&gt; const SizedBox(height: 8),</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itemBuilder: (context, index)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final line = _lines[index];</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return Dismissible(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key: ValueKey(line.sku),</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direction: DismissDirection.endToStart,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background: Container(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alignment: Alignment.centerRight,</a:t>
            </a:r>
            <a:endParaRPr lang="en-US" sz="1000" dirty="0"/>
          </a:p>
        </p:txBody>
      </p:sp>
      <p:sp>
        <p:nvSpPr>
          <p:cNvPr id="6" name="Text 4"/>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7" name="Text 5"/>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C · Lab 6.3 solution  (3/3)</a:t>
            </a:r>
            <a:endParaRPr lang="en-US" sz="3000" dirty="0"/>
          </a:p>
        </p:txBody>
      </p:sp>
      <p:sp>
        <p:nvSpPr>
          <p:cNvPr id="3" name="Shape 1"/>
          <p:cNvSpPr/>
          <p:nvPr/>
        </p:nvSpPr>
        <p:spPr>
          <a:xfrm>
            <a:off x="548640" y="1325880"/>
            <a:ext cx="11091672" cy="4206240"/>
          </a:xfrm>
          <a:prstGeom prst="roundRect">
            <a:avLst>
              <a:gd name="adj" fmla="val 1739"/>
            </a:avLst>
          </a:prstGeom>
          <a:solidFill>
            <a:srgbClr val="1B222B"/>
          </a:solidFill>
          <a:ln w="12700">
            <a:solidFill>
              <a:srgbClr val="1B222B"/>
            </a:solidFill>
            <a:prstDash val="solid"/>
          </a:ln>
        </p:spPr>
      </p:sp>
      <p:sp>
        <p:nvSpPr>
          <p:cNvPr id="4" name="Text 2"/>
          <p:cNvSpPr txBox="1"/>
          <p:nvPr/>
        </p:nvSpPr>
        <p:spPr>
          <a:xfrm>
            <a:off x="10177272" y="1380744"/>
            <a:ext cx="1371600" cy="228600"/>
          </a:xfrm>
          <a:prstGeom prst="rect">
            <a:avLst/>
          </a:prstGeom>
          <a:noFill/>
          <a:ln/>
        </p:spPr>
        <p:txBody>
          <a:bodyPr wrap="square" lIns="0" tIns="0" rIns="0" bIns="0" rtlCol="0" anchor="ctr"/>
          <a:lstStyle/>
          <a:p>
            <a:pPr algn="r" indent="0" marL="0">
              <a:buNone/>
            </a:pPr>
            <a:r>
              <a:rPr lang="en-US" sz="800" dirty="0">
                <a:solidFill>
                  <a:srgbClr val="6FC5B8"/>
                </a:solidFill>
                <a:latin typeface="Calibri" pitchFamily="34" charset="0"/>
                <a:ea typeface="Calibri" pitchFamily="34" charset="-122"/>
                <a:cs typeface="Calibri" pitchFamily="34" charset="-120"/>
              </a:rPr>
              <a:t>order_screen.dart</a:t>
            </a:r>
            <a:endParaRPr lang="en-US" sz="800" dirty="0"/>
          </a:p>
        </p:txBody>
      </p:sp>
      <p:sp>
        <p:nvSpPr>
          <p:cNvPr id="5" name="Text 3"/>
          <p:cNvSpPr txBox="1"/>
          <p:nvPr/>
        </p:nvSpPr>
        <p:spPr>
          <a:xfrm>
            <a:off x="685800" y="1435608"/>
            <a:ext cx="10817352" cy="3986784"/>
          </a:xfrm>
          <a:prstGeom prst="rect">
            <a:avLst/>
          </a:prstGeom>
          <a:noFill/>
          <a:ln/>
        </p:spPr>
        <p:txBody>
          <a:bodyPr wrap="square" lIns="0" tIns="0" rIns="0" bIns="0" rtlCol="0" anchor="t"/>
          <a:lstStyle/>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padding: const EdgeInsets.only(right: 16),</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color: Theme.of(context).colorScheme.error,</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const Icon(Icons.delete, color: Colors.white),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onDismissed: (_) =&gt; _remove(line),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child: LineTile(line: line),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NOTE: the empty state replaces the RefreshIndicator entirely</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here, which means you cannot pull to restore once it is</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empty. Fixing that properly is the stretch goal: keep the</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RefreshIndicator and put the EmptyState inside a</a:t>
            </a:r>
            <a:endParaRPr lang="en-US" sz="1000" dirty="0"/>
          </a:p>
          <a:p>
            <a:pPr indent="0" marL="0">
              <a:lnSpc>
                <a:spcPct val="105000"/>
              </a:lnSpc>
              <a:buNone/>
            </a:pPr>
            <a:r>
              <a:rPr lang="en-US" sz="1000" dirty="0">
                <a:solidFill>
                  <a:srgbClr val="E3E9EF"/>
                </a:solidFill>
                <a:latin typeface="Courier New" pitchFamily="34" charset="0"/>
                <a:ea typeface="Courier New" pitchFamily="34" charset="-122"/>
                <a:cs typeface="Courier New" pitchFamily="34" charset="-120"/>
              </a:rPr>
              <a:t>// SingleChildScrollView with AlwaysScrollableScrollPhysics.</a:t>
            </a:r>
            <a:endParaRPr lang="en-US" sz="1000" dirty="0"/>
          </a:p>
        </p:txBody>
      </p:sp>
      <p:sp>
        <p:nvSpPr>
          <p:cNvPr id="6" name="Text 4"/>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200" dirty="0">
                <a:solidFill>
                  <a:srgbClr val="646E7A"/>
                </a:solidFill>
                <a:latin typeface="Calibri" pitchFamily="34" charset="0"/>
                <a:ea typeface="Calibri" pitchFamily="34" charset="-122"/>
                <a:cs typeface="Calibri" pitchFamily="34" charset="-120"/>
              </a:rPr>
              <a:t>Note the deliberate flaw at the bottom: once empty, there is nothing left to pull.</a:t>
            </a:r>
            <a:endParaRPr lang="en-US" sz="1200" dirty="0"/>
          </a:p>
        </p:txBody>
      </p:sp>
      <p:sp>
        <p:nvSpPr>
          <p:cNvPr id="7" name="Text 5"/>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8" name="Text 6"/>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D · Which layout widget</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You want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Use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Note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Things in a horizontal line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Row</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Children get unbounded width</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Things stacked vertically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Column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Does not scroll</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One child to take the leftover space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Expanded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Forces the size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One child to take up to its share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Flexible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Allows a smaller size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fixed gap</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SizedBox(height: 12)</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The idiom for spacing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flexible gap</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Spacer()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An empty Expanded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Things layered on top of each other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Stack + Positioned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Clip.none for overhang</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Things that wrap onto a new line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Wrap</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Chips, tags, filters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scrolling page of content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SingleChildScrollView + Column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Forms, settings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scrolling list from data</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ListView.builder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Lazy. Key it by id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list with separators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ListView.separated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grid that reflows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GridView.builder + max extent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 breakpoints needed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different layout by width</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LayoutBuilder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Your slot, not the screen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different layout by device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MediaQuery.sizeOf</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The whole screen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To avoid the notch</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SafeArea</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Inside the Scaffold body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To force a size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SizedBox</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Minimum or maximum bounds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ConstrainedBox</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To centre one child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Center</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Align for any other position</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Space around one child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Padding</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Not a Container</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E · Troubleshooting: symptom to fix</a:t>
            </a:r>
            <a:endParaRPr lang="en-US" sz="3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771168"/>
                <a:gridCol w="3105668"/>
                <a:gridCol w="4214835"/>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Symptom</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Cause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Yellow and black stripes, "RenderFlex overflowed"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Child bigger than the Row or Column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Expanded, or make the axis scrollable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"Vertical viewport was given unbounded height"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ListView inside a Column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Expanded(child: ListView(...))</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"Incorrect use of ParentDataWidget"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Expanded not directly in a Flex</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Move it inside the Row or Column</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"BoxConstraints forces an infinite width"</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TextField inside a Row</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Expanded(child: TextField())</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widget is simply not visible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Unbounded axis, no size, no child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Give it a size, or bound the parent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Stack renders as nothing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All children are Positioned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Add a sized child or StackFit.expand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Positioned child is cut off</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Negative offset with default clipping</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clipBehavior: Clip.none</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overflow: ellipsis does nothing</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The Text has unbounded width</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Wrap it in Expanded, and set maxLines</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White bar where the app bar should be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SafeArea wrapped around the Scaffold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Put SafeArea inside the body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"A dismissed Dismissible is still in the tree"</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Item not removed in onDismissed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Remove it from the list, and key by id</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Pull to refresh does nothing on a short list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Default physics will not scroll</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AlwaysScrollableScrollPhysics</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Grid tiles overflow vertically</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childAspectRatio too tall</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Raise the ratio, width over height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950" b="1" dirty="0">
                          <a:solidFill>
                            <a:srgbClr val="22272E"/>
                          </a:solidFill>
                          <a:latin typeface="Calibri" pitchFamily="34" charset="0"/>
                          <a:ea typeface="Calibri" pitchFamily="34" charset="-122"/>
                          <a:cs typeface="Calibri" pitchFamily="34" charset="-120"/>
                        </a:rPr>
                        <a:t>The list is very slow</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850" dirty="0">
                          <a:solidFill>
                            <a:srgbClr val="22272E"/>
                          </a:solidFill>
                          <a:latin typeface="Courier New" pitchFamily="34" charset="0"/>
                          <a:ea typeface="Courier New" pitchFamily="34" charset="-122"/>
                          <a:cs typeface="Courier New" pitchFamily="34" charset="-120"/>
                        </a:rPr>
                        <a:t>shrinkWrap: true on a long list</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Use Expanded and remove shrinkWrap</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850" b="1" dirty="0">
                          <a:solidFill>
                            <a:srgbClr val="22272E"/>
                          </a:solidFill>
                          <a:latin typeface="Courier New" pitchFamily="34" charset="0"/>
                          <a:ea typeface="Courier New" pitchFamily="34" charset="-122"/>
                          <a:cs typeface="Courier New" pitchFamily="34" charset="-120"/>
                        </a:rPr>
                        <a:t>Expanded inside a scroll view fails</a:t>
                      </a:r>
                      <a:endParaRPr lang="en-US" sz="850" dirty="0">
                        <a:latin typeface="Courier New" charset="0"/>
                        <a:ea typeface="Courier New" charset="0"/>
                        <a:cs typeface="Courier New"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Unbounded height in a scroll view</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950" dirty="0">
                          <a:solidFill>
                            <a:srgbClr val="22272E"/>
                          </a:solidFill>
                          <a:latin typeface="Calibri" pitchFamily="34" charset="0"/>
                          <a:ea typeface="Calibri" pitchFamily="34" charset="-122"/>
                          <a:cs typeface="Calibri" pitchFamily="34" charset="-120"/>
                        </a:rPr>
                        <a:t>There is no leftover space. Remove it</a:t>
                      </a:r>
                      <a:endParaRPr lang="en-US" sz="95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731520"/>
          </a:xfrm>
          <a:prstGeom prst="rect">
            <a:avLst/>
          </a:prstGeom>
          <a:noFill/>
          <a:ln/>
        </p:spPr>
        <p:txBody>
          <a:bodyPr wrap="square" lIns="0" tIns="0" rIns="0" bIns="0" rtlCol="0" anchor="ctr"/>
          <a:lstStyle/>
          <a:p>
            <a:pPr indent="0" marL="0">
              <a:buNone/>
            </a:pPr>
            <a:r>
              <a:rPr lang="en-US" sz="3000" b="1" dirty="0">
                <a:solidFill>
                  <a:srgbClr val="2E3440"/>
                </a:solidFill>
                <a:latin typeface="Calibri" pitchFamily="34" charset="0"/>
                <a:ea typeface="Calibri" pitchFamily="34" charset="-122"/>
                <a:cs typeface="Calibri" pitchFamily="34" charset="-120"/>
              </a:rPr>
              <a:t>F · Links used today</a:t>
            </a:r>
            <a:endParaRPr lang="en-US" sz="3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327502"/>
                <a:gridCol w="776417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Link</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2E3440"/>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Understanding constraints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docs.flutter.dev/ui/layout/constraints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Layouts in Flutter</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docs.flutter.dev/ui/layout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Layout widget catalogue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docs.flutter.dev/ui/widgets/layout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Adaptive and responsive design</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docs.flutter.dev/ui/adaptive-responsive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Long lists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docs.flutter.dev/cookbook/lists/long-lists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Grid lists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docs.flutter.dev/cookbook/lists/grid-lists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Swipe to dismiss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docs.flutter.dev/cookbook/gestures/dismissible</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Pull to refresh</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api.flutter.dev/flutter/material/RefreshIndicator-class.html</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DevTools Layout Explorer</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docs.flutter.dev/tools/devtools/inspector</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2272E"/>
                          </a:solidFill>
                          <a:latin typeface="Calibri" pitchFamily="34" charset="0"/>
                          <a:ea typeface="Calibri" pitchFamily="34" charset="-122"/>
                          <a:cs typeface="Calibri" pitchFamily="34" charset="-120"/>
                        </a:rPr>
                        <a:t>Material breakpoints</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c>
                  <a:txBody>
                    <a:bodyPr/>
                    <a:lstStyle/>
                    <a:p>
                      <a:pPr indent="0" marL="0">
                        <a:buNone/>
                      </a:pPr>
                      <a:r>
                        <a:rPr lang="en-US" sz="1100" dirty="0">
                          <a:solidFill>
                            <a:srgbClr val="22272E"/>
                          </a:solidFill>
                          <a:latin typeface="Calibri" pitchFamily="34" charset="0"/>
                          <a:ea typeface="Calibri" pitchFamily="34" charset="-122"/>
                          <a:cs typeface="Calibri" pitchFamily="34" charset="-120"/>
                        </a:rPr>
                        <a:t>m3.material.io/foundations/layout/applying-layout</a:t>
                      </a:r>
                      <a:endParaRPr lang="en-US" sz="1100" dirty="0">
                        <a:latin typeface="Calibri" charset="0"/>
                        <a:ea typeface="Calibri" charset="0"/>
                        <a:cs typeface="Calibri" charset="0"/>
                      </a:endParaRPr>
                    </a:p>
                  </a:txBody>
                  <a:tcPr marL="54864" marR="54864" marT="54864" marB="54864" anchor="ctr">
                    <a:lnL w="6350" cap="flat" cmpd="sng" algn="ctr">
                      <a:solidFill>
                        <a:srgbClr val="DCE1E6"/>
                      </a:solidFill>
                      <a:prstDash val="solid"/>
                      <a:round/>
                      <a:headEnd type="none" w="med" len="med"/>
                      <a:tailEnd type="none" w="med" len="med"/>
                    </a:lnL>
                    <a:lnR w="6350" cap="flat" cmpd="sng" algn="ctr">
                      <a:solidFill>
                        <a:srgbClr val="DCE1E6"/>
                      </a:solidFill>
                      <a:prstDash val="solid"/>
                      <a:round/>
                      <a:headEnd type="none" w="med" len="med"/>
                      <a:tailEnd type="none" w="med" len="med"/>
                    </a:lnR>
                    <a:lnT w="6350" cap="flat" cmpd="sng" algn="ctr">
                      <a:solidFill>
                        <a:srgbClr val="DCE1E6"/>
                      </a:solidFill>
                      <a:prstDash val="solid"/>
                      <a:round/>
                      <a:headEnd type="none" w="med" len="med"/>
                      <a:tailEnd type="none" w="med" len="med"/>
                    </a:lnT>
                    <a:lnB w="6350" cap="flat" cmpd="sng" algn="ctr">
                      <a:solidFill>
                        <a:srgbClr val="DCE1E6"/>
                      </a:solidFill>
                      <a:prstDash val="solid"/>
                      <a:round/>
                      <a:headEnd type="none" w="med" len="med"/>
                      <a:tailEnd type="none" w="med" len="med"/>
                    </a:lnB>
                    <a:solidFill>
                      <a:srgbClr val="F2F5F6"/>
                    </a:solidFill>
                  </a:tcPr>
                </a:tc>
              </a:tr>
            </a:tbl>
          </a:graphicData>
        </a:graphic>
      </p:graphicFrame>
      <p:sp>
        <p:nvSpPr>
          <p:cNvPr id="4" name="Text 1"/>
          <p:cNvSpPr txBox="1"/>
          <p:nvPr/>
        </p:nvSpPr>
        <p:spPr>
          <a:xfrm>
            <a:off x="548640" y="6473952"/>
            <a:ext cx="9994392" cy="274320"/>
          </a:xfrm>
          <a:prstGeom prst="rect">
            <a:avLst/>
          </a:prstGeom>
          <a:noFill/>
          <a:ln/>
        </p:spPr>
        <p:txBody>
          <a:bodyPr wrap="square" lIns="0" tIns="0" rIns="0" bIns="0" rtlCol="0" anchor="ctr"/>
          <a:lstStyle/>
          <a:p>
            <a:pPr indent="0" marL="0">
              <a:buNone/>
            </a:pPr>
            <a:r>
              <a:rPr lang="en-US" sz="900" dirty="0">
                <a:solidFill>
                  <a:srgbClr val="646E7A"/>
                </a:solidFill>
                <a:latin typeface="Calibri" pitchFamily="34" charset="0"/>
                <a:ea typeface="Calibri" pitchFamily="34" charset="-122"/>
                <a:cs typeface="Calibri" pitchFamily="34" charset="-120"/>
              </a:rPr>
              <a:t>Flutter for Java Developers  ·  Day 6 - Layout</a:t>
            </a:r>
            <a:endParaRPr lang="en-US" sz="900" dirty="0"/>
          </a:p>
        </p:txBody>
      </p:sp>
      <p:sp>
        <p:nvSpPr>
          <p:cNvPr id="5" name="Text 2"/>
          <p:cNvSpPr txBox="1"/>
          <p:nvPr/>
        </p:nvSpPr>
        <p:spPr>
          <a:xfrm>
            <a:off x="10543032" y="6473952"/>
            <a:ext cx="1097280" cy="274320"/>
          </a:xfrm>
          <a:prstGeom prst="rect">
            <a:avLst/>
          </a:prstGeom>
          <a:noFill/>
          <a:ln/>
        </p:spPr>
        <p:txBody>
          <a:bodyPr wrap="square" lIns="0" tIns="0" rIns="0" bIns="0" rtlCol="0" anchor="ctr"/>
          <a:lstStyle/>
          <a:p>
            <a:pPr algn="r" indent="0" marL="0">
              <a:buNone/>
            </a:pPr>
            <a:r>
              <a:rPr lang="en-US" sz="900" dirty="0">
                <a:solidFill>
                  <a:srgbClr val="646E7A"/>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for Java Developers - Day 6</dc:title>
  <dc:subject>Flutter Mobile Development for Java Developers</dc:subject>
  <dc:creator>Flutter for Java Developers</dc:creator>
  <cp:lastModifiedBy>Flutter for Java Developers</cp:lastModifiedBy>
  <cp:revision>1</cp:revision>
  <dcterms:created xsi:type="dcterms:W3CDTF">2026-09-11T06:24:04Z</dcterms:created>
  <dcterms:modified xsi:type="dcterms:W3CDTF">2026-09-11T06:24:04Z</dcterms:modified>
</cp:coreProperties>
</file>