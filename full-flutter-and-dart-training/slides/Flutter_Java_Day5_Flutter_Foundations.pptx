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Open with the moment. "Four days of language. Today it goes on a phone."
THEN THE REASSURANCE THAT MATTERS: "There is much less to learn here than you expect. Flutter is Dart arranged in a particular shape. The classes you wrote on Monday, the sealed states from Wednesday, the async from yesterday, all of it goes on screen today more or less unchanged."
THE ONE BIG IDEA TO SET UP NOW, because everything today depends on it: the user interface is a function of state. You do not update the screen; you describe what the screen should look like for the current state, and the framework works out the difference. Say it now, and repeat it at least four times today.
PRESENTER CHECKLIST: every delegate needs a working device today, so check that first thing. Emulator booted, project open, DevTools ready. Have your own finished version of Lab 5.2 open in a second window so you can show the destination before they start.
IF ANYONE STILL HAS NO DEVICE: flutter run -d chrome. Everything today works in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modules, three labs, and by 16:00 they have a real screen showing their own order model.
SAY WHAT THE DAY IS NOT: it is not layout. Rows, columns and the constraint system are tomorrow, and today deliberately keeps the layouts simple so the widget model can land on its own. If somebody asks about Row and Column, say "tomorrow, all day" and move on.
TIMING: module 1 is concepts and it must not sprawl. Get to a running screen before the morning break if you possibly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Seventy-five minutes of model before any real code. This room has built user interfaces before, in Swing or JSF or Angular, and the instincts they bring are mostly wrong here. Undoing them now is cheaper than undoing them on Thursday.
THE SEQUENCE: show the imperative way they already know, show the declarative way, then explain why the declarative way is affordable. That last part is the three trees, and it is the part that stops people trying to optimise prematurely.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this is the most important slide of the morning.
START WITH THE IMPERATIVE CODE and ask the room to recognise it. Swing, SWT, Android Views, JSF, jQuery: all the same shape. Create the component, keep a reference, call setters on it later.
THEN ASK THE KILLER QUESTION: "how many places in that code set the colour of the total?" In a real screen the answer is four or five, scattered across different event handlers. And if the requirement changes to add a third colour, you must find all of them.
NAME THE BUG CLASS: stale UI. The state changed and one of the setters was not called. Everyone in this room has shipped that bug. It is unreachable by unit tests and it is found by users.
NOW THE DECLARATIVE VERSION. One function. Given this state, this is the screen. There is no transition, because you never describe a transition. When the state changes, the function runs again.
WRITE UI EQUALS F OF STATE ON THE WHITEBOARD and leave it there all week. It is the single sentence the whole framework is built on.
THE OBVIOUS OBJECTION, and let somebody raise it: "so you redraw the whole screen every time?" Yes, in principle, and the next two slides explain why that is affordable. Do not answer it yet; let the question sit for five minutes and the answer will land harder.
FOR THE ANGULAR PEOPLE: this is closer to React than to Angular templates. For everyone else, the closest familiar thing is a server rendering an HTML page from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Type it live in the real project and run it, do not show a finished slide.
READ IT INSIDE OUT: Text is the words. Center puts one thing in the middle. Scaffold is the standard page frame with an app bar and a body. MaterialApp wraps everything and provides theming, navigation and text direction. runApp hands it all to Flutter.
THE DEFINITION: a widget is an immutable description of part of the screen. Not the thing on screen, the description of it.
WHY THERE ARE SO MANY: padding is a widget, alignment is a widget, the theme is a widget, a gesture detector is a widget. That sounds excessive and it buys you something specific: there is exactly ONE composition mechanism to learn. You never wonder whether padding is a property or a wrapper. It is always a wrapper.
COMPARE WITH WHAT THEY KNOW: in Swing or Android you would set a padding property on a component. Here you wrap it. Composition instead of configuration, which is the same argument they heard on Day 3 about inheritance.
build IS A PURE FUNCTION and say this now, firmly, because it is the rule most often broken by beginners: given the widget's fields, return a tree. No network calls, no dialogs, no writing to a database, no setState. Say it today and repeat it every day.
DEMO: change the title text, save, and time the hot reload out loud. Under a second. That moment does more for the room's morale than any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Type it live in the real project and run it, do not show a finished slide.
READ IT INSIDE OUT: Text is the words. Center puts one thing in the middle. Scaffold is the standard page frame with an app bar and a body. MaterialApp wraps everything and provides theming, navigation and text direction. runApp hands it all to Flutter.
THE DEFINITION: a widget is an immutable description of part of the screen. Not the thing on screen, the description of it.
WHY THERE ARE SO MANY: padding is a widget, alignment is a widget, the theme is a widget, a gesture detector is a widget. That sounds excessive and it buys you something specific: there is exactly ONE composition mechanism to learn. You never wonder whether padding is a property or a wrapper. It is always a wrapper.
COMPARE WITH WHAT THEY KNOW: in Swing or Android you would set a padding property on a component. Here you wrap it. Composition instead of configuration, which is the same argument they heard on Day 3 about inheritance.
build IS A PURE FUNCTION and say this now, firmly, because it is the rule most often broken by beginners: given the widget's fields, return a tree. No network calls, no dialogs, no writing to a database, no setState. Say it today and repeat it every day.
DEMO: change the title text, save, and time the hot reload out loud. Under a second. That moment does more for the room's morale than any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do it at the whiteboard with three columns rather than reading the slide.
WIDGET TREE: immutable configuration, created and discarded constantly. The best mental model is that a widget is the ARGUMENTS to a builder, not the object being built.
ELEMENT TREE: the live instances. An element knows its position, its parent and children, and it holds any State object. It SURVIVES rebuilds. That is the whole reason a StatefulWidget can be recreated a thousand times without losing its data.
RENDER TREE: layout and painting. Expensive, and deliberately the smallest of the three.
NOW ANSWER THE QUESTION FROM TWO SLIDES AGO. When you rebuild, Flutter walks the new widget tree against the existing element tree. Same type in the same position means it updates the existing element rather than creating a new one. The render objects mostly do not change at all. Allocating a widget is close to free.
SAY THE CONSEQUENCE EXPLICITLY, because the instinct to optimise is strong in this room: do not cache widgets, do not try to avoid rebuilding, do not keep references to widgets. All three are wrong here and all three are exactly what an experienced Swing or Android developer will reach for.
THE ANALOGY THAT HELPS: it is closer to rendering an HTML page from a template than to mutating a component tree. You do not mutate the page, you produce a new description and something else works out the diff.
IF SOMEBODY ASKS ABOUT PERFORMANCE: narrowing rebuild scope is a real technique, it is covered on Day 8, and it is an optimisation rather than a necessity. Do not teach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This is the practical translation of the last three slides, and it is where the rules they will actually be judged on live.
THE FIRST BULLET IS THE ONE THEY WILL BREAK. Everybody, at least once, calls a service from build and watches it fire in an infinite loop. It is a rite of passage. Say it now so that when it happens they recognise it in ten seconds rather than twenty minutes.
THE THIRD BULLET IS THE SAME BUG WEARING A SUIT. Fetching in build is the specific case that bites hardest, because it looks so reasonable.
THE SECOND BULLET contradicts a deep instinct. In Swing you keep a reference to the label. Here the equivalent object does not survive. Name that directly.
THE CALLOUT IS THE SLOGAN OF THE COURSE. Write it on the whiteboard and leave it there for the rest of the week. Point at it every time someone is confused about why the screen did not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hundred and five minutes including the first lab.
THE TWO-CLASSES THING IS THE HURDLE. Everybody finds it odd, and the explanation is short and satisfying once they have the three trees from this morning. Lead with the why, not the syntax.
GET TO THE LAB BY 11:45 AT THE LATEST. People need to type something today, and the earlier they see their own code on a device the better the day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The simplest thing in Flutter and worth doing carefully because everything else is built on it.
THE SHAPE: extend StatelessWidget, take arguments in a const constructor, store them in final fields, return a tree from build. That is the whole contract.
super.key IS THE PARAMETER THEY WILL COPY WITHOUT UNDERSTANDING. Tell them plainly that keys are covered this afternoon and for now they should just include it. Saying "that comes later today" is much better than a vague half-answer.
ALL FIELDS ARE final, and the analyser enforces it. A widget is immutable configuration. If you want it to change, the parent gives you a new one.
Theme.of(context) IS THEIR FIRST LOOK UP THE TREE. Do not explain BuildContext in depth yet; say it is the widget's handle on its position, and that this afternoon covers it properly.
USING THE TEXT THEME RATHER THAN A FONT SIZE is a habit worth establishing from the first widget. titleLarge, bodyMedium. Never a raw fontSize. Day 7 explains why when they rebrand the app in one line.
THE DEFAULT CHOICE IS STATELESS. Say it now. Most widgets in a real app are stateless, and beginners reach for stateful far too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The simplest thing in Flutter and worth doing carefully because everything else is built on it.
THE SHAPE: extend StatelessWidget, take arguments in a const constructor, store them in final fields, return a tree from build. That is the whole contract.
super.key IS THE PARAMETER THEY WILL COPY WITHOUT UNDERSTANDING. Tell them plainly that keys are covered this afternoon and for now they should just include it. Saying "that comes later today" is much better than a vague half-answer.
ALL FIELDS ARE final, and the analyser enforces it. A widget is immutable configuration. If you want it to change, the parent gives you a new one.
Theme.of(context) IS THEIR FIRST LOOK UP THE TREE. Do not explain BuildContext in depth yet; say it is the widget's handle on its position, and that this afternoon covers it properly.
USING THE TEXT THEME RATHER THAN A FONT SIZE is a habit worth establishing from the first widget. titleLarge, bodyMedium. Never a raw fontSize. Day 7 explains why when they rebrand the app in one line.
THE DEFAULT CHOICE IS STATELESS. Say it now. Most widgets in a real app are stateless, and beginners reach for stateful far too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This is the hurdle, so take the time and connect it to the morning.
SHOW THE SHAPE FIRST: two classes, one extending StatefulWidget and one extending State. createState links them. The underscore on the state class makes it private to the file, which is Day 2 privacy showing up in real code.
NOW THE WHY, and this is the satisfying part. The widget is recreated every time its parent rebuilds, which may be sixty times a second. If the quantity lived in the widget, it would be reset sixty times a second. So it lives in the State, and the State is attached to the ELEMENT, which survives.
DRAW IT if you have to. Widget thrown away and recreated, element staying put, State hanging off the element.
widget.sku IS THE OTHER THING PEOPLE TRIP ON. From inside the State, the current configuration is reachable through the widget property. And it is always CURRENT: when the parent gives a new widget, Flutter swaps it in and widget.sku is the new value automatically.
THE NAMING CONVENTION: _QuantityPickerState, private, underscore-prefixed fields. Follow it; every Flutter codebase does.
THE COST OF STATEFUL: more ceremony, a lifecycle to respect, and something that has to be disposed. That is why stateless is the default and stateful is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This is the hurdle, so take the time and connect it to the morning.
SHOW THE SHAPE FIRST: two classes, one extending StatefulWidget and one extending State. createState links them. The underscore on the state class makes it private to the file, which is Day 2 privacy showing up in real code.
NOW THE WHY, and this is the satisfying part. The widget is recreated every time its parent rebuilds, which may be sixty times a second. If the quantity lived in the widget, it would be reset sixty times a second. So it lives in the State, and the State is attached to the ELEMENT, which survives.
DRAW IT if you have to. Widget thrown away and recreated, element staying put, State hanging off the element.
widget.sku IS THE OTHER THING PEOPLE TRIP ON. From inside the State, the current configuration is reachable through the widget property. And it is always CURRENT: when the parent gives a new widget, Flutter swaps it in and widget.sku is the new value automatically.
THE NAMING CONVENTION: _QuantityPickerState, private, underscore-prefixed fields. Follow it; every Flutter codebase does.
THE COST OF STATEFUL: more ceremony, a lifecycle to respect, and something that has to be disposed. That is why stateless is the default and stateful is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drill the two bugs on this slide because everybody writes both.
WHAT IT ACTUALLY DOES: marks this element dirty. Flutter rebuilds it on the next frame. It is a scheduling call, not an assignment, and the name is slightly misleading.
BUG ONE: changing a field outside setState. The value changes, nothing moves, and the developer stares at the screen. Demo it deliberately: increment without setState, tap the button, watch nothing happen, then add setState. Thirty seconds and it never confuses them again.
BUG TWO: an async callback inside setState. setState is synchronous; it takes a void callback and runs it immediately. An async callback returns a Future that nobody awaits, so the state is set at some unpredictable later point, if at all. The analyser does not always catch it.
THE CORRECT ASYNC SHAPE is on the slide and they will use it in every lab from here: setState to show loading, await the work, check mounted, setState with the result.
THE MOUNTED CHECK IS NOT OPTIONAL. Between the await starting and finishing, the user may have pressed back. The State is then gone, and calling setState on it throws. In a real app with real network latency this happens constantly.
SAY THE RULE PLAINLY: after every await, before touching setState or context, check mounted. There is a lint for it and Day 8 turns it on.
KEEP setState CALLBACKS TINY. Change the field and nothing else. Work belongs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drill the two bugs on this slide because everybody writes both.
WHAT IT ACTUALLY DOES: marks this element dirty. Flutter rebuilds it on the next frame. It is a scheduling call, not an assignment, and the name is slightly misleading.
BUG ONE: changing a field outside setState. The value changes, nothing moves, and the developer stares at the screen. Demo it deliberately: increment without setState, tap the button, watch nothing happen, then add setState. Thirty seconds and it never confuses them again.
BUG TWO: an async callback inside setState. setState is synchronous; it takes a void callback and runs it immediately. An async callback returns a Future that nobody awaits, so the state is set at some unpredictable later point, if at all. The analyser does not always catch it.
THE CORRECT ASYNC SHAPE is on the slide and they will use it in every lab from here: setState to show loading, await the work, check mounted, setState with the result.
THE MOUNTED CHECK IS NOT OPTIONAL. Between the await starting and finishing, the user may have pressed back. The State is then gone, and calling setState on it throws. In a real app with real network latency this happens constantly.
SAY THE RULE PLAINLY: after every await, before touching setState or context, check mounted. There is a lint for it and Day 8 turns it on.
KEEP setState CALLBACKS TINY. Change the field and nothing else. Work belongs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Four methods, and they only need two of them properly today.
initState: once, at creation. Create controllers, start subscriptions, kick off the first load. You must call super.initState first. You cannot safely use Theme.of or MediaQuery here, because inherited widgets are not ready; that is what didChangeDependencies is for.
build: often. Fast, pure, no side effects. They have heard this twice already and they will hear it again.
dispose: once, at the end. Release everything. Controllers, stream subscriptions, timers, animation controllers. Call super.dispose last.
THE RULE THAT MATTERS MOST: anything you create in initState, you destroy in dispose. Say it as a pair. It is the Flutter equivalent of closing a JDBC connection, and forgetting it is the most common leak in Flutter code.
CONNECT TO YESTERDAY: a StreamController created in initState must be closed in dispose. A subscription created there must be cancelled. That is exactly the warning from Day 4 arriving in its real context.
didChangeDependencies AND didUpdateWidget are worth naming so they recognise them, and neither is needed today. Do not go deep.
A NICE PARALLEL FOR THIS ROOM: initState is a constructor with context, dispose is close or destroy, and build is toString called by the framework. Rough, but it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Four methods, and they only need two of them properly today.
initState: once, at creation. Create controllers, start subscriptions, kick off the first load. You must call super.initState first. You cannot safely use Theme.of or MediaQuery here, because inherited widgets are not ready; that is what didChangeDependencies is for.
build: often. Fast, pure, no side effects. They have heard this twice already and they will hear it again.
dispose: once, at the end. Release everything. Controllers, stream subscriptions, timers, animation controllers. Call super.dispose last.
THE RULE THAT MATTERS MOST: anything you create in initState, you destroy in dispose. Say it as a pair. It is the Flutter equivalent of closing a JDBC connection, and forgetting it is the most common leak in Flutter code.
CONNECT TO YESTERDAY: a StreamController created in initState must be closed in dispose. A subscription created there must be cancelled. That is exactly the warning from Day 4 arriving in its real context.
didChangeDependencies AND didUpdateWidget are worth naming so they recognise them, and neither is needed today. Do not go deep.
A NICE PARALLEL FOR THIS ROOM: initState is a constructor with context, dispose is close or destroy, and build is toString called by the framework. Rough, but it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make it a discussion. Give them examples and ask which.
WORK THROUGH THESE OUT LOUD: the text currently typed in a field, stateful, because the controller lives there. A card showing an order line, stateless. Whether a panel is expanded, stateful. The order itself, neither, because the summary screen and the list screen both need it.
THE LAST BULLET IS THE MOST PRACTICAL ADVICE ON THE SLIDE and almost nobody does it at first. A screen goes stateful because one counter changes, and then the whole screen rebuilds for every keystroke. Making the counter its own small stateful widget keeps the rebuild tiny and the screen readable. That is the performance lesson of Day 8, available for free today.
THE NEITHER CATEGORY IS THE SETUP FOR DAY 7. Do not solve it now. Say plainly that setState cannot share a value between two screens, that everybody hits that wall, and that Day 7 is about what to do when you do.
CONNECT BACK TO DAY 2: this is the same conversation as where a field belongs on a class. Scope it as tightly as it will go, and no tighter.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40 minutes, hard stop. The first time most of the room has run their own Flutter code, so circulate constantly.
CHECKPOINTS: at 12 minutes the app runs with an empty Scaffold. At 25 minutes the buttons change the number. At 35 minutes the total updates.
STEP 8 IS THE ACTUAL LESSON. Tap the button up to twenty, then change a string in the source and hot reload. The twenty survives. That is the element tree from this morning, demonstrated on their own machine. Make everyone do it.
THE IMPORT PATH catches people: package:order_flow/features/orders/domain/order_model.dart, and it is case sensitive. Put the exact line on the whiteboard.
DELETING main FROM THE MODEL FILE is step one and people forget. Two main functions in a project gives a confusing error.
COMMON ERRORS: changing the field outside setState, so nothing moves. Forgetting the .rands extension is in the model file and not imported. Using a raw fontSize instead of the text theme, which is not an error but correct it now while the habit is forming. A stale test file from flutter create failing analyze, which they should already have deleted on Day 1.
IF SOMEBODY FINISHES EARLY, send them to the third stretch goal. Extracting the quantity row into its own stateful widget is exactly the lesson of the last module of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Ninety minutes including the lab.
DO NOT TEACH THIS AS A LIST OF WIDGETS. There are hundreds and nobody memorises them. Teach the six they will use every day, teach the rules that go with them, and teach them to search the catalogue for the rest.
SAY THAT OUT LOUD: "You are not expected to remember these. You are expected to know what exists and where to look. The widget catalogue on docs.flutter.dev is the reference, and your editor's autocomplete is faster than your memory."
THE DAY 6 BOUNDARY AGAIN: keep the layouts simple. Column and Center are allowed. Row, Expanded and the constraint system are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Type it up piece by piece on the projector, adding one property at a time and hot reloading.
Scaffold IS A LAYOUT CONTRACT, not decoration. It knows where the app bar goes, where the keyboard pushes the body, where a SnackBar appears, and how the floating action button avoids the bottom bar. Getting all that for free is why every screen uses one.
THE ANCHOR POINT MATTERS LATER: ScaffoldMessenger needs a Scaffold above it in the tree. That is the source of the most common BuildContext error in Flutter, and it is on the BuildContext slide this afternoon.
AppBar ACTIONS take a list of widgets, almost always IconButtons. Always set a tooltip: it is what a screen reader announces and there is an accessibility lint for it on Day 8.
NavigationBar IS THE MATERIAL 3 BOTTOM BAR. If they find BottomNavigationBar in an older tutorial, that is the Material 2 one. Mention it, because search results are full of the old name.
DO NOT GO INTO NESTED NAVIGATORS OR TABS. Day 7 covers navigation properly.
DEMO THE KEYBOARD BEHAVIOUR if you have an emulator handy: Scaffold resizes the body when the keyboard appears, which is a real problem it solves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Type it up piece by piece on the projector, adding one property at a time and hot reloading.
Scaffold IS A LAYOUT CONTRACT, not decoration. It knows where the app bar goes, where the keyboard pushes the body, where a SnackBar appears, and how the floating action button avoids the bottom bar. Getting all that for free is why every screen uses one.
THE ANCHOR POINT MATTERS LATER: ScaffoldMessenger needs a Scaffold above it in the tree. That is the source of the most common BuildContext error in Flutter, and it is on the BuildContext slide this afternoon.
AppBar ACTIONS take a list of widgets, almost always IconButtons. Always set a tooltip: it is what a screen reader announces and there is an accessibility lint for it on Day 8.
NavigationBar IS THE MATERIAL 3 BOTTOM BAR. If they find BottomNavigationBar in an older tutorial, that is the Material 2 one. Mention it, because search results are full of the old name.
DO NOT GO INTO NESTED NAVIGATORS OR TABS. Day 7 covers navigation properly.
DEMO THE KEYBOARD BEHAVIOUR if you have an emulator handy: Scaffold resizes the body when the keyboard appears, which is a real problem it solves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Text IS THE MOST USED WIDGET IN FLUTTER. Style from Theme.of(context).textTheme, never a raw fontSize. Establish that habit now; Day 7 shows the payoff when the whole app rebrands from one colour.
maxLines AND overflow: ellipsis WILL NOT WORK without a bounded width, and tomorrow explains why. If somebody tries it today and the text still overflows, tell them it is a layout problem and it is tomorrow's first topic.
Text.rich AND TextSpan for mixed styles in one paragraph. They will need it for money amounts inside a sentence.
Icons ARE A FONT, which surprises people. Icons.something, sized and coloured like text. There are thousands and the editor autocompletes them.
Image.asset NEEDS A pubspec ENTRY under flutter: assets:, with exactly two spaces of indentation, and a HOT RESTART afterwards. Assets are bundled at build time and are not hot-reloaded. That single sentence prevents the most common "unable to load asset" confusion.
Image.network SHOULD ALWAYS HAVE AN errorBuilder. A broken URL with no error builder throws a red screen at the user. Say it now; it is a production-quality habit that costs one line.
SEMANTIC LABELS on images matter for accessibility and appear again on Day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Text IS THE MOST USED WIDGET IN FLUTTER. Style from Theme.of(context).textTheme, never a raw fontSize. Establish that habit now; Day 7 shows the payoff when the whole app rebrands from one colour.
maxLines AND overflow: ellipsis WILL NOT WORK without a bounded width, and tomorrow explains why. If somebody tries it today and the text still overflows, tell them it is a layout problem and it is tomorrow's first topic.
Text.rich AND TextSpan for mixed styles in one paragraph. They will need it for money amounts inside a sentence.
Icons ARE A FONT, which surprises people. Icons.something, sized and coloured like text. There are thousands and the editor autocompletes them.
Image.asset NEEDS A pubspec ENTRY under flutter: assets:, with exactly two spaces of indentation, and a HOT RESTART afterwards. Assets are bundled at build time and are not hot-reloaded. That single sentence prevents the most common "unable to load asset" confusion.
Image.network SHOULD ALWAYS HAVE AN errorBuilder. A broken URL with no error builder throws a red screen at the user. Say it now; it is a production-quality habit that costs one line.
SEMANTIC LABELS on images matter for accessibility and appear again on Day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Container COMPOSES several widgets: padding, alignment, decoration, constraints. It is convenient and it is the first thing every beginner reaches for.
THE FOUR RULES ON THE SLIDE ARE ALL REAL BUGS. Read them out.
One: width and height are preferences, not commands. The parent's constraints win, and tomorrow explains the whole system. Today just say that a Container will not always be the size you asked for and that is not a bug.
Two: colour and decoration together throws an assertion. Put the colour inside BoxDecoration. Everyone hits this once.
Three: margin outside, padding inside.
Four: setting alignment makes the Container expand to fill its parent, which catches people when a small card suddenly takes the whole screen.
THE ADVICE: prefer the specific widget. Padding for padding, SizedBox for a gap, Align for alignment, Card for a card. They say what they mean, they are cheaper, and the analyser will nag you towards SizedBox anyway.
Card IS WORTH HIGHLIGHTING because Lab 5.2 uses it. Card plus ListTile gives you a professional-looking row for almost no code, and it is the single fastest way to make a screen look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THE FAMILY: FilledButton is the primary action, OutlinedButton is secondary, TextButton is low emphasis, IconButton is icon-only, FloatingActionButton is one screen-level action.
THE RULE FOR A SCREEN: one filled button. If everything is emphasised, nothing is. That is a design rule the developers in this room will happily follow once someone states it.
ElevatedButton STILL EXISTS and appears in every older tutorial. In Material 3 the current choice is FilledButton. Mention it so search results do not confuse them.
onPressed: null DISABLES ANY BUTTON and greys it out automatically. That is the Flutter idiom, and it is much better than hiding the button, because a disappearing button is confusing and an obviously disabled one is not.
THE .icon VARIANT exists on all of them and is what you want whenever the action benefits from a symbol.
TOOLTIPS ON ICON BUTTONS ARE NOT OPTIONAL. An icon with no tooltip is unreadable to a screen reader and ambiguous to everyone else. There is a lint for it on Day 8.
DEMO THE DISABLED STATE, because Lab 5.2 requires it: pass null and watch the button grey out with no extra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THE FAMILY: FilledButton is the primary action, OutlinedButton is secondary, TextButton is low emphasis, IconButton is icon-only, FloatingActionButton is one screen-level action.
THE RULE FOR A SCREEN: one filled button. If everything is emphasised, nothing is. That is a design rule the developers in this room will happily follow once someone states it.
ElevatedButton STILL EXISTS and appears in every older tutorial. In Material 3 the current choice is FilledButton. Mention it so search results do not confuse them.
onPressed: null DISABLES ANY BUTTON and greys it out automatically. That is the Flutter idiom, and it is much better than hiding the button, because a disappearing button is confusing and an obviously disabled one is not.
THE .icon VARIANT exists on all of them and is what you want whenever the action benefits from a symbol.
TOOLTIPS ON ICON BUTTONS ARE NOT OPTIONAL. An icon with no tooltip is unreadable to a screen reader and ambiguous to everyone else. There is a lint for it on Day 8.
DEMO THE DISABLED STATE, because Lab 5.2 requires it: pass null and watch the button grey out with no extra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Three APIs, one pattern.
SnackBar GOES THROUGH ScaffoldMessenger, not through the Scaffold directly. It survives navigation, which is why it is a separate thing.
showDialog RETURNS whatever Navigator.pop sends back, typed by the generic parameter. That is a neat design and people miss it: the dialog's result comes back as an awaited value rather than through a callback.
THE ctx VERSUS context TRAP: inside the builder you get a new context, and you must pop with THAT one. Popping with the outer context closes the wrong route. Name it explicitly, because the symptom is bizarre.
THE MOUNTED CHECK AGAIN, and this is the third time today. After awaiting a dialog, the user may have navigated away. Check context.mounted before showing a SnackBar. There is a lint called use_build_context_synchronously that catches it.
NEVER SHOW A DIALOG FROM build(). It is a side effect and build may run sixty times a second. The symptom is an infinite stack of dialogs and it is genuinely alarming the first time. Say it now.
SAY WHERE THIS GOES: Lab 5.2 asks for a confirmation dialog followed by a SnackBar, which is exactly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Three APIs, one pattern.
SnackBar GOES THROUGH ScaffoldMessenger, not through the Scaffold directly. It survives navigation, which is why it is a separate thing.
showDialog RETURNS whatever Navigator.pop sends back, typed by the generic parameter. That is a neat design and people miss it: the dialog's result comes back as an awaited value rather than through a callback.
THE ctx VERSUS context TRAP: inside the builder you get a new context, and you must pop with THAT one. Popping with the outer context closes the wrong route. Name it explicitly, because the symptom is bizarre.
THE MOUNTED CHECK AGAIN, and this is the third time today. After awaiting a dialog, the user may have navigated away. Check context.mounted before showing a SnackBar. There is a lint called use_build_context_synchronously that catches it.
NEVER SHOW A DIALOG FROM build(). It is a side effect and build may run sixty times a second. The symptom is an infinite stack of dialogs and it is genuinely alarming the first time. Say it now.
SAY WHERE THIS GOES: Lab 5.2 asks for a confirmation dialog followed by a SnackBar, which is exactly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make the professional point rather than the syntax point.
THE SYNTAX IS TRIVIAL: CircularProgressIndicator, and returning it instead of the content while loading.
THE PROFESSIONAL POINT IS NOT TRIVIAL. In most applications, at least one screen shows nothing at all while loading, and at least one shows a blank area when a list is empty. Both look broken to a user and neither is caught by a test.
THE IN-BUTTON SPINNER is a pattern worth having in their pocket: disable the button, swap the icon for a small spinner, change the label. It prevents double submits and it tells the user something is happening. Three lines.
THE EMPTY STATE DESERVES DESIGN: an icon, a sentence, and often an action. Lab 5.2 has one and Lab 5.3 extracts it into its own widget.
CONNECT FORWARD TO DAY 7, and this is the good bit: the sealed OrderState from Day 3 has an explicit loading case and an explicit failure case. When they wire this up properly, the compiler will not let them forget either one. Say that now and it pays off on Day 7.
THIS IS THE MOMENT to remind them that four days ago they modelled exactly these states in DartPad, and they were right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40 minutes, hard stop. The day's centrepiece, and the first screen that looks like a real application.
CHECKPOINTS: at 12 minutes the header and one card render. At 25 minutes all three lines and the subtotal. At 35 minutes the dialog works.
SHOW YOUR FINISHED VERSION BEFORE THEY START. Thirty seconds on the projector. People build far more confidently when they know what they are aiming at, and it costs you nothing.
STEP 8 AND 9 ARE THE PROFESSIONAL HABITS. The empty state and the disabled button are what separate a demo from an application, and testing the empty case by emptying the list is a habit worth forming.
THE COLLECTION-FOR FROM DAY 2 ARRIVES HERE. Building one Card per line inside a Column with a for loop is exactly what they learned, and now it is in its natural home. Point that out when somebody uses it.
COMMON ERRORS: forgetting the mounted check after the dialog await, which the analyser will flag. Popping with the outer context. Text overflowing, which is a layout problem and belongs to tomorrow, so tell them to shorten the string for today. Nesting Cards inside Cards by accident.
IF SOMEBODY ASKS WHY THE LIST IS NOT SCROLLING, that is tomorrow. A Column does not scroll. Acknowledge it, name it,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last hour, and it is the one that most improves the code they will write next week.
THE THREE HABITS: extract widgets, use const, use keys when siblings move. The first one is the most valuable thing in the whole day.
END ON THE LAB so people leave having just improved their own code rather than having watched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demo the refactor live on their Lab 5.2 code.
THE MECHANIC: cursor on a subtree, Ctrl+. or Cmd+., Extract Widget, give it a name. The editor writes the class, moves the code, and passes the parameters. It takes five seconds.
DO IT ON THE PROJECTOR with the Card from Lab 5.2. Watching it happen is worth more than describing it.
THE CLASS VERSUS METHOD ARGUMENT IS THE REAL CONTENT and a senior room will ask. A private method returning a widget works and is tempting. But a method's output rebuilds whenever the parent rebuilds, it can never be const, it gets no element of its own, and it cannot be tested in isolation. A class gets all four.
SAY IT AS A RULE: helper methods that return widgets are the one Flutter habit worth actively unlearning. They are everywhere in tutorials and they are a quiet performance tax.
THE READABILITY ARGUMENT IS THE ONE THAT WINS PEOPLE OVER. A build method that reads as five named widgets tells you what the screen is. A build method of a hundred and twenty lines tells you nothing.
WHERE TO PUT THEM: a small private widget in the same file is idiomatic, which is Day 2 file privacy again. Anything reused across screens goes into its own file under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demo the refactor live on their Lab 5.2 code.
THE MECHANIC: cursor on a subtree, Ctrl+. or Cmd+., Extract Widget, give it a name. The editor writes the class, moves the code, and passes the parameters. It takes five seconds.
DO IT ON THE PROJECTOR with the Card from Lab 5.2. Watching it happen is worth more than describing it.
THE CLASS VERSUS METHOD ARGUMENT IS THE REAL CONTENT and a senior room will ask. A private method returning a widget works and is tempting. But a method's output rebuilds whenever the parent rebuilds, it can never be const, it gets no element of its own, and it cannot be tested in isolation. A class gets all four.
SAY IT AS A RULE: helper methods that return widgets are the one Flutter habit worth actively unlearning. They are everywhere in tutorials and they are a quiet performance tax.
THE READABILITY ARGUMENT IS THE ONE THAT WINS PEOPLE OVER. A build method that reads as five named widgets tells you what the screen is. A build method of a hundred and twenty lines tells you nothing.
WHERE TO PUT THEM: a small private widget in the same file is idiomatic, which is Day 2 file privacy again. Anything reused across screens goes into its own file under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Connect it all the way back to Day 1.
REMIND THEM OF DAY 1: two const lists with the same contents are literally the same object. They ran identical() and saw true. This is that fact, doing real work.
WHAT IT BUYS: when Flutter rebuilds and encounters a widget instance identical to the one already there, it knows nothing changed and skips the whole subtree. No rebuild, no layout, no paint.
SAY THIS CLEARLY: in Flutter, const is not a style preference. It is a performance mechanism and it is the cheapest one available, because the compiler does the work.
IT CASCADES: a const Column with const children is one object for the whole subtree. Point that out on the slide.
YOU CANNOT ALWAYS USE IT, and that is fine. Text(order.id) depends on a runtime value. The analyser knows the difference and will tell you.
dart fix --apply IS THE PRACTICAL TOOL. It adds every missing const across the project in one pass. Demo it: run the dry run, read the count, apply it, and show the diff. Lab 5.3 asks them to do exactly that.
THE HABIT TO FORM: type const first and let the compiler correct you. It is faster than deciding.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explain the mechanism rather than the rule, because the rule without the mechanism does not stick.
THE MECHANISM, and this is the morning's three trees paying off: when rebuilding, Flutter matches new widgets to existing elements by TYPE and POSITION. Same type in the same slot means the element is reused.
NOW THE PROBLEM: remove the first item from a list of ten. Every remaining widget moves up one position. Flutter matches by position, so the element that held item two's state now hosts item one's widget. If those widgets have state, the state stays behind and you get a checkbox ticked on the wrong row.
THAT EXACT BUG IS WORTH DESCRIBING because it is real, it is common, and it looks like witchcraft when you meet it. Tick a checkbox, delete a row above it, and a different row is now ticked.
THE FIX: a key that identifies the ITEM rather than the position. ValueKey(line.sku). Now Flutter matches by key and the state follows the item.
NEVER USE THE INDEX, and say it twice. The index is the position, and the position is exactly what changed. ValueKey(i) looks like it is doing something and does nothing at all.
WHEN YOU DO NOT NEED ONE: the list never reorders, or the children have no state. Most static lists need no keys and adding them everywhere is noise.
GlobalKey IS A DIFFERENT ANIMAL: it identifies a widget across the whole app and gives you access to its State from outside. They will use exactly one all week, on a Form on Day 7. Say that so the word is not new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Demystify it, because it is the parameter everyone passes around without knowing what it is.
WHAT IT IS: a reference to this widget's element, which is its position in the tree. Not a service locator, not the widget itself, not a container of dependencies.
WHAT THE of() METHODS DO: walk UP the tree from that position looking for the nearest ancestor of a particular type. Theme.of finds the nearest Theme. Navigator.of finds the nearest Navigator.
THE CONSEQUENCE THAT MATTERS: if the thing you are looking for is BELOW your context, the lookup fails. That is the classic error and the code shows it: Scaffold is created inside this build method, so context here is ABOVE it, and ScaffoldMessenger.of(context) throws.
DEMO THAT ERROR if you have five minutes. The message is long and unusually good, and reading a real Flutter error out loud teaches them to read the next one.
THE TWO FIXES: a Builder widget, which exists purely to give you a context one level lower, or splitting the widget in two so the inner one has a context below the Scaffold. The second is usually cleaner and it is another argument for extracting widgets.
THE MOUNTED RULE, for the fourth time today: after an await, the widget may be gone, and a context belonging to a dead element is not safe. if (!context.mounted) return.
DO NOT GO INTO InheritedWidget. It is the mechanism underneath of(), and it belongs to Day 7 where it explains state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Demystify it, because it is the parameter everyone passes around without knowing what it is.
WHAT IT IS: a reference to this widget's element, which is its position in the tree. Not a service locator, not the widget itself, not a container of dependencies.
WHAT THE of() METHODS DO: walk UP the tree from that position looking for the nearest ancestor of a particular type. Theme.of finds the nearest Theme. Navigator.of finds the nearest Navigator.
THE CONSEQUENCE THAT MATTERS: if the thing you are looking for is BELOW your context, the lookup fails. That is the classic error and the code shows it: Scaffold is created inside this build method, so context here is ABOVE it, and ScaffoldMessenger.of(context) throws.
DEMO THAT ERROR if you have five minutes. The message is long and unusually good, and reading a real Flutter error out loud teaches them to read the next one.
THE TWO FIXES: a Builder widget, which exists purely to give you a context one level lower, or splitting the widget in two so the inner one has a context below the Scaffold. The second is usually cleaner and it is another argument for extracting widgets.
THE MOUNTED RULE, for the fourth time today: after an await, the widget may be gone, and a context belonging to a dead element is not safe. if (!context.mounted) return.
DO NOT GO INTO InheritedWidget. It is the mechanism underneath of(), and it belongs to Day 7 where it explains state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30 minutes, hard stop at 15:55. The lightest lab of the day and the one with the most lasting value.
CHECKPOINTS: at 10 minutes two widgets extracted. At 20 minutes all four and the build method readable.
USE THE EDITOR REFACTOR rather than cutting and pasting. Demonstrate it once more at the start; several people will still do it by hand and be slower.
STEP 6 IS SATISFYING AND WORTH SHARING. Get people to call out how many const keywords dart fix added. Numbers in the teens are common and it makes the point better than any explanation.
STEP 8 IS THE DISCIPLINE. Compare before and after on the device. If it looks different, something was changed rather than moved.
THE THIRD STRETCH GOAL IS THE BEST DEMONSTRATION OF KEYS available in thirty seconds, and it is worth doing on the projector at the hard stop even if nobody tried it. Key by index, reorder, and watch the wrong thing move.
COMMON ERRORS: forgetting super.key on an extracted widget, which the editor usually adds for you. Passing the whole order to a widget that only needs one line, which works and is worth a gentle note about keeping parameters narrow. Leaving a widget stateful when it no longer needs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Five minutes. A good day to recap carefully, because a lot of small rules landed.
ASK THIS: "what surprised you most about Flutter today?" The answer is usually either that there is no XML or that the whole screen rebuilds. Both are good openings for a two-minute reinforcement.
NAME WHAT THEY BUILT: a real screen, with their own domain model, a confirmation dialog, a disabled state and an empty state. That is a professional screen, built on their first day of Flutter.
SET UP TOMORROW HONESTLY: "Today the layouts were deliberately simple. Tomorrow is layout, all day, and it is where every Flutter beginner loses time. The good news is that it is one rule, and once you have it, layout errors become obvious rather than mysterious."
SET THE HOMEWORK PROPERLY. The constraints document is the single best page Flutter has published and tomorrow goes much better for people who have read it.
PRESENTER, TONIGHT: make sure everyone's Lab 5.3 builds, because tomorrow starts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DOCUMENT: it is the best page Flutter has ever published, it is genuinely readable, and it is the difference between people who fight the layout system and people who use it.
SELL IT LIKE THIS: "Tomorrow morning somebody will get an error saying a RenderFlex overflowed by forty-two pixels. Everybody does. The people who read this tonight will fix it in ten seconds. The people who did not will spend twenty minutes finding an answer on Stack Overflow that says wrap it in Expanded without saying why."
NAME THE THREE VOLUNTEERS BEFORE THEY LEAVE THE ROOM. An unnamed slot gets filled by nobody and you lose the opening.
EXPECTED: Q1 constraints go down, sizes go up, the parent sets the position. Q2 inside Center the constraints are loose but bounded so the Container expands to fill; inside a Column the main axis is unbounded, so "as big as possible" has no answer and it collapses to zero. Q3 unbounded means the maximum is infinity: ListView, SingleChildScrollView, and the main axis of Row and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Today's risk is scope creep into layout. Row, Column, Expanded and scrolling are tomorrow and there is a whole day for them. Every minute you spend on layout today is stolen from the widget model, which is the thing that has to land first.
THE SECOND RISK is that concepts overrun and nobody types anything before lunch. Get to Lab 5.1 by 11:45 whatever happens.
READING ERRORS OUT LOUD IS UNDERRATED. Flutter's error messages are long, and people learn to ignore long messages. Reading one properly, on the projector, showing that it names the widget and suggests the fix, changes how the room debugs for the rest of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 the projector at every hard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they will use most from this handbook. Tell them it is there so nobody photographs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the second display. The first three rows cover most of the first day of Flutter.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are in the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262872" y="-1463040"/>
            <a:ext cx="4754880" cy="4754880"/>
          </a:xfrm>
          <a:prstGeom prst="ellipse">
            <a:avLst/>
          </a:prstGeom>
          <a:solidFill>
            <a:srgbClr val="434C5E"/>
          </a:solidFill>
          <a:ln w="12700">
            <a:solidFill>
              <a:srgbClr val="434C5E"/>
            </a:solidFill>
            <a:prstDash val="solid"/>
          </a:ln>
        </p:spPr>
      </p:sp>
      <p:sp>
        <p:nvSpPr>
          <p:cNvPr id="3" name="Shape 1"/>
          <p:cNvSpPr/>
          <p:nvPr/>
        </p:nvSpPr>
        <p:spPr>
          <a:xfrm>
            <a:off x="10543032" y="4480560"/>
            <a:ext cx="3108960" cy="3108960"/>
          </a:xfrm>
          <a:prstGeom prst="ellipse">
            <a:avLst/>
          </a:prstGeom>
          <a:solidFill>
            <a:srgbClr val="2A9D8F"/>
          </a:solidFill>
          <a:ln w="12700">
            <a:solidFill>
              <a:srgbClr val="2A9D8F"/>
            </a:solidFill>
            <a:prstDash val="solid"/>
          </a:ln>
        </p:spPr>
      </p:sp>
      <p:sp>
        <p:nvSpPr>
          <p:cNvPr id="4" name="Text 2"/>
          <p:cNvSpPr txBox="1"/>
          <p:nvPr/>
        </p:nvSpPr>
        <p:spPr>
          <a:xfrm>
            <a:off x="548640" y="731520"/>
            <a:ext cx="7315200" cy="365760"/>
          </a:xfrm>
          <a:prstGeom prst="rect">
            <a:avLst/>
          </a:prstGeom>
          <a:noFill/>
          <a:ln/>
        </p:spPr>
        <p:txBody>
          <a:bodyPr wrap="square" lIns="0" tIns="0" rIns="0" bIns="0" rtlCol="0" anchor="ctr"/>
          <a:lstStyle/>
          <a:p>
            <a:pPr indent="0" marL="0">
              <a:buNone/>
            </a:pPr>
            <a:r>
              <a:rPr lang="en-US" sz="1200" spc="400" kern="0" dirty="0">
                <a:solidFill>
                  <a:srgbClr val="6FC5B8"/>
                </a:solidFill>
                <a:latin typeface="Calibri" pitchFamily="34" charset="0"/>
                <a:ea typeface="Calibri" pitchFamily="34" charset="-122"/>
                <a:cs typeface="Calibri" pitchFamily="34" charset="-120"/>
              </a:rPr>
              <a:t>TECHNICAL TRAINING</a:t>
            </a:r>
            <a:endParaRPr lang="en-US" sz="1200" dirty="0"/>
          </a:p>
        </p:txBody>
      </p:sp>
      <p:sp>
        <p:nvSpPr>
          <p:cNvPr id="5" name="Text 3"/>
          <p:cNvSpPr txBox="1"/>
          <p:nvPr/>
        </p:nvSpPr>
        <p:spPr>
          <a:xfrm>
            <a:off x="548640" y="1371600"/>
            <a:ext cx="8229600" cy="548640"/>
          </a:xfrm>
          <a:prstGeom prst="rect">
            <a:avLst/>
          </a:prstGeom>
          <a:noFill/>
          <a:ln/>
        </p:spPr>
        <p:txBody>
          <a:bodyPr wrap="square" lIns="0" tIns="0" rIns="0" bIns="0" rtlCol="0" anchor="ctr"/>
          <a:lstStyle/>
          <a:p>
            <a:pPr indent="0" marL="0">
              <a:buNone/>
            </a:pPr>
            <a:r>
              <a:rPr lang="en-US" sz="1800" dirty="0">
                <a:solidFill>
                  <a:srgbClr val="D7DEE8"/>
                </a:solidFill>
                <a:latin typeface="Calibri" pitchFamily="34" charset="0"/>
                <a:ea typeface="Calibri" pitchFamily="34" charset="-122"/>
                <a:cs typeface="Calibri" pitchFamily="34" charset="-120"/>
              </a:rPr>
              <a:t>Flutter for Java Developers · 8-Day Programme</a:t>
            </a:r>
            <a:endParaRPr lang="en-US" sz="1800" dirty="0"/>
          </a:p>
        </p:txBody>
      </p:sp>
      <p:sp>
        <p:nvSpPr>
          <p:cNvPr id="6" name="Text 4"/>
          <p:cNvSpPr txBox="1"/>
          <p:nvPr/>
        </p:nvSpPr>
        <p:spPr>
          <a:xfrm>
            <a:off x="548640" y="2103120"/>
            <a:ext cx="8686800" cy="146304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Day 5</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Flutter Foundations</a:t>
            </a:r>
            <a:endParaRPr lang="en-US" sz="4800" dirty="0"/>
          </a:p>
        </p:txBody>
      </p:sp>
      <p:sp>
        <p:nvSpPr>
          <p:cNvPr id="7" name="Text 5"/>
          <p:cNvSpPr txBox="1"/>
          <p:nvPr/>
        </p:nvSpPr>
        <p:spPr>
          <a:xfrm>
            <a:off x="548640" y="3657600"/>
            <a:ext cx="8229600" cy="731520"/>
          </a:xfrm>
          <a:prstGeom prst="rect">
            <a:avLst/>
          </a:prstGeom>
          <a:noFill/>
          <a:ln/>
        </p:spPr>
        <p:txBody>
          <a:bodyPr wrap="square" lIns="0" tIns="0" rIns="0" bIns="0" rtlCol="0" anchor="ctr"/>
          <a:lstStyle/>
          <a:p>
            <a:pPr indent="0" marL="0">
              <a:buNone/>
            </a:pPr>
            <a:r>
              <a:rPr lang="en-US" sz="2000" dirty="0">
                <a:solidFill>
                  <a:srgbClr val="6FC5B8"/>
                </a:solidFill>
                <a:latin typeface="Calibri" pitchFamily="34" charset="0"/>
                <a:ea typeface="Calibri" pitchFamily="34" charset="-122"/>
                <a:cs typeface="Calibri" pitchFamily="34" charset="-120"/>
              </a:rPr>
              <a:t>Everything is a widget · Stateless and stateful · The catalogue · Composition</a:t>
            </a:r>
            <a:endParaRPr lang="en-US" sz="2000" dirty="0"/>
          </a:p>
        </p:txBody>
      </p:sp>
      <p:sp>
        <p:nvSpPr>
          <p:cNvPr id="8" name="Text 6"/>
          <p:cNvSpPr txBox="1"/>
          <p:nvPr/>
        </p:nvSpPr>
        <p:spPr>
          <a:xfrm>
            <a:off x="548640" y="5760720"/>
            <a:ext cx="8229600" cy="457200"/>
          </a:xfrm>
          <a:prstGeom prst="rect">
            <a:avLst/>
          </a:prstGeom>
          <a:noFill/>
          <a:ln/>
        </p:spPr>
        <p:txBody>
          <a:bodyPr wrap="square" lIns="0" tIns="0" rIns="0" bIns="0" rtlCol="0" anchor="ctr"/>
          <a:lstStyle/>
          <a:p>
            <a:pPr indent="0" marL="0">
              <a:buNone/>
            </a:pPr>
            <a:r>
              <a:rPr lang="en-US" sz="1200" dirty="0">
                <a:solidFill>
                  <a:srgbClr val="AAB6C4"/>
                </a:solidFill>
                <a:latin typeface="Calibri" pitchFamily="34" charset="0"/>
                <a:ea typeface="Calibri" pitchFamily="34" charset="-122"/>
                <a:cs typeface="Calibri" pitchFamily="34" charset="-120"/>
              </a:rPr>
              <a:t>The first day on a screen  ·  Day 5 of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Day 5 agenda</a:t>
            </a:r>
            <a:endParaRPr lang="en-US" sz="3000" dirty="0"/>
          </a:p>
        </p:txBody>
      </p:sp>
      <p:sp>
        <p:nvSpPr>
          <p:cNvPr id="3" name="Shape 1"/>
          <p:cNvSpPr/>
          <p:nvPr/>
        </p:nvSpPr>
        <p:spPr>
          <a:xfrm>
            <a:off x="548640"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4" name="Shape 2"/>
          <p:cNvSpPr/>
          <p:nvPr/>
        </p:nvSpPr>
        <p:spPr>
          <a:xfrm>
            <a:off x="822960" y="1600200"/>
            <a:ext cx="548640" cy="548640"/>
          </a:xfrm>
          <a:prstGeom prst="ellipse">
            <a:avLst/>
          </a:prstGeom>
          <a:solidFill>
            <a:srgbClr val="2A9D8F"/>
          </a:solidFill>
          <a:ln w="12700">
            <a:solidFill>
              <a:srgbClr val="2A9D8F"/>
            </a:solidFill>
            <a:prstDash val="solid"/>
          </a:ln>
        </p:spPr>
      </p:sp>
      <p:sp>
        <p:nvSpPr>
          <p:cNvPr id="5" name="Text 3"/>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08760"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09:00 - 10:30</a:t>
            </a:r>
            <a:endParaRPr lang="en-US" sz="1000" dirty="0"/>
          </a:p>
        </p:txBody>
      </p:sp>
      <p:sp>
        <p:nvSpPr>
          <p:cNvPr id="7" name="Text 5"/>
          <p:cNvSpPr txBox="1"/>
          <p:nvPr/>
        </p:nvSpPr>
        <p:spPr>
          <a:xfrm>
            <a:off x="1508760"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The widget model</a:t>
            </a:r>
            <a:endParaRPr lang="en-US" sz="1500" dirty="0"/>
          </a:p>
        </p:txBody>
      </p:sp>
      <p:sp>
        <p:nvSpPr>
          <p:cNvPr id="8" name="Text 6"/>
          <p:cNvSpPr txBox="1"/>
          <p:nvPr/>
        </p:nvSpPr>
        <p:spPr>
          <a:xfrm>
            <a:off x="822960"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Declarative against imperative</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Everything is a widget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The widget, element and render trees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Why rebuilding is cheap</a:t>
            </a:r>
            <a:endParaRPr lang="en-US" sz="1200" dirty="0"/>
          </a:p>
        </p:txBody>
      </p:sp>
      <p:sp>
        <p:nvSpPr>
          <p:cNvPr id="9" name="Shape 7"/>
          <p:cNvSpPr/>
          <p:nvPr/>
        </p:nvSpPr>
        <p:spPr>
          <a:xfrm>
            <a:off x="3390138"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0" name="Shape 8"/>
          <p:cNvSpPr/>
          <p:nvPr/>
        </p:nvSpPr>
        <p:spPr>
          <a:xfrm>
            <a:off x="3664458" y="1600200"/>
            <a:ext cx="548640" cy="548640"/>
          </a:xfrm>
          <a:prstGeom prst="ellipse">
            <a:avLst/>
          </a:prstGeom>
          <a:solidFill>
            <a:srgbClr val="2A9D8F"/>
          </a:solidFill>
          <a:ln w="12700">
            <a:solidFill>
              <a:srgbClr val="2A9D8F"/>
            </a:solidFill>
            <a:prstDash val="solid"/>
          </a:ln>
        </p:spPr>
      </p:sp>
      <p:sp>
        <p:nvSpPr>
          <p:cNvPr id="11" name="Text 9"/>
          <p:cNvSpPr txBox="1"/>
          <p:nvPr/>
        </p:nvSpPr>
        <p:spPr>
          <a:xfrm>
            <a:off x="3664458"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350258"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10:45 - 12:30</a:t>
            </a:r>
            <a:endParaRPr lang="en-US" sz="1000" dirty="0"/>
          </a:p>
        </p:txBody>
      </p:sp>
      <p:sp>
        <p:nvSpPr>
          <p:cNvPr id="13" name="Text 11"/>
          <p:cNvSpPr txBox="1"/>
          <p:nvPr/>
        </p:nvSpPr>
        <p:spPr>
          <a:xfrm>
            <a:off x="4350258"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Stateless and stateful</a:t>
            </a:r>
            <a:endParaRPr lang="en-US" sz="1500" dirty="0"/>
          </a:p>
        </p:txBody>
      </p:sp>
      <p:sp>
        <p:nvSpPr>
          <p:cNvPr id="14" name="Text 12"/>
          <p:cNvSpPr txBox="1"/>
          <p:nvPr/>
        </p:nvSpPr>
        <p:spPr>
          <a:xfrm>
            <a:off x="3664458"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StatelessWidget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StatefulWidget and State</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setState, and the mounted check</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5.1 - your first interactive screen</a:t>
            </a:r>
            <a:endParaRPr lang="en-US" sz="1200" dirty="0"/>
          </a:p>
        </p:txBody>
      </p:sp>
      <p:sp>
        <p:nvSpPr>
          <p:cNvPr id="15" name="Shape 13"/>
          <p:cNvSpPr/>
          <p:nvPr/>
        </p:nvSpPr>
        <p:spPr>
          <a:xfrm>
            <a:off x="6231636"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6" name="Shape 14"/>
          <p:cNvSpPr/>
          <p:nvPr/>
        </p:nvSpPr>
        <p:spPr>
          <a:xfrm>
            <a:off x="6505956" y="1600200"/>
            <a:ext cx="548640" cy="548640"/>
          </a:xfrm>
          <a:prstGeom prst="ellipse">
            <a:avLst/>
          </a:prstGeom>
          <a:solidFill>
            <a:srgbClr val="2A9D8F"/>
          </a:solidFill>
          <a:ln w="12700">
            <a:solidFill>
              <a:srgbClr val="2A9D8F"/>
            </a:solidFill>
            <a:prstDash val="solid"/>
          </a:ln>
        </p:spPr>
      </p:sp>
      <p:sp>
        <p:nvSpPr>
          <p:cNvPr id="17" name="Text 15"/>
          <p:cNvSpPr txBox="1"/>
          <p:nvPr/>
        </p:nvSpPr>
        <p:spPr>
          <a:xfrm>
            <a:off x="6505956"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191756"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13:15 - 14:45</a:t>
            </a:r>
            <a:endParaRPr lang="en-US" sz="1000" dirty="0"/>
          </a:p>
        </p:txBody>
      </p:sp>
      <p:sp>
        <p:nvSpPr>
          <p:cNvPr id="19" name="Text 17"/>
          <p:cNvSpPr txBox="1"/>
          <p:nvPr/>
        </p:nvSpPr>
        <p:spPr>
          <a:xfrm>
            <a:off x="7191756"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The catalogue</a:t>
            </a:r>
            <a:endParaRPr lang="en-US" sz="1500" dirty="0"/>
          </a:p>
        </p:txBody>
      </p:sp>
      <p:sp>
        <p:nvSpPr>
          <p:cNvPr id="20" name="Text 18"/>
          <p:cNvSpPr txBox="1"/>
          <p:nvPr/>
        </p:nvSpPr>
        <p:spPr>
          <a:xfrm>
            <a:off x="6505956"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Scaffold, AppBar, buttons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Text, Icon, Image, Container</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SnackBars, dialogs, progress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5.2 - the order summary screen</a:t>
            </a:r>
            <a:endParaRPr lang="en-US" sz="1200" dirty="0"/>
          </a:p>
        </p:txBody>
      </p:sp>
      <p:sp>
        <p:nvSpPr>
          <p:cNvPr id="21" name="Shape 19"/>
          <p:cNvSpPr/>
          <p:nvPr/>
        </p:nvSpPr>
        <p:spPr>
          <a:xfrm>
            <a:off x="9073134"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22" name="Shape 20"/>
          <p:cNvSpPr/>
          <p:nvPr/>
        </p:nvSpPr>
        <p:spPr>
          <a:xfrm>
            <a:off x="9347454" y="1600200"/>
            <a:ext cx="548640" cy="548640"/>
          </a:xfrm>
          <a:prstGeom prst="ellipse">
            <a:avLst/>
          </a:prstGeom>
          <a:solidFill>
            <a:srgbClr val="2A9D8F"/>
          </a:solidFill>
          <a:ln w="12700">
            <a:solidFill>
              <a:srgbClr val="2A9D8F"/>
            </a:solidFill>
            <a:prstDash val="solid"/>
          </a:ln>
        </p:spPr>
      </p:sp>
      <p:sp>
        <p:nvSpPr>
          <p:cNvPr id="23" name="Text 21"/>
          <p:cNvSpPr txBox="1"/>
          <p:nvPr/>
        </p:nvSpPr>
        <p:spPr>
          <a:xfrm>
            <a:off x="9347454"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0033254"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15:00 - 16:00</a:t>
            </a:r>
            <a:endParaRPr lang="en-US" sz="1000" dirty="0"/>
          </a:p>
        </p:txBody>
      </p:sp>
      <p:sp>
        <p:nvSpPr>
          <p:cNvPr id="25" name="Text 23"/>
          <p:cNvSpPr txBox="1"/>
          <p:nvPr/>
        </p:nvSpPr>
        <p:spPr>
          <a:xfrm>
            <a:off x="10033254"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Composition</a:t>
            </a:r>
            <a:endParaRPr lang="en-US" sz="1500" dirty="0"/>
          </a:p>
        </p:txBody>
      </p:sp>
      <p:sp>
        <p:nvSpPr>
          <p:cNvPr id="26" name="Text 24"/>
          <p:cNvSpPr txBox="1"/>
          <p:nvPr/>
        </p:nvSpPr>
        <p:spPr>
          <a:xfrm>
            <a:off x="9347454"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Extract Widget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const, and why it matters here</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Keys, and when you need one</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5.3 - break it into widgets</a:t>
            </a:r>
            <a:endParaRPr lang="en-US" sz="1200" dirty="0"/>
          </a:p>
        </p:txBody>
      </p:sp>
      <p:sp>
        <p:nvSpPr>
          <p:cNvPr id="27" name="Text 2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28" name="Text 2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1  ·  09:15 - 10:30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The widget model</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the difference between describing a screen and updating one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Say what a widget is and why there are so many of them</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Describe the widget, element and render trees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why creating thousands of widgets a second is fine</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Describing a screen, not updating one</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shift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IMPERATIVE, the way Swing, Android Views and the DOM work.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You build the thing once, keep a reference, and mutate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Label total = new Label("R 0.00");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panel.add(total);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...later...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total.setText("R 11 500.00");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total.setForeground(Color.RED);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if (isEmpty) { total.setVisible(false);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You are responsible for every transition between every pair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of states. Miss one and the screen shows something stale.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DECLARATIVE, the way Flutter works.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You describe what the screen looks like FOR THIS STATE.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Widget build(BuildContext context)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(order.isEmpty) return const SizedBox.shrink();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Text(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order.subtotal.rands,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style: TextStyle(color: order.isLarge ? Colors.red : Colors.black),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There is no transition to get wrong. When the state changes,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function runs again and returns a new description.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UI = f(state)</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In the imperative version you are responsible for every transition between every pair of states. In the declarative version there are no transitions to get wrong.</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Everything is a widget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lib/main.dart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import 'package:flutter/material.dart';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void main()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runApp(const OrderFlowApp());</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OrderFlowApp extends StatelessWidget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OrderFlowApp({super.key});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Widget build(BuildContext context)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return MaterialApp(</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title: 'OrderFlow',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theme: ThemeData(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colorSchemeSeed: const Color(0xFF2A9D8F),</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useMaterial3: true,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Everything is a widget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lib/main.dart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home: const OrderScreen(),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OrderScreen extends StatelessWidget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OrderScreen({super.key});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Widget build(BuildContext context)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return Scaffold(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appBar: AppBar(title: const Text('Orders')),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body: const Center(child: Text('No orders yet')),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Read it from the inside out. Text, Center, Scaffold, MaterialApp, runApp. Every one of those is a widget, including the padding and the theme.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Three trees, and why rebuilding is cheap</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mental model</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You write the WIDGET tree. It is immutable configuration 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 is thrown away and recreated constantly. Think of a widget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as the ARGUMENTS to a builder, not the thing being built.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const Padding(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padding: EdgeInsets.all(16),</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Text('ORD-1042'),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Flutter keeps an ELEMENT tree. An element is the live instance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 position in the tree. It holds any State object and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SURVIVES rebuilds. This is why a StatefulWidget can be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recreated a thousand times without losing its state.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Flutter keeps a RENDER OBJECT tree. Layout and painting.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Expensive, and only touched where the widget tree changed.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CONSEQUENCE: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creating a widget is close to free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rebuilding a whole screen is normal and expected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do NOT cache widgets, do NOT avoid rebuilding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When you rebuild, Flutter walks the new widget tree against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existing element tree and updates only what differs.</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You build the widget tree. Flutter maintains the element tree and the render tree, and only touches the parts that actually changed.</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What this means for how you write code</a:t>
            </a:r>
            <a:endParaRPr lang="en-US" sz="3000" dirty="0"/>
          </a:p>
        </p:txBody>
      </p:sp>
      <p:sp>
        <p:nvSpPr>
          <p:cNvPr id="3" name="Text 1"/>
          <p:cNvSpPr txBox="1"/>
          <p:nvPr/>
        </p:nvSpPr>
        <p:spPr>
          <a:xfrm>
            <a:off x="548640" y="1325880"/>
            <a:ext cx="11091672" cy="475488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build() must be fast and pure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No network calls, no database writes, no dialogs, no setState. It may be called sixty times a second. If it has a side effect, that side effect happens sixty times a second.</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Do not hold references to widgets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They are thrown away constantly. Hold state in a State object or, from Day 7, in a state manager. Never in a widget field you plan to change.</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Never fetch data in build()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That is a side effect, and it will fire on every rebuild. Initial loads go in initState, or in a provider on Day 7.</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Long build methods are a smell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If it does not fit on one screen, extract a widget. That is this afternoon, and it is the single most useful habit in Flutter.</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Composition, not configuration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A padded, centred, coloured box is four widgets nested, not one widget with four properties. That is why the catalogue is small and the combinations are endless.</a:t>
            </a:r>
            <a:endParaRPr lang="en-US" sz="1600" dirty="0"/>
          </a:p>
        </p:txBody>
      </p:sp>
      <p:sp>
        <p:nvSpPr>
          <p:cNvPr id="4" name="Shape 2"/>
          <p:cNvSpPr/>
          <p:nvPr/>
        </p:nvSpPr>
        <p:spPr>
          <a:xfrm>
            <a:off x="548640" y="5394960"/>
            <a:ext cx="11091672" cy="685800"/>
          </a:xfrm>
          <a:prstGeom prst="roundRect">
            <a:avLst>
              <a:gd name="adj" fmla="val 13333"/>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5" name="Text 3"/>
          <p:cNvSpPr txBox="1"/>
          <p:nvPr/>
        </p:nvSpPr>
        <p:spPr>
          <a:xfrm>
            <a:off x="685800" y="5440680"/>
            <a:ext cx="10817352" cy="594360"/>
          </a:xfrm>
          <a:prstGeom prst="rect">
            <a:avLst/>
          </a:prstGeom>
          <a:noFill/>
          <a:ln/>
        </p:spPr>
        <p:txBody>
          <a:bodyPr wrap="square" lIns="0" tIns="0" rIns="0" bIns="0" rtlCol="0" anchor="ctr"/>
          <a:lstStyle/>
          <a:p>
            <a:pPr indent="0" marL="0">
              <a:buNone/>
            </a:pPr>
            <a:r>
              <a:rPr lang="en-US" sz="1200" dirty="0">
                <a:solidFill>
                  <a:srgbClr val="22272E"/>
                </a:solidFill>
                <a:latin typeface="Calibri" pitchFamily="34" charset="0"/>
                <a:ea typeface="Calibri" pitchFamily="34" charset="-122"/>
                <a:cs typeface="Calibri" pitchFamily="34" charset="-120"/>
              </a:rPr>
              <a:t>UI equals f of state. Write that down. Every confusing Flutter moment in the next four days is explained by it.</a:t>
            </a:r>
            <a:endParaRPr lang="en-US" sz="12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2  ·  10:45 - 12:30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Stateless and stateful widgets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Write a StatelessWidget with final fields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Write a StatefulWidget and explain why it is two classes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setState correctly, including the mounted check after an await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Choose between stateless, stateful, and neither</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StatelessWidget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lib/features/orders/presentation/order_header.dart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StatelessWidget has no mutable state. Everything it shows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comes from its constructor arguments, and it redraws only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when its parent gives it different arguments.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OrderHeader extends StatelessWidget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OrderHeader({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super.key,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required this.orderId,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required this.customer,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String orderId;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String customer;</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StatelessWidget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lib/features/orders/presentation/order_header.dart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text = Theme.of(context).textTheme;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Column(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crossAxisAlignment: CrossAxisAlignment.start,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Text(orderId, style: text.titleLarge),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Text(customer, style: text.bodyMedium),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Use it in a parent: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const OrderHeader(orderId: 'ORD-1042', customer: 'Acme Ltd')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FIELDS ARE final. Always. A widget is immutable configuration,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and the analyser will tell you if you try to make one mutable.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All fields are final. Everything it shows comes from its constructor, and it redraws when its parent gives it different arguments.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StatefulWidget: two classes, and why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 widget that remembers something</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StatefulWidget is TWO classes. That surprises everyone once.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QuantityPicker extends StatefulWidget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QuantityPicker({super.key, required this.sku});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The widget holds the immutable configuration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State&lt;QuantityPicker&gt; createState() =&gt; _QuantityPickerState();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_QuantityPickerState extends State&lt;QuantityPicker&gt;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The State holds the mutable data, and it SURVIVES rebuilds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int _quantity = 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_increment()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setState(()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StatefulWidget: two classes, and why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 widget that remembers something</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Row(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widget.sku reaches the configuration from the State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Text('${widget.sku}  x$_quantity'),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IconButton(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icon: const Icon(Icons.add),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onPressed: _increment,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WHY TWO CLASSES: the widget is recreated on every rebuild of</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its parent. The State is attached to the ELEMENT, so it 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created once and lives until the widget leaves the tree.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widget holds the immutable configuration and is recreated constantly. The State is attached to the element and survives every rebuild.</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setState, and the mounted check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one method that makes the screen move</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setState does ONE thing: it marks this element dirty so that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Flutter rebuilds it on the next frame.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It does NOT set anything. You change the field yourself,</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inside the callback.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void _increment()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setState(()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_quantity++;          // the actual change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 setState schedules the rebuild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CLASSIC BEGINNER BUG: changing the field OUTSIDE setState.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void _broken()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_quantity++;            // the value changes...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...and nothing on screen moves</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setState, and the mounted check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one method that makes the screen move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EQUALLY WRONG, and harder to spot: async work inside setState.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_alsoBroken()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setState(() async {     // never do this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_order = await service.submit(order);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CORRECT: do the await first, then setState with the result.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Future&lt;void&gt; _submit()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setState(() =&gt; _isLoading =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saved = await service.submit(order);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(!mounted) return;   // the user may have left the screen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setState(()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_isLoading = false;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_order = saved;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`mounted` is true while this State is still in the tree.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Check it after EVERY await before calling setState.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setState does not set anything. You change the field inside the callback, and setState marks the element dirty so it rebuilds on the next frame.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State lifecycle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four methods you will actually override</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_OrderScreenState extends State&lt;OrderScreen&gt;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late final TextEditingController _controller;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void initState()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super.initState();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Called ONCE, when the State is created.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Set up controllers, start listeners, kick off a first load.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You cannot use Theme.of(context) safely here.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_controller = TextEditingController();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void didChangeDependencies()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super.didChangeDependencies();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Called after initState and whenever an inherited widget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this State depends on changes. Safe to use context here.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State lifecycle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four methods you will actually override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void didUpdateWidget(OrderScreen oldWidget)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super.didUpdateWidget(oldWidget);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The parent rebuilt and gave us a new widget with possibly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different configuration. Compare old and new and react.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Widget build(BuildContext context)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Called often. Must be fast and must have NO side effects.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const SizedBox.shrink();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void dispose()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Called ONCE, when the State leaves the tree for good.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Release everything: controllers, subscriptions, timers.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_controller.dispose();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super.dispose();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rule: anything you create in initState, you destroy in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dispose. Every controller, every stream subscription, every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timer. Forgetting is the most common leak in Flutter code.</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initState runs once at the start, dispose runs once at the end, and build runs as often as it likes in between.</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Stateless, stateful, or neither</a:t>
            </a:r>
            <a:endParaRPr lang="en-US" sz="3000" dirty="0"/>
          </a:p>
        </p:txBody>
      </p:sp>
      <p:sp>
        <p:nvSpPr>
          <p:cNvPr id="3" name="Text 1"/>
          <p:cNvSpPr txBox="1"/>
          <p:nvPr/>
        </p:nvSpPr>
        <p:spPr>
          <a:xfrm>
            <a:off x="548640" y="1325880"/>
            <a:ext cx="11091672" cy="475488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Stateless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Everything it shows comes from its constructor arguments and it reacts to nothing else. OrderHeader, LineTile, TotalsRow, most things. This is the default and you should reach for it first.</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Stateful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It owns a controller, or it has local UI state nobody else needs: a toggle, an expanded panel, a slider position, the current tab. And anything needing initState or dispose.</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Neither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If a second screen needs the value, it is not widget state at all. The order itself, the signed-in user, the saved list. That goes to a state manager on Day 7.</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The test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Would any other widget ever need to read this value? If yes, it does not belong inside either of them. Lift it out.</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A common mistake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Making the whole screen stateful because one small part of it changes. Make the small part its own stateful widget instead, and keep the screen stateless.</a:t>
            </a:r>
            <a:endParaRPr lang="en-US" sz="1600" dirty="0"/>
          </a:p>
        </p:txBody>
      </p:sp>
      <p:sp>
        <p:nvSpPr>
          <p:cNvPr id="4" name="Shape 2"/>
          <p:cNvSpPr/>
          <p:nvPr/>
        </p:nvSpPr>
        <p:spPr>
          <a:xfrm>
            <a:off x="548640" y="5394960"/>
            <a:ext cx="11091672" cy="685800"/>
          </a:xfrm>
          <a:prstGeom prst="roundRect">
            <a:avLst>
              <a:gd name="adj" fmla="val 13333"/>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5" name="Text 3"/>
          <p:cNvSpPr txBox="1"/>
          <p:nvPr/>
        </p:nvSpPr>
        <p:spPr>
          <a:xfrm>
            <a:off x="685800" y="5440680"/>
            <a:ext cx="10817352" cy="594360"/>
          </a:xfrm>
          <a:prstGeom prst="rect">
            <a:avLst/>
          </a:prstGeom>
          <a:noFill/>
          <a:ln/>
        </p:spPr>
        <p:txBody>
          <a:bodyPr wrap="square" lIns="0" tIns="0" rIns="0" bIns="0" rtlCol="0" anchor="ctr"/>
          <a:lstStyle/>
          <a:p>
            <a:pPr indent="0" marL="0">
              <a:buNone/>
            </a:pPr>
            <a:r>
              <a:rPr lang="en-US" sz="1200" dirty="0">
                <a:solidFill>
                  <a:srgbClr val="22272E"/>
                </a:solidFill>
                <a:latin typeface="Calibri" pitchFamily="34" charset="0"/>
                <a:ea typeface="Calibri" pitchFamily="34" charset="-122"/>
                <a:cs typeface="Calibri" pitchFamily="34" charset="-120"/>
              </a:rPr>
              <a:t>Start stateless. Promote to stateful only when you need a controller or a lifecycle. Lift out to a state manager the moment a second widget cares.</a:t>
            </a:r>
            <a:endParaRPr lang="en-US" sz="12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5.1</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Your first interactive screen</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40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Your Day 3 order model inside the real project, and a stateful screen with buttons that change a quantity and a live total.</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Create lib/features/orders/domain/order_model.dart and paste in your Day 3 code. Delete any main function from it.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Create lib/main.dart with runApp, and lib/app.dart with OrderFlowApp as a StatelessWidget.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Create order_screen.dart as a StatefulWidget with an int _quantity starting at 10.</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Build a Scaffold with an AppBar titled OrderFlow.</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In the body, show the quantity, with an add and a remove IconButton either side that change it with setState.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Below that, show the quantity times 250, formatted with your .rands extension.</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Add a FloatingActionButton that resets the quantity and shows a SnackBar.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Run it. Tap the buttons. Then change a string and hot reload, and confirm the quantity survives.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flutter analyze clean, then commit.</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Clamp the quantity so it cannot go below zero, and disable the remove button at zero by passing null.</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second unit price and show which discount band the total falls into.</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Extract the quantity row into its own stateful widget and confirm the screen still works.</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3  ·  13:15 - 14:45</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The widget catalogue</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Scaffold, AppBar and the Material 3 button family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Display text, icons and images correctly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Show a SnackBar, a dialog and a bottom sheet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Handle loading and empty states as first-class cases</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Scaffold: the standard page frame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frame every screen sits in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Scaffold(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appBar: AppBar(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title: const Text('Orders'),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actions: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IconButton(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icon: const Icon(Icons.refresh),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tooltip: 'Refresh',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onPressed: _reload,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body: const Center(child: Text('No orders yet')),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floatingActionButton: FloatingActionButton(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onPressed: _newOrder,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 const Icon(Icons.add),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Scaffold: the standard page frame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frame every screen sits in</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bottomNavigationBar: NavigationBar(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selectedIndex: _tab,</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onDestinationSelected: (i) =&gt; setState(() =&gt; _tab = i),</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destinations: const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NavigationDestination(icon: Icon(Icons.list), label: 'Orders'),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NavigationDestination(icon: Icon(Icons.inventory), label: 'Stock'),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drawer: const Drawer(child: Text('Menu')),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Scaffold is the standard page frame. It also provides the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anchor for SnackBars and bottom sheets, which is why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ScaffoldMessenger needs one somewhere above it.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App bar, body, floating action button, bottom navigation, drawer. It also provides the anchor for SnackBars and bottom sheets.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Text, icons and images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three you use most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Text('ORD-1042')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very long customer name that will not fit on one 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style: Theme.of(context).textTheme.titleMedium,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maxLines: 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overflow: TextOverflow.ellipsis,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textAlign: TextAlign.center,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Mixed styles in one run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Text.rich(TextSpan(children: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TextSpan(text: 'Total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TextSpan(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 'R 11 500.00',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style: Theme.of(context).textTheme.titleLarge,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Text, icons and images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three you use most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ICONS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Icon(Icons.inventory_2_outlined, size: 32, color: Colors.teal)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IMAGES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Image.asset('assets/logo.png', height: 40)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Image.network(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'https://example.com/product.jpg',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fit: BoxFit.cover,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loadingBuilder: (ctx, child, progress) =&gt;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progress == null ? child : const CircularProgressIndicator(),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errorBuilder: (ctx, error, stack) =&gt; const Icon(Icons.broken_image),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Assets must be declared in pubspec.yaml under flutter: assets: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and you must HOT RESTART after adding one, not hot reload.</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Always take styles from the theme. maxLines and overflow need a bounded width to work, which is tomorrow.</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Container, and when not to use it</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Swiss army widget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Container is a convenience wrapper around several widgets.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Container(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width: 200,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height: 120,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padding: const EdgeInsets.all(16),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margin: const EdgeInsets.symmetric(horizontal: 24),</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decoration: BoxDecoration(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color: Theme.of(context).colorScheme.primaryContainer,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borderRadius: BorderRadius.circular(12),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border: Border.all(color: Colors.black12),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const Text('R 11 500.00'),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FOUR THINGS TO REMEMBER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1. width and height are PREFERENCES. The parent's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constraints win. Day 6 explains why.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2. color and decoration together throws. Put the colour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inside BoxDecoration.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3. margin is outside the decoration, padding is inside.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4. setting alignment makes Container expand to fill.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PREFER THE SPECIFIC WIDGET when you only need one thing: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const Padding(padding: EdgeInsets.all(16), child: Text('x'))</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const SizedBox(height: 12)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const Align(alignment: Alignment.centerRight, child: Text('x'))</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const Card(child: ListTile(title: Text('ORD-1042')))</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Container is a convenience wrapper. When you only need one thing, the specific widget is clearer and cheaper.</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Buttons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Material 3</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Material 3 button family. Pick by emphasis, not by looks.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FilledButton(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onPressed: _submit,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const Text('Submit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FilledButton.icon(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onPressed: _submit,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icon: const Icon(Icons.check),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label: const Text('Submit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OutlinedButton(onPressed: _reset, child: const Text('Reset'))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TextButton(onPressed: _showTerms, child: const Text('Terms'))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IconButton(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icon: const Icon(Icons.delete),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tooltip: 'Delete line',        // always set this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onPressed: _delete,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Buttons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Material 3</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FloatingActionButton(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onPressed: _newOrder,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 const Icon(Icons.add),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DISABLING ANY BUTTON: pass null as onPressed.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FilledButton(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onPressed: _canSubmit ? _submit : null,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 const Text('Submit 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RULE FOR A SCREEN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one FilledButton for the main action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OutlinedButton for a secondary action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TextButton for something low-emphasis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onPressed: null to disable, never a hidden button</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Pick by emphasis, not by appearance. One filled button per screen for the main action, and null as onPressed to disable any of them.</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SnackBars, dialogs and bottom sheets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telling the user something</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SNACKBAR. Needs a Scaffold somewhere above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ScaffoldMessenger.of(context).showSnackBar(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SnackBar(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content: Text('Order submitted'),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behavior: SnackBarBehavior.floating,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DIALOG. Returns whatever Navigator.pop sends back.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confirmed = await showDialog&lt;bool&gt;(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context: 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builder: (ctx) =&gt; AlertDialog(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title: const Text('Discard this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content: const Text('Everything you have entered will be lost.'),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actions: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TextButton(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onPressed: () =&gt; Navigator.pop(ctx, false),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const Text('Keep editing'),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FilledButton(</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SnackBars, dialogs and bottom sheets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telling the user something</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onPressed: () =&gt; Navigator.pop(ctx,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const Text('Discard'),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if (!context.mounted) return;      // after EVERY await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if (confirmed == true) _clear();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BOTTOM SHEET. Same shape.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showModalBottomSheet&lt;void&gt;(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context: 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showDragHandle: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builder: (ctx) =&gt; const Text('Line options'),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TWO RULES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inside the builder, pop with THAT ctx, not the outer 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never show a dialog from build(). Trigger from a callback.</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All three return Futures, so you await them, and after every await you check context.mounted before using the context again.</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Loading and empty states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states everybody forgets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Spinners and progress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const CircularProgressIndicator()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const LinearProgressIndicator()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const CircularProgressIndicator(value: 0.4)      // determinate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Showing one instead of content, driven by state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Widget build(BuildContext context)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(_isLoading)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const Center(child: CircularProgressIndicator());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OrderList(orders: _orders);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Inside a button while it works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FilledButton.icon(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onPressed: _isLoading ? null : _submit,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icon: _isLoading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const SizedBox(</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width: 18,</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height: 18,</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CircularProgressIndicator(strokeWidth: 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const Icon(Icons.check),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label: Text(_isLoading ? 'Submitting...' : 'Submit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 empty state is a real state. Always handle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if (_orders.isEmpty)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const Center(child: Text('No orders yet'));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An empty list is a real state and deserves a real design. So does loading. Both are forgotten on at least one screen in most applications.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5.2</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The order summary screen</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40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 real screen showing a real order: header, a card per line, a subtotal, a working submit button with a confirmation dialog, and a proper empty state.</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In _OrderScreenState, create a const Order with three OrderLines from your Day 3 model.</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Replace the body with a Column showing the order id and customer, styled from the theme.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For each line, a Card containing a ListTile: the description as the title, sku and quantity as the subtitle, the line total as the trailing text.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A Divider, then a row with the word Subtotal and the value from order.subtotal.rands.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An IconButton in the AppBar actions showing a SnackBar with the item count.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A FilledButton at the bottom that shows a confirmation AlertDialog, then a SnackBar with the result.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Disable the submit button when the order has no lines, by passing null to onPressed.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Handle the empty case: show an icon and the words No lines yet instead of the list.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Test the empty case by temporarily emptying the lines list, then put it back.</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trailing IconButton to each line that shows a SnackBar naming the sku.</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Show the item count as a badge in the AppBar instead of behind a button.</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the discount band from Day 3 under the subtotal, using the guarded switch you wrote.</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4  ·  15:00 - 16:00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Composition, const and keys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Break a long build method into named widgets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why a widget class beats a helper method</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const deliberately, and know why it matters here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Say when a key is needed and what to put in it</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Extract Widget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most useful habit in Flutter</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build method that does not fit on one screen is telling you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something. Extract a widget.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BEFORE: one build method doing everything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Widget build(BuildContext context)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return Column(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children: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Container(/* forty lines of header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Container(/* thirty lines of totals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Row(/* twenty lines of buttons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Extract Widget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most useful habit in Flutter</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AFTER: three widgets, each with one job</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Widget build(BuildContext context)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Column(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const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OrderHeader(orderId: 'ORD-1042', customer: 'Acme Ltd'),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TotalsCard(subtotal: 11650, vat: 1660.13),</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OrderActions(),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 THE EDITOR: put the cursor on a subtree, press Ctrl+.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(Cmd+. on a Mac) and choose Extract Widget.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PREFER A CLASS OVER A HELPER METHOD.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Widget _buildHeader() { ... }     works, but: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rebuilds whenever the parent rebuilds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cannot be const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gets no element of its own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class OrderHeader extends StatelessWidget {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gets its own element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can be const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can skip its own rebuild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is testable on its own</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build method that does not fit on one screen is telling you something. Prefer a widget class over a private helper method that returns a widget.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const, and why it matters here</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cheapest optimisation in Flutter</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const widget is created ONCE, at compile time, and reused.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When Flutter rebuilds and finds the identical const instance,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 skips that subtree entirely.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const Text('No orders yet')                  // created once, ever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Text('No orders yet')                        // created every rebuild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 works down a whole subtree, as long as everything is const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const Column(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Icon(Icons.inventory_2_outlined, size: 48),</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SizedBox(height: 12),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Text('No orders yet'),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You cannot make it const if any value is computed at runtime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Text(order.id)                               // not const, correctly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analyser suggests const constantly. Apply them all at once: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dart fix --dry-run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dart fix --apply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THIS IS NOT A STYLE PREFERENCE. In Flutter, const is 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performance mechanism, and it is the cheapest one available.</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const widget is created once at compile time and reused. When Flutter rebuilds and finds the identical instance, it skips that subtree.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Keys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when Flutter needs help matching widgets to elements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Key tells Flutter which element belongs to which widget when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siblings of the same TYPE are reordered, inserted or removed.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WITHOUT KEYS, Flutter matches by position and type. Remove the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first item from a list and every remaining widget shifts up one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position. If those widgets hold state, the state stays behind.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ListView(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(final line in order.lines)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LineTile(key: ValueKey(line.sku), line: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USE ValueKey with something that identifies the ITEM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ValueKey(line.sku)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ObjectKey(line)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NEVER USE THE INDEX. The index is the position, and position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is exactly what changed.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ValueKey(i)     &lt;-- wrong, and a very common bug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WHEN YOU DO NOT NEED A KEY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list never reorders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children have no state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children are different types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GlobalKey is a different thing: it identifies a widget across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whole app and lets you reach its state from outside. You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will use exactly one, on a Form, on Day 7.</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Use a key when siblings of the same type are reordered, inserted or removed. Key it by something that identifies the item, never by the index.</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BuildContext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thing every method seems to want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BuildContext is this widget's HANDLE ON ITS POSITION in the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element tree. It is not a container of services and it is not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widget itself.</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Widget build(BuildContext context)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Looking UP the tree for the nearest ancestor of a type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theme = Theme.of(context);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media = MediaQuery.of(context);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navigator = Navigator.of(context);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messenger = ScaffoldMessenger.of(context);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return Text('x', style: theme.textTheme.bodyLarge);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BuildContext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thing every method seems to want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CLASSIC ERROR: using a context from ABOVE the thing you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are looking for.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Scaffold is created INSIDE this build method, so `context`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here is above it, and ScaffoldMessenger.of(context) fails.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FIX: use a Builder, or split the widget in two so the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inner one has a context below the Scaffold.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Scaffold(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body: Builder(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builder: (innerContext) =&gt; FilledButton(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onPressed: () =&gt; ScaffoldMessenger.of(innerContext)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.showSnackBar(const SnackBar(content: Text('hello'))),</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const Text('Show'),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AFTER AN AWAIT, the widget may be gone. Always: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(!context.mounted) return;</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BuildContext is this widget's handle on its position in the element tree. Theme.of and Navigator.of walk up from it looking for an ancestor.</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5.3</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Break it into widgets</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The same screen, refactored into four named widgets, with keys on the list items and const applied everywhere the compiler allows.</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Extract the id and customer block into a StatelessWidget called OrderHeader, taking the order.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Extract the line Card into LineTile, taking a single OrderLine.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Extract the subtotal row into TotalsRow, taking the order.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Extract the empty state into EmptyState, taking a message String.</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Put a ValueKey on each LineTile, keyed by the sku.</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Run dart fix --dry-run and read what it suggests. Then run dart fix --apply.</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Count the const keywords in your file and compare with your neighbour.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Run the app and confirm it looks and behaves exactly as before. A refactor that changes behaviour is not a refactor.</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Move LineTile into its own file under presentation and fix the imports.</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Make EmptyState take an optional action button and use it to add a first line.</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Replace a LineTile key with ValueKey of the index, then reorder the list, and explain what you see.</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445752" y="-137160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548640"/>
            <a:ext cx="82296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Day 5 recap</a:t>
            </a:r>
            <a:endParaRPr lang="en-US" sz="3400" dirty="0"/>
          </a:p>
        </p:txBody>
      </p:sp>
      <p:sp>
        <p:nvSpPr>
          <p:cNvPr id="4" name="Text 2"/>
          <p:cNvSpPr txBox="1"/>
          <p:nvPr/>
        </p:nvSpPr>
        <p:spPr>
          <a:xfrm>
            <a:off x="548640" y="1554480"/>
            <a:ext cx="6583680" cy="41148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You describe the screen for the current state. You never update it. UI equals f of state.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Everything is a widget: padding, alignment, the theme, a gesture. One composition mechanism to learn.</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You build the widget tree; Flutter maintains the element and render trees and updates only what differs.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Creating widgets is cheap. Do not cache them, do not avoid rebuilding, do not hold references.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build() must be fast and pure. No network, no dialogs, no side effects.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StatelessWidget is the default. StatefulWidget is two classes because the State must outlive the widget.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setState marks the element dirty. Change the field inside the callback, and check mounted after every await.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Extract widgets rather than writing helper methods. Use const everywhere the compiler allows.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Keys identify items when siblings move. Key by identity, never by index.</a:t>
            </a:r>
            <a:endParaRPr lang="en-US" sz="1500" dirty="0"/>
          </a:p>
        </p:txBody>
      </p:sp>
      <p:sp>
        <p:nvSpPr>
          <p:cNvPr id="5" name="Shape 3"/>
          <p:cNvSpPr/>
          <p:nvPr/>
        </p:nvSpPr>
        <p:spPr>
          <a:xfrm>
            <a:off x="7589520" y="1554480"/>
            <a:ext cx="4023360" cy="3840480"/>
          </a:xfrm>
          <a:prstGeom prst="roundRect">
            <a:avLst>
              <a:gd name="adj" fmla="val 2381"/>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818120" y="1691640"/>
            <a:ext cx="365760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Tomorrow</a:t>
            </a:r>
            <a:endParaRPr lang="en-US" sz="1100" dirty="0"/>
          </a:p>
        </p:txBody>
      </p:sp>
      <p:sp>
        <p:nvSpPr>
          <p:cNvPr id="7" name="Text 5"/>
          <p:cNvSpPr txBox="1"/>
          <p:nvPr/>
        </p:nvSpPr>
        <p:spPr>
          <a:xfrm>
            <a:off x="7818120" y="2103120"/>
            <a:ext cx="3657600" cy="31089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Constraints go down, sizes go up, the parent sets position</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Row, Column, Expanded and Flexible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 four layout errors and how to read them</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Stack, and responsive layouts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Scrolling lists and grids</a:t>
            </a:r>
            <a:endParaRPr lang="en-US" sz="13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011680" cy="292608"/>
          </a:xfrm>
          <a:prstGeom prst="roundRect">
            <a:avLst>
              <a:gd name="adj" fmla="val 50000"/>
            </a:avLst>
          </a:prstGeom>
          <a:solidFill>
            <a:srgbClr val="2E3440"/>
          </a:solidFill>
          <a:ln w="12700">
            <a:solidFill>
              <a:srgbClr val="2E3440"/>
            </a:solidFill>
            <a:prstDash val="solid"/>
          </a:ln>
        </p:spPr>
      </p:sp>
      <p:sp>
        <p:nvSpPr>
          <p:cNvPr id="3" name="Text 1"/>
          <p:cNvSpPr txBox="1"/>
          <p:nvPr/>
        </p:nvSpPr>
        <p:spPr>
          <a:xfrm>
            <a:off x="548640" y="45720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 &amp; BREAK DOWN</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Homework · 20 min</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indent="0" marL="0">
              <a:buNone/>
            </a:pPr>
            <a:r>
              <a:rPr lang="en-US" sz="2800" b="1" dirty="0">
                <a:solidFill>
                  <a:srgbClr val="2E3440"/>
                </a:solidFill>
                <a:latin typeface="Calibri" pitchFamily="34" charset="0"/>
                <a:ea typeface="Calibri" pitchFamily="34" charset="-122"/>
                <a:cs typeface="Calibri" pitchFamily="34" charset="-120"/>
              </a:rPr>
              <a:t>Tonight: read "Understanding constraints" once, slowly</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sx="100000" sy="100000" kx="0" ky="0" algn="bl" rotWithShape="0" blurRad="38100" dist="12700" dir="5400000">
              <a:srgbClr val="000000">
                <a:alpha val="8000"/>
              </a:srgbClr>
            </a:outerShdw>
          </a:effectLst>
        </p:spPr>
      </p:sp>
      <p:sp>
        <p:nvSpPr>
          <p:cNvPr id="7" name="Text 5"/>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1800" b="1" dirty="0">
                <a:solidFill>
                  <a:srgbClr val="2E3440"/>
                </a:solidFill>
                <a:latin typeface="Courier New" pitchFamily="34" charset="0"/>
                <a:ea typeface="Courier New" pitchFamily="34" charset="-122"/>
                <a:cs typeface="Courier New" pitchFamily="34" charset="-120"/>
              </a:rPr>
              <a:t>docs.flutter.dev/ui/layout/constraints</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indent="0" marL="0">
              <a:buNone/>
            </a:pPr>
            <a:r>
              <a:rPr lang="en-US" sz="1200" dirty="0">
                <a:solidFill>
                  <a:srgbClr val="646E7A"/>
                </a:solidFill>
                <a:latin typeface="Calibri" pitchFamily="34" charset="0"/>
                <a:ea typeface="Calibri" pitchFamily="34" charset="-122"/>
                <a:cs typeface="Calibri" pitchFamily="34" charset="-120"/>
              </a:rPr>
              <a:t>The whole page. Run at least the first four numbered examples yourself as you read them (about 20 minutes)</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indent="0" marL="0">
              <a:buNone/>
            </a:pPr>
            <a:r>
              <a:rPr lang="en-US" sz="1400" b="1" dirty="0">
                <a:solidFill>
                  <a:srgbClr val="2E3440"/>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State the rule in one sentence, in your own words.</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A Container with no child and no size: what does it do inside a Center, and what does it do inside a Column? Why are the answers different?</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What does "unbounded" mean, and name two widgets that give their children unbounded constraints.</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Find the example that surprised you most and be ready to run it on the projector.</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12" name="Text 10"/>
          <p:cNvSpPr txBox="1"/>
          <p:nvPr/>
        </p:nvSpPr>
        <p:spPr>
          <a:xfrm>
            <a:off x="7706563" y="3017520"/>
            <a:ext cx="3705149" cy="365760"/>
          </a:xfrm>
          <a:prstGeom prst="rect">
            <a:avLst/>
          </a:prstGeom>
          <a:noFill/>
          <a:ln/>
        </p:spPr>
        <p:txBody>
          <a:bodyPr wrap="square" lIns="0" tIns="0" rIns="0" bIns="0" rtlCol="0" anchor="ctr"/>
          <a:lstStyle/>
          <a:p>
            <a:pPr indent="0" marL="0">
              <a:buNone/>
            </a:pPr>
            <a:r>
              <a:rPr lang="en-US" sz="1400" b="1" dirty="0">
                <a:solidFill>
                  <a:srgbClr val="2E3440"/>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22272E"/>
                </a:solidFill>
                <a:latin typeface="Calibri" pitchFamily="34" charset="0"/>
                <a:ea typeface="Calibri" pitchFamily="34" charset="-122"/>
                <a:cs typeface="Calibri" pitchFamily="34" charset="-120"/>
              </a:rPr>
              <a:t>09:00 tomorrow: three of you take questions one to three at the whiteboard before anyone opens a laptop.</a:t>
            </a:r>
            <a:endParaRPr lang="en-US" sz="1250" dirty="0"/>
          </a:p>
          <a:p>
            <a:pPr marL="177800" indent="-177800">
              <a:spcAft>
                <a:spcPts val="700"/>
              </a:spcAft>
              <a:buSzPct val="100000"/>
              <a:buChar char="•"/>
            </a:pPr>
            <a:r>
              <a:rPr lang="en-US" sz="1250" dirty="0">
                <a:solidFill>
                  <a:srgbClr val="22272E"/>
                </a:solidFill>
                <a:latin typeface="Calibri" pitchFamily="34" charset="0"/>
                <a:ea typeface="Calibri" pitchFamily="34" charset="-122"/>
                <a:cs typeface="Calibri" pitchFamily="34" charset="-120"/>
              </a:rPr>
              <a:t>Whoever picked the best example for question four runs it for the room.</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PLAN B · When it breaks in class</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732050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this happens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Do this instead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Somebody has no working device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ourier New" pitchFamily="34" charset="0"/>
                          <a:ea typeface="Courier New" pitchFamily="34" charset="-122"/>
                          <a:cs typeface="Courier New" pitchFamily="34" charset="-120"/>
                        </a:rPr>
                        <a:t>flutter run -d chrome. Everything today works in a browser. Fix the emulator at lunch, not now</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Somebody has lost their Day 3 model</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Lab 3.2 solution from the Day 3 handbook, pasted into order_model.dart with the main function removed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first build is still running</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Keep teaching. Module 1 is entirely concepts and needs no device at all</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Text overflows and somebody asks why</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Name it as a layout problem, tell them it is tomorrow's first topic, and shorten the string for today</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Somebody asks why the Column does not scroll</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Same answer. Tomorrow. Do not start teaching ListView today or you will lose the module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An infinite loop of dialogs appears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They called showDialog from build. It is the classic side-effect-in-build bug and it is a good teaching moment for the room</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A red screen with a long error appears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Read it out loud to the room. Flutter errors are unusually good and teaching people to read them is worth ten minutes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You are behind at 15:00</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Cut keys to a three-minute explanation and run Lab 5.3 with steps 1 to 4 only. Never cut Extract Widget</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2A9D8F"/>
        </a:solidFill>
      </p:bgPr>
    </p:bg>
    <p:spTree>
      <p:nvGrpSpPr>
        <p:cNvPr id="1" name=""/>
        <p:cNvGrpSpPr/>
        <p:nvPr/>
      </p:nvGrpSpPr>
      <p:grpSpPr>
        <a:xfrm>
          <a:off x="0" y="0"/>
          <a:ext cx="0" cy="0"/>
          <a:chOff x="0" y="0"/>
          <a:chExt cx="0" cy="0"/>
        </a:xfrm>
      </p:grpSpPr>
      <p:sp>
        <p:nvSpPr>
          <p:cNvPr id="2" name="Text 0"/>
          <p:cNvSpPr txBox="1"/>
          <p:nvPr/>
        </p:nvSpPr>
        <p:spPr>
          <a:xfrm>
            <a:off x="548640" y="2011680"/>
            <a:ext cx="7315200" cy="457200"/>
          </a:xfrm>
          <a:prstGeom prst="rect">
            <a:avLst/>
          </a:prstGeom>
          <a:noFill/>
          <a:ln/>
        </p:spPr>
        <p:txBody>
          <a:bodyPr wrap="square" lIns="0" tIns="0" rIns="0" bIns="0" rtlCol="0" anchor="ctr"/>
          <a:lstStyle/>
          <a:p>
            <a:pPr indent="0" marL="0">
              <a:buNone/>
            </a:pPr>
            <a:r>
              <a:rPr lang="en-US" sz="1400" spc="400" kern="0" dirty="0">
                <a:solidFill>
                  <a:srgbClr val="2E3440"/>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548640" y="2468880"/>
            <a:ext cx="10058400" cy="1097280"/>
          </a:xfrm>
          <a:prstGeom prst="rect">
            <a:avLst/>
          </a:prstGeom>
          <a:noFill/>
          <a:ln/>
        </p:spPr>
        <p:txBody>
          <a:bodyPr wrap="square" lIns="0" tIns="0" rIns="0" bIns="0" rtlCol="0" anchor="ctr"/>
          <a:lstStyle/>
          <a:p>
            <a:pPr indent="0" marL="0">
              <a:buNone/>
            </a:pPr>
            <a:r>
              <a:rPr lang="en-US" sz="4000" b="1" dirty="0">
                <a:solidFill>
                  <a:srgbClr val="2E3440"/>
                </a:solidFill>
                <a:latin typeface="Calibri" pitchFamily="34" charset="0"/>
                <a:ea typeface="Calibri" pitchFamily="34" charset="-122"/>
                <a:cs typeface="Calibri" pitchFamily="34" charset="-120"/>
              </a:rPr>
              <a:t>Day 5 reference</a:t>
            </a:r>
            <a:endParaRPr lang="en-US" sz="4000" dirty="0"/>
          </a:p>
        </p:txBody>
      </p:sp>
      <p:sp>
        <p:nvSpPr>
          <p:cNvPr id="4" name="Text 2"/>
          <p:cNvSpPr txBox="1"/>
          <p:nvPr/>
        </p:nvSpPr>
        <p:spPr>
          <a:xfrm>
            <a:off x="548640" y="3566160"/>
            <a:ext cx="10058400" cy="731520"/>
          </a:xfrm>
          <a:prstGeom prst="rect">
            <a:avLst/>
          </a:prstGeom>
          <a:noFill/>
          <a:ln/>
        </p:spPr>
        <p:txBody>
          <a:bodyPr wrap="square" lIns="0" tIns="0" rIns="0" bIns="0" rtlCol="0" anchor="ctr"/>
          <a:lstStyle/>
          <a:p>
            <a:pPr indent="0" marL="0">
              <a:buNone/>
            </a:pPr>
            <a:r>
              <a:rPr lang="en-US" sz="1600" dirty="0">
                <a:solidFill>
                  <a:srgbClr val="2E3440"/>
                </a:solidFill>
                <a:latin typeface="Calibri" pitchFamily="34" charset="0"/>
                <a:ea typeface="Calibri" pitchFamily="34" charset="-122"/>
                <a:cs typeface="Calibri" pitchFamily="34" charset="-120"/>
              </a:rPr>
              <a:t>A · Lab 5.1   B · Lab 5.2   C · Lab 5.3   D · Widget quick reference   E · Troubleshooting   F · Links</a:t>
            </a:r>
            <a:endParaRPr lang="en-US" sz="1600" dirty="0"/>
          </a:p>
        </p:txBody>
      </p:sp>
      <p:sp>
        <p:nvSpPr>
          <p:cNvPr id="5" name="Text 3"/>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6" name="Text 4"/>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5.1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project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 5.1 - in your project, not DartPad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1. Create lib/features/orders/domain/order_model.dart and paste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your Day 3 code into it: Order, OrderLine, OrderStatus,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sealed OrderState, and the Money extension.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Delete any main() function from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2. lib/main.dart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import 'package:flutter/material.dart';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import 'package:order_flow/app.dart';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=&gt; runApp(const OrderFlowApp());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3. lib/app.dart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a StatelessWidget OrderFlowApp returning MaterialApp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with a title, a theme using colorSchemeSeed, and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home: const OrderScreen()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4. lib/features/orders/presentation/order_screen.dart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a StatefulWidget OrderScreen with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 int _quantity field starting at 10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Scaffold with an AppBar titled 'OrderFlow'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body with a Text showing the 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two IconButtons, add and remove, changing it with setState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Text showing quantity times 250, formatted with .rands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5. TODO: add a FloatingActionButton that resets the 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 10 and shows a SnackBar saying 'Reset'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5.1 solution  (1/4)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app.dart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lib/app.dart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import 'package:flutter/material.dart';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import 'package:order_flow/features/orders/presentation/order_screen.dart';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OrderFlowApp extends StatelessWidget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OrderFlowApp({super.key});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MaterialApp(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title: 'OrderFlow',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theme: ThemeData(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colorSchemeSeed: const Color(0xFF2A9D8F),</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useMaterial3: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home: const OrderScreen(),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lib/features/orders/presentation/order_screen.dart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import 'package:flutter/material.dart';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import 'package:order_flow/features/orders/domain/order_model.dart';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5.1 solution  (2/4)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app.dart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OrderScreen extends StatefulWidget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OrderScreen({super.key});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State&lt;OrderScreen&gt; createState() =&gt; _OrderScreenState();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_OrderScreenState extends State&lt;OrderScreen&gt;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static const _unitPrice = 250.0;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int _quantity = 10;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_change(int by)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setState(()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_quantity = (_quantity + by).clamp(0, 999);</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_reset()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setState(() =&gt; _quantity = 10);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ScaffoldMessenger.of(context).showSnackBar(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SnackBar(content: Text('Reset')),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5.1 solution  (3/4)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app.dart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text = Theme.of(context).textTheme;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Scaffold(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appBar: AppBar(title: const Text('OrderFlow')),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body: Center(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Column(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mainAxisAlignment: MainAxisAlignment.center,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Text('Quantity', style: text.labelLarge),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mainAxisAlignment: MainAxisAlignment.center,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IconButton(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icon: const Icon(Icons.remove),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tooltip: 'Fewer',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onPressed: () =&gt; _change(-1),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Text('$_quantity', style: text.displaySmall),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IconButton(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icon: const Icon(Icons.add),</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5.1 solution  (4/4)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app.dart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tooltip: 'More',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onPressed: () =&gt; _change(1),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SizedBox(height: 24),</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Text('Line total', style: text.labelLarge),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(_quantity * _unitPrice).rands,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style: text.headlineMedium,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floatingActionButton: FloatingActionButton(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onPressed: _reset,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tooltip: 'Reset',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const Icon(Icons.restart_alt),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5.2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LAB 5.2 - build a real order summary screen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1: at the top of _OrderScreenState, create a const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using your Day 3 model, with three OrderLines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2: replace the body with a Column showing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order id and customer, styled from the theme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Card for each line: sku, description, x 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and the line total using .rands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divider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subtotal, in a larger style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3: add an IconButton in the AppBar actions that shows 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SnackBar with the item count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4: add a FilledButton at the bottom saying 'Submit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that shows an AlertDialog asking for confirmation,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and a SnackBar with the result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5: disable the Submit button when the order has no lines,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by passing null to onPressed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6: handle the empty case: if the order has no lines, show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 icon and the words 'No lines yet' instead of the list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5.2 solution  (1/4)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_OrderScreenState extends State&lt;OrderScreen&gt;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static const _order =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 'ORD-1042',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customer: 'Acme Ltd',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'SKU-1', description: 'Widget', quantity: 40,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'SKU-2', description: 'Gasket', quantity: 10, unitPrice: 120),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'SKU-3', description: 'Bracket', quantity: 5, unitPrice: 90),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Future&lt;void&gt; _submit()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confirmed = await showDialog&lt;bool&gt;(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context: context,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builder: (ctx) =&gt; AlertDialog(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title: const Text('Submit this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content: Text('${_order.itemCount} items, ${_order.subtotal.rands}'),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actions: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TextButton(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onPressed: () =&gt; Navigator.pop(ctx, false),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const Text('Cancel'),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FilledButton(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onPressed: () =&gt; Navigator.pop(ctx,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const Text('Submit'),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5.2 solution  (2/4)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(!context.mounted) return;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ScaffoldMessenger.of(context).showSnackBar(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SnackBar(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content: Text(confirmed == true ? 'Order submitted' : 'Cancelled'),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Widget build(BuildContext context)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text = Theme.of(context).textTheme;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colors = Theme.of(context).colorScheme;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Scaffold(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appBar: AppBar(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title: const Text('OrderFlow'),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actions: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IconButton(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icon: const Icon(Icons.info_outline),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tooltip: 'Item count',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onPressed: () =&gt; ScaffoldMessenger.of(context).showSnackBar(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SnackBar(content: Text('${_order.itemCount} items')),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body: Padding(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padding: const EdgeInsets.all(16),</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5.2 solution  (3/4)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Column(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crossAxisAlignment: CrossAxisAlignment.stretch,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Text(_order.id, style: text.titleLarge),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Text(_order.customer, style: text.bodyMedium),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SizedBox(height: 16),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(_order.lines.isEmpty)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Expanded(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Center(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Column(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mainAxisSize: MainAxisSize.min,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Icon(Icons.inventory_2_outlined, size: 48),</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SizedBox(height: 12),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Text('No lines yet'),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else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(final line in _order.lines)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Card(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ListTile(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leading: const Icon(Icons.inventory_2_outlined),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title: Text(line.description),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subtitle: Text('${line.sku}  x${line.quantity}'),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trailing: Text(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line.lineTotal.rands,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style: text.titleMedium,</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5.2 solution  (4/4)</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order_screen.dart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Divider(height: 32),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Row(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mainAxisAlignment: MainAxisAlignment.spaceBetween,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Text('Subtotal', style: text.titleMedium),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_order.subtotal.rands,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style: text.headlineSmall?.copyWith(color: colors.primary),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SizedBox(height: 16),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FilledButton.icon(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onPressed: _order.lines.isEmpty ? null : _submit,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icon: const Icon(Icons.check),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label: const Text('Submit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Note the mounted check after the dialog await, and onPressed: null to disable the button.</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5.3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refactor</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LAB 5.3 - break the screen into widgets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1: extract the order id and customer block into 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StatelessWidget called OrderHeader, taking the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2: extract the Card for one line into a StatelessWidget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called LineTile, taking a single OrderLine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3: extract the subtotal row into TotalsRow, taking the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4: extract the empty state into EmptyState, taking 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message String. Make it const where you can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5: put a ValueKey on each LineTile using the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6: run dart fix --dry-run, read what it suggests, then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run dart fix --apply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7: count how many const keywords ended up in your file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8: confirm the screen still looks and behaves exactly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as it did before. A refactor that changes behaviour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is not a refactor</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5.3 solution  (1/5)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four extracted widgets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OrderHeader extends StatelessWidget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OrderHeader({super.key, required this.order});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Order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text = Theme.of(context).textTheme;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Column(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crossAxisAlignment: CrossAxisAlignment.start,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Text(order.id, style: text.titleLarge),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Text(order.customer, style: text.bodyMedium),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LineTile extends StatelessWidget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LineTile({super.key, required this.line});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OrderLine line;</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5.3 solution  (2/5)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four extracted widgets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Card(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ListTile(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leading: const Icon(Icons.inventory_2_outlined),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title: Text(line.description),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subtitle: Text('${line.sku}  x${line.quantity}'),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trailing: 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line.lineTotal.rands,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style: Theme.of(context).textTheme.titleMedium,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TotalsRow extends StatelessWidget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TotalsRow({super.key, required this.order});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Order order;</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5.3 solution  (3/5)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four extracted widgets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text = Theme.of(context).textTheme;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colors = Theme.of(context).colorScheme;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Row(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mainAxisAlignment: MainAxisAlignment.spaceBetween,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Text('Subtotal', style: text.titleMedium),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order.subtotal.rands,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style: text.headlineSmall?.copyWith(color: colors.primary),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EmptyState extends StatelessWidget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EmptyState({super.key, required this.message});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message;</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5.3 solution  (4/5)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four extracted widgets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Center(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Column(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mainAxisSize: MainAxisSize.min,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Icon(Icons.inventory_2_outlined, size: 48),</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SizedBox(height: 12),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Text(message),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build method becomes readable at a glance: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Column(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crossAxisAlignment: CrossAxisAlignment.stretch,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OrderHeader(order: _order),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SizedBox(height: 16),</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(_order.lines.isEmpty)</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5.3 solution  (5/5)</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four extracted widgets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Expanded(child: EmptyState(message: 'No lines yet'))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else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for (final line in _order.lines)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LineTile(key: ValueKey(line.sku), line: 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Divider(height: 32),</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TotalsRow(order: _order),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SizedBox(height: 16),</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FilledButton.icon(...),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commented build method at the bottom is the goal: a screen you can read at a glance.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 · Hot reload keys</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flutter run terminal</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r    hot reload    load changed code, KEEP what is on screen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R    hot restart   start over, LOSE what is on screen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    show layout guides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o    switch between Android and iPhone appearance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    open DevTools in a browser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q    quit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Needs a hot RESTART, not a reload: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changes to main() or anything outside a class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changes to an enum or a class hierarchy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new asset, or any edit to pubspec.yaml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changes to initState, if you want them to run again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If nothing changes at all, look at the TERMINAL, not the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phone. There is almost certainly a compile error.</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 · Widget quick reference</a:t>
            </a:r>
            <a:endParaRPr lang="en-US" sz="3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327502"/>
                <a:gridCol w="3327502"/>
                <a:gridCol w="4436669"/>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You want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Use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Note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page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Scaffold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App bar, body, FAB, bottom bar, drawer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title bar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AppBar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actions takes a list of IconButtons</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Words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Text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Style from Theme.of(context).textTheme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Mixed styles in a line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Text.rich + TextSpan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symbol</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Icon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Icons are a font. Thousands available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picture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Image.asset / Image.network</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Declare assets in pubspec, then hot RESTART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Space around something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Padding</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Not a Container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fixed gap</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SizedBox(height: 12)</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The idiom for spacing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box with a background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Container or Card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Card for anything list-like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list row</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ListTile inside a Card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leading, title, subtitle, trailing, onTap</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The main action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FilledButton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One per screen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secondary action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OutlinedButton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quiet action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TextButton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Dialog actions, links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An icon action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IconButton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Always set tooltip</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To disable a button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onPressed: null</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Greys out automatically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brief message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ScaffoldMessenger + SnackBar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Needs a Scaffold above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question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showDialog + AlertDialog</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Returns the popped value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spinner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CircularProgressIndicator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Pass value for determinate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Centre one thing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Center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Stack things vertically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Column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Does not scroll. Day 6</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 · Troubleshooting: symptom to fix</a:t>
            </a:r>
            <a:endParaRPr lang="en-US" sz="3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3105668"/>
                <a:gridCol w="4214835"/>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Symptom</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Cause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Fix</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Tapping the button changes nothing</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Field changed outside setState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Wrap the change in setState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setState() called after dispose()</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setState after an await, screen gone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if (!mounted) return; before setState</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No ScaffoldMessenger widget found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Context is above the Scaffold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Use a Builder, or extract an inner widget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Dialogs appear endlessly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showDialog called from build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Trigger it from a callback, never from build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Network call fires repeatedly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Called from build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Move it to initState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A RenderFlex overflowed by ... pixels</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Content too big for the space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Layout. Day 6. Shorten the text for now</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Hot reload changes nothing</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Changed main, or a compile error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Press R. Read the terminal, not the phone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Unable to load asset</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pubspec indentation, or no restart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Two spaces under flutter:, then hot RESTART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Cannot provide both a color and a decoration</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Container with both</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Put the colour inside BoxDecoration</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A ticked checkbox moves to the wrong row</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No keys, or keyed by index</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ValueKey(item.id)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The instance member ... cannot be accessed in an initializer</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Using widget.x in a field initialiser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Move it into initState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setState callback marked async</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Async work inside setState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Await first, then setState with the result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State resets on every keystroke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State held in the widget, not the State class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Mutable fields belong in the State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 · Links used today</a:t>
            </a:r>
            <a:endParaRPr lang="en-US" sz="30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327502"/>
                <a:gridCol w="776417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Link</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Introduction to widgets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docs.flutter.dev/ui/widgets-intro</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The widget catalogue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docs.flutter.dev/ui/widgets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Widget index, A to Z</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docs.flutter.dev/reference/widgets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StatefulWidget lifecycle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api.flutter.dev/flutter/widgets/State-class.html</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setState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api.flutter.dev/flutter/widgets/State/setState.html</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Keys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api.flutter.dev/flutter/foundation/Key-class.html</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BuildContext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api.flutter.dev/flutter/widgets/BuildContext-class.html</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Material 3 components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m3.material.io/components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Hot reload</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docs.flutter.dev/tools/hot-reload</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Homework</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docs.flutter.dev/ui/layout/constraints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5 - Flutter Foundations</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for Java Developers - Day 5</dc:title>
  <dc:subject>Flutter Mobile Development for Java Developers</dc:subject>
  <dc:creator>Flutter for Java Developers</dc:creator>
  <cp:lastModifiedBy>Flutter for Java Developers</cp:lastModifiedBy>
  <cp:revision>1</cp:revision>
  <dcterms:created xsi:type="dcterms:W3CDTF">2026-09-11T06:18:39Z</dcterms:created>
  <dcterms:modified xsi:type="dcterms:W3CDTF">2026-09-11T06:18:39Z</dcterms:modified>
</cp:coreProperties>
</file>