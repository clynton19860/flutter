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Open by justifying the day, because somebody signed up for a Flutter course and is about to spend a second day not seeing a phone.
SAY THIS, more or less word for word: "Today there is no Flutter. There is a reason for that. Flutter is a library, and a library written in a language you half know is a language you will fight for months. Everyone who struggles with Flutter is really struggling with Dart. So today we finish the language, and from Wednesday afternoon the framework will feel like reading rather than decoding."
THE SECOND THING TO SAY: "Almost all of today is a translation exercise. Classes, constructors, inheritance, interfaces, collections, enums. You know every one of these ideas. What changes is the spelling and a handful of genuinely better defaults."
PRESENTER CHECKLIST: dartpad.dev open on the projector and stay in it all day; the Day 2 handbook on your second display; the Lab 2.1 expected output written on the whiteboard before anyone arrives.
PACE: this day has more content than any other. The section that must not be rushed is classes. The section to compress if you are behind is collections, because most of it is a direct translation of Java streams.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Four blocks, three labs, and every lab builds a piece of the app you will put on a screen tomorrow.
SAY WHAT THEY WILL HAVE BY 16:00: "A complete order model. Products, order lines, an order that totals itself, and a status enum. Tomorrow that goes on a phone, and you will not write any of it again."
That framing matters. A day of pure language feels like homework unless people can see where it lands.
TIMING: the morning is heavier than it looks because classes have a lot of small surprises. If you are running late at 12:00, Lab 2.1 can lose steps 8 to 10 and you can demonstrate those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Two minutes. This slide exists to answer the question the quiet person in the third row is asking, which is "when do we get to the actual app".
THE LAST BULLET IS THE ARCHITECTURAL SEED. Say it now, casually, and then keep referring back to it all week. Business logic that knows nothing about the screen is the thing that makes Friday's testing session short and cheerful instead of long and painful.
CHECK ON INSTALLS BEFORE YOU START. Ask who still does not have a working emulator or a phone. Note the names, help them at lunch. Do not let it drift to Thursday, because Thursday is when everyone suddenly needs a device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Seventy-five minutes. Most of it is familiar; two things are not.
THE TWO THINGS THAT ARE NEW for a Java 8 room: named parameters, which have no Java equivalent at all, and closures that can modify a captured variable, which Java forbids.
NAMED PARAMETERS ARE THE MOST IMPORTANT IDEA IN THE BLOCK, because from Thursday every widget they touch uses them. Do not let this become a syntax slide; make the readability argument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Twenty minutes. Type each of the four live in DartPad and call them.
POSITIONAL REQUIRED is Java. Nothing to explain. Move on quickly.
POSITIONAL OPTIONAL uses square brackets and must have a default or a nullable type, because the caller may leave it out. In Java you would write an overload. Point that out: this replaces the overload, and it means one implementation instead of three.
NAMED uses curly brackets, and the caller writes the name at the call site. The order does not matter. required is a keyword, not an annotation, and leaving out a required named parameter is a compile error.
THE READABILITY ARGUMENT, and make it properly: put discounted(1000, 0.05) next to discounted(amount: 1000, rate: 0.05) on the whiteboard and ask the room what 0.05 is in the first one. Somebody has to open the signature to know. That is a code review cost, every single time.
WHY IT MATTERS FOR FLUTTER: a widget commonly takes eight or nine parameters. Named parameters are why that is readable rather than unbearable, and they are why Flutter needs no builder pattern.
THE ONE RULE TO REMEMBER: you cannot mix optional positional and named in the same function. Pick one. In this course we pick named, every time.
DEFAULTS: shown in the signature. In Java that is overloads or a builder. Here it is one line, and the default is visible to the reader.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Simple, but drill it, because they will read far more of it than they write this week.
THE MEANING IS EXACTLY "return this one expression". Show the long and short forms of the same function side by side and let them confirm they are identical.
THE LIMIT: it only works when the body is a single expression. You cannot put an if statement, a loop, or two statements after an arrow. If you need those, use braces and return.
YOU CAN, however, use a conditional expression, which catches people out in a good way: suffix.isEmpty ? sku : '$sku-$suffix' is a single expression, so it is fine after an arrow.
GETTERS WITH ARROWS are the idiom they will write most: double get lineTotal =&gt; quantity * unitPrice. Point at it now, because that exact line appears in Lab 2.1 in ninety minutes.
DO NOT MAKE A STYLE RULE OUT OF IT. Both forms are correct. Use the arrow when the whole thing fits comfortably on one line and use braces when it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and this is a genuine quality-of-life improvement over Java 8 that this room will appreciate.
THE JAVA 8 COMPARISON IS IN THE CODE. Read it aloud. Java needs a functional interface for every shape: Function, BiFunction, Supplier, Consumer, Predicate, UnaryOperator, and a dozen primitive specialisations. You have to know which one to import and you have to call .apply on it.
IN DART the type is just the signature: double Function(double). You call it with brackets, like any other function. There is nothing to import and nothing to remember.
THREE THINGS YOU CAN DO: store one, pass one, return one. The code shows all three. The third, a function that returns a function, is where the room usually pauses; slow down there and run percentageOff live so they see tenOff remembering the ten.
VOID FUNCTIONS as values: the type is void Function(), and you will meet it constantly on Thursday as the type of a button's onPressed.
WHY IT MATTERS FOR FLUTTER, and say it now: half of what you pass to a widget is a function. What happens when this is tapped. How to build each row of this list. How to compare two items when sorting. Being comfortable with function types today makes Thursday feel ordinary.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This is the one place in the block where Dart is not simply Java with a different spelling.
RUN makeCounter LIVE and print next() three times. The count survives after makeCounter has returned, which surprises people the first time even though they know how closures work in principle.
THE JAVA RULE they all know: a lambda can only use a local variable that is final or effectively final, and the compiler enforces it. That is why Java developers end up wrapping things in an AtomicInteger or a one-element array to get around it.
DART HAS NO SUCH RULE. The closure captures the variable itself, not a copy, and can modify it. That removes the AtomicInteger workaround entirely.
THE COST, and be honest: if two closures capture the same variable, they share it, and changes made by one are visible to the other. That is occasionally exactly what you want and occasionally a bug that is hard to see. Java's restriction exists to prevent that class of confusion.
WHERE THEY WILL MEET IT: any callback that updates something outside itself. On Thursday, every button that changes what is on screen is a closure modifying state.
IF THE ROOM IS QUIET HERE, that usually means they are not sure they follow. Ask someone to predict the output before you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Eight minutes. Go quickly, because a Java 8 room already thinks in lambdas.
THE ONLY REAL DIFFERENCE IS THE ARROW. Java writes a -&gt; b, Dart writes a =&gt; b. Say that plainly and watch the room relax.
NO TYPE ANNOTATIONS NEEDED on the parameters when the compiler can work them out, exactly as in Java. sort((a, b) =&gt; a.compareTo(b)) needs no types.
NO METHOD REFERENCE SYNTAX. Java has String::compareTo. Dart does not have a double-colon form, but you can pass a function by name directly: skus.forEach(print) works, because print is a function that takes one argument. That trick appears in the labs, so mention it.
BRACES OR ARROW: braces when you need more than one statement, arrow when it is one expression. Same rule as everywhere else in the language.
THIS SLIDE IS A GOOD PLACE TO CHECK THE ROOM'S ENERGY before the break. If people look tired, take the break early. The classes module needs their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 most important module of the day, and the one that must not be rushed. A hundred and five minutes including the lab.
THE FRAMING: "Everything here has a Java equivalent. Most of it is shorter. Two things work differently enough to catch you out: privacy is by file rather than by class, and every class automatically defines an interface."
DO NOT SKIP THE LONG-FORM CONSTRUCTOR on the first slide even though nobody writes it. Showing the version that looks like Java, then the shorthand, is what makes the shorthand feel like a saving rather than a mystery.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Build this up on the projector rather than showing the finished slide.
START WITH THE JAVA-SHAPED VERSION. Fields, then a constructor that assigns each one. Everybody recognises it. Then show the shorthand and let them see how much disappears.
this.sku IN THE PARAMETER LIST is the whole trick. It declares the parameter and assigns the field in one move. There is no body left to write.
NAMED PARAMETERS ON A CONSTRUCTOR is what you will actually use, and it is worth saying why: a Product with four fields called positionally is unreadable at the call site, and four booleans in a row is a bug waiting to happen.
const ON A CONSTRUCTOR means instances can be compile-time constants, which requires every field to be final. Remind them of yesterday's identical demo. Const constructors matter enormously from Thursday, because a const widget is skipped during rebuilds.
THERE IS NO new KEYWORD. It is optional and the style guide says leave it out. Someone will type it out of habit; the analyser will grey it out.
FIELDS AFTER THE CONSTRUCTOR is the Dart convention and it looks wrong to Java eyes for about a day. Point it out so nobody thinks the slide has a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Build this up on the projector rather than showing the finished slide.
START WITH THE JAVA-SHAPED VERSION. Fields, then a constructor that assigns each one. Everybody recognises it. Then show the shorthand and let them see how much disappears.
this.sku IN THE PARAMETER LIST is the whole trick. It declares the parameter and assigns the field in one move. There is no body left to write.
NAMED PARAMETERS ON A CONSTRUCTOR is what you will actually use, and it is worth saying why: a Product with four fields called positionally is unreadable at the call site, and four booleans in a row is a bug waiting to happen.
const ON A CONSTRUCTOR means instances can be compile-time constants, which requires every field to be final. Remind them of yesterday's identical demo. Const constructors matter enormously from Thursday, because a const widget is skipped during rebuilds.
THERE IS NO new KEYWORD. It is optional and the style guide says leave it out. Someone will type it out of habit; the analyser will grey it out.
FIELDS AFTER THE CONSTRUCTOR is the Dart convention and it looks wrong to Java eyes for about a day. Point it out so nobody thinks the slide has a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Two ideas, and the second one has more depth than it first appears.
NAMED CONSTRUCTORS: Product.placeholder(). In Java this is public static Product placeholder(). The difference that matters is that a named constructor can be const, and a static method never can.
THE COLON AND THE INITIALISER LIST: the part after the colon assigns final fields before the body runs. It is the only place you can assign a final field other than the parameter list. Java's equivalent is assigning in the constructor body, which Dart will not let you do for a final field.
FACTORY CONSTRUCTORS are the interesting one. The keyword factory means "this does not have to create a new instance". It can return an existing object from a cache, return a subclass, or do work first and then decide. It is the Java static factory pattern, promoted into the language so the caller cannot tell the difference.
fromJson IS THE ONE THEY WILL WRITE MOST. Every model class in the app gets one. It appears again on Friday when we call a real API, so tell them this pattern is worth remembering.
THE CASTS IN fromJson deserve thirty seconds: json['sku'] as String, and (json['unitPrice'] as num).toDouble(). JSON gives you dynamic values, so you assert the type. The num cast is there because a JSON number could arrive as either an int or a double, and this handles both.
WHY NOT JUST USE A STATIC METHOD? You can. The convention is a factory constructor because it reads better at the call site: Product.fromJson(x) rather than ProductMapper.fromJson(x).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Two ideas, and the second one has more depth than it first appears.
NAMED CONSTRUCTORS: Product.placeholder(). In Java this is public static Product placeholder(). The difference that matters is that a named constructor can be const, and a static method never can.
THE COLON AND THE INITIALISER LIST: the part after the colon assigns final fields before the body runs. It is the only place you can assign a final field other than the parameter list. Java's equivalent is assigning in the constructor body, which Dart will not let you do for a final field.
FACTORY CONSTRUCTORS are the interesting one. The keyword factory means "this does not have to create a new instance". It can return an existing object from a cache, return a subclass, or do work first and then decide. It is the Java static factory pattern, promoted into the language so the caller cannot tell the difference.
fromJson IS THE ONE THEY WILL WRITE MOST. Every model class in the app gets one. It appears again on Friday when we call a real API, so tell them this pattern is worth remembering.
THE CASTS IN fromJson deserve thirty seconds: json['sku'] as String, and (json['unitPrice'] as num).toDouble(). JSON gives you dynamic values, so you assert the type. The num cast is there because a JSON number could arrive as either an int or a double, and this handles both.
WHY NOT JUST USE A STATIC METHOD? You can. The convention is a factory constructor because it reads better at the call site: Product.fromJson(x) rather than ProductMapper.fromJson(x).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THE SYNTAX: double get lineTotal =&gt; quantity * unitPrice. Called as line.lineTotal, with no brackets. It computes every time it is read; it is not a stored field.
AGAINST JAVA BEANS: Java has a naming convention and a lot of IDE-generated boilerplate. Dart has a language feature. A field can become a getter later without any caller changing, which is the encapsulation argument Java beans were invented for, delivered properly.
THE GUIDANCE, and say it clearly because they will ask: use a getter when it is cheap and has no side effects. Use a method when it does real work or needs arguments. Reading a getter should never surprise anyone.
SETTERS: show one, then tell them we will barely use them. Almost every class in this course is immutable with final fields, and changes are made with copyWith, which they meet in Lab 2.3. Immutability is not dogma here; it is what makes the Flutter rebuild model work, and Thursday explains why.
COMPUTED VERSUS STORED: somebody will ask whether lineTotal is recalculated every time. Yes. If that ever mattered you would store it, but for arithmetic on two numbers it does not.
NO SIDE EFFECTS IN GETTERS, and mean it. A getter that writes to a database or fires a network call is a trap for every future reader.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THE SYNTAX: double get lineTotal =&gt; quantity * unitPrice. Called as line.lineTotal, with no brackets. It computes every time it is read; it is not a stored field.
AGAINST JAVA BEANS: Java has a naming convention and a lot of IDE-generated boilerplate. Dart has a language feature. A field can become a getter later without any caller changing, which is the encapsulation argument Java beans were invented for, delivered properly.
THE GUIDANCE, and say it clearly because they will ask: use a getter when it is cheap and has no side effects. Use a method when it does real work or needs arguments. Reading a getter should never surprise anyone.
SETTERS: show one, then tell them we will barely use them. Almost every class in this course is immutable with final fields, and changes are made with copyWith, which they meet in Lab 2.3. Immutability is not dogma here; it is what makes the Flutter rebuild model work, and Thursday explains why.
COMPUTED VERSUS STORED: somebody will ask whether lineTotal is recalculated every time. Yes. If that ever mattered you would store it, but for arithmetic on two numbers it does not.
NO SIDE EFFECTS IN GETTERS, and mean it. A getter that writes to a database or fires a network call is a trap for every future reader.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and this is the first thing today that genuinely works differently from Java. Do not rush it.
THE RULE: a name starting with an underscore is visible only inside its own file. No underscore means visible everywhere. That is the entire access control system.
THE FIRST SURPRISE: two classes in the same file can see each other's private members. Java developers hear that as a hole in the system. It is deliberate, and it is why a small helper class living beside its owner in the same file is idiomatic Dart rather than a smell.
THE SECOND SURPRISE: there is no protected. A subclass in a different file cannot see its parent's private members. If a subclass needs it, it is not private.
THE THIRD SURPRISE: there is no package-private, because there are no packages in the Java sense. The unit of privacy is the file.
WHAT THIS MEANS IN PRACTICE: one main class per file is still the usual convention, but you will regularly see a private helper class or two underneath it. On Thursday you will see exactly that pattern in Flutter screens, where a private widget lives below the screen that uses it.
THE ANALYSER ENFORCES NOTHING HERE. An underscore is not a hint, it is compiled behaviour. Trying to touch another file's underscore member is a compile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Eight minutes, and the second half is the point.
static IS static. Belongs to the class, not an instance, cannot use this. Nothing new.
THE REAL POINT: Java forces every function and constant into a class, which is why every Java codebase has a StringUtils and a Constants class full of statics. Dart has top-level functions and top-level variables, so that pressure does not exist.
THE QUESTION TO ASK THE ROOM: "is this class adding anything, or is it just a namespace?" If it is only a namespace, a top-level function in a well-named file does the same job with less ceremony.
WHEN A CLASS OF STATICS IS STILL RIGHT: when the grouping genuinely helps at the call site. VatRules.standardRate reads better than a bare standardVatRate floating in a file, especially if you have several rate constants.
WATCH FOR THIS HABIT ALL WEEK. Java developers reflexively wrap loose functions in a class. It is not wrong, but it is often noise, and pointing it out once now saves you pointing it out five times in code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BY DEFAULT, two objects are equal only if they are the same object. Identical to Java's Object.equals. Demonstrate it: create two Products with the same values and print a == b before you write the override. It prints false, and that is the moment the override earns its place.
== IS AN OPERATOR. The syntax is bool operator ==(Object other). It takes Object, not the specific type, exactly as Java's equals does, and for the same reason.
THE is CHECK does two jobs at once: it tests the type and, if it passes, promotes other to that type for the rest of the expression. There is no cast. That is the flow analysis they saw with null yesterday, working on types.
IF YOU OVERRIDE ==, YOU MUST OVERRIDE hashCode. Same rule as Java, same reason: anything hash-based will behave unpredictably otherwise. The analyser has a lint for it.
Object.hash(a, b) is Dart's version of Objects.hash from Java 7. For more than about twenty fields there is Object.hashAll, which takes a list.
THIS IS BOILERPLATE, and acknowledge it. Java teams use Lombok or IDE generation for exactly this. Tomorrow they meet records, which give structural equality for free, and on Friday we mention code generation packages that do the same for classes. For today, writing it once by hand is the point.
CONNECT FORWARD: value equality matters more in Flutter than in most Java code, because the framework compares old and new state to decide what to redraw. Get equality wrong and the screen either does not update or updates too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BY DEFAULT, two objects are equal only if they are the same object. Identical to Java's Object.equals. Demonstrate it: create two Products with the same values and print a == b before you write the override. It prints false, and that is the moment the override earns its place.
== IS AN OPERATOR. The syntax is bool operator ==(Object other). It takes Object, not the specific type, exactly as Java's equals does, and for the same reason.
THE is CHECK does two jobs at once: it tests the type and, if it passes, promotes other to that type for the rest of the expression. There is no cast. That is the flow analysis they saw with null yesterday, working on types.
IF YOU OVERRIDE ==, YOU MUST OVERRIDE hashCode. Same rule as Java, same reason: anything hash-based will behave unpredictably otherwise. The analyser has a lint for it.
Object.hash(a, b) is Dart's version of Objects.hash from Java 7. For more than about twenty fields there is Object.hashAll, which takes a list.
THIS IS BOILERPLATE, and acknowledge it. Java teams use Lombok or IDE generation for exactly this. Tomorrow they meet records, which give structural equality for free, and on Friday we mention code generation packages that do the same for classes. For today, writing it once by hand is the point.
CONNECT FORWARD: value equality matters more in Flutter than in most Java code, because the framework compares old and new state to decide what to redraw. Get equality wrong and the screen either does not update or updates too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Mostly familiar; two small conveniences worth pointing out.
extends: one parent only, same as Java. abstract: cannot be instantiated, may declare members with no body. All identical.
super.sku IN THE CONSTRUCTOR PARAMETER LIST is the convenience. It declares a parameter and forwards it to the parent constructor in one move, so you do not write a body just to call super. This is relatively new to Dart and it appears constantly in Flutter widget constructors as super.key.
@override IS OPTIONAL BUT ALWAYS WRITE IT. The analyser wants it, and it catches the classic typo where you meant to override something and actually declared a new method with a slightly different name.
runtimeType, in the label getter, gives you the class of an object at runtime. It is Dart's getClass(). Useful for logging and debugging, and a poor basis for logic.
THE ADVICE TO GIVE, and this room will agree with it: prefer composition. Deep inheritance hierarchies age badly in any language, and in Flutter you will almost never subclass anything except the two or three base classes the framework gives you.
DO NOT GO INTO mixins TODAY. They are tomorrow, alongside extensions, where they belong.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Mostly familiar; two small conveniences worth pointing out.
extends: one parent only, same as Java. abstract: cannot be instantiated, may declare members with no body. All identical.
super.sku IN THE CONSTRUCTOR PARAMETER LIST is the convenience. It declares a parameter and forwards it to the parent constructor in one move, so you do not write a body just to call super. This is relatively new to Dart and it appears constantly in Flutter widget constructors as super.key.
@override IS OPTIONAL BUT ALWAYS WRITE IT. The analyser wants it, and it catches the classic typo where you meant to override something and actually declared a new method with a slightly different name.
runtimeType, in the label getter, gives you the class of an object at runtime. It is Dart's getClass(). Useful for logging and debugging, and a poor basis for logic.
THE ADVICE TO GIVE, and this room will agree with it: prefer composition. Deep inheritance hierarchies age badly in any language, and in Flutter you will almost never subclass anything except the two or three base classes the framework gives you.
DO NOT GO INTO mixins TODAY. They are tomorrow, alongside extensions, where they belong.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This is the second genuinely different thing today, and it is worth the time.
THE RULE: every class you write automatically defines an interface consisting of its public members. Any other class can implement it, and when it does, it inherits nothing at all. Every member must be written from scratch.
THE DISTINCTION TO DRILL: extends takes the shape and the code. implements takes only the shape. Show both against the same Discount class, as the code does, and make them say which one is which before you tell them.
WHY THIS IS USEFUL: you can implement a concrete class purely to match its shape, which is how test fakes are often written in Dart without needing an interface to have been extracted first. Java requires the interface to exist up front.
WHY IT SURPRISES PEOPLE: implementing a class with useful methods gives you none of them. If your file suddenly has twelve red underlines after you typed implements, that is why.
HOW YOU DECLARE A REAL INTERFACE: an abstract class with no implementations. That is the idiomatic way and it is what our repository classes look like on Friday.
MANY INTERFACES, ONE PARENT, exactly as in Java. Show the Everything example briefly and move on.
IF SOMEBODY MENTIONS class modifiers: Dart 3 added interface, base, final and sealed as class modifiers for library authors who want to restrict how their classes are used. Say that they exist, that sealed is tomorrow, and that the rest are not needed for application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This is the second genuinely different thing today, and it is worth the time.
THE RULE: every class you write automatically defines an interface consisting of its public members. Any other class can implement it, and when it does, it inherits nothing at all. Every member must be written from scratch.
THE DISTINCTION TO DRILL: extends takes the shape and the code. implements takes only the shape. Show both against the same Discount class, as the code does, and make them say which one is which before you tell them.
WHY THIS IS USEFUL: you can implement a concrete class purely to match its shape, which is how test fakes are often written in Dart without needing an interface to have been extracted first. Java requires the interface to exist up front.
WHY IT SURPRISES PEOPLE: implementing a class with useful methods gives you none of them. If your file suddenly has twelve red underlines after you typed implements, that is why.
HOW YOU DECLARE A REAL INTERFACE: an abstract class with no implementations. That is the idiomatic way and it is what our repository classes look like on Friday.
MANY INTERFACES, ONE PARENT, exactly as in Java. Show the Everything example briefly and move on.
IF SOMEBODY MENTIONS class modifiers: Dart 3 added interface, base, final and sealed as class modifiers for library authors who want to restrict how their classes are used. Say that they exist, that sealed is tomorrow, and that the rest are not needed for application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35 minutes, hard stop. This is the anchor lab of the day and everything after it builds on these two classes.
CHECKPOINTS: at 12 minutes Product compiles and prints. At 25 minutes OrderLine has equality working.
THE EXPECTED OUTPUT IS IN THE HANDBOOK and on your whiteboard, so nobody has to queue to ask whether they got it right.
THE LAST STEP IS THE REAL LESSON and people will skip it if you let them. With const, identical prints true, because the compiler made one object and reused it. With final, it prints false. That is yesterday's const slide and today's equality slide meeting each other, and it is the clearest demonstration of const you will get all week. Do it on the projector at the hard stop if anyone missed it.
COMMON ERRORS: forgetting required on a named parameter and getting a confusing message about a nullable type. Putting the fields above the constructor and then wondering why the analyser complains about ordering, which it does not, so reassure them. Overriding == without hashCode, which the analyser flags. Writing bool operator ==(OrderLine other) instead of (Object other), which does not override anything.
THAT LAST ONE IS WORTH WATCHING FOR because it fails silently: the code compiles, but == never runs and equality quietly stays broken. Exactly the same trap as Java's equals(MyType) instead of equals(Object).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Ninety minutes including the lab. A Java 8 room already thinks in streams, so the first two slides go quickly and the collection literals slide is where the new material is.
THE ONE-LINE FRAMING: "You already know this. The names are shorter, the ceremony is gone, and there are three things at the end that Java simply does not have."
IF YOU ARE BEHIND ON TIME, this is the module to compress. The Iterable slide can be a five-minute vocabulary translation.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Go quickly and highlight four differences.
LITERALS: you write a list inline with square brackets. No new ArrayList, no Arrays.asList, no List.of. The type goes in angle brackets before the bracket when the compiler needs help.
INDEXING WITH SQUARE BRACKETS, not get. skus[0]. Assigning works the same way.
first AND last ARE PROPERTIES, not methods, and both throw on an empty list. firstOrNull and lastOrNull are the safe versions and they return a nullable type, which the compiler then makes you handle.
removeWhere IS THE ONE JAVA PEOPLE MISS. It is removeIf. It is the safe way to remove during iteration, and it is what you reach for instead of an iterator.
FIXED-LENGTH AND UNMODIFIABLE: List.filled gives you something array-shaped, and List.unmodifiable is Collections.unmodifiableList. Both are worth knowing and neither is used much.
SORTING: sort mutates the list in place and returns nothing, so you cannot chain it. Writing final sorted = list.sort() gives you void and a confusing error. The idiom is toList()..sort(), using the cascade from two slides ahead, and it appears in Lab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Go quickly and highlight four differences.
LITERALS: you write a list inline with square brackets. No new ArrayList, no Arrays.asList, no List.of. The type goes in angle brackets before the bracket when the compiler needs help.
INDEXING WITH SQUARE BRACKETS, not get. skus[0]. Assigning works the same way.
first AND last ARE PROPERTIES, not methods, and both throw on an empty list. firstOrNull and lastOrNull are the safe versions and they return a nullable type, which the compiler then makes you handle.
removeWhere IS THE ONE JAVA PEOPLE MISS. It is removeIf. It is the safe way to remove during iteration, and it is what you reach for instead of an iterator.
FIXED-LENGTH AND UNMODIFIABLE: List.filled gives you something array-shaped, and List.unmodifiable is Collections.unmodifiableList. Both are worth knowing and neither is used much.
SORTING: sort mutates the list in place and returns nothing, so you cannot chain it. Writing final sorted = list.sort() gives you void and a confusing error. The idiom is toList()..sort(), using the cascade from two slides ahead, and it appears in Lab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MAP LITERALS use curly brackets with colons. Insertion order is preserved, so it behaves like a LinkedHashMap, which is a small but genuinely useful default.
A MISSING KEY RETURNS null RATHER THAN THROWING, the same as Java. What is new is that the type of stock['SKU-9'] is int?, not int, so the compiler forces you to deal with the possibility. Show that in DartPad: assign it to an int and watch the error.
THAT IS THE SLIDE'S REAL POINT. In Java a map lookup returning null is where NullPointerExceptions come from and nothing warns you. Here it is a compile error.
putIfAbsent AND update are the same as Java, except update takes an ifAbsent callback so you can handle the missing case in the same call.
ITERATING: entries gives you key and value pairs, and forEach takes both. Both are fine. Prefer the for-in over entries when the body is more than a line.
SETS: a Set is a HashSet, with literal syntax using curly brackets and no colons.
THE TRAP AT THE BOTTOM IS REAL AND CATCHES EVERYONE ONCE. An empty pair of curly brackets is an empty MAP, not an empty set, because maps came first. An empty set needs its type: angle-bracket String, then curly brackets. Say it, then show the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MAP LITERALS use curly brackets with colons. Insertion order is preserved, so it behaves like a LinkedHashMap, which is a small but genuinely useful default.
A MISSING KEY RETURNS null RATHER THAN THROWING, the same as Java. What is new is that the type of stock['SKU-9'] is int?, not int, so the compiler forces you to deal with the possibility. Show that in DartPad: assign it to an int and watch the error.
THAT IS THE SLIDE'S REAL POINT. In Java a map lookup returning null is where NullPointerExceptions come from and nothing warns you. Here it is a compile error.
putIfAbsent AND update are the same as Java, except update takes an ifAbsent callback so you can handle the missing case in the same call.
ITERATING: entries gives you key and value pairs, and forEach takes both. Both are fine. Prefer the for-in over entries when the body is more than a line.
SETS: a Set is a HashSet, with literal syntax using curly brackets and no colons.
THE TRAP AT THE BOTTOM IS REAL AND CATCHES EVERYONE ONCE. An empty pair of curly brackets is an empty MAP, not an empty set, because maps came first. An empty set needs its type: angle-bracket String, then curly brackets. Say it, then show the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Translate the vocabulary quickly, then spend the time on the three gotchas.
THE TRANSLATION: filter is where. map is map. collect(toList()) is toList(). anyMatch is any. allMatch is every. limit is take. flatMap is expand. Collectors.joining is join.
GOTCHA ONE, AND IT WILL BITE SOMEBODY TODAY: always write the type argument on fold. fold&lt;double&gt;(0, ...). Without it Dart can infer num instead of double and you get a confusing error about assigning num to double. It is on the troubleshooting slide and it appears in Lab 2.2.
GOTCHA TWO: fold takes an initial value and always returns something. reduce takes no initial value and THROWS on an empty collection. Java's reduce has both forms too. Prefer fold.
GOTCHA THREE: firstWhere throws if nothing matches. That surprises people who expect an Optional. The safe form is where(...).firstOrNull, which gives you a nullable value the compiler makes you handle. There is also an orElse parameter on firstWhere.
LAZY, exactly like Java streams: where and map do no work until you iterate or call toList. Somebody always asks, so answer it before they do.
NO PARALLEL STREAMS. There is no parallelStream equivalent, because Dart has one thread per isolate. That is tomorrow's conversation; note it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Translate the vocabulary quickly, then spend the time on the three gotchas.
THE TRANSLATION: filter is where. map is map. collect(toList()) is toList(). anyMatch is any. allMatch is every. limit is take. flatMap is expand. Collectors.joining is join.
GOTCHA ONE, AND IT WILL BITE SOMEBODY TODAY: always write the type argument on fold. fold&lt;double&gt;(0, ...). Without it Dart can infer num instead of double and you get a confusing error about assigning num to double. It is on the troubleshooting slide and it appears in Lab 2.2.
GOTCHA TWO: fold takes an initial value and always returns something. reduce takes no initial value and THROWS on an empty collection. Java's reduce has both forms too. Prefer fold.
GOTCHA THREE: firstWhere throws if nothing matches. That surprises people who expect an Optional. The safe form is where(...).firstOrNull, which gives you a nullable value the compiler makes you handle. There is also an orElse parameter on firstWhere.
LAZY, exactly like Java streams: where and map do no work until you iterate or call toList. Somebody always asks, so answer it before they do.
NO PARALLEL STREAMS. There is no parallelStream equivalent, because Dart has one thread per isolate. That is tomorrow's conversation; note it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and this is the slide that earns the module. Type all of it live.
SPREAD, three dots, unpacks one collection into another. There is a null-aware version, three dots and a question mark, for when the source might be null.
COLLECTION-IF puts an if directly inside a list literal. If the condition is false, that element simply is not there. No else needed, though else is allowed.
COLLECTION-FOR puts a loop inside a list literal, producing an element per iteration.
THE COMBINED EXAMPLE IS THE POINT. Read it out and then describe the Java version out loud: declare an ArrayList, add the title, write an if and add conditionally, write a for loop and add inside it, then addAll. Six statements and a mutable variable, against one expression.
WHY THIS MATTERS ENORMOUSLY FROM THURSDAY: a Flutter screen is a list of children. Collection-if is how you show a widget only when something is true. Collection-for is how you turn a list of orders into a list of rows. You will write both several times on every screen.
SAY THAT LAST POINT EXPLICITLY. Today this looks like syntactic sugar. On Thursday it is the difference between readable UI code and a mess of temporary variables.
THE MAP VERSION EXISTS TOO and appears in Lab 2.2: a for loop inside a map literal, producing key and value pairs. Point at it when they get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and this is the slide that earns the module. Type all of it live.
SPREAD, three dots, unpacks one collection into another. There is a null-aware version, three dots and a question mark, for when the source might be null.
COLLECTION-IF puts an if directly inside a list literal. If the condition is false, that element simply is not there. No else needed, though else is allowed.
COLLECTION-FOR puts a loop inside a list literal, producing an element per iteration.
THE COMBINED EXAMPLE IS THE POINT. Read it out and then describe the Java version out loud: declare an ArrayList, add the title, write an if and add conditionally, write a for loop and add inside it, then addAll. Six statements and a mutable variable, against one expression.
WHY THIS MATTERS ENORMOUSLY FROM THURSDAY: a Flutter screen is a list of children. Collection-if is how you show a widget only when something is true. Collection-for is how you turn a list of orders into a list of rows. You will write both several times on every screen.
SAY THAT LAST POINT EXPLICITLY. Today this looks like syntactic sugar. On Thursday it is the difference between readable UI code and a mess of temporary variables.
THE MAP VERSION EXISTS TOO and appears in Lab 2.2: a for loop inside a map literal, producing key and value pairs. Point at it when they get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Eight minutes.
THE PROBLEM IT SOLVES: methods that return void cannot be chained. In Java the answer is the builder pattern, where every method returns this, and that has to be designed in by whoever wrote the class.
THE CASCADE gives you the same reading experience on any object, without the class having to cooperate. The expression evaluates to the object, not to whatever the last call returned.
THE IDIOM THEY WILL ACTUALLY USE is toList()..sort(). Because sort returns void, you cannot write final sorted = list.sort(). With a cascade you can: final sorted = list.toList()..sort(). It appears in Lab 2.2, so put it on the whiteboard.
WATCH THE PRECEDENCE: a cascade binds to the whole preceding expression. When it looks wrong, add brackets.
DO NOT OVERUSE IT. A cascade of eight calls is harder to read than eight statements. Two or three is comfortable.
NULL-AWARE CASCADE exists, question mark then two dots, for when the target might be null. Mention it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35 minutes, hard stop. This is the lab where the Java 8 experience in the room pays off, so expect it to run faster than Lab 2.1.
CHECKPOINTS: at 12 minutes the fold totals are correct. At 25 minutes the map is built.
THE TWO THINGS THEY WILL GET STUCK ON, and both are on the slides: fold without a type argument, and trying to assign the result of sort. Say both out loud before you start the timer and you will halve the queue at your desk.
THE EXPECTED OUTPUT IS IN THE HANDBOOK. Total value 14650.0 and total units 255. Put them on the whiteboard.
THE LAST STRETCH GOAL IS THE MOST VALUABLE ONE for the fast half of the room. Writing the report without collection-if and collection-for, then putting the two side by side, is what makes the feature stick.
IF SOMEBODY FINISHES IN FIFTEEN MINUTES, and somebody will, send them to the stretch goals rather than letting them help their neighbour immediately. Struggling for a few minutes is how the rest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 last hour, and it ends with the capstone lab. Enums themselves are quick, because Java enums have been this capable since 1.5 and this room already knows them.
THE POINT OF THE MODULE is not really the enum syntax. It is the modelling decision: putting the display label on the value, so no screen ever translates an enum into words. Make that argument properly, because it is the habit that keeps presentation logic out of the UI on Thursday.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Eight minutes. Go quickly; this is the most familiar slide of the day.
name AND index are properties, not methods. Java has name() and ordinal() as methods. Trivial difference, worth one sentence.
values IS A LIST and it is in declaration order, exactly as in Java.
byName PARSES FROM TEXT and throws if there is no match. There is a tryByName style approach using firstWhere with orElse if you want a safe version, and they will need one when they read a status back from a database on Friday.
THE EXHAUSTIVE SWITCH IS THE IMPORTANT PART. Because the compiler knows every value, it checks that you handled all of them. Demonstrate it: add a sixth value to the enum in DartPad and watch the switch turn red. That is thirty seconds and it previews tomorrow's sealed classes perfectly.
NOTE THERE IS NO break. Dart does not fall through, so each case ends by itself. Anyone who has shipped a missing-break bug will nod.
DO NOT TEACH SWITCH EXPRESSIONS TODAY. Tomorrow, with sealed classes, where the payoff is obvious.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Eight minutes. Go quickly; this is the most familiar slide of the day.
name AND index are properties, not methods. Java has name() and ordinal() as methods. Trivial difference, worth one sentence.
values IS A LIST and it is in declaration order, exactly as in Java.
byName PARSES FROM TEXT and throws if there is no match. There is a tryByName style approach using firstWhere with orElse if you want a safe version, and they will need one when they read a status back from a database on Friday.
THE EXHAUSTIVE SWITCH IS THE IMPORTANT PART. Because the compiler knows every value, it checks that you handled all of them. Demonstrate it: add a sixth value to the enum in DartPad and watch the switch turn red. That is thirty seconds and it previews tomorrow's sealed classes perfectly.
NOTE THERE IS NO break. Dart does not fall through, so each case ends by itself. Anyone who has shipped a missing-break bug will nod.
DO NOT TEACH SWITCH EXPRESSIONS TODAY. Tomorrow, with sealed classes, where the payoff is obvious.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The syntax is quick; the modelling argument is the real content.
THE LAYOUT RULE that trips people: the values come first, then a semicolon, then everything else. That semicolon after the last value is easy to miss and the error message is unhelpful. Point at it.
THE CONSTRUCTOR MUST BE const, because enum values are compile-time constants. Every field must therefore be final.
THE MODELLING ARGUMENT, and this is the point of the slide: the label lives on the value. That means no screen, no report and no email template ever has to translate an enum into words. Ask the room where that translation usually lives in their systems. The answer is usually a switch in a service, or worse, a map in the UI layer, duplicated in three places.
isFinished IS A DERIVED PROPERTY and it belongs here because it is a fact about the status itself, not about any particular order.
canMoveTo IS A STATE MACHINE in three lines, and it is worth pausing on. Ask whether it belongs on the enum or on the Order class. There is a real argument both ways: on the enum it is reusable and testable in isolation; on the Order it can consider the order's other fields. For our purposes the enum is right, because the rule depends only on the status.
WHAT DOES NOT BELONG ON AN ENUM: anything that needs a database, a network call, or knowledge of the user interface. Enums should stay pure.
CONNECT FORWARD: on Thursday a dropdown of statuses is built directly from values with a collection-for, using the label. That is the payoff, and it is two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The syntax is quick; the modelling argument is the real content.
THE LAYOUT RULE that trips people: the values come first, then a semicolon, then everything else. That semicolon after the last value is easy to miss and the error message is unhelpful. Point at it.
THE CONSTRUCTOR MUST BE const, because enum values are compile-time constants. Every field must therefore be final.
THE MODELLING ARGUMENT, and this is the point of the slide: the label lives on the value. That means no screen, no report and no email template ever has to translate an enum into words. Ask the room where that translation usually lives in their systems. The answer is usually a switch in a service, or worse, a map in the UI layer, duplicated in three places.
isFinished IS A DERIVED PROPERTY and it belongs here because it is a fact about the status itself, not about any particular order.
canMoveTo IS A STATE MACHINE in three lines, and it is worth pausing on. Ask whether it belongs on the enum or on the Order class. There is a real argument both ways: on the enum it is reusable and testable in isolation; on the Order it can consider the order's other fields. For our purposes the enum is right, because the rule depends only on the status.
WHAT DOES NOT BELONG ON AN ENUM: anything that needs a database, a network call, or knowledge of the user interface. Enums should stay pure.
CONNECT FORWARD: on Thursday a dropdown of statuses is built directly from values with a collection-for, using the label. That is the payoff, and it is two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35 minutes, hard stop at 15:55. This is the capstone and it produces the model that Thursday puts on a screen.
CHECKPOINTS: at 12 minutes the enum compiles. At 25 minutes the getters return the right numbers.
copyWith IS THE PIECE THEY HAVE NOT WRITTEN BEFORE, and the pattern is worth explaining once on the projector before the timer starts. Every parameter is nullable and optional. Inside, each one falls back to the current value with the double question mark operator. It is verbose, it is mechanical, and on Friday we mention the packages that generate it.
THE POINT OF STEP 11 is immutability. The original order is untouched by copyWith, and they should see both printed side by side. Say why it matters: on Thursday, Flutter decides what to redraw by comparing old state to new state, and that only works if the old state still exists to compare against. Mutating in place breaks that.
COMMON ERRORS: forgetting the semicolon after the last enum value. Writing the constructor before the values. fold without a type argument, again. Making copyWith parameters required by habit, which defeats the whole purpose.
THE LAST STRETCH GOAL IS A GOOD DISCUSSION even if nobody finishes it. You cannot add a line to an existing order, because lines is final and the object is immutable. You make a new order with a new list. Someone will find that wasteful; the answer is that lists are references, so the copy is cheap, and the correctness is worth far more than the allocation.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Five minutes, read slowly. Two full days of new language is genuinely tiring and hearing it summarised back is worth more than it would be to a room using a familiar language.
ASK THIS: "which thing today would you take back to your Java code if you could?" It is a better closing question than "any questions", it gets real answers, and the answers are usually named parameters or collection-if.
THEN SAY WHAT THEY BUILT: a complete order model. Products, lines, an order that totals itself, and a status enum with its own display labels. That is a real domain layer, written in a language they met yesterday morning.
SET UP TOMORROW HONESTLY: "Tomorrow is the last day of pure Dart, and it is the day with the parts that have no Java equivalent. Records, sealed classes, pattern matching and extensions. It is the most interesting day of the three and it is the one that makes Flutter make sense."
PRESENTER, TONIGHT: check that everyone who was still without a working device has one, because Thursday needs them all. Have the Day 3 handbook ready before 09:00.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OPTIONAL AGAIN: two days of new language is a lot, and compulsory homework on day two gets resented and half-done. The four people who are enjoying themselves will do it anyway and they make good volunteers.
SCOPE IT TIGHTLY and say which pages. Left open, somebody reads about mixins and arrives tomorrow ahead of the material in a way that is hard to teach around.
NAME THE TWO VOLUNTEERS BEFORE THEY LEAVE. An unnamed slot is filled by nobody.
EXPECTED: Q1 typical answers are operators other than ==, callable objects, or the class modifiers. Q2 anywhere you hand a list out of a class and do not want the caller mutating your internal state, which is exactly the Order.lines situation. Q3 the docs confirm it: hash-based collections behave unpredictably, which is the same contract as Java.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The risk today is not technical, it is motivational. A full day of language with no visible app can feel like a detour to somebody who paid for a Flutter course.
THE DEFENCE IS THE OPENING SLIDE and the closing one. Say at 09:00 what they will have by 16:00, and at 16:00 show them that they have it.
THE SECOND RISK is that this is a senior room that will not admit to being lost. Watch screens rather than waiting for hands, and ask people to predict output before you run it. Silence on day two is usually not confidence.
IF YOU HAVE TO CUT SOMETHING, cut collections. It is the module they can most easily learn from the docs, because they already know Java streams. Never cut classes, and never cut Lab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Put these on the projector at every lab hard stop so anyone behind can copy the answer and rejoin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 Also in the handbook, where it can be copied without retyping.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This is the day's deliverable, so make sure everyone leaves with a working copy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This is the day's deliverable, so make sure everyone leaves with a working copy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This is the day's deliverable, so make sure everyone leaves with a working copy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useful page in the handbook. Tell them it is there so nobody photographs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on the second display all day. The first row alone will save you six trips across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these are in the handbook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9262872" y="-1463040"/>
            <a:ext cx="4754880" cy="4754880"/>
          </a:xfrm>
          <a:prstGeom prst="ellipse">
            <a:avLst/>
          </a:prstGeom>
          <a:solidFill>
            <a:srgbClr val="434C5E"/>
          </a:solidFill>
          <a:ln w="12700">
            <a:solidFill>
              <a:srgbClr val="434C5E"/>
            </a:solidFill>
            <a:prstDash val="solid"/>
          </a:ln>
        </p:spPr>
      </p:sp>
      <p:sp>
        <p:nvSpPr>
          <p:cNvPr id="3" name="Shape 1"/>
          <p:cNvSpPr/>
          <p:nvPr/>
        </p:nvSpPr>
        <p:spPr>
          <a:xfrm>
            <a:off x="10543032" y="4480560"/>
            <a:ext cx="3108960" cy="3108960"/>
          </a:xfrm>
          <a:prstGeom prst="ellipse">
            <a:avLst/>
          </a:prstGeom>
          <a:solidFill>
            <a:srgbClr val="2A9D8F"/>
          </a:solidFill>
          <a:ln w="12700">
            <a:solidFill>
              <a:srgbClr val="2A9D8F"/>
            </a:solidFill>
            <a:prstDash val="solid"/>
          </a:ln>
        </p:spPr>
      </p:sp>
      <p:sp>
        <p:nvSpPr>
          <p:cNvPr id="4" name="Text 2"/>
          <p:cNvSpPr txBox="1"/>
          <p:nvPr/>
        </p:nvSpPr>
        <p:spPr>
          <a:xfrm>
            <a:off x="548640" y="731520"/>
            <a:ext cx="7315200" cy="365760"/>
          </a:xfrm>
          <a:prstGeom prst="rect">
            <a:avLst/>
          </a:prstGeom>
          <a:noFill/>
          <a:ln/>
        </p:spPr>
        <p:txBody>
          <a:bodyPr wrap="square" lIns="0" tIns="0" rIns="0" bIns="0" rtlCol="0" anchor="ctr"/>
          <a:lstStyle/>
          <a:p>
            <a:pPr indent="0" marL="0">
              <a:buNone/>
            </a:pPr>
            <a:r>
              <a:rPr lang="en-US" sz="1200" spc="400" kern="0" dirty="0">
                <a:solidFill>
                  <a:srgbClr val="6FC5B8"/>
                </a:solidFill>
                <a:latin typeface="Calibri" pitchFamily="34" charset="0"/>
                <a:ea typeface="Calibri" pitchFamily="34" charset="-122"/>
                <a:cs typeface="Calibri" pitchFamily="34" charset="-120"/>
              </a:rPr>
              <a:t>TECHNICAL TRAINING</a:t>
            </a:r>
            <a:endParaRPr lang="en-US" sz="1200" dirty="0"/>
          </a:p>
        </p:txBody>
      </p:sp>
      <p:sp>
        <p:nvSpPr>
          <p:cNvPr id="5" name="Text 3"/>
          <p:cNvSpPr txBox="1"/>
          <p:nvPr/>
        </p:nvSpPr>
        <p:spPr>
          <a:xfrm>
            <a:off x="548640" y="1371600"/>
            <a:ext cx="8229600" cy="548640"/>
          </a:xfrm>
          <a:prstGeom prst="rect">
            <a:avLst/>
          </a:prstGeom>
          <a:noFill/>
          <a:ln/>
        </p:spPr>
        <p:txBody>
          <a:bodyPr wrap="square" lIns="0" tIns="0" rIns="0" bIns="0" rtlCol="0" anchor="ctr"/>
          <a:lstStyle/>
          <a:p>
            <a:pPr indent="0" marL="0">
              <a:buNone/>
            </a:pPr>
            <a:r>
              <a:rPr lang="en-US" sz="1800" dirty="0">
                <a:solidFill>
                  <a:srgbClr val="D7DEE8"/>
                </a:solidFill>
                <a:latin typeface="Calibri" pitchFamily="34" charset="0"/>
                <a:ea typeface="Calibri" pitchFamily="34" charset="-122"/>
                <a:cs typeface="Calibri" pitchFamily="34" charset="-120"/>
              </a:rPr>
              <a:t>Flutter for Java Developers · 8-Day Programme</a:t>
            </a:r>
            <a:endParaRPr lang="en-US" sz="1800" dirty="0"/>
          </a:p>
        </p:txBody>
      </p:sp>
      <p:sp>
        <p:nvSpPr>
          <p:cNvPr id="6" name="Text 4"/>
          <p:cNvSpPr txBox="1"/>
          <p:nvPr/>
        </p:nvSpPr>
        <p:spPr>
          <a:xfrm>
            <a:off x="548640" y="2103120"/>
            <a:ext cx="8686800" cy="146304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Day 2</a:t>
            </a:r>
            <a:endParaRPr lang="en-US" sz="4800" dirty="0"/>
          </a:p>
          <a:p>
            <a:pPr indent="0" marL="0">
              <a:buNone/>
            </a:pPr>
            <a:r>
              <a:rPr lang="en-US" sz="4800" b="1" dirty="0">
                <a:solidFill>
                  <a:srgbClr val="FFFFFF"/>
                </a:solidFill>
                <a:latin typeface="Calibri" pitchFamily="34" charset="0"/>
                <a:ea typeface="Calibri" pitchFamily="34" charset="-122"/>
                <a:cs typeface="Calibri" pitchFamily="34" charset="-120"/>
              </a:rPr>
              <a:t>Dart Core</a:t>
            </a:r>
            <a:endParaRPr lang="en-US" sz="4800" dirty="0"/>
          </a:p>
        </p:txBody>
      </p:sp>
      <p:sp>
        <p:nvSpPr>
          <p:cNvPr id="7" name="Text 5"/>
          <p:cNvSpPr txBox="1"/>
          <p:nvPr/>
        </p:nvSpPr>
        <p:spPr>
          <a:xfrm>
            <a:off x="548640" y="3657600"/>
            <a:ext cx="8229600" cy="731520"/>
          </a:xfrm>
          <a:prstGeom prst="rect">
            <a:avLst/>
          </a:prstGeom>
          <a:noFill/>
          <a:ln/>
        </p:spPr>
        <p:txBody>
          <a:bodyPr wrap="square" lIns="0" tIns="0" rIns="0" bIns="0" rtlCol="0" anchor="ctr"/>
          <a:lstStyle/>
          <a:p>
            <a:pPr indent="0" marL="0">
              <a:buNone/>
            </a:pPr>
            <a:r>
              <a:rPr lang="en-US" sz="2000" dirty="0">
                <a:solidFill>
                  <a:srgbClr val="6FC5B8"/>
                </a:solidFill>
                <a:latin typeface="Calibri" pitchFamily="34" charset="0"/>
                <a:ea typeface="Calibri" pitchFamily="34" charset="-122"/>
                <a:cs typeface="Calibri" pitchFamily="34" charset="-120"/>
              </a:rPr>
              <a:t>Functions · Classes and objects · Collections · Enums</a:t>
            </a:r>
            <a:endParaRPr lang="en-US" sz="2000" dirty="0"/>
          </a:p>
        </p:txBody>
      </p:sp>
      <p:sp>
        <p:nvSpPr>
          <p:cNvPr id="8" name="Text 6"/>
          <p:cNvSpPr txBox="1"/>
          <p:nvPr/>
        </p:nvSpPr>
        <p:spPr>
          <a:xfrm>
            <a:off x="548640" y="5760720"/>
            <a:ext cx="8229600" cy="457200"/>
          </a:xfrm>
          <a:prstGeom prst="rect">
            <a:avLst/>
          </a:prstGeom>
          <a:noFill/>
          <a:ln/>
        </p:spPr>
        <p:txBody>
          <a:bodyPr wrap="square" lIns="0" tIns="0" rIns="0" bIns="0" rtlCol="0" anchor="ctr"/>
          <a:lstStyle/>
          <a:p>
            <a:pPr indent="0" marL="0">
              <a:buNone/>
            </a:pPr>
            <a:r>
              <a:rPr lang="en-US" sz="1200" dirty="0">
                <a:solidFill>
                  <a:srgbClr val="AAB6C4"/>
                </a:solidFill>
                <a:latin typeface="Calibri" pitchFamily="34" charset="0"/>
                <a:ea typeface="Calibri" pitchFamily="34" charset="-122"/>
                <a:cs typeface="Calibri" pitchFamily="34" charset="-120"/>
              </a:rPr>
              <a:t>A full day of language, and no Flutter at all  ·  Day 2 of 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Day 2 agenda</a:t>
            </a:r>
            <a:endParaRPr lang="en-US" sz="3000" dirty="0"/>
          </a:p>
        </p:txBody>
      </p:sp>
      <p:sp>
        <p:nvSpPr>
          <p:cNvPr id="3" name="Shape 1"/>
          <p:cNvSpPr/>
          <p:nvPr/>
        </p:nvSpPr>
        <p:spPr>
          <a:xfrm>
            <a:off x="548640" y="1371600"/>
            <a:ext cx="2567178" cy="4663440"/>
          </a:xfrm>
          <a:prstGeom prst="roundRect">
            <a:avLst>
              <a:gd name="adj" fmla="val 3562"/>
            </a:avLst>
          </a:prstGeom>
          <a:solidFill>
            <a:srgbClr val="F2F5F6"/>
          </a:solidFill>
          <a:ln w="6350">
            <a:solidFill>
              <a:srgbClr val="F2F5F6"/>
            </a:solidFill>
            <a:prstDash val="solid"/>
          </a:ln>
          <a:effectLst>
            <a:outerShdw sx="100000" sy="100000" kx="0" ky="0" algn="bl" rotWithShape="0" blurRad="38100" dist="12700" dir="5400000">
              <a:srgbClr val="000000">
                <a:alpha val="8000"/>
              </a:srgbClr>
            </a:outerShdw>
          </a:effectLst>
        </p:spPr>
      </p:sp>
      <p:sp>
        <p:nvSpPr>
          <p:cNvPr id="4" name="Shape 2"/>
          <p:cNvSpPr/>
          <p:nvPr/>
        </p:nvSpPr>
        <p:spPr>
          <a:xfrm>
            <a:off x="822960" y="1600200"/>
            <a:ext cx="548640" cy="548640"/>
          </a:xfrm>
          <a:prstGeom prst="ellipse">
            <a:avLst/>
          </a:prstGeom>
          <a:solidFill>
            <a:srgbClr val="2A9D8F"/>
          </a:solidFill>
          <a:ln w="12700">
            <a:solidFill>
              <a:srgbClr val="2A9D8F"/>
            </a:solidFill>
            <a:prstDash val="solid"/>
          </a:ln>
        </p:spPr>
      </p:sp>
      <p:sp>
        <p:nvSpPr>
          <p:cNvPr id="5" name="Text 3"/>
          <p:cNvSpPr txBox="1"/>
          <p:nvPr/>
        </p:nvSpPr>
        <p:spPr>
          <a:xfrm>
            <a:off x="822960" y="1600200"/>
            <a:ext cx="548640" cy="548640"/>
          </a:xfrm>
          <a:prstGeom prst="rect">
            <a:avLst/>
          </a:prstGeom>
          <a:noFill/>
          <a:ln/>
        </p:spPr>
        <p:txBody>
          <a:bodyPr wrap="square" lIns="0" tIns="0" rIns="0" bIns="0" rtlCol="0" anchor="ctr"/>
          <a:lstStyle/>
          <a:p>
            <a:pPr algn="ctr" indent="0" marL="0">
              <a:buNone/>
            </a:pPr>
            <a:r>
              <a:rPr lang="en-US" sz="1600" b="1" dirty="0">
                <a:solidFill>
                  <a:srgbClr val="2E3440"/>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508760" y="1645920"/>
            <a:ext cx="1378458" cy="274320"/>
          </a:xfrm>
          <a:prstGeom prst="rect">
            <a:avLst/>
          </a:prstGeom>
          <a:noFill/>
          <a:ln/>
        </p:spPr>
        <p:txBody>
          <a:bodyPr wrap="square" lIns="0" tIns="0" rIns="0" bIns="0" rtlCol="0" anchor="ctr"/>
          <a:lstStyle/>
          <a:p>
            <a:pPr indent="0" marL="0">
              <a:buNone/>
            </a:pPr>
            <a:r>
              <a:rPr lang="en-US" sz="1000" dirty="0">
                <a:solidFill>
                  <a:srgbClr val="646E7A"/>
                </a:solidFill>
                <a:latin typeface="Calibri" pitchFamily="34" charset="0"/>
                <a:ea typeface="Calibri" pitchFamily="34" charset="-122"/>
                <a:cs typeface="Calibri" pitchFamily="34" charset="-120"/>
              </a:rPr>
              <a:t>09:00 - 10:30</a:t>
            </a:r>
            <a:endParaRPr lang="en-US" sz="1000" dirty="0"/>
          </a:p>
        </p:txBody>
      </p:sp>
      <p:sp>
        <p:nvSpPr>
          <p:cNvPr id="7" name="Text 5"/>
          <p:cNvSpPr txBox="1"/>
          <p:nvPr/>
        </p:nvSpPr>
        <p:spPr>
          <a:xfrm>
            <a:off x="1508760" y="1874520"/>
            <a:ext cx="1378458" cy="548640"/>
          </a:xfrm>
          <a:prstGeom prst="rect">
            <a:avLst/>
          </a:prstGeom>
          <a:noFill/>
          <a:ln/>
        </p:spPr>
        <p:txBody>
          <a:bodyPr wrap="square" lIns="0" tIns="0" rIns="0" bIns="0" rtlCol="0" anchor="t"/>
          <a:lstStyle/>
          <a:p>
            <a:pPr indent="0" marL="0">
              <a:buNone/>
            </a:pPr>
            <a:r>
              <a:rPr lang="en-US" sz="1500" b="1" dirty="0">
                <a:solidFill>
                  <a:srgbClr val="2E3440"/>
                </a:solidFill>
                <a:latin typeface="Calibri" pitchFamily="34" charset="0"/>
                <a:ea typeface="Calibri" pitchFamily="34" charset="-122"/>
                <a:cs typeface="Calibri" pitchFamily="34" charset="-120"/>
              </a:rPr>
              <a:t>Functions</a:t>
            </a:r>
            <a:endParaRPr lang="en-US" sz="1500" dirty="0"/>
          </a:p>
        </p:txBody>
      </p:sp>
      <p:sp>
        <p:nvSpPr>
          <p:cNvPr id="8" name="Text 6"/>
          <p:cNvSpPr txBox="1"/>
          <p:nvPr/>
        </p:nvSpPr>
        <p:spPr>
          <a:xfrm>
            <a:off x="822960"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Four kinds of parameter</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The fat arrow</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Functions as values, and closures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Anonymous functions</a:t>
            </a:r>
            <a:endParaRPr lang="en-US" sz="1200" dirty="0"/>
          </a:p>
        </p:txBody>
      </p:sp>
      <p:sp>
        <p:nvSpPr>
          <p:cNvPr id="9" name="Shape 7"/>
          <p:cNvSpPr/>
          <p:nvPr/>
        </p:nvSpPr>
        <p:spPr>
          <a:xfrm>
            <a:off x="3390138" y="1371600"/>
            <a:ext cx="2567178" cy="4663440"/>
          </a:xfrm>
          <a:prstGeom prst="roundRect">
            <a:avLst>
              <a:gd name="adj" fmla="val 3562"/>
            </a:avLst>
          </a:prstGeom>
          <a:solidFill>
            <a:srgbClr val="F2F5F6"/>
          </a:solidFill>
          <a:ln w="6350">
            <a:solidFill>
              <a:srgbClr val="F2F5F6"/>
            </a:solidFill>
            <a:prstDash val="solid"/>
          </a:ln>
          <a:effectLst>
            <a:outerShdw sx="100000" sy="100000" kx="0" ky="0" algn="bl" rotWithShape="0" blurRad="38100" dist="12700" dir="5400000">
              <a:srgbClr val="000000">
                <a:alpha val="8000"/>
              </a:srgbClr>
            </a:outerShdw>
          </a:effectLst>
        </p:spPr>
      </p:sp>
      <p:sp>
        <p:nvSpPr>
          <p:cNvPr id="10" name="Shape 8"/>
          <p:cNvSpPr/>
          <p:nvPr/>
        </p:nvSpPr>
        <p:spPr>
          <a:xfrm>
            <a:off x="3664458" y="1600200"/>
            <a:ext cx="548640" cy="548640"/>
          </a:xfrm>
          <a:prstGeom prst="ellipse">
            <a:avLst/>
          </a:prstGeom>
          <a:solidFill>
            <a:srgbClr val="2A9D8F"/>
          </a:solidFill>
          <a:ln w="12700">
            <a:solidFill>
              <a:srgbClr val="2A9D8F"/>
            </a:solidFill>
            <a:prstDash val="solid"/>
          </a:ln>
        </p:spPr>
      </p:sp>
      <p:sp>
        <p:nvSpPr>
          <p:cNvPr id="11" name="Text 9"/>
          <p:cNvSpPr txBox="1"/>
          <p:nvPr/>
        </p:nvSpPr>
        <p:spPr>
          <a:xfrm>
            <a:off x="3664458" y="1600200"/>
            <a:ext cx="548640" cy="548640"/>
          </a:xfrm>
          <a:prstGeom prst="rect">
            <a:avLst/>
          </a:prstGeom>
          <a:noFill/>
          <a:ln/>
        </p:spPr>
        <p:txBody>
          <a:bodyPr wrap="square" lIns="0" tIns="0" rIns="0" bIns="0" rtlCol="0" anchor="ctr"/>
          <a:lstStyle/>
          <a:p>
            <a:pPr algn="ctr" indent="0" marL="0">
              <a:buNone/>
            </a:pPr>
            <a:r>
              <a:rPr lang="en-US" sz="1600" b="1" dirty="0">
                <a:solidFill>
                  <a:srgbClr val="2E3440"/>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4350258" y="1645920"/>
            <a:ext cx="1378458" cy="274320"/>
          </a:xfrm>
          <a:prstGeom prst="rect">
            <a:avLst/>
          </a:prstGeom>
          <a:noFill/>
          <a:ln/>
        </p:spPr>
        <p:txBody>
          <a:bodyPr wrap="square" lIns="0" tIns="0" rIns="0" bIns="0" rtlCol="0" anchor="ctr"/>
          <a:lstStyle/>
          <a:p>
            <a:pPr indent="0" marL="0">
              <a:buNone/>
            </a:pPr>
            <a:r>
              <a:rPr lang="en-US" sz="1000" dirty="0">
                <a:solidFill>
                  <a:srgbClr val="646E7A"/>
                </a:solidFill>
                <a:latin typeface="Calibri" pitchFamily="34" charset="0"/>
                <a:ea typeface="Calibri" pitchFamily="34" charset="-122"/>
                <a:cs typeface="Calibri" pitchFamily="34" charset="-120"/>
              </a:rPr>
              <a:t>10:45 - 12:30</a:t>
            </a:r>
            <a:endParaRPr lang="en-US" sz="1000" dirty="0"/>
          </a:p>
        </p:txBody>
      </p:sp>
      <p:sp>
        <p:nvSpPr>
          <p:cNvPr id="13" name="Text 11"/>
          <p:cNvSpPr txBox="1"/>
          <p:nvPr/>
        </p:nvSpPr>
        <p:spPr>
          <a:xfrm>
            <a:off x="4350258" y="1874520"/>
            <a:ext cx="1378458" cy="548640"/>
          </a:xfrm>
          <a:prstGeom prst="rect">
            <a:avLst/>
          </a:prstGeom>
          <a:noFill/>
          <a:ln/>
        </p:spPr>
        <p:txBody>
          <a:bodyPr wrap="square" lIns="0" tIns="0" rIns="0" bIns="0" rtlCol="0" anchor="t"/>
          <a:lstStyle/>
          <a:p>
            <a:pPr indent="0" marL="0">
              <a:buNone/>
            </a:pPr>
            <a:r>
              <a:rPr lang="en-US" sz="1500" b="1" dirty="0">
                <a:solidFill>
                  <a:srgbClr val="2E3440"/>
                </a:solidFill>
                <a:latin typeface="Calibri" pitchFamily="34" charset="0"/>
                <a:ea typeface="Calibri" pitchFamily="34" charset="-122"/>
                <a:cs typeface="Calibri" pitchFamily="34" charset="-120"/>
              </a:rPr>
              <a:t>Classes and objects</a:t>
            </a:r>
            <a:endParaRPr lang="en-US" sz="1500" dirty="0"/>
          </a:p>
        </p:txBody>
      </p:sp>
      <p:sp>
        <p:nvSpPr>
          <p:cNvPr id="14" name="Text 12"/>
          <p:cNvSpPr txBox="1"/>
          <p:nvPr/>
        </p:nvSpPr>
        <p:spPr>
          <a:xfrm>
            <a:off x="3664458"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Fields, constructors and the shorthand</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Named and factory constructors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Getters, privacy and statics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Lab 2.1 - Product and OrderLine</a:t>
            </a:r>
            <a:endParaRPr lang="en-US" sz="1200" dirty="0"/>
          </a:p>
        </p:txBody>
      </p:sp>
      <p:sp>
        <p:nvSpPr>
          <p:cNvPr id="15" name="Shape 13"/>
          <p:cNvSpPr/>
          <p:nvPr/>
        </p:nvSpPr>
        <p:spPr>
          <a:xfrm>
            <a:off x="6231636" y="1371600"/>
            <a:ext cx="2567178" cy="4663440"/>
          </a:xfrm>
          <a:prstGeom prst="roundRect">
            <a:avLst>
              <a:gd name="adj" fmla="val 3562"/>
            </a:avLst>
          </a:prstGeom>
          <a:solidFill>
            <a:srgbClr val="F2F5F6"/>
          </a:solidFill>
          <a:ln w="6350">
            <a:solidFill>
              <a:srgbClr val="F2F5F6"/>
            </a:solidFill>
            <a:prstDash val="solid"/>
          </a:ln>
          <a:effectLst>
            <a:outerShdw sx="100000" sy="100000" kx="0" ky="0" algn="bl" rotWithShape="0" blurRad="38100" dist="12700" dir="5400000">
              <a:srgbClr val="000000">
                <a:alpha val="8000"/>
              </a:srgbClr>
            </a:outerShdw>
          </a:effectLst>
        </p:spPr>
      </p:sp>
      <p:sp>
        <p:nvSpPr>
          <p:cNvPr id="16" name="Shape 14"/>
          <p:cNvSpPr/>
          <p:nvPr/>
        </p:nvSpPr>
        <p:spPr>
          <a:xfrm>
            <a:off x="6505956" y="1600200"/>
            <a:ext cx="548640" cy="548640"/>
          </a:xfrm>
          <a:prstGeom prst="ellipse">
            <a:avLst/>
          </a:prstGeom>
          <a:solidFill>
            <a:srgbClr val="2A9D8F"/>
          </a:solidFill>
          <a:ln w="12700">
            <a:solidFill>
              <a:srgbClr val="2A9D8F"/>
            </a:solidFill>
            <a:prstDash val="solid"/>
          </a:ln>
        </p:spPr>
      </p:sp>
      <p:sp>
        <p:nvSpPr>
          <p:cNvPr id="17" name="Text 15"/>
          <p:cNvSpPr txBox="1"/>
          <p:nvPr/>
        </p:nvSpPr>
        <p:spPr>
          <a:xfrm>
            <a:off x="6505956" y="1600200"/>
            <a:ext cx="548640" cy="548640"/>
          </a:xfrm>
          <a:prstGeom prst="rect">
            <a:avLst/>
          </a:prstGeom>
          <a:noFill/>
          <a:ln/>
        </p:spPr>
        <p:txBody>
          <a:bodyPr wrap="square" lIns="0" tIns="0" rIns="0" bIns="0" rtlCol="0" anchor="ctr"/>
          <a:lstStyle/>
          <a:p>
            <a:pPr algn="ctr" indent="0" marL="0">
              <a:buNone/>
            </a:pPr>
            <a:r>
              <a:rPr lang="en-US" sz="1600" b="1" dirty="0">
                <a:solidFill>
                  <a:srgbClr val="2E3440"/>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7191756" y="1645920"/>
            <a:ext cx="1378458" cy="274320"/>
          </a:xfrm>
          <a:prstGeom prst="rect">
            <a:avLst/>
          </a:prstGeom>
          <a:noFill/>
          <a:ln/>
        </p:spPr>
        <p:txBody>
          <a:bodyPr wrap="square" lIns="0" tIns="0" rIns="0" bIns="0" rtlCol="0" anchor="ctr"/>
          <a:lstStyle/>
          <a:p>
            <a:pPr indent="0" marL="0">
              <a:buNone/>
            </a:pPr>
            <a:r>
              <a:rPr lang="en-US" sz="1000" dirty="0">
                <a:solidFill>
                  <a:srgbClr val="646E7A"/>
                </a:solidFill>
                <a:latin typeface="Calibri" pitchFamily="34" charset="0"/>
                <a:ea typeface="Calibri" pitchFamily="34" charset="-122"/>
                <a:cs typeface="Calibri" pitchFamily="34" charset="-120"/>
              </a:rPr>
              <a:t>13:15 - 14:45</a:t>
            </a:r>
            <a:endParaRPr lang="en-US" sz="1000" dirty="0"/>
          </a:p>
        </p:txBody>
      </p:sp>
      <p:sp>
        <p:nvSpPr>
          <p:cNvPr id="19" name="Text 17"/>
          <p:cNvSpPr txBox="1"/>
          <p:nvPr/>
        </p:nvSpPr>
        <p:spPr>
          <a:xfrm>
            <a:off x="7191756" y="1874520"/>
            <a:ext cx="1378458" cy="548640"/>
          </a:xfrm>
          <a:prstGeom prst="rect">
            <a:avLst/>
          </a:prstGeom>
          <a:noFill/>
          <a:ln/>
        </p:spPr>
        <p:txBody>
          <a:bodyPr wrap="square" lIns="0" tIns="0" rIns="0" bIns="0" rtlCol="0" anchor="t"/>
          <a:lstStyle/>
          <a:p>
            <a:pPr indent="0" marL="0">
              <a:buNone/>
            </a:pPr>
            <a:r>
              <a:rPr lang="en-US" sz="1500" b="1" dirty="0">
                <a:solidFill>
                  <a:srgbClr val="2E3440"/>
                </a:solidFill>
                <a:latin typeface="Calibri" pitchFamily="34" charset="0"/>
                <a:ea typeface="Calibri" pitchFamily="34" charset="-122"/>
                <a:cs typeface="Calibri" pitchFamily="34" charset="-120"/>
              </a:rPr>
              <a:t>Collections</a:t>
            </a:r>
            <a:endParaRPr lang="en-US" sz="1500" dirty="0"/>
          </a:p>
        </p:txBody>
      </p:sp>
      <p:sp>
        <p:nvSpPr>
          <p:cNvPr id="20" name="Text 18"/>
          <p:cNvSpPr txBox="1"/>
          <p:nvPr/>
        </p:nvSpPr>
        <p:spPr>
          <a:xfrm>
            <a:off x="6505956"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List, Map and Set</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where, map, fold and friends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Spread, collection-if, collection-for</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Lab 2.2 - order line calculations</a:t>
            </a:r>
            <a:endParaRPr lang="en-US" sz="1200" dirty="0"/>
          </a:p>
        </p:txBody>
      </p:sp>
      <p:sp>
        <p:nvSpPr>
          <p:cNvPr id="21" name="Shape 19"/>
          <p:cNvSpPr/>
          <p:nvPr/>
        </p:nvSpPr>
        <p:spPr>
          <a:xfrm>
            <a:off x="9073134" y="1371600"/>
            <a:ext cx="2567178" cy="4663440"/>
          </a:xfrm>
          <a:prstGeom prst="roundRect">
            <a:avLst>
              <a:gd name="adj" fmla="val 3562"/>
            </a:avLst>
          </a:prstGeom>
          <a:solidFill>
            <a:srgbClr val="F2F5F6"/>
          </a:solidFill>
          <a:ln w="6350">
            <a:solidFill>
              <a:srgbClr val="F2F5F6"/>
            </a:solidFill>
            <a:prstDash val="solid"/>
          </a:ln>
          <a:effectLst>
            <a:outerShdw sx="100000" sy="100000" kx="0" ky="0" algn="bl" rotWithShape="0" blurRad="38100" dist="12700" dir="5400000">
              <a:srgbClr val="000000">
                <a:alpha val="8000"/>
              </a:srgbClr>
            </a:outerShdw>
          </a:effectLst>
        </p:spPr>
      </p:sp>
      <p:sp>
        <p:nvSpPr>
          <p:cNvPr id="22" name="Shape 20"/>
          <p:cNvSpPr/>
          <p:nvPr/>
        </p:nvSpPr>
        <p:spPr>
          <a:xfrm>
            <a:off x="9347454" y="1600200"/>
            <a:ext cx="548640" cy="548640"/>
          </a:xfrm>
          <a:prstGeom prst="ellipse">
            <a:avLst/>
          </a:prstGeom>
          <a:solidFill>
            <a:srgbClr val="2A9D8F"/>
          </a:solidFill>
          <a:ln w="12700">
            <a:solidFill>
              <a:srgbClr val="2A9D8F"/>
            </a:solidFill>
            <a:prstDash val="solid"/>
          </a:ln>
        </p:spPr>
      </p:sp>
      <p:sp>
        <p:nvSpPr>
          <p:cNvPr id="23" name="Text 21"/>
          <p:cNvSpPr txBox="1"/>
          <p:nvPr/>
        </p:nvSpPr>
        <p:spPr>
          <a:xfrm>
            <a:off x="9347454" y="1600200"/>
            <a:ext cx="548640" cy="548640"/>
          </a:xfrm>
          <a:prstGeom prst="rect">
            <a:avLst/>
          </a:prstGeom>
          <a:noFill/>
          <a:ln/>
        </p:spPr>
        <p:txBody>
          <a:bodyPr wrap="square" lIns="0" tIns="0" rIns="0" bIns="0" rtlCol="0" anchor="ctr"/>
          <a:lstStyle/>
          <a:p>
            <a:pPr algn="ctr" indent="0" marL="0">
              <a:buNone/>
            </a:pPr>
            <a:r>
              <a:rPr lang="en-US" sz="1600" b="1" dirty="0">
                <a:solidFill>
                  <a:srgbClr val="2E3440"/>
                </a:solidFill>
                <a:latin typeface="Calibri" pitchFamily="34" charset="0"/>
                <a:ea typeface="Calibri" pitchFamily="34" charset="-122"/>
                <a:cs typeface="Calibri" pitchFamily="34" charset="-120"/>
              </a:rPr>
              <a:t>4</a:t>
            </a:r>
            <a:endParaRPr lang="en-US" sz="1600" dirty="0"/>
          </a:p>
        </p:txBody>
      </p:sp>
      <p:sp>
        <p:nvSpPr>
          <p:cNvPr id="24" name="Text 22"/>
          <p:cNvSpPr txBox="1"/>
          <p:nvPr/>
        </p:nvSpPr>
        <p:spPr>
          <a:xfrm>
            <a:off x="10033254" y="1645920"/>
            <a:ext cx="1378458" cy="274320"/>
          </a:xfrm>
          <a:prstGeom prst="rect">
            <a:avLst/>
          </a:prstGeom>
          <a:noFill/>
          <a:ln/>
        </p:spPr>
        <p:txBody>
          <a:bodyPr wrap="square" lIns="0" tIns="0" rIns="0" bIns="0" rtlCol="0" anchor="ctr"/>
          <a:lstStyle/>
          <a:p>
            <a:pPr indent="0" marL="0">
              <a:buNone/>
            </a:pPr>
            <a:r>
              <a:rPr lang="en-US" sz="1000" dirty="0">
                <a:solidFill>
                  <a:srgbClr val="646E7A"/>
                </a:solidFill>
                <a:latin typeface="Calibri" pitchFamily="34" charset="0"/>
                <a:ea typeface="Calibri" pitchFamily="34" charset="-122"/>
                <a:cs typeface="Calibri" pitchFamily="34" charset="-120"/>
              </a:rPr>
              <a:t>15:00 - 16:00</a:t>
            </a:r>
            <a:endParaRPr lang="en-US" sz="1000" dirty="0"/>
          </a:p>
        </p:txBody>
      </p:sp>
      <p:sp>
        <p:nvSpPr>
          <p:cNvPr id="25" name="Text 23"/>
          <p:cNvSpPr txBox="1"/>
          <p:nvPr/>
        </p:nvSpPr>
        <p:spPr>
          <a:xfrm>
            <a:off x="10033254" y="1874520"/>
            <a:ext cx="1378458" cy="548640"/>
          </a:xfrm>
          <a:prstGeom prst="rect">
            <a:avLst/>
          </a:prstGeom>
          <a:noFill/>
          <a:ln/>
        </p:spPr>
        <p:txBody>
          <a:bodyPr wrap="square" lIns="0" tIns="0" rIns="0" bIns="0" rtlCol="0" anchor="t"/>
          <a:lstStyle/>
          <a:p>
            <a:pPr indent="0" marL="0">
              <a:buNone/>
            </a:pPr>
            <a:r>
              <a:rPr lang="en-US" sz="1500" b="1" dirty="0">
                <a:solidFill>
                  <a:srgbClr val="2E3440"/>
                </a:solidFill>
                <a:latin typeface="Calibri" pitchFamily="34" charset="0"/>
                <a:ea typeface="Calibri" pitchFamily="34" charset="-122"/>
                <a:cs typeface="Calibri" pitchFamily="34" charset="-120"/>
              </a:rPr>
              <a:t>Enums and modelling</a:t>
            </a:r>
            <a:endParaRPr lang="en-US" sz="1500" dirty="0"/>
          </a:p>
        </p:txBody>
      </p:sp>
      <p:sp>
        <p:nvSpPr>
          <p:cNvPr id="26" name="Text 24"/>
          <p:cNvSpPr txBox="1"/>
          <p:nvPr/>
        </p:nvSpPr>
        <p:spPr>
          <a:xfrm>
            <a:off x="9347454"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Plain enums and exhaustive switch</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Enhanced enums with fields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Lab 2.3 - the Order class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Recap</a:t>
            </a:r>
            <a:endParaRPr lang="en-US" sz="1200" dirty="0"/>
          </a:p>
        </p:txBody>
      </p:sp>
      <p:sp>
        <p:nvSpPr>
          <p:cNvPr id="27" name="Text 2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28" name="Text 2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Where we are, and where today ends</a:t>
            </a:r>
            <a:endParaRPr lang="en-US" sz="3000" dirty="0"/>
          </a:p>
        </p:txBody>
      </p:sp>
      <p:sp>
        <p:nvSpPr>
          <p:cNvPr id="3" name="Text 1"/>
          <p:cNvSpPr txBox="1"/>
          <p:nvPr/>
        </p:nvSpPr>
        <p:spPr>
          <a:xfrm>
            <a:off x="548640" y="1325880"/>
            <a:ext cx="11091672" cy="4754880"/>
          </a:xfrm>
          <a:prstGeom prst="rect">
            <a:avLst/>
          </a:prstGeom>
          <a:noFill/>
          <a:ln/>
        </p:spPr>
        <p:txBody>
          <a:bodyPr wrap="square" lIns="0" tIns="0" rIns="0" bIns="0" rtlCol="0" anchor="t"/>
          <a:lstStyle/>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Yesterday you learned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Variables and types, strings and interpolation, final and const, nullable types, if and switch, loops, lists, and how to write a function.</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Today you learn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How to build things: functions with real signatures, classes and objects, inheritance and interfaces, collections that transform data, and enums that model states.</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By 16:00 you will have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A complete Product, OrderLine, Order and OrderStatus, written by you, in a browser, with no Flutter anywhere near it.</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Tomorrow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The parts of Dart that have no Java equivalent: records, sealed classes, pattern matching, extensions, and async. Then Flutter on Thursday.</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The rule that keeps paying off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None of the code you write today knows anything about a user interface. That is deliberate, and on Friday it is why your business rules can be tested in milliseconds.</a:t>
            </a:r>
            <a:endParaRPr lang="en-US" sz="1600" dirty="0"/>
          </a:p>
        </p:txBody>
      </p:sp>
      <p:sp>
        <p:nvSpPr>
          <p:cNvPr id="4" name="Shape 2"/>
          <p:cNvSpPr/>
          <p:nvPr/>
        </p:nvSpPr>
        <p:spPr>
          <a:xfrm>
            <a:off x="548640" y="5394960"/>
            <a:ext cx="11091672" cy="685800"/>
          </a:xfrm>
          <a:prstGeom prst="roundRect">
            <a:avLst>
              <a:gd name="adj" fmla="val 13333"/>
            </a:avLst>
          </a:prstGeom>
          <a:solidFill>
            <a:srgbClr val="FBF6E3"/>
          </a:solidFill>
          <a:ln w="6350">
            <a:solidFill>
              <a:srgbClr val="FBF6E3"/>
            </a:solidFill>
            <a:prstDash val="solid"/>
          </a:ln>
          <a:effectLst>
            <a:outerShdw sx="100000" sy="100000" kx="0" ky="0" algn="bl" rotWithShape="0" blurRad="38100" dist="12700" dir="5400000">
              <a:srgbClr val="000000">
                <a:alpha val="8000"/>
              </a:srgbClr>
            </a:outerShdw>
          </a:effectLst>
        </p:spPr>
      </p:sp>
      <p:sp>
        <p:nvSpPr>
          <p:cNvPr id="5" name="Text 3"/>
          <p:cNvSpPr txBox="1"/>
          <p:nvPr/>
        </p:nvSpPr>
        <p:spPr>
          <a:xfrm>
            <a:off x="685800" y="5440680"/>
            <a:ext cx="10817352" cy="594360"/>
          </a:xfrm>
          <a:prstGeom prst="rect">
            <a:avLst/>
          </a:prstGeom>
          <a:noFill/>
          <a:ln/>
        </p:spPr>
        <p:txBody>
          <a:bodyPr wrap="square" lIns="0" tIns="0" rIns="0" bIns="0" rtlCol="0" anchor="ctr"/>
          <a:lstStyle/>
          <a:p>
            <a:pPr indent="0" marL="0">
              <a:buNone/>
            </a:pPr>
            <a:r>
              <a:rPr lang="en-US" sz="1200" dirty="0">
                <a:solidFill>
                  <a:srgbClr val="22272E"/>
                </a:solidFill>
                <a:latin typeface="Calibri" pitchFamily="34" charset="0"/>
                <a:ea typeface="Calibri" pitchFamily="34" charset="-122"/>
                <a:cs typeface="Calibri" pitchFamily="34" charset="-120"/>
              </a:rPr>
              <a:t>Everything today runs at dartpad.dev. If your install is still not right, it does not matter today and you have another evening to sort it out.</a:t>
            </a:r>
            <a:endParaRPr lang="en-US" sz="12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6FC5B8"/>
                </a:solidFill>
                <a:latin typeface="Calibri" pitchFamily="34" charset="0"/>
                <a:ea typeface="Calibri" pitchFamily="34" charset="-122"/>
                <a:cs typeface="Calibri" pitchFamily="34" charset="-120"/>
              </a:rPr>
              <a:t>MODULE 1  ·  09:15 - 10:30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Functions</a:t>
            </a:r>
            <a:endParaRPr lang="en-US" sz="4000" dirty="0"/>
          </a:p>
        </p:txBody>
      </p:sp>
      <p:sp>
        <p:nvSpPr>
          <p:cNvPr id="5" name="Shape 3"/>
          <p:cNvSpPr/>
          <p:nvPr/>
        </p:nvSpPr>
        <p:spPr>
          <a:xfrm>
            <a:off x="6949440" y="1188720"/>
            <a:ext cx="4663440" cy="4389120"/>
          </a:xfrm>
          <a:prstGeom prst="roundRect">
            <a:avLst>
              <a:gd name="adj" fmla="val 2083"/>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Choose between positional, optional and named parameters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Use the fat arrow for single-expression bodies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Pass a function as a value and store one in a variable</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Recognise a closure and know how Dart differs from Java</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Four kinds of parameter</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1. POSITIONAL, required. Exactly like Java.</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double lineTotal(int quantity, double unitPrice)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quantity * unitPrice;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lineTotal(40, 250.0);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2. POSITIONAL, optional. Square brackets. Must have a default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 be nullable, because the caller may leave them out.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String label(String sku, [String suffix = ''])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suffix.isEmpty ? sku : '$sku-$suffix';</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label('SKU-1');</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label('SKU-1', 'B');</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3. NAMED. Curly brackets. Caller writes the name.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double discounted({required double amount, double rate = 0.0})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amount * (1 - rate);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discounted(amount: 1000, rate: 0.05);</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discounted(rate: 0.05, amount: 1000);   // order does not matter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discounted(amount: 1000);               // rate falls back to 0.0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4. MIXED. Positional first, then named.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double charge(double amount, {double rate = 0.0, String? note})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amount * (1 + rate);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charge(1000, rate: 0.15, note: 'standard');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You cannot mix optional positional and named in the same function.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Pick one style. In Flutter, named wins almost every time.</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Positional and required, positional and optional, named, or a mix. In Flutter you will see named parameters more than all the others put together.</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The fat arrow</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These two functions are identical.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double lineTotalLong(int quantity, double unitPrice)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quantity * unitPrice;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double lineTotalShort(int quantity, double unitPrice) =&gt;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quantity * unitPrice;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fat arrow means "return this one expression".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It only works when the body IS a single expression.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You cannot put an if statement or a loop after an arrow.</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It works on getters and on methods too:</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OrderLine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OrderLine(this.quantity, this.unitPrice);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int quantity;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double unitPrice;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double get lineTotal =&gt; quantity * unitPrice;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String describe() =&gt; 'x$quantity at $unitPrice';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 shorthand for a body that is one expression, with the return implied. It works on functions, methods and getters, and you will see it everywhere.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Functions are values</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 function is a value. You can store it, pass it, and return it.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Java 8 needs a functional interface: Function&lt;Double, Double&gt;,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Supplier&lt;T&gt;, Consumer&lt;T&gt;, BiFunction and so on. Dart needs none.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Store one in a variable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double Function(double) addVat = (amount) =&gt; amount * 1.15;</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print(addVat(1000));                  // 1150.0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Take one as a parameter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double applyTo(double amount, double Function(double) rule)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rule(amount);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print(applyTo(1000, addVat));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print(applyTo(1000, (a) =&gt; a * 0.9)); // an inline anonymous function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one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double Function(double) percentageOff(double percent)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(amount) =&gt; amount * (1 - percent / 100);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final tenOff = percentageOff(10);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print(tenOff(1000));                  // 900.0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Java 8 equivalent of the first line: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Function&lt;Double, Double&gt; addVat = amount -&gt; amount * 1.15;</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addVat.apply(1000.0);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Dart calls it directly: addVat(1000).</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No functional interface, no Function&lt;T,R&gt; import, no method reference syntax. The type is written the way you would say it: double Function(double).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Closures, and one real difference from Java</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 closure is a function that remembers the variables around it.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Function makeCounter()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var count = 0;            // lives on after makeCounter returns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count++;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count;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next = makeCounter();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print(next());   // 1</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print(next());   // 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print(next());   // 3</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IMPORTANT DIFFERENCE FROM JAVA:</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 Java lambda can only capture a variable that is final or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effectively final. Dart has no such rule. The closure captures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variable itself, not a copy, and can change it.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That is convenient and occasionally dangerous. If two closures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capture the same variable, they share it.</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 Java lambda can only capture a variable that is final or effectively final. Dart has no such rule, and the closure can change what it captured.</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Anonymous functions</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Anonymous functions, used constantly with collections.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var skus = ['SKU-3', 'SKU-1', 'SKU-2'];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Long form</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skus.sort((a, b)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a.compareTo(b);</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Short form with the fat arrow</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skus.sort((a, b) =&gt; a.compareTo(b));</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With one parameter, in a forEach</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skus.forEach((sku) =&gt; print(sku));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Java 8 equivalent: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skus.sort((a, b) -&gt; a.compareTo(b));</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skus.forEach(sku -&gt; System.out.println(sku));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Same idea, different arrow. Dart uses =&gt; where Java uses -&gt;.</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Java uses a thin arrow, Dart uses a fat one. Beyond that these are the same lambdas you have written since Java 8.</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6FC5B8"/>
                </a:solidFill>
                <a:latin typeface="Calibri" pitchFamily="34" charset="0"/>
                <a:ea typeface="Calibri" pitchFamily="34" charset="-122"/>
                <a:cs typeface="Calibri" pitchFamily="34" charset="-120"/>
              </a:rPr>
              <a:t>MODULE 2  ·  10:45 - 12:30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Classes and objects</a:t>
            </a:r>
            <a:endParaRPr lang="en-US" sz="4000" dirty="0"/>
          </a:p>
        </p:txBody>
      </p:sp>
      <p:sp>
        <p:nvSpPr>
          <p:cNvPr id="5" name="Shape 3"/>
          <p:cNvSpPr/>
          <p:nvPr/>
        </p:nvSpPr>
        <p:spPr>
          <a:xfrm>
            <a:off x="6949440" y="1188720"/>
            <a:ext cx="4663440" cy="4389120"/>
          </a:xfrm>
          <a:prstGeom prst="roundRect">
            <a:avLst>
              <a:gd name="adj" fmla="val 2083"/>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Write a class with final fields and a const constructor</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Use named and factory constructors in place of static factory methods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Use getters, understand file-level privacy, and know when to use static</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Override toString, == and hashCode, and use extends and implements correctly</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class, three ways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Product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Fields. final means set once, in the constructor.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String 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String name;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double unitPrice;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Constructor, the long way. This works and nobody writes it.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Product(String sku, String name, double unitPrice)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this.sku = 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this.name = name,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this.unitPrice = unitPrice;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way everybody actually writes it. `this.sku` in the parameter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list assigns the field directly. No body needed at all.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Product2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Product2(this.sku, this.name, this.unitPrice);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String 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String name;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double unitPrice;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class, three ways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With named parameters, which is what you will use in practice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Product3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Product3({</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required this.sku,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required this.name,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required this.unitPrice,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this.stockOnHand = 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String 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String name;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double unitPrice;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int stockOnHand;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Creating one. There is no `new` keyword. It is optional and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style guide says leave it out.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p = Product3(sku: 'SKU-1', name: 'Widget', unitPrice: 250);</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The this.field shorthand in the parameter list assigns the field directly, so most Dart classes need no constructor body at all.</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Named and factory constructors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class Product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1. The main constructor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const Product({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required this.sku,</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required this.name,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required this.unitPrice,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this.stockOnHand = 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2. NAMED CONSTRUCTOR. In Java you would write a</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public static Product placeholder(). Here it is a real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constructor, so it can be const.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const Product.placeholder()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sku = 'UNKNOWN',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name = 'Unknown product',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unitPrice = 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stockOnHand = 0;</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Named and factory constructors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3. FACTORY CONSTRUCTOR. It does not have to create a new</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object. It may return a cached one, or a subclass, and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it can run logic first.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factory Product.fromJson(Map&lt;String, dynamic&gt; json)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Product(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 json['sku'] as String,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name: json['name'] as String,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unitPrice: (json['unitPrice'] as num).toDouble(),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stockOnHand: json['stockOnHand'] as int? ?? 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String 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String name;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double unitPrice;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int stockOnHand;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a = Product(sku: 'SKU-1', name: 'Widget', unitPrice: 250);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b = const Product.placeholder();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c = Product.fromJson({'sku': 'SKU-2', 'name': 'Gasket', 'unitPrice': 120});</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 named constructor replaces the static factory method you would write in Java. A factory constructor can return a cached object, or a subclass, or run logic first.</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Getters, setters, and the difference from methods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OrderLine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OrderLine({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required this.sku,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required this.quantity,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required this.unitPrice,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String 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int quantity;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double unitPrice;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A GETTER. Called like a field, with no brackets.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Java: public double getLineTotal() { return ...;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double get lineTotal =&gt; quantity * unitPrice;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bool get isBulk =&gt; quantity &gt;= 100;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A METHOD. Called with brackets, because it does work.</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String describe() =&gt; '$sku x$quantity = $lineTotal';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Getters, setters, and the difference from methods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final line = OrderLine(sku: 'SKU-1', quantity: 40, unitPrice: 250);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print(line.lineTotal);      // no brackets - it is a getter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print(line.describe());     // brackets - it is a method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 SETTER, for completeness. You will rarely write one, because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most of our classes are immutable.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class Basket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int _count = 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int get count =&gt; _count;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set count(int value)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if (value &lt; 0) throw ArgumentError('count cannot be negative');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_count = value;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GUIDANCE: use a getter when it is cheap and has no side effects.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Use a method when it does real work, or takes arguments.</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 getter is called like a field, with no brackets. Java convention gives you getLineTotal(); Dart gives you a real language feature.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Privacy is by file, not by class</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Dart has no public, private, protected or package keywords.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There is ONE rule: a name starting with an underscore is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private to its FILE, not to its class.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Basket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List&lt;String&gt; _items = [];      // private to this file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int _total = 0;                      // private to this file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void add(String sku) {               // public</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_items.add(sku);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_total++;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int get count =&gt; _total;             // public</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Consequences that surprise Java developers: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1. Two classes in the SAME FILE can see each other's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underscore members. That is intentional and useful.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2. There is no protected. A subclass in another file cannot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see an underscore member of its parent.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3. Privacy is by file, so one class per file is the usual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convention, but small helper classes beside their owner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are perfectly idiomatic.</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There is no public, private or protected keyword. A leading underscore makes a name private to its file, and that is the whole system.</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Static members, and when not to use a class at all</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VatRules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A static constant. Java: public static final double.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static const double standardRate = 0.15;</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A static method. Java: public static double vatOn(...).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static double vatOn(double amount) =&gt; amount * standardRate;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Static members belong to the class, not an instance.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You cannot use `this` inside one.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print(VatRules.standardRate);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print(VatRules.vatOn(1000));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 top-level constant or function does the same job with</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less ceremony, and in Dart that is often the better choice: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const double standardVatRate = 0.15;</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double vatOn(double amount) =&gt; amount * standardVatRate;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Java forces everything into a class, so you end up with</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utility classes full of statics. Dart does not, so ask</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yourself whether the class is adding anything.</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static works as it does in Java. The difference is that Dart lets you put a constant or a function at the top level, so a utility class is often unnecessary.</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toString, == and hashCode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class OrderLine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const OrderLine({required this.sku, required this.quantity});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String sku;</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int quantity;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toString. Java: @Override public String toString()</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@override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String toString() =&gt; 'OrderLine($sku, x$quantity)';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Value equality. By default, two objects are equal only if</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they are the SAME object, exactly like Java's Object.equals.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@override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bool operator ==(Object other) =&gt;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other is OrderLine &amp;&amp;</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other.sku == sku &amp;&amp;</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other.quantity == quantity;</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toString, == and hashCode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If you override ==, you MUST override hashCode.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Same rule as Java, same reason: hash-based collections.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@override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int get hashCode =&gt; Object.hash(sku, quantity);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final a = OrderLine(sku: 'SKU-1', quantity: 40);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final b = OrderLine(sku: 'SKU-1', quantity: 40);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print(a == b);              // true, because we overrode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print(identical(a, b));     // false, they are different objects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Object.hash(...) is Dart's Objects.hash(...) from Java 7.</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Note that == is an OPERATOR here, not a method named equals.</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Same three overrides you write in Java, same contract between == and hashCode. Note that == is an operator, not a method called equals.</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Inheritance and abstract classes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extends works exactly as it does in Java.</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Item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Item(this.sku);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String 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String describe() =&gt; 'Item $sku';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StockItem extends Item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StockItem(super.sku, this.quantity);   // super.sku forwards it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int quantity;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String describe() =&gt; 'Stock $sku x$quantity';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ABSTRACT: cannot be instantiated, may have abstract members.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abstract class Discount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Discount();</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Inheritance and abstract classes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No body, so subclasses must provide one.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double apply(double amount);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A concrete method every subclass inherits.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String get label =&gt; runtimeType.toString();</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class PercentageDiscount extends Discount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const PercentageDiscount(this.percent);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double percent;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@override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double apply(double amount) =&gt; amount * (1 - percent / 100);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@override is optional in Dart but the analyser wants it and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it catches typos. Always write it.</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extends, super, abstract and @override all behave as you expect. The one convenience is super.field in a constructor, which forwards a parameter straight up.</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Interfaces: every class already is one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Dart has no `interface` keyword for ordinary use.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EVERY class automatically defines an interface: its public</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members, with no implementations.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Discount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double apply(double amount) =&gt; amount;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`implements` takes only the shape. You inherit NOTHING,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so you must write every member yourself.</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NoDiscount implements Discount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double apply(double amount) =&gt; amount;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`extends` takes the shape AND the implementations.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HalfPrice extends Discount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double apply(double amount) =&gt; amount / 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Interfaces: every class already is one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You can implement many, and extend only one. Same as Java.</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class Everything implements Discount, Comparable&lt;Everything&gt;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@override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double apply(double amount) =&gt; amount;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@override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int compareTo(Everything other) =&gt; 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An abstract class with no implementations is the closest thing</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 a Java interface, and it is the usual way to declare one: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abstract class Repository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Product? findBySku(String sku);</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void save(Product product);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There is no interface keyword for ordinary use. Every class implicitly defines an interface made of its public members, and implements takes the shape without any of the code.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2A9D8F"/>
          </a:solidFill>
          <a:ln w="12700">
            <a:solidFill>
              <a:srgbClr val="2A9D8F"/>
            </a:solidFill>
            <a:prstDash val="solid"/>
          </a:ln>
        </p:spPr>
      </p:sp>
      <p:sp>
        <p:nvSpPr>
          <p:cNvPr id="3" name="Text 1"/>
          <p:cNvSpPr txBox="1"/>
          <p:nvPr/>
        </p:nvSpPr>
        <p:spPr>
          <a:xfrm>
            <a:off x="548640" y="411480"/>
            <a:ext cx="1188720" cy="457200"/>
          </a:xfrm>
          <a:prstGeom prst="rect">
            <a:avLst/>
          </a:prstGeom>
          <a:noFill/>
          <a:ln/>
        </p:spPr>
        <p:txBody>
          <a:bodyPr wrap="square" lIns="0" tIns="0" rIns="0" bIns="0" rtlCol="0" anchor="ctr"/>
          <a:lstStyle/>
          <a:p>
            <a:pPr algn="ctr" indent="0" marL="0">
              <a:buNone/>
            </a:pPr>
            <a:r>
              <a:rPr lang="en-US" sz="1400" b="1" dirty="0">
                <a:solidFill>
                  <a:srgbClr val="2E3440"/>
                </a:solidFill>
                <a:latin typeface="Calibri" pitchFamily="34" charset="0"/>
                <a:ea typeface="Calibri" pitchFamily="34" charset="-122"/>
                <a:cs typeface="Calibri" pitchFamily="34" charset="-120"/>
              </a:rPr>
              <a:t>LAB 2.1</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indent="0" marL="0">
              <a:buNone/>
            </a:pPr>
            <a:r>
              <a:rPr lang="en-US" sz="2600" b="1" dirty="0">
                <a:solidFill>
                  <a:srgbClr val="2E3440"/>
                </a:solidFill>
                <a:latin typeface="Calibri" pitchFamily="34" charset="0"/>
                <a:ea typeface="Calibri" pitchFamily="34" charset="-122"/>
                <a:cs typeface="Calibri" pitchFamily="34" charset="-120"/>
              </a:rPr>
              <a:t>Product and OrderLine</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algn="r" indent="0" marL="0">
              <a:buNone/>
            </a:pPr>
            <a:r>
              <a:rPr lang="en-US" sz="1200" dirty="0">
                <a:solidFill>
                  <a:srgbClr val="646E7A"/>
                </a:solidFill>
                <a:latin typeface="Calibri" pitchFamily="34" charset="0"/>
                <a:ea typeface="Calibri" pitchFamily="34" charset="-122"/>
                <a:cs typeface="Calibri" pitchFamily="34" charset="-120"/>
              </a:rPr>
              <a:t>35 min</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indent="0" marL="0">
              <a:buNone/>
            </a:pPr>
            <a:r>
              <a:rPr lang="en-US" sz="1400" b="1" dirty="0">
                <a:solidFill>
                  <a:srgbClr val="2E3440"/>
                </a:solidFill>
                <a:latin typeface="Calibri" pitchFamily="34" charset="0"/>
                <a:ea typeface="Calibri" pitchFamily="34" charset="-122"/>
                <a:cs typeface="Calibri" pitchFamily="34" charset="-120"/>
              </a:rPr>
              <a:t>Goal  </a:t>
            </a:r>
            <a:pPr indent="0" marL="0">
              <a:buNone/>
            </a:pPr>
            <a:r>
              <a:rPr lang="en-US" sz="1400" dirty="0">
                <a:solidFill>
                  <a:srgbClr val="22272E"/>
                </a:solidFill>
                <a:latin typeface="Calibri" pitchFamily="34" charset="0"/>
                <a:ea typeface="Calibri" pitchFamily="34" charset="-122"/>
                <a:cs typeface="Calibri" pitchFamily="34" charset="-120"/>
              </a:rPr>
              <a:t>Two immutable classes with const constructors, a named constructor, getters, toString, and value equality. All in DartPad.</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Open dartpad.dev with a fresh pad and copy the Lab 2.1 starter from the handbook.</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1 to 2: Product with four final fields, a const constructor with required named parameters, and an inStock getter.</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3 to 4: override toString, then add a named constructor Product.unknown().</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5 to 6: OrderLine with four final fields and a lineTotal getter.</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7: override == and hashCode on OrderLine, comparing sku and quantity only.</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8 to 10: build two Products and two identical OrderLines, and prove the two lines are equal.</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Check your output against the expected output in the handbook.</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Then experiment: change const to final on the two OrderLines and see what identical() prints now.</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sx="100000" sy="100000" kx="0" ky="0" algn="bl" rotWithShape="0" blurRad="38100" dist="12700" dir="5400000">
              <a:srgbClr val="000000">
                <a:alpha val="8000"/>
              </a:srgbClr>
            </a:outerShdw>
          </a:effectLst>
        </p:spPr>
      </p:sp>
      <p:sp>
        <p:nvSpPr>
          <p:cNvPr id="9" name="Text 7"/>
          <p:cNvSpPr txBox="1"/>
          <p:nvPr/>
        </p:nvSpPr>
        <p:spPr>
          <a:xfrm>
            <a:off x="8104510" y="1828800"/>
            <a:ext cx="3352922" cy="365760"/>
          </a:xfrm>
          <a:prstGeom prst="rect">
            <a:avLst/>
          </a:prstGeom>
          <a:noFill/>
          <a:ln/>
        </p:spPr>
        <p:txBody>
          <a:bodyPr wrap="square" lIns="0" tIns="0" rIns="0" bIns="0" rtlCol="0" anchor="ctr"/>
          <a:lstStyle/>
          <a:p>
            <a:pPr indent="0" marL="0">
              <a:buNone/>
            </a:pPr>
            <a:r>
              <a:rPr lang="en-US" sz="1300" b="1" dirty="0">
                <a:solidFill>
                  <a:srgbClr val="2A7F62"/>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Add a factory constructor Product.fromJson and call it with a hand-written map.</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Add a discountedPrice getter to Product that takes ten percent off, and decide whether it should be a getter or a method.</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Try to give Product a non-final field and see what the compiler says about the const constructor.</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6FC5B8"/>
                </a:solidFill>
                <a:latin typeface="Calibri" pitchFamily="34" charset="0"/>
                <a:ea typeface="Calibri" pitchFamily="34" charset="-122"/>
                <a:cs typeface="Calibri" pitchFamily="34" charset="-120"/>
              </a:rPr>
              <a:t>MODULE 3  ·  13:15 - 14:45</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Collections</a:t>
            </a:r>
            <a:endParaRPr lang="en-US" sz="4000" dirty="0"/>
          </a:p>
        </p:txBody>
      </p:sp>
      <p:sp>
        <p:nvSpPr>
          <p:cNvPr id="5" name="Shape 3"/>
          <p:cNvSpPr/>
          <p:nvPr/>
        </p:nvSpPr>
        <p:spPr>
          <a:xfrm>
            <a:off x="6949440" y="1188720"/>
            <a:ext cx="4663440" cy="4389120"/>
          </a:xfrm>
          <a:prstGeom prst="roundRect">
            <a:avLst>
              <a:gd name="adj" fmla="val 2083"/>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Use List, Map and Set fluently, including their literal syntax</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Transform data with where, map, fold and the rest of the Iterable API</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Use spread, collection-if and collection-for to build collections inline</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Recognise the cascade operator</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Lists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void main()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A List is Java's ArrayList.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var skus = &lt;String&gt;['SKU-1', 'SKU-2', 'SKU-3'];</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Reading</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print(skus[0]);                  // square brackets, not get(0)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print(skus.first);               // throws if empty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print(skus.last);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print(skus.length);</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print(skus.isEmpty);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print(skus.isNotEmpty);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print(skus.contains('SKU-2'));</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print(skus.indexOf('SKU-2'));    // 1, or -1 if absent</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Lists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Changing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skus.add('SKU-4');</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skus.addAll(['SKU-5', 'SKU-6']);</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skus.insert(0, 'SKU-0');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skus.remove('SKU-0');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skus.removeAt(0);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skus.removeWhere((s) =&gt; s.endsWith('6'));</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skus.clear();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A fixed-length list, closest to a Java array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var fixed = List&lt;String&gt;.filled(3,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fixed[0] = 'SKU-1';</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An unmodifiable view, like Collections.unmodifiableList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frozen = List&lt;String&gt;.unmodifiable(['SKU-1']);</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frozen.add('x');   // throws at runtime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Sorting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var quantities = &lt;int&gt;[5, 40, 10];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quantities.sort();                              // ascending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quantities.sort((a, b) =&gt; b.compareTo(a));      // descending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print(quantities);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 List is your ArrayList. Literal syntax with square brackets, indexing with square brackets, and everything else is named roughly as you expect.</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Maps and Sets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void main()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A Map is Java's HashMap. Insertion order is preserved,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so it behaves like a LinkedHashMap.</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var stock = &lt;String, int&gt;{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'SKU-1': 12,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'SKU-2': 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print(stock['SKU-1']);          // 12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print(stock['SKU-9']);          // null, and the type is int?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stock['SKU-3'] = 7;             // add or replace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stock.remove('SKU-2');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print(stock.containsKey('SKU-1'));</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print(stock.keys);              // an Iterable of keys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print(stock.values);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print(stock.length);</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putIfAbsent, exactly as in Java</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stock.putIfAbsent('SKU-4', () =&gt; 0);</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Maps and Sets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update, with a fallback when the key is missing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stock.update('SKU-1', (v) =&gt; v - 1, ifAbsent: () =&gt; 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Iterating a map</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for (final entry in stock.entries)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print('${entry.key} has ${entry.value}');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stock.forEach((sku, qty) =&gt; print('$sku has $qty'));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A Set is Java's HashSet. No duplicates.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var seen = &lt;String&gt;{'SKU-1', 'SKU-1', 'SKU-2'};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print(seen.length);             // 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seen.add('SKU-3');</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print(seen.contains('SKU-1'));</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WATCH OUT: {} on its own is an empty MAP, not an empty set.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var emptyMap = {};              // Map&lt;dynamic, dynamic&gt;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var emptySet = &lt;String&gt;{};      // Set&lt;String&gt;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 Map is your HashMap and keeps insertion order like a LinkedHashMap. A missing key returns null, and the type system now makes that visible.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Iteration: the Stream API without the ceremony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lines = &lt;OrderLine&gt;[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OrderLine(sku: 'SKU-1', quantity: 40, unitPrice: 250),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OrderLine(sku: 'SKU-2', quantity: 10, unitPrice: 120),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OrderLine(sku: 'SKU-3', quantity: 5, unitPrice: 90),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where  -&gt; Java's filter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bulk = lines.where((l) =&gt; l.quantity &gt;= 10);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map    -&gt; Java's map</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skus = lines.map((l) =&gt; l.sku);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toList -&gt; Java's collect(Collectors.toList())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skuList = lines.map((l) =&gt; l.sku).toList();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fold   -&gt; Java's reduce with an identity value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total = lines.fold&lt;double&gt;(0, (sum, l) =&gt; sum + l.lineTotal);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reduce -&gt; Java's reduce with no identity. Throws if empty.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biggest = lines.map((l) =&gt; l.quantity).reduce((a, b) =&gt; a &gt; b ? a : b);</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Iteration: the Stream API without the ceremony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any / every -&gt; anyMatch / allMatch</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hasBulk = lines.any((l) =&gt; l.quantity &gt;= 100);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allPriced = lines.every((l) =&gt; l.unitPrice &gt; 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firstWhere -&gt; findFirst, but it THROWS if nothing matches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found = lines.firstWhere((l) =&gt; l.sku == 'SKU-2');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safe = lines.where((l) =&gt; l.sku == 'SKU-9').firstOrNull;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take / skip -&gt; limit / skip</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firstTwo = lines.take(2).toList();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afterFirst = lines.skip(1).toList();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expand -&gt; flatMap</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letters = ['ab', 'cd'].expand((s) =&gt; s.split('')).toList();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join -&gt; Collectors.joining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print(lines.map((l) =&gt; l.sku).join(',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LAZY, exactly like a Java stream: where and map do nothing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until you iterate or call toList. No terminal operation,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no work done.</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Every Iterable has these methods directly. There is no .stream() to open and no .collect(Collectors.toList()) to close.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Spread, collection-if and collection-for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Three things Java has no equivalent for, and you will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use all three constantly once you reach the Flutter days.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base = ['SKU-1', 'SKU-2'];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extra = ['SKU-3'];</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1. SPREAD: unpack one list into another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all = [...base, ...extra];</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print(all);                       // [SKU-1, SKU-2, SKU-3]</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Null-aware spread, when the source might be null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List&lt;String&gt;? maybe;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safe = [...base, ...?maybe];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2. COLLECTION-IF: include an element conditionally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isUrgent = true;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flags =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'standard',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if (isUrgent) 'urgent',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Spread, collection-if and collection-for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3. COLLECTION-FOR: build elements from a loop, inline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final labels =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for (final sku in all) sku.toLowerCase(),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All three combine: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final report =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'ORDER REPORT',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if (isUrgent) '** URGENT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for (final sku in all) '  $sku',</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...extra,</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report.forEach(print);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In Java you would declare the list, then write an if and a</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loop to populate it. Here the whole thing is one expression.</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Three things Java has no equivalent for. In Java you declare the list, then write an if and a loop to fill it. Here the whole thing is one expression.</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The cascade operator</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cascade operator, two dots, lets you call several members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on the same object without it returning itself each time.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buffer = StringBuffer()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..write('Order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..write('SKU-1')</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..write(' confirmed');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print(buffer.toString());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Without cascades you would write: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b2 = StringBuffer();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b2.write('Order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b2.write('SKU-1');</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b2.write(' confirmed');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It also works on setters and on collections: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skus = &lt;String&gt;[]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..add('SKU-1')</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..add('SKU-2')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..sort();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Java's answer to this is the builder pattern, where every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method returns this. Cascades give you the same reading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experience without the class having to be written for it.</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Two dots let you call several members on the same object in a row. It gives you builder-style chaining on a class that was never written to support it.</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2A9D8F"/>
          </a:solidFill>
          <a:ln w="12700">
            <a:solidFill>
              <a:srgbClr val="2A9D8F"/>
            </a:solidFill>
            <a:prstDash val="solid"/>
          </a:ln>
        </p:spPr>
      </p:sp>
      <p:sp>
        <p:nvSpPr>
          <p:cNvPr id="3" name="Text 1"/>
          <p:cNvSpPr txBox="1"/>
          <p:nvPr/>
        </p:nvSpPr>
        <p:spPr>
          <a:xfrm>
            <a:off x="548640" y="411480"/>
            <a:ext cx="1188720" cy="457200"/>
          </a:xfrm>
          <a:prstGeom prst="rect">
            <a:avLst/>
          </a:prstGeom>
          <a:noFill/>
          <a:ln/>
        </p:spPr>
        <p:txBody>
          <a:bodyPr wrap="square" lIns="0" tIns="0" rIns="0" bIns="0" rtlCol="0" anchor="ctr"/>
          <a:lstStyle/>
          <a:p>
            <a:pPr algn="ctr" indent="0" marL="0">
              <a:buNone/>
            </a:pPr>
            <a:r>
              <a:rPr lang="en-US" sz="1400" b="1" dirty="0">
                <a:solidFill>
                  <a:srgbClr val="2E3440"/>
                </a:solidFill>
                <a:latin typeface="Calibri" pitchFamily="34" charset="0"/>
                <a:ea typeface="Calibri" pitchFamily="34" charset="-122"/>
                <a:cs typeface="Calibri" pitchFamily="34" charset="-120"/>
              </a:rPr>
              <a:t>LAB 2.2</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indent="0" marL="0">
              <a:buNone/>
            </a:pPr>
            <a:r>
              <a:rPr lang="en-US" sz="2600" b="1" dirty="0">
                <a:solidFill>
                  <a:srgbClr val="2E3440"/>
                </a:solidFill>
                <a:latin typeface="Calibri" pitchFamily="34" charset="0"/>
                <a:ea typeface="Calibri" pitchFamily="34" charset="-122"/>
                <a:cs typeface="Calibri" pitchFamily="34" charset="-120"/>
              </a:rPr>
              <a:t>Order line calculations</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algn="r" indent="0" marL="0">
              <a:buNone/>
            </a:pPr>
            <a:r>
              <a:rPr lang="en-US" sz="1200" dirty="0">
                <a:solidFill>
                  <a:srgbClr val="646E7A"/>
                </a:solidFill>
                <a:latin typeface="Calibri" pitchFamily="34" charset="0"/>
                <a:ea typeface="Calibri" pitchFamily="34" charset="-122"/>
                <a:cs typeface="Calibri" pitchFamily="34" charset="-120"/>
              </a:rPr>
              <a:t>35 min</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indent="0" marL="0">
              <a:buNone/>
            </a:pPr>
            <a:r>
              <a:rPr lang="en-US" sz="1400" b="1" dirty="0">
                <a:solidFill>
                  <a:srgbClr val="2E3440"/>
                </a:solidFill>
                <a:latin typeface="Calibri" pitchFamily="34" charset="0"/>
                <a:ea typeface="Calibri" pitchFamily="34" charset="-122"/>
                <a:cs typeface="Calibri" pitchFamily="34" charset="-120"/>
              </a:rPr>
              <a:t>Goal  </a:t>
            </a:r>
            <a:pPr indent="0" marL="0">
              <a:buNone/>
            </a:pPr>
            <a:r>
              <a:rPr lang="en-US" sz="1400" dirty="0">
                <a:solidFill>
                  <a:srgbClr val="22272E"/>
                </a:solidFill>
                <a:latin typeface="Calibri" pitchFamily="34" charset="0"/>
                <a:ea typeface="Calibri" pitchFamily="34" charset="-122"/>
                <a:cs typeface="Calibri" pitchFamily="34" charset="-120"/>
              </a:rPr>
              <a:t>Take a list of OrderLines and produce totals, filters, a sorted list, a map, and a formatted report, using only the Iterable API and collection literals.</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Continue in the same pad, below your Lab 2.1 classes. Copy the Lab 2.2 starter from the handbook.</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1 to 2: print every SKU with map and forEach, then the bulk lines with where.</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3 to 4: total the line values and the quantities with fold. Remember fold&lt;double&gt; and fold&lt;int&gt;.</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5: any and every.</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6: a sorted list of descriptions. You will need toList()..sort().</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7: a Map of sku to lineTotal, built with a for inside a map literal.</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8: a report list using collection-if and collection-for, then print each line.</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Check every number against the expected output in the handbook.</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sx="100000" sy="100000" kx="0" ky="0" algn="bl" rotWithShape="0" blurRad="38100" dist="12700" dir="5400000">
              <a:srgbClr val="000000">
                <a:alpha val="8000"/>
              </a:srgbClr>
            </a:outerShdw>
          </a:effectLst>
        </p:spPr>
      </p:sp>
      <p:sp>
        <p:nvSpPr>
          <p:cNvPr id="9" name="Text 7"/>
          <p:cNvSpPr txBox="1"/>
          <p:nvPr/>
        </p:nvSpPr>
        <p:spPr>
          <a:xfrm>
            <a:off x="8104510" y="1828800"/>
            <a:ext cx="3352922" cy="365760"/>
          </a:xfrm>
          <a:prstGeom prst="rect">
            <a:avLst/>
          </a:prstGeom>
          <a:noFill/>
          <a:ln/>
        </p:spPr>
        <p:txBody>
          <a:bodyPr wrap="square" lIns="0" tIns="0" rIns="0" bIns="0" rtlCol="0" anchor="ctr"/>
          <a:lstStyle/>
          <a:p>
            <a:pPr indent="0" marL="0">
              <a:buNone/>
            </a:pPr>
            <a:r>
              <a:rPr lang="en-US" sz="1300" b="1" dirty="0">
                <a:solidFill>
                  <a:srgbClr val="2A7F62"/>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Find the single most valuable line using reduce, and say what happens if the list is empty.</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Group the lines into a Map of bulk and standard using fold with a map as the accumulator.</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Rewrite TODO 8 without collection-if and collection-for, and compare the two versions.</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6FC5B8"/>
                </a:solidFill>
                <a:latin typeface="Calibri" pitchFamily="34" charset="0"/>
                <a:ea typeface="Calibri" pitchFamily="34" charset="-122"/>
                <a:cs typeface="Calibri" pitchFamily="34" charset="-120"/>
              </a:rPr>
              <a:t>MODULE 4  ·  15:00 - 16:00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Enums and modelling</a:t>
            </a:r>
            <a:endParaRPr lang="en-US" sz="4000" dirty="0"/>
          </a:p>
        </p:txBody>
      </p:sp>
      <p:sp>
        <p:nvSpPr>
          <p:cNvPr id="5" name="Shape 3"/>
          <p:cNvSpPr/>
          <p:nvPr/>
        </p:nvSpPr>
        <p:spPr>
          <a:xfrm>
            <a:off x="6949440" y="1188720"/>
            <a:ext cx="4663440" cy="4389120"/>
          </a:xfrm>
          <a:prstGeom prst="roundRect">
            <a:avLst>
              <a:gd name="adj" fmla="val 2083"/>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Use a plain enum and switch over it exhaustively</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Write an enhanced enum with fields, a constructor and methods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Decide what belongs on an enum and what belongs elsewhere</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Assemble the complete Order class</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Plain enums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 plain enum. This is Java's simplest enum, and it behaves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 same way.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enum OrderStatus { draft, submitted, picking, shipped, cancelled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void main()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status = OrderStatus.submitted;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print(status);              // OrderStatus.submitted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print(status.name);         // submitted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print(status.index);        // 1</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print(OrderStatus.values);  // the full list, in order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print(OrderStatus.values.length);</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Parsing back from text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parsed = OrderStatus.values.byName('picking');</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print(parsed);</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Plain enums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Switching over one. The compiler checks you handled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every value, so adding a sixth breaks this until you do.</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switch (status)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case OrderStatus.draft: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print('Still being edited');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case OrderStatus.submitted: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print('Waiting to be picked');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case OrderStatus.picking:</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print('Being picked');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case OrderStatus.shipped: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print('On its way');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case OrderStatus.cancelled: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print('Cancelled');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values, name and index all work as they do in Java. Switching over an enum is checked, so adding a value breaks every switch until you handle it.</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Enhanced enums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An enhanced enum: fields, a constructor, getters and methods.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This is the same capability Java enums have had since 1.5.</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enum OrderStatus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draft('Draft', true),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submitted('Submitted', false),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picking('Picking', false),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shipped('Shipped', false),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cancelled('Cancelled', false);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The constructor must be const, and it comes AFTER the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values, separated by a semicolon.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OrderStatus(this.label, this.isEditable);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String label;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bool isEditable;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A getter, available on every value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bool get isFinished =&gt;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this == OrderStatus.shipped || this == OrderStatus.cancelled;</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Enhanced enums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A method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bool canMoveTo(OrderStatus next)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if (isFinished) return false;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index &lt; next.index || next == OrderStatus.cancelled;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void main()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print(OrderStatus.picking.label);          // Picking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print(OrderStatus.draft.isEditable);       // true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print(OrderStatus.shipped.isFinished);     // true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print(OrderStatus.draft.canMoveTo(OrderStatus.shipped));  // true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A display list for a dropdown, built with collection-for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options =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for (final s in OrderStatus.values) '${s.name}: ${s.label}',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options.forEach(print);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WHY THIS MATTERS: the label lives with the value, so no screen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ever has to translate an enum into words. That keeps display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logic out of your user interface code.</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Fields, a const constructor, getters and methods. The same capability Java enums have had for twenty years, with a slightly different layout.</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2A9D8F"/>
          </a:solidFill>
          <a:ln w="12700">
            <a:solidFill>
              <a:srgbClr val="2A9D8F"/>
            </a:solidFill>
            <a:prstDash val="solid"/>
          </a:ln>
        </p:spPr>
      </p:sp>
      <p:sp>
        <p:nvSpPr>
          <p:cNvPr id="3" name="Text 1"/>
          <p:cNvSpPr txBox="1"/>
          <p:nvPr/>
        </p:nvSpPr>
        <p:spPr>
          <a:xfrm>
            <a:off x="548640" y="411480"/>
            <a:ext cx="1188720" cy="457200"/>
          </a:xfrm>
          <a:prstGeom prst="rect">
            <a:avLst/>
          </a:prstGeom>
          <a:noFill/>
          <a:ln/>
        </p:spPr>
        <p:txBody>
          <a:bodyPr wrap="square" lIns="0" tIns="0" rIns="0" bIns="0" rtlCol="0" anchor="ctr"/>
          <a:lstStyle/>
          <a:p>
            <a:pPr algn="ctr" indent="0" marL="0">
              <a:buNone/>
            </a:pPr>
            <a:r>
              <a:rPr lang="en-US" sz="1400" b="1" dirty="0">
                <a:solidFill>
                  <a:srgbClr val="2E3440"/>
                </a:solidFill>
                <a:latin typeface="Calibri" pitchFamily="34" charset="0"/>
                <a:ea typeface="Calibri" pitchFamily="34" charset="-122"/>
                <a:cs typeface="Calibri" pitchFamily="34" charset="-120"/>
              </a:rPr>
              <a:t>LAB 2.3</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indent="0" marL="0">
              <a:buNone/>
            </a:pPr>
            <a:r>
              <a:rPr lang="en-US" sz="2600" b="1" dirty="0">
                <a:solidFill>
                  <a:srgbClr val="2E3440"/>
                </a:solidFill>
                <a:latin typeface="Calibri" pitchFamily="34" charset="0"/>
                <a:ea typeface="Calibri" pitchFamily="34" charset="-122"/>
                <a:cs typeface="Calibri" pitchFamily="34" charset="-120"/>
              </a:rPr>
              <a:t>The Order class</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algn="r" indent="0" marL="0">
              <a:buNone/>
            </a:pPr>
            <a:r>
              <a:rPr lang="en-US" sz="1200" dirty="0">
                <a:solidFill>
                  <a:srgbClr val="646E7A"/>
                </a:solidFill>
                <a:latin typeface="Calibri" pitchFamily="34" charset="0"/>
                <a:ea typeface="Calibri" pitchFamily="34" charset="-122"/>
                <a:cs typeface="Calibri" pitchFamily="34" charset="-120"/>
              </a:rPr>
              <a:t>35 min</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indent="0" marL="0">
              <a:buNone/>
            </a:pPr>
            <a:r>
              <a:rPr lang="en-US" sz="1400" b="1" dirty="0">
                <a:solidFill>
                  <a:srgbClr val="2E3440"/>
                </a:solidFill>
                <a:latin typeface="Calibri" pitchFamily="34" charset="0"/>
                <a:ea typeface="Calibri" pitchFamily="34" charset="-122"/>
                <a:cs typeface="Calibri" pitchFamily="34" charset="-120"/>
              </a:rPr>
              <a:t>Goal  </a:t>
            </a:r>
            <a:pPr indent="0" marL="0">
              <a:buNone/>
            </a:pPr>
            <a:r>
              <a:rPr lang="en-US" sz="1400" dirty="0">
                <a:solidFill>
                  <a:srgbClr val="22272E"/>
                </a:solidFill>
                <a:latin typeface="Calibri" pitchFamily="34" charset="0"/>
                <a:ea typeface="Calibri" pitchFamily="34" charset="-122"/>
                <a:cs typeface="Calibri" pitchFamily="34" charset="-120"/>
              </a:rPr>
              <a:t>An enhanced OrderStatus enum and an immutable Order class that totals itself and can be copied with changes. The capstone of the day.</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Continue in the same pad. Copy the Lab 2.3 starter from the handbook.</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1 to 2: OrderStatus as an enhanced enum with label, isEditable and an isFinished getter.</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3: the Order class with four final fields and a const constructor, status defaulting to draft.</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4 to 6: getters for itemCount, subtotal and isEmpty, all using fold or a property.</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7: copyWith, taking every field as an optional named parameter.</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8: toString producing Order(ORD-1042, Acme Ltd, 4 lines, Draft).</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9 to 11: build the order, print its totals, then copyWith it to submitted and prove the original is unchanged.</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Check every line against the expected output in the handbook.</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sx="100000" sy="100000" kx="0" ky="0" algn="bl" rotWithShape="0" blurRad="38100" dist="12700" dir="5400000">
              <a:srgbClr val="000000">
                <a:alpha val="8000"/>
              </a:srgbClr>
            </a:outerShdw>
          </a:effectLst>
        </p:spPr>
      </p:sp>
      <p:sp>
        <p:nvSpPr>
          <p:cNvPr id="9" name="Text 7"/>
          <p:cNvSpPr txBox="1"/>
          <p:nvPr/>
        </p:nvSpPr>
        <p:spPr>
          <a:xfrm>
            <a:off x="8104510" y="1828800"/>
            <a:ext cx="3352922" cy="365760"/>
          </a:xfrm>
          <a:prstGeom prst="rect">
            <a:avLst/>
          </a:prstGeom>
          <a:noFill/>
          <a:ln/>
        </p:spPr>
        <p:txBody>
          <a:bodyPr wrap="square" lIns="0" tIns="0" rIns="0" bIns="0" rtlCol="0" anchor="ctr"/>
          <a:lstStyle/>
          <a:p>
            <a:pPr indent="0" marL="0">
              <a:buNone/>
            </a:pPr>
            <a:r>
              <a:rPr lang="en-US" sz="1300" b="1" dirty="0">
                <a:solidFill>
                  <a:srgbClr val="2A7F62"/>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Add a validate getter returning a List&lt;String&gt; of problems, built with collection-if.</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Add a canSubmit getter that is true only when the order has lines and the status is editable.</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Try to add a line to an existing order and discover why copyWith with a new list is the only way.</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9445752" y="-137160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548640"/>
            <a:ext cx="8229600"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Day 2 recap</a:t>
            </a:r>
            <a:endParaRPr lang="en-US" sz="3400" dirty="0"/>
          </a:p>
        </p:txBody>
      </p:sp>
      <p:sp>
        <p:nvSpPr>
          <p:cNvPr id="4" name="Text 2"/>
          <p:cNvSpPr txBox="1"/>
          <p:nvPr/>
        </p:nvSpPr>
        <p:spPr>
          <a:xfrm>
            <a:off x="548640" y="1554480"/>
            <a:ext cx="6583680" cy="411480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Parameters come in four shapes. Named parameters are what make long argument lists readable, and Flutter uses them everywhere.</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A function is a value. No functional interface, no import, and the type is written as the signature.</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this.field in a constructor assigns the field, so most classes need no constructor body.</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Named constructors replace static factory methods, and factory constructors can return something other than a fresh object.</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Privacy is by file and marked with an underscore. There is no protected and no package-private.</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Every class defines an interface. extends takes the code, implements takes only the shape.</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Iterable is the Stream API without the ceremony. Always write the type argument on fold.</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Spread, collection-if and collection-for build collections in one expression, and you will use all three on every screen from Thursday.</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An enhanced enum carries its own display label, so no screen has to translate it.</a:t>
            </a:r>
            <a:endParaRPr lang="en-US" sz="1500" dirty="0"/>
          </a:p>
        </p:txBody>
      </p:sp>
      <p:sp>
        <p:nvSpPr>
          <p:cNvPr id="5" name="Shape 3"/>
          <p:cNvSpPr/>
          <p:nvPr/>
        </p:nvSpPr>
        <p:spPr>
          <a:xfrm>
            <a:off x="7589520" y="1554480"/>
            <a:ext cx="4023360" cy="3840480"/>
          </a:xfrm>
          <a:prstGeom prst="roundRect">
            <a:avLst>
              <a:gd name="adj" fmla="val 2381"/>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818120" y="1691640"/>
            <a:ext cx="365760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Tomorrow</a:t>
            </a:r>
            <a:endParaRPr lang="en-US" sz="1100" dirty="0"/>
          </a:p>
        </p:txBody>
      </p:sp>
      <p:sp>
        <p:nvSpPr>
          <p:cNvPr id="7" name="Text 5"/>
          <p:cNvSpPr txBox="1"/>
          <p:nvPr/>
        </p:nvSpPr>
        <p:spPr>
          <a:xfrm>
            <a:off x="7818120" y="2103120"/>
            <a:ext cx="3657600" cy="310896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Generics, and why List&lt;String&gt; is not List&lt;Object&gt;</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Records: several values with no class to declare</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Sealed classes and switch expressions</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Extensions and mixins</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Errors, exceptions, async and await</a:t>
            </a:r>
            <a:endParaRPr lang="en-US" sz="13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2011680" cy="292608"/>
          </a:xfrm>
          <a:prstGeom prst="roundRect">
            <a:avLst>
              <a:gd name="adj" fmla="val 50000"/>
            </a:avLst>
          </a:prstGeom>
          <a:solidFill>
            <a:srgbClr val="2E3440"/>
          </a:solidFill>
          <a:ln w="12700">
            <a:solidFill>
              <a:srgbClr val="2E3440"/>
            </a:solidFill>
            <a:prstDash val="solid"/>
          </a:ln>
        </p:spPr>
      </p:sp>
      <p:sp>
        <p:nvSpPr>
          <p:cNvPr id="3" name="Text 1"/>
          <p:cNvSpPr txBox="1"/>
          <p:nvPr/>
        </p:nvSpPr>
        <p:spPr>
          <a:xfrm>
            <a:off x="548640" y="457200"/>
            <a:ext cx="20116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READ &amp; BREAK DOWN</a:t>
            </a:r>
            <a:endParaRPr lang="en-US" sz="1000" dirty="0"/>
          </a:p>
        </p:txBody>
      </p:sp>
      <p:sp>
        <p:nvSpPr>
          <p:cNvPr id="4" name="Text 2"/>
          <p:cNvSpPr txBox="1"/>
          <p:nvPr/>
        </p:nvSpPr>
        <p:spPr>
          <a:xfrm>
            <a:off x="9811512" y="457200"/>
            <a:ext cx="1828800" cy="292608"/>
          </a:xfrm>
          <a:prstGeom prst="rect">
            <a:avLst/>
          </a:prstGeom>
          <a:noFill/>
          <a:ln/>
        </p:spPr>
        <p:txBody>
          <a:bodyPr wrap="square" lIns="0" tIns="0" rIns="0" bIns="0" rtlCol="0" anchor="ctr"/>
          <a:lstStyle/>
          <a:p>
            <a:pPr algn="r" indent="0" marL="0">
              <a:buNone/>
            </a:pPr>
            <a:r>
              <a:rPr lang="en-US" sz="1200" dirty="0">
                <a:solidFill>
                  <a:srgbClr val="646E7A"/>
                </a:solidFill>
                <a:latin typeface="Calibri" pitchFamily="34" charset="0"/>
                <a:ea typeface="Calibri" pitchFamily="34" charset="-122"/>
                <a:cs typeface="Calibri" pitchFamily="34" charset="-120"/>
              </a:rPr>
              <a:t>Optional · 15 min</a:t>
            </a:r>
            <a:endParaRPr lang="en-US" sz="1200" dirty="0"/>
          </a:p>
        </p:txBody>
      </p:sp>
      <p:sp>
        <p:nvSpPr>
          <p:cNvPr id="5" name="Text 3"/>
          <p:cNvSpPr txBox="1"/>
          <p:nvPr/>
        </p:nvSpPr>
        <p:spPr>
          <a:xfrm>
            <a:off x="548640" y="868680"/>
            <a:ext cx="11091672" cy="640080"/>
          </a:xfrm>
          <a:prstGeom prst="rect">
            <a:avLst/>
          </a:prstGeom>
          <a:noFill/>
          <a:ln/>
        </p:spPr>
        <p:txBody>
          <a:bodyPr wrap="square" lIns="0" tIns="0" rIns="0" bIns="0" rtlCol="0" anchor="ctr"/>
          <a:lstStyle/>
          <a:p>
            <a:pPr indent="0" marL="0">
              <a:buNone/>
            </a:pPr>
            <a:r>
              <a:rPr lang="en-US" sz="2800" b="1" dirty="0">
                <a:solidFill>
                  <a:srgbClr val="2E3440"/>
                </a:solidFill>
                <a:latin typeface="Calibri" pitchFamily="34" charset="0"/>
                <a:ea typeface="Calibri" pitchFamily="34" charset="-122"/>
                <a:cs typeface="Calibri" pitchFamily="34" charset="-120"/>
              </a:rPr>
              <a:t>Optional tonight: classes and collections</a:t>
            </a:r>
            <a:endParaRPr lang="en-US" sz="2800" dirty="0"/>
          </a:p>
        </p:txBody>
      </p:sp>
      <p:sp>
        <p:nvSpPr>
          <p:cNvPr id="6" name="Shape 4"/>
          <p:cNvSpPr/>
          <p:nvPr/>
        </p:nvSpPr>
        <p:spPr>
          <a:xfrm>
            <a:off x="548640" y="1691640"/>
            <a:ext cx="11091672" cy="960120"/>
          </a:xfrm>
          <a:prstGeom prst="roundRect">
            <a:avLst>
              <a:gd name="adj" fmla="val 9524"/>
            </a:avLst>
          </a:prstGeom>
          <a:solidFill>
            <a:srgbClr val="EAF0F7"/>
          </a:solidFill>
          <a:ln w="6350">
            <a:solidFill>
              <a:srgbClr val="EAF0F7"/>
            </a:solidFill>
            <a:prstDash val="solid"/>
          </a:ln>
          <a:effectLst>
            <a:outerShdw sx="100000" sy="100000" kx="0" ky="0" algn="bl" rotWithShape="0" blurRad="38100" dist="12700" dir="5400000">
              <a:srgbClr val="000000">
                <a:alpha val="8000"/>
              </a:srgbClr>
            </a:outerShdw>
          </a:effectLst>
        </p:spPr>
      </p:sp>
      <p:sp>
        <p:nvSpPr>
          <p:cNvPr id="7" name="Text 5"/>
          <p:cNvSpPr txBox="1"/>
          <p:nvPr/>
        </p:nvSpPr>
        <p:spPr>
          <a:xfrm>
            <a:off x="822960" y="1783080"/>
            <a:ext cx="10543032" cy="457200"/>
          </a:xfrm>
          <a:prstGeom prst="rect">
            <a:avLst/>
          </a:prstGeom>
          <a:noFill/>
          <a:ln/>
        </p:spPr>
        <p:txBody>
          <a:bodyPr wrap="square" lIns="0" tIns="0" rIns="0" bIns="0" rtlCol="0" anchor="ctr"/>
          <a:lstStyle/>
          <a:p>
            <a:pPr indent="0" marL="0">
              <a:buNone/>
            </a:pPr>
            <a:r>
              <a:rPr lang="en-US" sz="1800" b="1" dirty="0">
                <a:solidFill>
                  <a:srgbClr val="2E3440"/>
                </a:solidFill>
                <a:latin typeface="Courier New" pitchFamily="34" charset="0"/>
                <a:ea typeface="Courier New" pitchFamily="34" charset="-122"/>
                <a:cs typeface="Courier New" pitchFamily="34" charset="-120"/>
              </a:rPr>
              <a:t>dart.dev/language/classes</a:t>
            </a:r>
            <a:endParaRPr lang="en-US" sz="1800" dirty="0"/>
          </a:p>
        </p:txBody>
      </p:sp>
      <p:sp>
        <p:nvSpPr>
          <p:cNvPr id="8" name="Text 6"/>
          <p:cNvSpPr txBox="1"/>
          <p:nvPr/>
        </p:nvSpPr>
        <p:spPr>
          <a:xfrm>
            <a:off x="822960" y="2212848"/>
            <a:ext cx="10543032" cy="365760"/>
          </a:xfrm>
          <a:prstGeom prst="rect">
            <a:avLst/>
          </a:prstGeom>
          <a:noFill/>
          <a:ln/>
        </p:spPr>
        <p:txBody>
          <a:bodyPr wrap="square" lIns="0" tIns="0" rIns="0" bIns="0" rtlCol="0" anchor="ctr"/>
          <a:lstStyle/>
          <a:p>
            <a:pPr indent="0" marL="0">
              <a:buNone/>
            </a:pPr>
            <a:r>
              <a:rPr lang="en-US" sz="1200" dirty="0">
                <a:solidFill>
                  <a:srgbClr val="646E7A"/>
                </a:solidFill>
                <a:latin typeface="Calibri" pitchFamily="34" charset="0"/>
                <a:ea typeface="Calibri" pitchFamily="34" charset="-122"/>
                <a:cs typeface="Calibri" pitchFamily="34" charset="-120"/>
              </a:rPr>
              <a:t>The "Classes" page, then "Collections" from the same section. Skip constructors for now, we covered what you need (about 15 minutes)</a:t>
            </a:r>
            <a:endParaRPr lang="en-US" sz="1200" dirty="0"/>
          </a:p>
        </p:txBody>
      </p:sp>
      <p:sp>
        <p:nvSpPr>
          <p:cNvPr id="9" name="Text 7"/>
          <p:cNvSpPr txBox="1"/>
          <p:nvPr/>
        </p:nvSpPr>
        <p:spPr>
          <a:xfrm>
            <a:off x="548640" y="2880360"/>
            <a:ext cx="6655003" cy="365760"/>
          </a:xfrm>
          <a:prstGeom prst="rect">
            <a:avLst/>
          </a:prstGeom>
          <a:noFill/>
          <a:ln/>
        </p:spPr>
        <p:txBody>
          <a:bodyPr wrap="square" lIns="0" tIns="0" rIns="0" bIns="0" rtlCol="0" anchor="ctr"/>
          <a:lstStyle/>
          <a:p>
            <a:pPr indent="0" marL="0">
              <a:buNone/>
            </a:pPr>
            <a:r>
              <a:rPr lang="en-US" sz="1400" b="1" dirty="0">
                <a:solidFill>
                  <a:srgbClr val="2E3440"/>
                </a:solidFill>
                <a:latin typeface="Calibri" pitchFamily="34" charset="0"/>
                <a:ea typeface="Calibri" pitchFamily="34" charset="-122"/>
                <a:cs typeface="Calibri" pitchFamily="34" charset="-120"/>
              </a:rPr>
              <a:t>Answer these as you read</a:t>
            </a:r>
            <a:endParaRPr lang="en-US" sz="1400" dirty="0"/>
          </a:p>
        </p:txBody>
      </p:sp>
      <p:sp>
        <p:nvSpPr>
          <p:cNvPr id="10" name="Text 8"/>
          <p:cNvSpPr txBox="1"/>
          <p:nvPr/>
        </p:nvSpPr>
        <p:spPr>
          <a:xfrm>
            <a:off x="548640" y="3291840"/>
            <a:ext cx="6655003" cy="2743200"/>
          </a:xfrm>
          <a:prstGeom prst="rect">
            <a:avLst/>
          </a:prstGeom>
          <a:noFill/>
          <a:ln/>
        </p:spPr>
        <p:txBody>
          <a:bodyPr wrap="square" lIns="0" tIns="0" rIns="0" bIns="0" rtlCol="0" anchor="t"/>
          <a:lstStyle/>
          <a:p>
            <a:pPr marL="279400" indent="-279400">
              <a:spcAft>
                <a:spcPts val="800"/>
              </a:spcAft>
              <a:buSzPct val="100000"/>
              <a:buFont typeface="+mj-lt"/>
              <a:buAutoNum type="arabicPeriod" startAt="1"/>
            </a:pPr>
            <a:r>
              <a:rPr lang="en-US" sz="1400" dirty="0">
                <a:solidFill>
                  <a:srgbClr val="22272E"/>
                </a:solidFill>
                <a:latin typeface="Calibri" pitchFamily="34" charset="0"/>
                <a:ea typeface="Calibri" pitchFamily="34" charset="-122"/>
                <a:cs typeface="Calibri" pitchFamily="34" charset="-120"/>
              </a:rPr>
              <a:t>Find one thing about classes we did not cover today, and be ready to say what it might be for.</a:t>
            </a:r>
            <a:endParaRPr lang="en-US" sz="1400" dirty="0"/>
          </a:p>
          <a:p>
            <a:pPr marL="279400" indent="-279400">
              <a:spcAft>
                <a:spcPts val="800"/>
              </a:spcAft>
              <a:buSzPct val="100000"/>
              <a:buFont typeface="+mj-lt"/>
              <a:buAutoNum type="arabicPeriod" startAt="1"/>
            </a:pPr>
            <a:r>
              <a:rPr lang="en-US" sz="1400" dirty="0">
                <a:solidFill>
                  <a:srgbClr val="22272E"/>
                </a:solidFill>
                <a:latin typeface="Calibri" pitchFamily="34" charset="0"/>
                <a:ea typeface="Calibri" pitchFamily="34" charset="-122"/>
                <a:cs typeface="Calibri" pitchFamily="34" charset="-120"/>
              </a:rPr>
              <a:t>The collections page mentions an unmodifiable list. When would you reach for one in the order app?</a:t>
            </a:r>
            <a:endParaRPr lang="en-US" sz="1400" dirty="0"/>
          </a:p>
          <a:p>
            <a:pPr marL="279400" indent="-279400">
              <a:spcAft>
                <a:spcPts val="800"/>
              </a:spcAft>
              <a:buSzPct val="100000"/>
              <a:buFont typeface="+mj-lt"/>
              <a:buAutoNum type="arabicPeriod" startAt="1"/>
            </a:pPr>
            <a:r>
              <a:rPr lang="en-US" sz="1400" dirty="0">
                <a:solidFill>
                  <a:srgbClr val="22272E"/>
                </a:solidFill>
                <a:latin typeface="Calibri" pitchFamily="34" charset="0"/>
                <a:ea typeface="Calibri" pitchFamily="34" charset="-122"/>
                <a:cs typeface="Calibri" pitchFamily="34" charset="-120"/>
              </a:rPr>
              <a:t>Find where the docs describe what happens if you override == but not hashCode. Does it match what I told you?</a:t>
            </a:r>
            <a:endParaRPr lang="en-US" sz="1400" dirty="0"/>
          </a:p>
        </p:txBody>
      </p:sp>
      <p:sp>
        <p:nvSpPr>
          <p:cNvPr id="11" name="Shape 9"/>
          <p:cNvSpPr/>
          <p:nvPr/>
        </p:nvSpPr>
        <p:spPr>
          <a:xfrm>
            <a:off x="7477963" y="2880360"/>
            <a:ext cx="4162349" cy="3154680"/>
          </a:xfrm>
          <a:prstGeom prst="roundRect">
            <a:avLst>
              <a:gd name="adj" fmla="val 2899"/>
            </a:avLst>
          </a:prstGeom>
          <a:solidFill>
            <a:srgbClr val="FBF6E3"/>
          </a:solidFill>
          <a:ln w="6350">
            <a:solidFill>
              <a:srgbClr val="FBF6E3"/>
            </a:solidFill>
            <a:prstDash val="solid"/>
          </a:ln>
          <a:effectLst>
            <a:outerShdw sx="100000" sy="100000" kx="0" ky="0" algn="bl" rotWithShape="0" blurRad="38100" dist="12700" dir="5400000">
              <a:srgbClr val="000000">
                <a:alpha val="8000"/>
              </a:srgbClr>
            </a:outerShdw>
          </a:effectLst>
        </p:spPr>
      </p:sp>
      <p:sp>
        <p:nvSpPr>
          <p:cNvPr id="12" name="Text 10"/>
          <p:cNvSpPr txBox="1"/>
          <p:nvPr/>
        </p:nvSpPr>
        <p:spPr>
          <a:xfrm>
            <a:off x="7706563" y="3017520"/>
            <a:ext cx="3705149" cy="365760"/>
          </a:xfrm>
          <a:prstGeom prst="rect">
            <a:avLst/>
          </a:prstGeom>
          <a:noFill/>
          <a:ln/>
        </p:spPr>
        <p:txBody>
          <a:bodyPr wrap="square" lIns="0" tIns="0" rIns="0" bIns="0" rtlCol="0" anchor="ctr"/>
          <a:lstStyle/>
          <a:p>
            <a:pPr indent="0" marL="0">
              <a:buNone/>
            </a:pPr>
            <a:r>
              <a:rPr lang="en-US" sz="1400" b="1" dirty="0">
                <a:solidFill>
                  <a:srgbClr val="2E3440"/>
                </a:solidFill>
                <a:latin typeface="Calibri" pitchFamily="34" charset="0"/>
                <a:ea typeface="Calibri" pitchFamily="34" charset="-122"/>
                <a:cs typeface="Calibri" pitchFamily="34" charset="-120"/>
              </a:rPr>
              <a:t>Then</a:t>
            </a:r>
            <a:endParaRPr lang="en-US" sz="1400" dirty="0"/>
          </a:p>
        </p:txBody>
      </p:sp>
      <p:sp>
        <p:nvSpPr>
          <p:cNvPr id="13" name="Text 11"/>
          <p:cNvSpPr txBox="1"/>
          <p:nvPr/>
        </p:nvSpPr>
        <p:spPr>
          <a:xfrm>
            <a:off x="7706563" y="3429000"/>
            <a:ext cx="3705149" cy="25146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22272E"/>
                </a:solidFill>
                <a:latin typeface="Calibri" pitchFamily="34" charset="0"/>
                <a:ea typeface="Calibri" pitchFamily="34" charset="-122"/>
                <a:cs typeface="Calibri" pitchFamily="34" charset="-120"/>
              </a:rPr>
              <a:t>09:00 tomorrow: two people take one question each, three minutes at the whiteboard.</a:t>
            </a:r>
            <a:endParaRPr lang="en-US" sz="1250" dirty="0"/>
          </a:p>
          <a:p>
            <a:pPr marL="177800" indent="-177800">
              <a:spcAft>
                <a:spcPts val="700"/>
              </a:spcAft>
              <a:buSzPct val="100000"/>
              <a:buChar char="•"/>
            </a:pPr>
            <a:r>
              <a:rPr lang="en-US" sz="1250" dirty="0">
                <a:solidFill>
                  <a:srgbClr val="22272E"/>
                </a:solidFill>
                <a:latin typeface="Calibri" pitchFamily="34" charset="0"/>
                <a:ea typeface="Calibri" pitchFamily="34" charset="-122"/>
                <a:cs typeface="Calibri" pitchFamily="34" charset="-120"/>
              </a:rPr>
              <a:t>Optional means optional. If you would rather rest, rest. Nothing tomorrow depends on it.</a:t>
            </a:r>
            <a:endParaRPr lang="en-US" sz="1250" dirty="0"/>
          </a:p>
        </p:txBody>
      </p:sp>
      <p:sp>
        <p:nvSpPr>
          <p:cNvPr id="14" name="Text 12"/>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15" name="Text 13"/>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PLAN B · When it breaks in class</a:t>
            </a:r>
            <a:endParaRPr lang="en-US" sz="30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771168"/>
                <a:gridCol w="7320504"/>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If this happens</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Do this instead</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A lab overruns</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Stop at the hard stop, put the appendix solution on screen, everyone copies it and rejoins. Every lab today builds on the last one, so nobody can be left behind</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DartPad is unreachable</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Everything today runs in a locally installed Dart too. dart run file.dart from a terminal, or a scratch file in Android Studio. No Flutter needed</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The room is much faster than expected</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Push the stretch goals hard and start tomorrow's records material at 15:30 rather than finishing early</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The room is much slower than expected</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Cut the collections module to a vocabulary translation and one demonstration. It is the most familiar material of the day</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Somebody argues that this is not what they signed up for</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Answer it directly: every Flutter problem they will hit next week is a Dart problem wearing a costume. Then show them the Order class they built and ask how long that would take in Java</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A language question you cannot answer</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dart.dev on the projector, find it together. Doing that once honestly buys you more credibility than a confident guess ever will</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Somebody still has no working install</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It does not matter today. Fix it at lunch. It matters a great deal by Thursday morning, so do not let it drift</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2A9D8F"/>
        </a:solidFill>
      </p:bgPr>
    </p:bg>
    <p:spTree>
      <p:nvGrpSpPr>
        <p:cNvPr id="1" name=""/>
        <p:cNvGrpSpPr/>
        <p:nvPr/>
      </p:nvGrpSpPr>
      <p:grpSpPr>
        <a:xfrm>
          <a:off x="0" y="0"/>
          <a:ext cx="0" cy="0"/>
          <a:chOff x="0" y="0"/>
          <a:chExt cx="0" cy="0"/>
        </a:xfrm>
      </p:grpSpPr>
      <p:sp>
        <p:nvSpPr>
          <p:cNvPr id="2" name="Text 0"/>
          <p:cNvSpPr txBox="1"/>
          <p:nvPr/>
        </p:nvSpPr>
        <p:spPr>
          <a:xfrm>
            <a:off x="548640" y="2011680"/>
            <a:ext cx="7315200" cy="457200"/>
          </a:xfrm>
          <a:prstGeom prst="rect">
            <a:avLst/>
          </a:prstGeom>
          <a:noFill/>
          <a:ln/>
        </p:spPr>
        <p:txBody>
          <a:bodyPr wrap="square" lIns="0" tIns="0" rIns="0" bIns="0" rtlCol="0" anchor="ctr"/>
          <a:lstStyle/>
          <a:p>
            <a:pPr indent="0" marL="0">
              <a:buNone/>
            </a:pPr>
            <a:r>
              <a:rPr lang="en-US" sz="1400" spc="400" kern="0" dirty="0">
                <a:solidFill>
                  <a:srgbClr val="2E3440"/>
                </a:solidFill>
                <a:latin typeface="Calibri" pitchFamily="34" charset="0"/>
                <a:ea typeface="Calibri" pitchFamily="34" charset="-122"/>
                <a:cs typeface="Calibri" pitchFamily="34" charset="-120"/>
              </a:rPr>
              <a:t>APPENDIX</a:t>
            </a:r>
            <a:endParaRPr lang="en-US" sz="1400" dirty="0"/>
          </a:p>
        </p:txBody>
      </p:sp>
      <p:sp>
        <p:nvSpPr>
          <p:cNvPr id="3" name="Text 1"/>
          <p:cNvSpPr txBox="1"/>
          <p:nvPr/>
        </p:nvSpPr>
        <p:spPr>
          <a:xfrm>
            <a:off x="548640" y="2468880"/>
            <a:ext cx="10058400" cy="1097280"/>
          </a:xfrm>
          <a:prstGeom prst="rect">
            <a:avLst/>
          </a:prstGeom>
          <a:noFill/>
          <a:ln/>
        </p:spPr>
        <p:txBody>
          <a:bodyPr wrap="square" lIns="0" tIns="0" rIns="0" bIns="0" rtlCol="0" anchor="ctr"/>
          <a:lstStyle/>
          <a:p>
            <a:pPr indent="0" marL="0">
              <a:buNone/>
            </a:pPr>
            <a:r>
              <a:rPr lang="en-US" sz="4000" b="1" dirty="0">
                <a:solidFill>
                  <a:srgbClr val="2E3440"/>
                </a:solidFill>
                <a:latin typeface="Calibri" pitchFamily="34" charset="0"/>
                <a:ea typeface="Calibri" pitchFamily="34" charset="-122"/>
                <a:cs typeface="Calibri" pitchFamily="34" charset="-120"/>
              </a:rPr>
              <a:t>Day 2 reference</a:t>
            </a:r>
            <a:endParaRPr lang="en-US" sz="4000" dirty="0"/>
          </a:p>
        </p:txBody>
      </p:sp>
      <p:sp>
        <p:nvSpPr>
          <p:cNvPr id="4" name="Text 2"/>
          <p:cNvSpPr txBox="1"/>
          <p:nvPr/>
        </p:nvSpPr>
        <p:spPr>
          <a:xfrm>
            <a:off x="548640" y="3566160"/>
            <a:ext cx="10058400" cy="731520"/>
          </a:xfrm>
          <a:prstGeom prst="rect">
            <a:avLst/>
          </a:prstGeom>
          <a:noFill/>
          <a:ln/>
        </p:spPr>
        <p:txBody>
          <a:bodyPr wrap="square" lIns="0" tIns="0" rIns="0" bIns="0" rtlCol="0" anchor="ctr"/>
          <a:lstStyle/>
          <a:p>
            <a:pPr indent="0" marL="0">
              <a:buNone/>
            </a:pPr>
            <a:r>
              <a:rPr lang="en-US" sz="1600" dirty="0">
                <a:solidFill>
                  <a:srgbClr val="2E3440"/>
                </a:solidFill>
                <a:latin typeface="Calibri" pitchFamily="34" charset="0"/>
                <a:ea typeface="Calibri" pitchFamily="34" charset="-122"/>
                <a:cs typeface="Calibri" pitchFamily="34" charset="-120"/>
              </a:rPr>
              <a:t>A · Lab 2.1   B · Lab 2.2   C · Lab 2.3   D · Java to Dart cheat sheet   E · Troubleshooting   F · Links</a:t>
            </a:r>
            <a:endParaRPr lang="en-US" sz="1600" dirty="0"/>
          </a:p>
        </p:txBody>
      </p:sp>
      <p:sp>
        <p:nvSpPr>
          <p:cNvPr id="5" name="Text 3"/>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6" name="Text 4"/>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2.1 starter</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LAB 2.1 STARTER - dartpad.dev</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1: a class Product with final fields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sku (String), name (String), unitPrice (double),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stockOnHand (int, default 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Use a const constructor with required named parameters.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2: a getter `inStock` returning true when stockOnHand &gt; 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3: override toString to return  Product(SKU-1, Widget)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4: a named constructor Product.unknown() that makes a</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placeholder with sku 'UNKNOWN', name 'Unknown', price 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5: a class OrderLine with final fields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sku, description, quantity (int), unitPrice (double)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and a const constructor with required named parameters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6: a getter `lineTotal` returning quantity * unitPrice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7: override == and hashCode on OrderLine, comparing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sku and quantity only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void main()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TODO 8: make two Products and print them</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TODO 9: make two identical OrderLines and prove they are equal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TODO 10: print the line total of one of them</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2.1 solution  (1/3)</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Product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Product({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required this.sku,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required this.name,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required this.unitPrice,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this.stockOnHand = 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Product.unknown()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sku = 'UNKNOWN',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name = 'Unknown',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unitPrice = 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stockOnHand = 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String 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String name;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double unitPrice;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int stockOnHand;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bool get inStock =&gt; stockOnHand &gt; 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String toString() =&gt; 'Product($sku, $name)';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2.1 solution  (2/3)</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class OrderLine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OrderLine({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required this.sku,</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required this.description,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required this.quantity,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required this.unitPrice,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String sku;</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String description;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int quantity;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double unitPrice;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double get lineTotal =&gt; quantity * unitPrice;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@override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bool operator ==(Object other) =&gt;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other is OrderLine &amp;&amp; other.sku == sku &amp;&amp; other.quantity == quantity;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@override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int get hashCode =&gt; Object.hash(sku, quantity);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@override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String toString() =&gt; 'OrderLine($sku x$quantity)';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2.1 solution  (3/3)</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void main()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widget = Product(sku: 'SKU-1', name: 'Widget', unitPrice: 250, stockOnHand: 12);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unknown = Product.unknown();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print(widget);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print(unknown);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print('In stock: ${widget.inStock}');</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a = OrderLine(sku: 'SKU-1', description: 'Widget', quantity: 40, unitPrice: 250);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b = OrderLine(sku: 'SKU-1', description: 'Widget', quantity: 40, unitPrice: 250);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print('a == b        ${a == b}');</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print('identical     ${identical(a, b)}');</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print('Line total    ${a.lineTotal}');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Expected output: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Product(SKU-1, Widget)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Product(UNKNOWN, Unknown)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In stock: true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 == b        true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identical     true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Line total    10000.0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Note: identical is TRUE here because both are const, so the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compiler created one object and reused it. Change const to</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on a and b and it prints false.</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Note that identical prints true because both OrderLines are const. Change const to final and it prints false.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2.2 starter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LAB 2.2 STARTER - continue in the same pad, below Lab 2.1</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void main()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lines = &lt;OrderLine&gt;[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OrderLine(sku: 'SKU-1', description: 'Widget', quantity: 40, unitPrice: 250),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OrderLine(sku: 'SKU-2', description: 'Gasket', quantity: 10, unitPrice: 120),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OrderLine(sku: 'SKU-3', description: 'Bracket', quantity: 5, unitPrice: 90),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OrderLine(sku: 'SKU-4', description: 'Seal', quantity: 200, unitPrice: 15),</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TODO 1: print every SKU, one per line, using map and forEach</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TODO 2: print only the lines with quantity of 100 or more,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using where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TODO 3: total up every lineTotal using fold. Remember the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type argument: fold&lt;double&gt;(0,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TODO 4: total up the quantities using fold</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2.2 starter  (2/2)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TODO 5: print true or false for "is any line 100 or more"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and for "is every unit price above zero"</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TODO 6: build a List&lt;String&gt; of descriptions, sorted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alphabetically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TODO 7: build a Map&lt;String, double&gt; of sku to lineTotal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TODO 8: build a report list using collection-if and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collection-for: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a title line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the word BULK ORDER, only if any line is 100 or more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one indented line per SKU</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then print each element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2.2 solution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void main()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lines = &lt;OrderLine&gt;[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OrderLine(sku: 'SKU-1', description: 'Widget', quantity: 40, unitPrice: 250),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OrderLine(sku: 'SKU-2', description: 'Gasket', quantity: 10, unitPrice: 120),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OrderLine(sku: 'SKU-3', description: 'Bracket', quantity: 5, unitPrice: 90),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OrderLine(sku: 'SKU-4', description: 'Seal', quantity: 200, unitPrice: 15),</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lines.map((l) =&gt; l.sku).forEach(print);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bulk = lines.where((l) =&gt; l.quantity &gt;= 100);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bulk.forEach((l) =&gt; print('BULK ${l.sku} x${l.quantity}'));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totalValue = lines.fold&lt;double&gt;(0, (sum, l) =&gt; sum + l.lineTotal);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totalUnits = lines.fold&lt;int&gt;(0, (sum, l) =&gt; sum + l.quantity);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print('Total value  $totalValue');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print('Total units  $totalUnits');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print('Any bulk     ${lines.any((l) =&gt; l.quantity &gt;= 100)}');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print('All priced   ${lines.every((l) =&gt; l.unitPrice &gt; 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descriptions = lines.map((l) =&gt; l.description).toList()..sort();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print(descriptions);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byS = &lt;String, double&gt;{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for (final l in lines) l.sku: l.lineTotal,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print(byS);</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2.2 solution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report =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 REPORT',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if (lines.any((l) =&gt; l.quantity &gt;= 100)) 'BULK 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for (final l in lines) '  ${l.sku} x${l.quantity} = ${l.lineTotal}',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report.forEach(print);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Expected output: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SKU-1</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SKU-2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SKU-3</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SKU-4</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BULK SKU-4 x200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Total value  14650.0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Total units  255</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Any bulk     true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All priced   true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[Bracket, Gasket, Seal, Widget]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{SKU-1: 10000.0, SKU-2: 1200.0, SKU-3: 450.0, SKU-4: 3000.0}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 REPORT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BULK 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SKU-1 x40 = 10000.0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SKU-2 x10 = 1200.0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SKU-3 x5 = 450.0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SKU-4 x200 = 3000.0</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Total value 14650.0, total units 255. The map literal with a for inside it is the piece worth pointing out.</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Lab 2.3 starter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LAB 2.3 STARTER - continue in the same pad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1: an enhanced enum OrderStatus with values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draft, submitted, picking, shipped, cancelled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each carrying a String label and a bool isEditable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2: a getter isFinished, true for shipped and cancelled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3: a class Order with final fields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id (String), customer (String),</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lines (List&lt;OrderLine&gt;), status (OrderStatus,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defaulting to draft)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4: a getter itemCount, the sum of the quantities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5: a getter subtotal, the sum of the line totals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6: a getter isEmpty, true when there are no lines</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Lab 2.3 starter  (2/2)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7: a method copyWith that can change any field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8: override toString to print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Order(ORD-1042, Acme Ltd, 4 lines, Draft)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void main()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TODO 9: build an order with the four lines from Lab 2.2</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TODO 10: print it, its item count and its subtotal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TODO 11: use copyWith to move it to submitted, and print both</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the original and the copy to prove the original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did not change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Lab 2.3 solution  (1/3)</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enum OrderStatus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draft('Draft', true),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submitted('Submitted', false),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picking('Picking', false),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shipped('Shipped', false),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cancelled('Cancelled', false);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OrderStatus(this.label, this.isEditable);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String label;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bool isEditable;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bool get isFinished =&gt;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this == OrderStatus.shipped || this == OrderStatus.cancelled;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class Order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required this.id,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required this.customer,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required this.lines,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this.status = OrderStatus.draft,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String id;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String customer;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List&lt;OrderLine&gt; lines;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OrderStatus status;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int get itemCount =&gt; lines.fold&lt;int&gt;(0, (sum, l) =&gt; sum + l.quantity);</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Lab 2.3 solution  (2/3)</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double get subtotal =&gt; lines.fold&lt;double&gt;(0, (sum, l) =&gt; sum + l.lineTotal);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bool get isEmpty =&gt; lines.isEmpty;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 copyWith({</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String? id,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String? customer,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List&lt;OrderLine&gt;? lines,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OrderStatus? status,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id: id ?? this.id,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customer: customer ?? this.customer,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lines: lines ?? this.lines,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status: status ?? this.status,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@override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String toString() =&gt;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'Order($id, $customer, ${lines.length} lines, ${status.label})';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void main()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lines = &lt;OrderLine&gt;[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OrderLine(sku: 'SKU-1', description: 'Widget', quantity: 40, unitPrice: 250),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OrderLine(sku: 'SKU-2', description: 'Gasket', quantity: 10, unitPrice: 120),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OrderLine(sku: 'SKU-3', description: 'Bracket', quantity: 5, unitPrice: 90),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OrderLine(sku: 'SKU-4', description: 'Seal', quantity: 200, unitPrice: 15),</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Lab 2.3 solution  (3/3)</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order = Order(id: 'ORD-1042', customer: 'Acme Ltd', lines: lines);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print('Items    ${order.itemCount}');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print('Subtotal ${order.subtotal}');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print('Editable ${order.status.isEditable}');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submitted = order.copyWith(status: OrderStatus.submitted);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print(submitted);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print('Original still editable: ${order.status.isEditable}');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Expected output: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Order(ORD-1042, Acme Ltd, 4 lines, Draft)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Items    255</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Subtotal 14650.0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Editable true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Order(ORD-1042, Acme Ltd, 4 lines, Draft)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Order(ORD-1042, Acme Ltd, 4 lines, Submitted)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Original still editable: true</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This is the model Thursday puts on a screen. Keep the pad open, or paste it into the handbook copy.</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58</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D · Java to Dart, today's vocabulary</a:t>
            </a:r>
            <a:endParaRPr lang="en-US" sz="30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549335"/>
                <a:gridCol w="3549335"/>
                <a:gridCol w="3993002"/>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Java</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Dart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Note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public static void main</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void main()</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No class needed</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new Product(...)</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Product(...)</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new is optional and omitted</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constructor body assigning fields</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Product(this.sku)</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Assigns the field directly</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public static Product of(...)</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Product.named(...)</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A real constructor, so it can be const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static factory that may cache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factory Product(...)</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Caller cannot tell the difference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getLineTotal()</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get lineTotal</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Called with no brackets</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private</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_name</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Private to the FILE, not the class</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protected</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no equivalent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If a subclass needs it, it is not private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@Override</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@override</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Optional, but always write it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equals(Object)</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operator ==(Object)</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An operator, not a method</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Objects.hash(a, b)</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Object.hash(a, b)</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Same contract with ==</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interface Foo</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abstract class Foo</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Every class also defines an interface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ArrayList&lt;String&gt;</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&lt;String&gt;[]</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Literal syntax</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HashMap&lt;String,int&gt;</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&lt;String,int&gt;{}</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Keeps insertion order</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stream().filter(...)</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.where(...)</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No stream() to open</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collect(toList())</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.toList()</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No collector</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reduce(0, ...)</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.fold&lt;T&gt;(0, ...)</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Always write the type argument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removeIf</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removeWhere</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Same thing</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Function&lt;A,B&gt;</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B Function(A)</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Nothing to import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builder pattern</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 cascade</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Works on any class</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E · Troubleshooting: symptom to fix</a:t>
            </a:r>
            <a:endParaRPr lang="en-US" sz="30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771168"/>
                <a:gridCol w="3105668"/>
                <a:gridCol w="4214835"/>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Symptom</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Cause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Fix</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A value of type num can't be assigned to double</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00" dirty="0">
                          <a:solidFill>
                            <a:srgbClr val="22272E"/>
                          </a:solidFill>
                          <a:latin typeface="Courier New" pitchFamily="34" charset="0"/>
                          <a:ea typeface="Courier New" pitchFamily="34" charset="-122"/>
                          <a:cs typeface="Courier New" pitchFamily="34" charset="-120"/>
                        </a:rPr>
                        <a:t>fold without a type argument</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Write fold&lt;double&gt;(0, ...)</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The argument type ... can't be assigned</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Named parameter passed positionally</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Write the name: amount: 1000</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Missing concrete implementation</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Used implements instead of extends</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00" dirty="0">
                          <a:solidFill>
                            <a:srgbClr val="22272E"/>
                          </a:solidFill>
                          <a:latin typeface="Courier New" pitchFamily="34" charset="0"/>
                          <a:ea typeface="Courier New" pitchFamily="34" charset="-122"/>
                          <a:cs typeface="Courier New" pitchFamily="34" charset="-120"/>
                        </a:rPr>
                        <a:t>implements gives you no code at all</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 is not overridden but equality fails</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Signature is (MyType other)</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It must be (Object other) to override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Analyser warns about hashCode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Overrode == only</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Override both, always</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Invalid constant value in a const constructor</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A field is not final</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Every field must be final for const</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Expected an identifier in an enum</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Missing semicolon after the last value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Values, then ;, then everything else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The setter isn't defined on a final field</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Trying to mutate an immutable object</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Use copyWith to make a changed copy</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This expression has a type of void</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Assigning the result of sort()</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Use list.toList()..sort()</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Bad state: No element</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00" dirty="0">
                          <a:solidFill>
                            <a:srgbClr val="22272E"/>
                          </a:solidFill>
                          <a:latin typeface="Courier New" pitchFamily="34" charset="0"/>
                          <a:ea typeface="Courier New" pitchFamily="34" charset="-122"/>
                          <a:cs typeface="Courier New" pitchFamily="34" charset="-120"/>
                        </a:rPr>
                        <a:t>first or reduce on an empty collection</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Use firstOrNull, or fold with an initial value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Undefined name on a private member</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Underscore member in another file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Privacy is by file. Remove the underscore or move the code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 behaves like a Map when you wanted a Set</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Empty braces default to Map</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Write &lt;String&gt;{}</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firstWhere throws</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Nothing matched</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Use .where(...).firstOrNull or pass orElse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60</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F · Links used today</a:t>
            </a:r>
            <a:endParaRPr lang="en-US" sz="30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327502"/>
                <a:gridCol w="776417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Topic</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Link</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Functions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dart.dev/language/functions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Classes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dart.dev/language/classes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Constructors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dart.dev/language/constructors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Methods, getters and setters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dart.dev/language/methods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Extend a class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dart.dev/language/extend</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Implicit interfaces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dart.dev/language/classes#implicit-interfaces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Collections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dart.dev/language/collections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Iterable API</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api.dart.dev/dart-core/Iterable-class.html</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Enums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dart.dev/language/enums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Effective Dart, design</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dart.dev/effective-dart/design</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DartPad</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dartpad.dev</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Optional homework</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dart.dev/language/classes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2 - Dart Core</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61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Flutter for Java Developers - Day 2</dc:title>
  <dc:subject>Flutter Mobile Development for Java Developers</dc:subject>
  <dc:creator>Flutter for Java Developers</dc:creator>
  <cp:lastModifiedBy>Flutter for Java Developers</cp:lastModifiedBy>
  <cp:revision>1</cp:revision>
  <dcterms:created xsi:type="dcterms:W3CDTF">2026-09-10T19:15:43Z</dcterms:created>
  <dcterms:modified xsi:type="dcterms:W3CDTF">2026-09-10T19:15:43Z</dcterms:modified>
</cp:coreProperties>
</file>