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Lst>
  <p:notesMasterIdLst>
    <p:notesMasterId r:id="rId6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notesMaster" Target="notesMasters/notesMaster1.xml"/><Relationship Id="rId65" Type="http://schemas.openxmlformats.org/officeDocument/2006/relationships/presProps" Target="presProps.xml"/><Relationship Id="rId66" Type="http://schemas.openxmlformats.org/officeDocument/2006/relationships/viewProps" Target="viewProps.xml"/><Relationship Id="rId67" Type="http://schemas.openxmlformats.org/officeDocument/2006/relationships/theme" Target="theme/theme1.xml"/><Relationship Id="rId6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Open by naming the finish line. "Today the fake data becomes real data from a real server, the app remembers things after you close it, we write tests that prove it works, and we build something you could actually install. Then we finish."
SAY THIS TOO, and mean it: "Eight days ago most of you had never written a line of Dart. Today you finish a working application with tests and a release build. That is a genuinely unusual amount of ground."
THE SHAPE OF THE DAY: three labs in the morning and early afternoon, and the last hour is demonstration and close. Say at 15:00 that nobody should install anything; they should watch and take the commands from the handbook.
PRESENTER CHECKLIST: the mock API running and reachable from a Windows machine AND the emulator, not just your laptop; its address on the whiteboard; a pubspec with http, shared_preferences and the test packages already resolved; a keystore already created so the signing demo is instant.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Four modules, three labs, and a closing hour that is talk and demonstration rather than typing.
PROTECT THE LAST HOUR. It is what the course promised: a week that ends with something shippable. Everything before 15:00 can be compressed; 15:00 to 16:00 cannot.
IF THE MORNING COLLAPSES, Lab 8.1 is the one that matters most. A real API call is what makes the eight days feel finished. Storage and tests can become walkthroughs; the API call should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Seventy-five minutes including the lab setup.
THE PAYOFF SENTENCE FOR THE WHOLE WEEK is on the DI slide from yesterday: swapping the fake for the real service is one line, and no screen changes. Say that at the start and again when they do it.
THE ERROR MAPPING SLIDE IS THE ONE THEY WILL REMEMBER. Everything else here is mechanical; that slide is the difference between a demo and a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Fifteen minutes.
WHY http AND NOT dio: http is the official package, it is small, and it does everything this course needs. dio adds interceptors, retries and better error types, and it is the right choice for a large app. Mention it in one sentence and move on.
THE STATUS CODE TRAP IS THE POINT OF THIS SLIDE. Unlike many HTTP clients, http returns a response for a 404 or a 500 rather than throwing. Developers who assume otherwise write code that parses an HTML error page as JSON and get a FormatException that says nothing useful about the real problem.
SAY IT PLAINLY: check the status code before you parse. Every time.
Uri.parse RATHER THAN A STRING: the API takes a Uri, which is a small nudge towards correctness. Uri also has helpers for query parameters that handle escaping for you.
TIMEOUTS: every network call needs one. A phone on a bad connection can hang for a very long time, and a spinner that never stops is worse than an error message. Ten seconds is a reasonable default for this course.
jsonDecode RETURNS dynamic, which is the one place in the app where dynamic is unavoidable. The next slide is about getting out of it as quickly as possible.
THE CLIENT PARAMETER on the service, two slides on, is what makes all this testable. Flag it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Fifteen minutes. Write one fromJson live so the shape is familiar.
THE PRINCIPLE FIRST: the JSON boundary is where an untyped world meets your typed one. Everything inside is typed; the casts live here and nowhere else. That is the same discipline as mapping a ResultSet or a JSON payload at the edge of a Spring service.
factory CONSTRUCTORS from Day 2 arrive here in their natural home. Point back at it.
THE num CAST IS THE ONE THAT BITES. A JSON number can arrive as an int or a double depending on whether the server wrote 250 or 250.0. Casting straight to double fails on the first. Going through num and calling toDouble handles both. Say it, because it is a real bug that appears in production and not in testing.
THE NULLABLE FIELD PATTERN: json of description as String? then ?? empty. Real APIs omit fields, and a missing field is null, not an error. Defending at the boundary is much better than a null check on every screen.
ENUMS: OrderStatus.values.byName throws on an unknown value. For a server you do not control, catch it and fall back to a sensible default, because a new status added on the server should not crash the app.
NESTED LISTS: the map then cast then toList shape. It looks noisy the first time and becomes invisible.
SAY THIS BEFORE THE NEXT SLIDE: this is perfectly good code and you should be able to read it. It is also boilerplate, and there is a generator.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Fifteen minutes. Write one fromJson live so the shape is familiar.
THE PRINCIPLE FIRST: the JSON boundary is where an untyped world meets your typed one. Everything inside is typed; the casts live here and nowhere else. That is the same discipline as mapping a ResultSet or a JSON payload at the edge of a Spring service.
factory CONSTRUCTORS from Day 2 arrive here in their natural home. Point back at it.
THE num CAST IS THE ONE THAT BITES. A JSON number can arrive as an int or a double depending on whether the server wrote 250 or 250.0. Casting straight to double fails on the first. Going through num and calling toDouble handles both. Say it, because it is a real bug that appears in production and not in testing.
THE NULLABLE FIELD PATTERN: json of description as String? then ?? empty. Real APIs omit fields, and a missing field is null, not an error. Defending at the boundary is much better than a null check on every screen.
ENUMS: OrderStatus.values.byName throws on an unknown value. For a server you do not control, catch it and fall back to a sensible default, because a new status added on the server should not crash the app.
NESTED LISTS: the map then cast then toList shape. It looks noisy the first time and becomes invisible.
SAY THIS BEFORE THE NEXT SLIDE: this is perfectly good code and you should be able to read it. It is also boilerplate, and there is a generator.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Twelve minutes. Demonstrate the generator running rather than describing it.
THE ARGUMENT: hand-written mappers are fine for five classes and a liability for fifty, because they drift. Somebody adds a field to the model and forgets the mapper, and the bug is silent.
THE MECHANICS: annotate, declare a part file, write two one-line methods that delegate to generated functions, then run build_runner. The part file will not exist until you run the generator, so the red underlines before the first run are expected. Say that; it alarms people.
THE TWO COMMANDS: build for once, watch for while you work. The delete-conflicting-outputs flag saves you from a class of confusing failures and you should always use it.
JsonKey FOR A DIFFERENT NAME ON THE WIRE. Snake case on the server, camel case in Dart, mapped in one annotation. Every Java developer has done this with Jackson.
THE COMMIT QUESTION always comes up. Commit them. CI and a fresh clone then build without running the generator first, and they are real source files the compiler needs. If the repo noise bothers you, mark them as generated in gitattributes.
FOR THE JAVA ROOM: this is annotation processing, the same idea as Lombok or MapStruct, with a separate command instead of a compiler plugin.
DO NOT MAKE THIS A LAB STEP. Generation is a five-minute setup that can go wrong on a venue network, and the hand-written version is already correct. Demonstrate it, put it in the handbook, and let them adopt it at home.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Twelve minutes. Demonstrate the generator running rather than describing it.
THE ARGUMENT: hand-written mappers are fine for five classes and a liability for fifty, because they drift. Somebody adds a field to the model and forgets the mapper, and the bug is silent.
THE MECHANICS: annotate, declare a part file, write two one-line methods that delegate to generated functions, then run build_runner. The part file will not exist until you run the generator, so the red underlines before the first run are expected. Say that; it alarms people.
THE TWO COMMANDS: build for once, watch for while you work. The delete-conflicting-outputs flag saves you from a class of confusing failures and you should always use it.
JsonKey FOR A DIFFERENT NAME ON THE WIRE. Snake case on the server, camel case in Dart, mapped in one annotation. Every Java developer has done this with Jackson.
THE COMMIT QUESTION always comes up. Commit them. CI and a fresh clone then build without running the generator first, and they are real source files the compiler needs. If the repo noise bothers you, mark them as generated in gitattributes.
FOR THE JAVA ROOM: this is annotation processing, the same idea as Lombok or MapStruct, with a separate command instead of a compiler plugin.
DO NOT MAKE THIS A LAB STEP. Generation is a five-minute setup that can go wrong on a venue network, and the hand-written version is already correct. Demonstrate it, put it in the handbook, and let them adopt it at home.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Fifteen minutes, and this is the week paying off.
THE HEADLINE: this class implements the same OrderService interface the fake implemented yesterday. Registering it changes one line in main, and not a single screen or model changes.
SAY THAT SLOWLY. It is the argument for interfaces, for dependency injection, and for building against a fake first. Several people in the room have made that argument on the server side and had it ignored; here it just happened.
THE CLIENT PARAMETER IS THE TESTABILITY HINGE. A default client for production, and a fake client in a test. Without it, this class is untestable and you are forced into slow end-to-end tests. One optional parameter buys the whole test pyramid.
THE CATCH BLOCKS ARE THE DESIGN, not an afterthought. SocketException means no connection. TimeoutException means too slow. FormatException means the body was not what we expected. Each becomes a domain exception the rest of the app understands.
NOTE WHAT DOES NOT LEAK OUT: no status codes, no SocketException, no jsonDecode failures. The rest of the app sees only AppException subtypes. That is the same boundary discipline as the JSON casts.
THE IMPORTS CATCH PEOPLE: SocketException is in dart:io, TimeoutException is in dart:async. Put both on the whiteboard.
dart:io IS NOT AVAILABLE ON THE WEB, so an app targeting Chrome needs a different check. Mention it; it will save somebody an afternoon.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Fifteen minutes, and this is the week paying off.
THE HEADLINE: this class implements the same OrderService interface the fake implemented yesterday. Registering it changes one line in main, and not a single screen or model changes.
SAY THAT SLOWLY. It is the argument for interfaces, for dependency injection, and for building against a fake first. Several people in the room have made that argument on the server side and had it ignored; here it just happened.
THE CLIENT PARAMETER IS THE TESTABILITY HINGE. A default client for production, and a fake client in a test. Without it, this class is untestable and you are forced into slow end-to-end tests. One optional parameter buys the whole test pyramid.
THE CATCH BLOCKS ARE THE DESIGN, not an afterthought. SocketException means no connection. TimeoutException means too slow. FormatException means the body was not what we expected. Each becomes a domain exception the rest of the app understands.
NOTE WHAT DOES NOT LEAK OUT: no status codes, no SocketException, no jsonDecode failures. The rest of the app sees only AppException subtypes. That is the same boundary discipline as the JSON casts.
THE IMPORTS CATCH PEOPLE: SocketException is in dart:io, TimeoutException is in dart:async. Put both on the whiteboard.
dart:io IS NOT AVAILABLE ON THE WEB, so an app targeting Chrome needs a different check. Mention it; it will save somebody an afternoon.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Fifteen minutes, and this is the most important slide of the morning.
THE RULE, and it has run through the whole course: the user never sees a stack trace, a status code, or the word Exception. Every failure becomes a sentence a customer could read.
WHY SEALED, and this is Day 3 doing real work on the last day: the switch is exhaustive, so adding a fifth failure mode breaks compilation until somebody writes a sentence for it. It becomes structurally impossible to ship a failure with no message.
CONTRAST WITH THE NORMAL APPROACH: a chain of instanceof checks ending in "something went wrong". New exception types get added, the chain does not get updated, and users see the generic message for a failure you could have explained precisely.
THE GUARDS ARE WORTH POINTING AT. A 404 is a different sentence from a 500, and a when clause on the status code handles that in the same switch. That is Day 3's guards in a genuinely useful place.
READ THE MESSAGES OUT LOUD. "You appear to be offline. Check your connection and try again." Every one says what happened and what to do. Compare with "Error: SocketException: Failed host lookup".
ASK THE ROOM: what does your current production system show a user when the database is down? The answers are usually not good, and it makes the point better than any slide.
THIS IS ALSO AN ACCESSIBILITY AND SUPPORT-COST POINT for an enterprise room. Clear error messages reduce support tickets measurably.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Fifteen minutes, and this is the most important slide of the morning.
THE RULE, and it has run through the whole course: the user never sees a stack trace, a status code, or the word Exception. Every failure becomes a sentence a customer could read.
WHY SEALED, and this is Day 3 doing real work on the last day: the switch is exhaustive, so adding a fifth failure mode breaks compilation until somebody writes a sentence for it. It becomes structurally impossible to ship a failure with no message.
CONTRAST WITH THE NORMAL APPROACH: a chain of instanceof checks ending in "something went wrong". New exception types get added, the chain does not get updated, and users see the generic message for a failure you could have explained precisely.
THE GUARDS ARE WORTH POINTING AT. A 404 is a different sentence from a 500, and a when clause on the status code handles that in the same switch. That is Day 3's guards in a genuinely useful place.
READ THE MESSAGES OUT LOUD. "You appear to be offline. Check your connection and try again." Every one says what happened and what to do. Compare with "Error: SocketException: Failed host lookup".
ASK THE ROOM: what does your current production system show a user when the database is down? The answers are usually not good, and it makes the point better than any slide.
THIS IS ALSO AN ACCESSIBILITY AND SUPPORT-COST POINT for an enterprise room. Clear error messages reduce support tickets measurably.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Twelve minutes. This is the slide where six days of work meet.
POINT BACK TO DAY 3 EXPLICITLY. They wrote this sealed state on the third day, in a browser, with no idea what it was for. This is what it was for.
THE MODEL SETS LOADING, NOTIFIES, AWAITS, THEN SETS THE RESULT AND NOTIFIES AGAIN. Two notifications, so the screen shows a spinner and then the answer. That is the whole pattern and it is five lines.
THE SCREEN IS A SWITCH WITH NO DEFAULT. Four states, four widgets. The compiler enforces all four.
SAY WHAT THAT PREVENTS: in most applications, at least one screen forgets the loading spinner and at least one silently swallows an error. Neither is possible here. That is not discipline, it is the type system.
THE RETRY BUTTON IS PART OF THE DESIGN, not an extra. An error state with no way out is a dead end. Every failure state in a real app needs a retry or a way back.
NOTICE THE SCREEN CONTAINS NO try, NO catch AND NO NULL CHECKS. All of that lives in the service and the model. The screen only renders. That separation is what makes the widget test on this afternoon's slide trivial.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Twelve minutes. This is the slide where six days of work meet.
POINT BACK TO DAY 3 EXPLICITLY. They wrote this sealed state on the third day, in a browser, with no idea what it was for. This is what it was for.
THE MODEL SETS LOADING, NOTIFIES, AWAITS, THEN SETS THE RESULT AND NOTIFIES AGAIN. Two notifications, so the screen shows a spinner and then the answer. That is the whole pattern and it is five lines.
THE SCREEN IS A SWITCH WITH NO DEFAULT. Four states, four widgets. The compiler enforces all four.
SAY WHAT THAT PREVENTS: in most applications, at least one screen forgets the loading spinner and at least one silently swallows an error. Neither is possible here. That is not discipline, it is the type system.
THE RETRY BUTTON IS PART OF THE DESIGN, not an extra. An error state with no way out is a dead end. Every failure state in a real app needs a retry or a way back.
NOTICE THE SCREEN CONTAINS NO try, NO catch AND NO NULL CHECKS. All of that lives in the service and the model. The screen only renders. That separation is what makes the widget test on this afternoon's slide trivial.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LAB: 40 minutes, hard stop. The most satisfying lab of the week because the app stops being a simulation.
CHECKPOINTS: at 12 minutes the JSON maps. At 25 minutes real data appears on screen. At 35 minutes the offline case shows a proper message.
WRITE THE API ADDRESS ON THE WHITEBOARD before anyone starts, and confirm one machine can reach it. If the venue network blocks it, fall back to the fake service; the rest of the lab is unaffected because the interface is the same. That is worth pointing out if it happens.
STEP 8 IS THE ONE THAT MATTERS. Everyone turns off wifi and sees their own sentence. It takes thirty seconds and it is the difference between a demo and a product.
COMMON ERRORS: forgetting to check the status code and then getting a FormatException that blames the wrong thing. Casting a JSON number straight to double. Missing the dart:io or dart:async import. Using localhost from an Android emulator, where the host machine is 10.0.2.2, not localhost. That last one catches somebody every single time, so say it before the timer starts.
THE ONE-LINE SWAP IN STEP 5 DESERVES A MOMENT. Ask how many files they had to change. The answer is one. That is the payoff of yesterday's dependency injection and it is worth stating out 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A hundred and five minutes including the lab.
KEEP IT NARROW. shared_preferences plus the repository pattern is enough for this course and for a great many real apps. SQLite is named, scoped and left as a next step.
THE ARCHITECTURAL POINT IS THE VALUABLE ONE: the model does not know where data comes from. Swapping local storage for a database later changes one registration.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Twelve minutes.
WHAT IT IS: a small key-value store that the platform provides. Strings, ints, doubles, bools and a list of strings. That is the whole API.
GETTING THE INSTANCE IS ASYNCHRONOUS the first time, then cached. That means any code reading a preference has to be async, which shapes where you call it. Loading at startup, once, into a model, is the usual answer and it is what Lab 8.2 does.
THE GETTERS RETURN NULLABLE TYPES, which is correct, because on first run nothing is stored. The null coalescing operator from Day 1 is how you supply a default. That first-run case is step 7 of the lab and people forget it.
GOOD FOR: settings, feature flags, a theme choice, the last screen visited, an auth token in a low-risk app.
NOT FOR: lists of records, anything you want to query, anything large, and anything secret. Say the last one firmly. It is not encrypted, and on a rooted device it is readable.
FOR SECRETS use flutter_secure_storage, which uses the Keychain and the Keystore. One sentence, then move on.
THE PRACTICAL WARNING: storing a big JSON blob in a preference works and is what Lab 8.2 does deliberately, and it is the point at which you should be thinking about a database. Say so honestly.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Fifteen minutes. For a Spring room this is the most familiar slide of the day, so move at pace and make the Flutter-specific points.
THE PATTERN NEEDS NO INTRODUCTION HERE. Interface, implementation, injected. What is worth saying is why it matters more on mobile than on a server.
ON MOBILE THE DATA SOURCE IS GENUINELY UNCERTAIN. Sometimes the network is there and sometimes it is not. A repository is where you decide: try the network, fall back to the cache, save what you got. The screen should never contain that logic and never even know it exists.
THE ERROR HANDLING ON LOAD IS WORTH POINTING AT. A corrupt stored value returns an empty list rather than crashing. Stored data can be corrupt because a previous version of your app wrote a different shape. Defending there is cheap and the alternative is an app that will not start.
THAT MIGRATION PROBLEM IS REAL and worth thirty seconds. Version two of your app reads version one's data. Either version the stored format, or be tolerant on read. Most teams learn this the hard way.
WHEN YOU OUTGROW IT: sqflite gives you real SQLite with SQL. drift gives you a typed query layer on top. The repository interface does not change, which is the whole point. Name both and leave it.
CONNECT TO TESTING: an in-memory repository implementation makes every test instant and offline, and it is four lines. That is this afternoon.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Fifteen minutes. For a Spring room this is the most familiar slide of the day, so move at pace and make the Flutter-specific points.
THE PATTERN NEEDS NO INTRODUCTION HERE. Interface, implementation, injected. What is worth saying is why it matters more on mobile than on a server.
ON MOBILE THE DATA SOURCE IS GENUINELY UNCERTAIN. Sometimes the network is there and sometimes it is not. A repository is where you decide: try the network, fall back to the cache, save what you got. The screen should never contain that logic and never even know it exists.
THE ERROR HANDLING ON LOAD IS WORTH POINTING AT. A corrupt stored value returns an empty list rather than crashing. Stored data can be corrupt because a previous version of your app wrote a different shape. Defending there is cheap and the alternative is an app that will not start.
THAT MIGRATION PROBLEM IS REAL and worth thirty seconds. Version two of your app reads version one's data. Either version the stored format, or be tolerant on read. Most teams learn this the hard way.
WHEN YOU OUTGROW IT: sqflite gives you real SQLite with SQL. drift gives you a typed query layer on top. The repository interface does not change, which is the whole point. Name both and leave it.
CONNECT TO TESTING: an in-memory repository implementation makes every test instant and offline, and it is four lines. That is this afternoon.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LAB: 40 minutes, hard stop. A satisfying lab because the result is obvious: close the app, reopen it, and the data is there.
CHECKPOINTS: at 12 minutes the repository compiles. At 25 minutes data survives a hot restart. At 35 minutes it survives a full kill and relaunch.
STEP 6 MUST BE A REAL KILL, not a hot restart. Swipe the app away from the task switcher. A hot restart keeps the process alive and proves nothing. Say it explicitly, because half the room will otherwise test the wrong thing and believe it works.
THE ORDER OF OPERATIONS IN THE SOLUTION IS DELIBERATE: notifyListeners first, then save. The user should never wait for a disk write to see their own tap take effect. Point that out; it is a small decision that separates a responsive app from a sluggish one.
COMMON ERRORS: forgetting that getInstance is async. Not handling the first run, so a null string goes into jsonDecode and throws. Calling restore in build instead of at creation, which reloads on every rebuild. Saving inside the setState equivalent and blocking the UI.
THE THIRD STRETCH GOAL IS THE MOST VALUABLE and it sets up the afternoon directly. An in-memory repository is four lines and it makes the whole test suite instant. If anyone gets there, use their code in the testing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Ninety minutes including the lab.
THE FRAMING THAT MATTERS: you have been testable since Day 7. The models import nothing from Flutter, the services are injected, the pricing logic is pure. Testing is not extra work bolted on at the end; it is what the architecture was for.
THAT FRAMING TURNS SEVEN DAYS OF DISCIPLINE INTO A VISIBLE PAYOFF, and for a room that spent two days on domain modelling in a browser, it matters.
FOR A JAVA ROOM the API is familiar. group is a test class, test is a test method, expect is an assertion. Say that in one sentence and spend the time on what to test rather than 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Twelve minutes, and it is a design discussion more than a technical one.
GO THROUGH THE FOUR LEVELS. Unit tests for anything with no Flutter import: pricing, validators, mappers, the model classes. Milliseconds each, and you should have many.
MODEL TESTS for a ChangeNotifier with a fake service. Still no widgets. This is where you verify state transitions and every failure path, and it is the highest value per line in the whole suite.
WIDGET TESTS build a real tree in memory with no device. Does this screen show the right thing, does tapping this do what it should. Fast enough to run on every save.
INTEGRATION TESTS run on a real device and are slow. Reserve them for the one or two journeys that must never break.
THE ANTI-PATTERN IS THE IMPORTANT PART and this room will recognise it: a suite made mostly of slow end-to-end tests, taking twenty minutes, failing for unrelated reasons, until somebody marks them as skipped and nobody notices for a year.
ASK THE ROOM what their current build takes. The answers will be honest and usually painful, and it makes the pyramid argument for you.
THE COMMANDS ARE SIMPLE. flutter test runs everything except integration. The coverage flag writes an lcov file their existing tools can read.
SAY WHAT WE ARE NOT COVERING: golden tests, which compare rendered pixels against a reference image, and integration_test for real-device journeys. Both are in the handbook as next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Twelve minutes. Write one live and run it.
THE API MAPPING IS ONE SENTENCE: group is a test class, test is an @Test method, expect is an assertion, setUp and tearDown exist and mean what you expect. Say it and move on; they do not need a tour.
expect TAKES ACTUAL THEN EXPECTED, which is the opposite order from some JUnit assertions. Worth one sentence, because the failure message reads backwards if you get it the wrong way round.
MATCHERS: isA of a type, contains, isEmpty, greaterThan, throwsA. Rich enough that you rarely need a custom one.
THE SPEED POINT IS THE ONE TO MAKE LOUDLY. These tests run in milliseconds because nothing in them imports Flutter. That is the Day 1 domain rule, paying off on Day 8. If the model had imported material.dart, every one of these tests would need a widget binding and would be an order of magnitude slower.
TEST NAMES ARE SENTENCES. "itemCount sums the quantities" reads as documentation in the output. A test called testOrder1 tells a future maintainer nothing.
THE THIRD TEST, that copyWith does not change the original, is testing immutability. That is worth a moment: it is a property of the design rather than a behaviour, and those are excellent tests to have.
WHERE TO START IF THEY HAVE AN UNTESTED CODEBASE at home: the pure functions. Pricing, validation, formatting. Fastest to write, highest value, and no refactoring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Twelve minutes. Write one live and run it.
THE API MAPPING IS ONE SENTENCE: group is a test class, test is an @Test method, expect is an assertion, setUp and tearDown exist and mean what you expect. Say it and move on; they do not need a tour.
expect TAKES ACTUAL THEN EXPECTED, which is the opposite order from some JUnit assertions. Worth one sentence, because the failure message reads backwards if you get it the wrong way round.
MATCHERS: isA of a type, contains, isEmpty, greaterThan, throwsA. Rich enough that you rarely need a custom one.
THE SPEED POINT IS THE ONE TO MAKE LOUDLY. These tests run in milliseconds because nothing in them imports Flutter. That is the Day 1 domain rule, paying off on Day 8. If the model had imported material.dart, every one of these tests would need a widget binding and would be an order of magnitude slower.
TEST NAMES ARE SENTENCES. "itemCount sums the quantities" reads as documentation in the output. A test called testOrder1 tells a future maintainer nothing.
THE THIRD TEST, that copyWith does not change the original, is testing immutability. That is worth a moment: it is a property of the design rather than a behaviour, and those are excellent tests to have.
WHERE TO START IF THEY HAVE AN UNTESTED CODEBASE at home: the pure functions. Pricing, validation, formatting. Fastest to write, highest value, and no refactoring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Fifteen minutes. This is the argument for the whole week's architecture.
THE FAKE IS FOUR LINES. It implements the same interface the real service does, and it can be told to fail. No mocking framework required, although mocktail exists if they want one.
FOR A JAVA ROOM: this is a hand-rolled stub rather than a Mockito mock, and for an interface this small that is simpler and clearer. Mention mocktail as the equivalent of Mockito for when they want verification and argument matchers.
THE LISTENER TRICK captures the sequence of states. Asserting on the ORDER of states, loading then loaded, rather than just the final state, is what proves the spinner appears. That is a bug people ship constantly: the data arrives but the loading state never rendered.
THE FAILURE TEST IS THE MORE VALUABLE OF THE TWO. It proves that a connection failure produces the sentence a customer reads. That is a requirement, and it is now enforced.
SAY THE HEADLINE: the complete order flow, including its error path, verified in under a second. No emulator, no network, no waiting. Ask what their equivalent test costs today.
THIS IS WHY THE MODEL IMPORTS NOTHING FROM FLUTTER. Every architectural decision from Day 1 onwards exists to make this test possible. Say that explicitly; it retroactively justifies a lot of discipline.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Fifteen minutes. This is the argument for the whole week's architecture.
THE FAKE IS FOUR LINES. It implements the same interface the real service does, and it can be told to fail. No mocking framework required, although mocktail exists if they want one.
FOR A JAVA ROOM: this is a hand-rolled stub rather than a Mockito mock, and for an interface this small that is simpler and clearer. Mention mocktail as the equivalent of Mockito for when they want verification and argument matchers.
THE LISTENER TRICK captures the sequence of states. Asserting on the ORDER of states, loading then loaded, rather than just the final state, is what proves the spinner appears. That is a bug people ship constantly: the data arrives but the loading state never rendered.
THE FAILURE TEST IS THE MORE VALUABLE OF THE TWO. It proves that a connection failure produces the sentence a customer reads. That is a requirement, and it is now enforced.
SAY THE HEADLINE: the complete order flow, including its error path, verified in under a second. No emulator, no network, no waiting. Ask what their equivalent test costs today.
THIS IS WHY THE MODEL IMPORTS NOTHING FROM FLUTTER. Every architectural decision from Day 1 onwards exists to make this test possible. Say that explicitly; it retroactively justifies a lot of discipline.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Fifteen minutes. Run one live so they see how fast it is.
testWidgets INSTEAD OF test, and you get a WidgetTester. pumpWidget builds the tree, and it needs a MaterialApp around your screen because things like Theme and Navigator must exist above it.
PROVIDING THE MODEL IN THE TEST is exactly yesterday's pattern, which is the point: the screen has no idea it is in a test. ChangeNotifierProvider.value when you want to build the model yourself first.
THE FINDERS: find.text, find.byType, find.byIcon, find.byTooltip, find.byKey. And the matchers: findsOneWidget, findsNothing, findsNWidgets.
findsNothing IS UNDERUSED. Asserting the empty state is GONE after adding a line is as valuable as asserting the line appeared.
pump VERSUS pumpAndSettle IS THE THING PEOPLE GET WRONG. pump advances exactly one frame. pumpAndSettle keeps pumping until nothing is animating. After a tap that triggers a rebuild, pump is enough. After a navigation with a transition, you need pumpAndSettle. Getting it wrong gives a test that fails intermittently.
THE TAP TEST IS THE SHAPE THEY WILL WRITE MOST: pump the tree, find something, tap it, pump again, assert. Four lines.
BY TOOLTIP IS WHY TOOLTIPS MATTER. The accessibility habit from Day 5 makes icon buttons findable in tests. That is a nice unexpected payoff and worth pointing out.
WHAT WIDGET TESTS ARE NOT FOR: pixel-perfect appearance, which is golden tests, or whole journeys across screens, which is integration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Fifteen minutes. Run one live so they see how fast it is.
testWidgets INSTEAD OF test, and you get a WidgetTester. pumpWidget builds the tree, and it needs a MaterialApp around your screen because things like Theme and Navigator must exist above it.
PROVIDING THE MODEL IN THE TEST is exactly yesterday's pattern, which is the point: the screen has no idea it is in a test. ChangeNotifierProvider.value when you want to build the model yourself first.
THE FINDERS: find.text, find.byType, find.byIcon, find.byTooltip, find.byKey. And the matchers: findsOneWidget, findsNothing, findsNWidgets.
findsNothing IS UNDERUSED. Asserting the empty state is GONE after adding a line is as valuable as asserting the line appeared.
pump VERSUS pumpAndSettle IS THE THING PEOPLE GET WRONG. pump advances exactly one frame. pumpAndSettle keeps pumping until nothing is animating. After a tap that triggers a rebuild, pump is enough. After a navigation with a transition, you need pumpAndSettle. Getting it wrong gives a test that fails intermittently.
THE TAP TEST IS THE SHAPE THEY WILL WRITE MOST: pump the tree, find something, tap it, pump again, assert. Four lines.
BY TOOLTIP IS WHY TOOLTIPS MATTER. The accessibility habit from Day 5 makes icon buttons findable in tests. That is a nice unexpected payoff and worth pointing out.
WHAT WIDGET TESTS ARE NOT FOR: pixel-perfect appearance, which is golden tests, or whole journeys across screens, which is integration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Twelve minutes and demonstrate rather than list. Open DevTools on the projector and click through the tabs.
BREAKPOINTS WORK NORMALLY in both VS Code and Android Studio. Set one in build and step through. Several people assume this is not possible in a framework like this, so demonstrate it.
debugPrint RATHER THAN print, because it truncates very long output rather than dropping lines. And never ship print; there is a lint for it and Day 8's lint file turns it on.
THE WIDGET INSPECTOR with Select Widget Mode is the one they will use daily. Tap something on the device and it jumps to the line of source that created it. That alone justifies opening DevTools.
THE LAYOUT EXPLORER they met on Day 6. The Performance tab is next slide. The Network tab shows every HTTP request the app made, which is immediately useful after this morning.
DEBUG PAINT, pressing p, draws layout guides over the running app. For a padding or alignment problem it is faster than any tool.
READING FLUTTER ERRORS IS A SKILL and it is worth the two minutes. They are long, and engineers learn to skim long messages. Flutter's name the widget, the file, the line, and usually suggest the fix. Read one out loud on the projector.
A RED SCREEN IS A DEBUG-ONLY COURTESY. In release the user gets a grey box and no information, so every red screen must be fixed before shipping. Say that plainly.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LAB: 35 minutes, hard stop at 14:45. Protect the hard stop; the last hour is what the client bought.
CHECKPOINTS: at 10 minutes the unit tests pass. At 22 minutes the model test passes. At 32 minutes the widget test passes.
STEP 2 IS THE MOST VALUABLE IN THE LAB. Off-by-one at a band boundary is the classic pricing bug, it is invisible to manual testing, and four tests pin it forever. Make everyone do it.
STEP 7 IS THE ONE PEOPLE SKIP AND SHOULD NOT. A test suite you have never seen fail is not a test suite, it is a ritual. Break the subtotal, watch red, fix it, watch green.
THE COVERAGE STEP IS A DISCUSSION, not a target. Look at what is uncovered and ask whether it matters. Generated code and simple getters do not. The error paths do. Say clearly that a coverage percentage is a terrible goal and a useful map.
COMMON ERRORS: forgetting testWidgets for widget tests and using test instead. Missing the MaterialApp wrapper, giving a confusing error about Directionality. Using pump when pumpAndSettle was needed. Writing a test that passes whatever the code does, which is worth catching during circulation.
IF THEY FINISH EARLY, the third stretch goal is the best one: testing that the retry button calls load is a genuinely useful test and it exercises everything from the morning.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Say this before the first slide, and say it clearly: "This last hour is a demonstration, not a lab. Do not install anything. Watch, and take the commands from the handbook. You will do this for real on your own project, with your own keystore, and you will want the handbook open when you do."
That sentence prevents twenty people starting a Java or Xcode install at 15:05 and ending the course frustrated.
PACE: performance ten minutes, accessibility ten, release fifteen, CI and lints ten, close fifteen. Tight but it is all talk and demonstration.
PROTECT THE CLOSE. Do not let the release demo eat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Twelve minutes, and demonstrate the rebuild tracker rather than reading the list.
PROFILE MODE FIRST, and repeat the Day 4 warning. Debug builds carry assertions and no optimisation and can be five times slower. Every performance number must come from profile mode or it is meaningless.
THE BUDGET FROM DAY 4: 16.7 milliseconds at 60 Hz, and half that on a 120 Hz phone, covering build, layout and paint.
THE CHECKLIST IS IN ORDER OF HOW OFTEN IT IS THE ANSWER, and say so. const constructors and widget extraction solve more real problems than everything below them combined. People reach for isolates and RepaintBoundary first and they are almost never the issue.
THE DEMO WORTH DOING: DevTools, Inspector, Track widget rebuilds. Turn it on, use the app, and show which widgets rebuild that should not have. Then add const or a select and watch the count drop. Two minutes and it is the most concrete performance lesson available.
ITEM 8, not awaiting network calls in main before runApp, is a real and common startup bug. The app shows a blank screen until the call returns, which on a bad connection is ten seconds of nothing.
THE HONEST FRAMING: most Flutter apps do not have a performance problem, and the ones that do usually have exactly one, findable in ten minutes with the Performance tab. Do not optimise speculatively.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Twelve minutes. For an enterprise or public sector room this is often a contractual requirement, so pitch it that way rather than as a nicety.
THE TOOLTIP HABIT FROM DAY 5 WAS THIS ALL ALONG. An icon button with a tooltip is announced by a screen reader and findable in a widget test. One property, three benefits.
SEMANTIC LABELS ON IMAGES, and the Semantics widget for anything custom. A row that reads as "11 500" tells a screen reader user nothing; "Order total, 11 500 rand" tells them everything.
THE 200 PER CENT TEXT TEST IS THE ONE THAT FINDS REAL BUGS. Set the device font to largest and open the app. Anything with a fixed height around text breaks visibly. It takes thirty seconds and it is worth doing on the projector now.
TOUCH TARGETS: 48 by 48 minimum. IconButton already is. A bare GestureDetector wrapped around a 16 pixel icon is not, and that is a common mistake.
CONTRAST COMES FREE from ColorScheme.fromSeed, because the role and its on colour are generated with correct contrast. Hard-coded colours are where contrast failures come from, which is the fourth reason not to use them.
NEVER COLOUR ALONE: a red border with no message is invisible to a colour-blind user, and around eight per cent of men are. Always pair colour with text or an icon.
SAY WHAT WE ARE NOT COVERING: full screen reader testing with TalkBack and VoiceOver, and the accessibility guidelines in full. Both are in the links.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Twelve minutes. For an enterprise or public sector room this is often a contractual requirement, so pitch it that way rather than as a nicety.
THE TOOLTIP HABIT FROM DAY 5 WAS THIS ALL ALONG. An icon button with a tooltip is announced by a screen reader and findable in a widget test. One property, three benefits.
SEMANTIC LABELS ON IMAGES, and the Semantics widget for anything custom. A row that reads as "11 500" tells a screen reader user nothing; "Order total, 11 500 rand" tells them everything.
THE 200 PER CENT TEXT TEST IS THE ONE THAT FINDS REAL BUGS. Set the device font to largest and open the app. Anything with a fixed height around text breaks visibly. It takes thirty seconds and it is worth doing on the projector now.
TOUCH TARGETS: 48 by 48 minimum. IconButton already is. A bare GestureDetector wrapped around a 16 pixel icon is not, and that is a common mistake.
CONTRAST COMES FREE from ColorScheme.fromSeed, because the role and its on colour are generated with correct contrast. Hard-coded colours are where contrast failures come from, which is the fourth reason not to use them.
NEVER COLOUR ALONE: a red border with no message is invisible to a colour-blind user, and around eight per cent of men are. Always pair colour with text or an icon.
SAY WHAT WE ARE NOT COVERING: full screen reader testing with TalkBack and VoiceOver, and the accessibility guidelines in full. Both are in the links.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Fifteen minutes, demonstration only, and say so again at the start.
BUILD AND RUN IN RELEASE FIRST. Things that work in debug can fail in release, usually because of an assertion that was doing real work, or a lazily-registered provider. Always test a release build before you ship.
THE VERSION NUMBER IS THE THING TEAMS GET WRONG FOR MONTHS. Before the plus is what users see. After the plus is the build number, and it must increase for every single upload. Upload the same build number twice and the store rejects it with a message that does not explain why.
ICONS AND SPLASH: two dev packages, configured in pubspec, one command each. You never open Xcode or the Android project. Demonstrate the pubspec block if you have one ready.
THE KEYSTORE IS THE SERIOUS ONE AND YOU SHOULD SAY IT SERIOUSLY. You create it once. Every future update must be signed with the same key. Lose it and you cannot update your app, ever; you have to publish a new listing and lose your users and your reviews. Back it up somewhere your organisation will still have in five years.
Play App Signing changes this and is worth mentioning: Google holds the app signing key and you keep an upload key, which can be reset. Most new apps should use it.
APP BUNDLE RATHER THAN APK for Google Play. The store builds a trimmed APK per device, so users download less.
iOS IN ONE SENTENCE: you need a Mac, an Apple Developer account and Xcode. The Flutter side is identical. Everything different is Apple's process, not Flutter's.
THE SIZE CHECK is a nice closing demo if you have a build handy.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Fifteen minutes, demonstration only, and say so again at the start.
BUILD AND RUN IN RELEASE FIRST. Things that work in debug can fail in release, usually because of an assertion that was doing real work, or a lazily-registered provider. Always test a release build before you ship.
THE VERSION NUMBER IS THE THING TEAMS GET WRONG FOR MONTHS. Before the plus is what users see. After the plus is the build number, and it must increase for every single upload. Upload the same build number twice and the store rejects it with a message that does not explain why.
ICONS AND SPLASH: two dev packages, configured in pubspec, one command each. You never open Xcode or the Android project. Demonstrate the pubspec block if you have one ready.
THE KEYSTORE IS THE SERIOUS ONE AND YOU SHOULD SAY IT SERIOUSLY. You create it once. Every future update must be signed with the same key. Lose it and you cannot update your app, ever; you have to publish a new listing and lose your users and your reviews. Back it up somewhere your organisation will still have in five years.
Play App Signing changes this and is worth mentioning: Google holds the app signing key and you keep an upload key, which can be reset. Most new apps should use it.
APP BUNDLE RATHER THAN APK for Google Play. The store builds a trimmed APK per device, so users download less.
iOS IN ONE SENTENCE: you need a Mac, an Apple Developer account and Xcode. The Flutter side is identical. Everything different is Apple's process, not Flutter's.
THE SIZE CHECK is a nice closing demo if you have a build handy.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Ten minutes.
THE FOUR GATES ARE THE WHOLE SLIDE. Format with set-exit-if-changed ends formatting arguments permanently. analyze stops warnings being merged. test stops broken code being merged. build proves it still compiles for a real target.
SAY THIS: every one of these is cheap on day one of a project and expensive to introduce in month six, when there are four hundred existing warnings and nobody wants to fix them. If they take one process improvement home, make it this.
THE LINT FILE IS THE OTHER HALF. flutter_lints is the baseline every project gets. The extra rules listed are the ones worth adding.
TWO LINTS DESERVE PROMOTION TO ERROR and both have bitten the room this week. use_build_context_synchronously catches using a context after an await without a mounted check. unawaited_futures catches a Future nobody waited for, which is the silent crash from Day 4.
dart fix --apply IS THE TOOL PEOPLE FORGET. It applies every mechanical fix across the project in one pass, including adding const everywhere. Run it on the projector and show the count.
FOR THE JAVA ROOM: this is Checkstyle and SpotBugs, with a much smaller configuration and much better defaults.
DO NOT GO INTO iOS BUILDS ON CI. It needs a macOS runner and signing certificates in secrets, and it is a session of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Ten minutes.
THE FOUR GATES ARE THE WHOLE SLIDE. Format with set-exit-if-changed ends formatting arguments permanently. analyze stops warnings being merged. test stops broken code being merged. build proves it still compiles for a real target.
SAY THIS: every one of these is cheap on day one of a project and expensive to introduce in month six, when there are four hundred existing warnings and nobody wants to fix them. If they take one process improvement home, make it this.
THE LINT FILE IS THE OTHER HALF. flutter_lints is the baseline every project gets. The extra rules listed are the ones worth adding.
TWO LINTS DESERVE PROMOTION TO ERROR and both have bitten the room this week. use_build_context_synchronously catches using a context after an await without a mounted check. unawaited_futures catches a Future nobody waited for, which is the silent crash from Day 4.
dart fix --apply IS THE TOOL PEOPLE FORGET. It applies every mechanical fix across the project in one pass, including adding const everywhere. Run it on the projector and show the count.
FOR THE JAVA ROOM: this is Checkstyle and SpotBugs, with a much smaller configuration and much better defaults.
DO NOT GO INTO iOS BUILDS ON CI. It needs a macOS runner and signing certificates in secrets, and it is a session of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Ten minutes and treat it as a map rather than a list. They will not remember it; they need to know the words exist so they can search for them.
GO THROUGH IT IN ORDER OF LIKELY NEED. Routing at scale comes first for most teams. Riverpod second. A real database third.
freezed IS THE ONE THEY WILL THANK YOU FOR. Everything they hand-wrote on Day 2 and Day 3, copyWith, equality, sealed unions, generated from an annotation. Say that it exists and that learning it now, after having written it by hand, is the right order.
PLATFORM CHANNELS deserve a proper sentence for a room that may have a native dependency: when no plugin exists, a MethodChannel calls Kotlin or Swift directly. It is not hard, it is well documented, and it is the escape hatch that means Flutter is never a dead end.
ASK THE ROOM which of these they think their project will need first. It is a good closing discussion, it tells you what to recommend, and it makes the list personal rather than generic.
SAY THE IMPORTANT THING: none of this is needed for the app they built. The foundations are what matter and they have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Ten minutes and treat it as a map rather than a list. They will not remember it; they need to know the words exist so they can search for them.
GO THROUGH IT IN ORDER OF LIKELY NEED. Routing at scale comes first for most teams. Riverpod second. A real database third.
freezed IS THE ONE THEY WILL THANK YOU FOR. Everything they hand-wrote on Day 2 and Day 3, copyWith, equality, sealed unions, generated from an annotation. Say that it exists and that learning it now, after having written it by hand, is the right order.
PLATFORM CHANNELS deserve a proper sentence for a room that may have a native dependency: when no plugin exists, a MethodChannel calls Kotlin or Swift directly. It is not hard, it is well documented, and it is the escape hatch that means Flutter is never a dead end.
ASK THE ROOM which of these they think their project will need first. It is a good closing discussion, it tells you what to recommend, and it makes the list personal rather than generic.
SAY THE IMPORTANT THING: none of this is needed for the app they built. The foundations are what matter and they have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Slow down. This is the last thing they hear and it sets the evaluation scores.
NAME THE ACHIEVEMENT PROPERLY AND SPECIFICALLY. Not "well done everyone", but: a domain model, a state machine the compiler enforces, a real API integration with proper error handling, local persistence, three layers of tests, and a release build. Built by people who had not written Dart eight days ago.
DEFEND THE COURSE SHAPE ONE LAST TIME, because somebody will be asked to justify eight days to a manager: four days on the language was the right call, and the reason is that every Flutter problem is a Dart problem wearing a costume. Give them that sentence to take back.
DO THESE THREE THINGS BEFORE THEY LEAVE. Confirm everyone has all eight handbooks and the repository link. Ask each person for one sentence on what they will use first, which takes six minutes and is the single best thing you can do for the feedback forms. And take a photograph of anything left on the whiteboard and send it to the group.
DO NOT MENTION CERTIFICATES. Say the handbooks and the code they wrote this week are theirs to keep, and that the app is the deliverable.
FINISH ON TIME. A course that overruns its last day leaves a worse impression than one that ends five minutes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The failure mode today is a lab overrunning into the closing hour.
PROTECT 15:00 TO 16:00. It is what the course promised and it is what people remember. Everything before it can be compressed.
THE INTERFACE IS YOUR SAFETY NET ALL DAY. If the network fails, the API fails, or anything else goes wrong, swapping back to the fake service is one line and the rest of the day continues unaffected. Say that out loud when it happens; the failure becomes a demonstration of why the architecture is right.
IF THE MORNING COLLAPSES ENTIRELY, Lab 8.1 is the one that matters. A real API call is what makes eight days feel finished.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On the projector at every hard stop, and the reference they will actually use back at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page they will come back to in three months. The keystore row is the one that ruins projects, so say it out loud when you show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the second display. Rows one to three cover most of the morning.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of these are in the handbook. This is the page they will use most after the course ends.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E3440"/>
        </a:solidFill>
      </p:bgPr>
    </p:bg>
    <p:spTree>
      <p:nvGrpSpPr>
        <p:cNvPr id="1" name=""/>
        <p:cNvGrpSpPr/>
        <p:nvPr/>
      </p:nvGrpSpPr>
      <p:grpSpPr>
        <a:xfrm>
          <a:off x="0" y="0"/>
          <a:ext cx="0" cy="0"/>
          <a:chOff x="0" y="0"/>
          <a:chExt cx="0" cy="0"/>
        </a:xfrm>
      </p:grpSpPr>
      <p:sp>
        <p:nvSpPr>
          <p:cNvPr id="2" name="Shape 0"/>
          <p:cNvSpPr/>
          <p:nvPr/>
        </p:nvSpPr>
        <p:spPr>
          <a:xfrm>
            <a:off x="9262872" y="-1463040"/>
            <a:ext cx="4754880" cy="4754880"/>
          </a:xfrm>
          <a:prstGeom prst="ellipse">
            <a:avLst/>
          </a:prstGeom>
          <a:solidFill>
            <a:srgbClr val="434C5E"/>
          </a:solidFill>
          <a:ln w="12700">
            <a:solidFill>
              <a:srgbClr val="434C5E"/>
            </a:solidFill>
            <a:prstDash val="solid"/>
          </a:ln>
        </p:spPr>
      </p:sp>
      <p:sp>
        <p:nvSpPr>
          <p:cNvPr id="3" name="Shape 1"/>
          <p:cNvSpPr/>
          <p:nvPr/>
        </p:nvSpPr>
        <p:spPr>
          <a:xfrm>
            <a:off x="10543032" y="4480560"/>
            <a:ext cx="3108960" cy="3108960"/>
          </a:xfrm>
          <a:prstGeom prst="ellipse">
            <a:avLst/>
          </a:prstGeom>
          <a:solidFill>
            <a:srgbClr val="2A9D8F"/>
          </a:solidFill>
          <a:ln w="12700">
            <a:solidFill>
              <a:srgbClr val="2A9D8F"/>
            </a:solidFill>
            <a:prstDash val="solid"/>
          </a:ln>
        </p:spPr>
      </p:sp>
      <p:sp>
        <p:nvSpPr>
          <p:cNvPr id="4" name="Text 2"/>
          <p:cNvSpPr txBox="1"/>
          <p:nvPr/>
        </p:nvSpPr>
        <p:spPr>
          <a:xfrm>
            <a:off x="548640" y="731520"/>
            <a:ext cx="7315200" cy="365760"/>
          </a:xfrm>
          <a:prstGeom prst="rect">
            <a:avLst/>
          </a:prstGeom>
          <a:noFill/>
          <a:ln/>
        </p:spPr>
        <p:txBody>
          <a:bodyPr wrap="square" lIns="0" tIns="0" rIns="0" bIns="0" rtlCol="0" anchor="ctr"/>
          <a:lstStyle/>
          <a:p>
            <a:pPr indent="0" marL="0">
              <a:buNone/>
            </a:pPr>
            <a:r>
              <a:rPr lang="en-US" sz="1200" spc="400" kern="0" dirty="0">
                <a:solidFill>
                  <a:srgbClr val="6FC5B8"/>
                </a:solidFill>
                <a:latin typeface="Calibri" pitchFamily="34" charset="0"/>
                <a:ea typeface="Calibri" pitchFamily="34" charset="-122"/>
                <a:cs typeface="Calibri" pitchFamily="34" charset="-120"/>
              </a:rPr>
              <a:t>TECHNICAL TRAINING</a:t>
            </a:r>
            <a:endParaRPr lang="en-US" sz="1200" dirty="0"/>
          </a:p>
        </p:txBody>
      </p:sp>
      <p:sp>
        <p:nvSpPr>
          <p:cNvPr id="5" name="Text 3"/>
          <p:cNvSpPr txBox="1"/>
          <p:nvPr/>
        </p:nvSpPr>
        <p:spPr>
          <a:xfrm>
            <a:off x="548640" y="1371600"/>
            <a:ext cx="8229600" cy="548640"/>
          </a:xfrm>
          <a:prstGeom prst="rect">
            <a:avLst/>
          </a:prstGeom>
          <a:noFill/>
          <a:ln/>
        </p:spPr>
        <p:txBody>
          <a:bodyPr wrap="square" lIns="0" tIns="0" rIns="0" bIns="0" rtlCol="0" anchor="ctr"/>
          <a:lstStyle/>
          <a:p>
            <a:pPr indent="0" marL="0">
              <a:buNone/>
            </a:pPr>
            <a:r>
              <a:rPr lang="en-US" sz="1800" dirty="0">
                <a:solidFill>
                  <a:srgbClr val="D7DEE8"/>
                </a:solidFill>
                <a:latin typeface="Calibri" pitchFamily="34" charset="0"/>
                <a:ea typeface="Calibri" pitchFamily="34" charset="-122"/>
                <a:cs typeface="Calibri" pitchFamily="34" charset="-120"/>
              </a:rPr>
              <a:t>Flutter for Java Developers · 8-Day Programme</a:t>
            </a:r>
            <a:endParaRPr lang="en-US" sz="1800" dirty="0"/>
          </a:p>
        </p:txBody>
      </p:sp>
      <p:sp>
        <p:nvSpPr>
          <p:cNvPr id="6" name="Text 4"/>
          <p:cNvSpPr txBox="1"/>
          <p:nvPr/>
        </p:nvSpPr>
        <p:spPr>
          <a:xfrm>
            <a:off x="548640" y="2103120"/>
            <a:ext cx="8686800" cy="1463040"/>
          </a:xfrm>
          <a:prstGeom prst="rect">
            <a:avLst/>
          </a:prstGeom>
          <a:noFill/>
          <a:ln/>
        </p:spPr>
        <p:txBody>
          <a:bodyPr wrap="square" lIns="0" tIns="0" rIns="0" bIns="0" rtlCol="0" anchor="t"/>
          <a:lstStyle/>
          <a:p>
            <a:pPr indent="0" marL="0">
              <a:buNone/>
            </a:pPr>
            <a:r>
              <a:rPr lang="en-US" sz="4800" b="1" dirty="0">
                <a:solidFill>
                  <a:srgbClr val="FFFFFF"/>
                </a:solidFill>
                <a:latin typeface="Calibri" pitchFamily="34" charset="0"/>
                <a:ea typeface="Calibri" pitchFamily="34" charset="-122"/>
                <a:cs typeface="Calibri" pitchFamily="34" charset="-120"/>
              </a:rPr>
              <a:t>Day 8</a:t>
            </a:r>
            <a:endParaRPr lang="en-US" sz="4800" dirty="0"/>
          </a:p>
          <a:p>
            <a:pPr indent="0" marL="0">
              <a:buNone/>
            </a:pPr>
            <a:r>
              <a:rPr lang="en-US" sz="4800" b="1" dirty="0">
                <a:solidFill>
                  <a:srgbClr val="FFFFFF"/>
                </a:solidFill>
                <a:latin typeface="Calibri" pitchFamily="34" charset="0"/>
                <a:ea typeface="Calibri" pitchFamily="34" charset="-122"/>
                <a:cs typeface="Calibri" pitchFamily="34" charset="-120"/>
              </a:rPr>
              <a:t>Data, Testing</a:t>
            </a:r>
            <a:endParaRPr lang="en-US" sz="4800" dirty="0"/>
          </a:p>
          <a:p>
            <a:pPr indent="0" marL="0">
              <a:buNone/>
            </a:pPr>
            <a:r>
              <a:rPr lang="en-US" sz="4800" b="1" dirty="0">
                <a:solidFill>
                  <a:srgbClr val="FFFFFF"/>
                </a:solidFill>
                <a:latin typeface="Calibri" pitchFamily="34" charset="0"/>
                <a:ea typeface="Calibri" pitchFamily="34" charset="-122"/>
                <a:cs typeface="Calibri" pitchFamily="34" charset="-120"/>
              </a:rPr>
              <a:t>and Shipping</a:t>
            </a:r>
            <a:endParaRPr lang="en-US" sz="4800" dirty="0"/>
          </a:p>
        </p:txBody>
      </p:sp>
      <p:sp>
        <p:nvSpPr>
          <p:cNvPr id="7" name="Text 5"/>
          <p:cNvSpPr txBox="1"/>
          <p:nvPr/>
        </p:nvSpPr>
        <p:spPr>
          <a:xfrm>
            <a:off x="548640" y="3657600"/>
            <a:ext cx="8229600" cy="731520"/>
          </a:xfrm>
          <a:prstGeom prst="rect">
            <a:avLst/>
          </a:prstGeom>
          <a:noFill/>
          <a:ln/>
        </p:spPr>
        <p:txBody>
          <a:bodyPr wrap="square" lIns="0" tIns="0" rIns="0" bIns="0" rtlCol="0" anchor="ctr"/>
          <a:lstStyle/>
          <a:p>
            <a:pPr indent="0" marL="0">
              <a:buNone/>
            </a:pPr>
            <a:r>
              <a:rPr lang="en-US" sz="2000" dirty="0">
                <a:solidFill>
                  <a:srgbClr val="6FC5B8"/>
                </a:solidFill>
                <a:latin typeface="Calibri" pitchFamily="34" charset="0"/>
                <a:ea typeface="Calibri" pitchFamily="34" charset="-122"/>
                <a:cs typeface="Calibri" pitchFamily="34" charset="-120"/>
              </a:rPr>
              <a:t>A real API · Storing data · Tests · Debugging, performance and release</a:t>
            </a:r>
            <a:endParaRPr lang="en-US" sz="2000" dirty="0"/>
          </a:p>
        </p:txBody>
      </p:sp>
      <p:sp>
        <p:nvSpPr>
          <p:cNvPr id="8" name="Text 6"/>
          <p:cNvSpPr txBox="1"/>
          <p:nvPr/>
        </p:nvSpPr>
        <p:spPr>
          <a:xfrm>
            <a:off x="548640" y="5760720"/>
            <a:ext cx="8229600" cy="457200"/>
          </a:xfrm>
          <a:prstGeom prst="rect">
            <a:avLst/>
          </a:prstGeom>
          <a:noFill/>
          <a:ln/>
        </p:spPr>
        <p:txBody>
          <a:bodyPr wrap="square" lIns="0" tIns="0" rIns="0" bIns="0" rtlCol="0" anchor="ctr"/>
          <a:lstStyle/>
          <a:p>
            <a:pPr indent="0" marL="0">
              <a:buNone/>
            </a:pPr>
            <a:r>
              <a:rPr lang="en-US" sz="1200" dirty="0">
                <a:solidFill>
                  <a:srgbClr val="AAB6C4"/>
                </a:solidFill>
                <a:latin typeface="Calibri" pitchFamily="34" charset="0"/>
                <a:ea typeface="Calibri" pitchFamily="34" charset="-122"/>
                <a:cs typeface="Calibri" pitchFamily="34" charset="-120"/>
              </a:rPr>
              <a:t>The last day  ·  Day 8 of 8</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Day 8 agenda</a:t>
            </a:r>
            <a:endParaRPr lang="en-US" sz="3000" dirty="0"/>
          </a:p>
        </p:txBody>
      </p:sp>
      <p:sp>
        <p:nvSpPr>
          <p:cNvPr id="3" name="Shape 1"/>
          <p:cNvSpPr/>
          <p:nvPr/>
        </p:nvSpPr>
        <p:spPr>
          <a:xfrm>
            <a:off x="548640" y="1371600"/>
            <a:ext cx="2567178" cy="4663440"/>
          </a:xfrm>
          <a:prstGeom prst="roundRect">
            <a:avLst>
              <a:gd name="adj" fmla="val 3562"/>
            </a:avLst>
          </a:prstGeom>
          <a:solidFill>
            <a:srgbClr val="F2F5F6"/>
          </a:solidFill>
          <a:ln w="6350">
            <a:solidFill>
              <a:srgbClr val="F2F5F6"/>
            </a:solidFill>
            <a:prstDash val="solid"/>
          </a:ln>
          <a:effectLst>
            <a:outerShdw sx="100000" sy="100000" kx="0" ky="0" algn="bl" rotWithShape="0" blurRad="38100" dist="12700" dir="5400000">
              <a:srgbClr val="000000">
                <a:alpha val="8000"/>
              </a:srgbClr>
            </a:outerShdw>
          </a:effectLst>
        </p:spPr>
      </p:sp>
      <p:sp>
        <p:nvSpPr>
          <p:cNvPr id="4" name="Shape 2"/>
          <p:cNvSpPr/>
          <p:nvPr/>
        </p:nvSpPr>
        <p:spPr>
          <a:xfrm>
            <a:off x="822960" y="1600200"/>
            <a:ext cx="548640" cy="548640"/>
          </a:xfrm>
          <a:prstGeom prst="ellipse">
            <a:avLst/>
          </a:prstGeom>
          <a:solidFill>
            <a:srgbClr val="2A9D8F"/>
          </a:solidFill>
          <a:ln w="12700">
            <a:solidFill>
              <a:srgbClr val="2A9D8F"/>
            </a:solidFill>
            <a:prstDash val="solid"/>
          </a:ln>
        </p:spPr>
      </p:sp>
      <p:sp>
        <p:nvSpPr>
          <p:cNvPr id="5" name="Text 3"/>
          <p:cNvSpPr txBox="1"/>
          <p:nvPr/>
        </p:nvSpPr>
        <p:spPr>
          <a:xfrm>
            <a:off x="822960" y="1600200"/>
            <a:ext cx="548640" cy="548640"/>
          </a:xfrm>
          <a:prstGeom prst="rect">
            <a:avLst/>
          </a:prstGeom>
          <a:noFill/>
          <a:ln/>
        </p:spPr>
        <p:txBody>
          <a:bodyPr wrap="square" lIns="0" tIns="0" rIns="0" bIns="0" rtlCol="0" anchor="ctr"/>
          <a:lstStyle/>
          <a:p>
            <a:pPr algn="ctr" indent="0" marL="0">
              <a:buNone/>
            </a:pPr>
            <a:r>
              <a:rPr lang="en-US" sz="1600" b="1" dirty="0">
                <a:solidFill>
                  <a:srgbClr val="2E3440"/>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1508760" y="1645920"/>
            <a:ext cx="1378458" cy="274320"/>
          </a:xfrm>
          <a:prstGeom prst="rect">
            <a:avLst/>
          </a:prstGeom>
          <a:noFill/>
          <a:ln/>
        </p:spPr>
        <p:txBody>
          <a:bodyPr wrap="square" lIns="0" tIns="0" rIns="0" bIns="0" rtlCol="0" anchor="ctr"/>
          <a:lstStyle/>
          <a:p>
            <a:pPr indent="0" marL="0">
              <a:buNone/>
            </a:pPr>
            <a:r>
              <a:rPr lang="en-US" sz="1000" dirty="0">
                <a:solidFill>
                  <a:srgbClr val="646E7A"/>
                </a:solidFill>
                <a:latin typeface="Calibri" pitchFamily="34" charset="0"/>
                <a:ea typeface="Calibri" pitchFamily="34" charset="-122"/>
                <a:cs typeface="Calibri" pitchFamily="34" charset="-120"/>
              </a:rPr>
              <a:t>09:00 - 10:30</a:t>
            </a:r>
            <a:endParaRPr lang="en-US" sz="1000" dirty="0"/>
          </a:p>
        </p:txBody>
      </p:sp>
      <p:sp>
        <p:nvSpPr>
          <p:cNvPr id="7" name="Text 5"/>
          <p:cNvSpPr txBox="1"/>
          <p:nvPr/>
        </p:nvSpPr>
        <p:spPr>
          <a:xfrm>
            <a:off x="1508760" y="1874520"/>
            <a:ext cx="1378458" cy="548640"/>
          </a:xfrm>
          <a:prstGeom prst="rect">
            <a:avLst/>
          </a:prstGeom>
          <a:noFill/>
          <a:ln/>
        </p:spPr>
        <p:txBody>
          <a:bodyPr wrap="square" lIns="0" tIns="0" rIns="0" bIns="0" rtlCol="0" anchor="t"/>
          <a:lstStyle/>
          <a:p>
            <a:pPr indent="0" marL="0">
              <a:buNone/>
            </a:pPr>
            <a:r>
              <a:rPr lang="en-US" sz="1500" b="1" dirty="0">
                <a:solidFill>
                  <a:srgbClr val="2E3440"/>
                </a:solidFill>
                <a:latin typeface="Calibri" pitchFamily="34" charset="0"/>
                <a:ea typeface="Calibri" pitchFamily="34" charset="-122"/>
                <a:cs typeface="Calibri" pitchFamily="34" charset="-120"/>
              </a:rPr>
              <a:t>A real API</a:t>
            </a:r>
            <a:endParaRPr lang="en-US" sz="1500" dirty="0"/>
          </a:p>
        </p:txBody>
      </p:sp>
      <p:sp>
        <p:nvSpPr>
          <p:cNvPr id="8" name="Text 6"/>
          <p:cNvSpPr txBox="1"/>
          <p:nvPr/>
        </p:nvSpPr>
        <p:spPr>
          <a:xfrm>
            <a:off x="822960" y="2560320"/>
            <a:ext cx="2018538" cy="329184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http, and checking the status code</a:t>
            </a:r>
            <a:endParaRPr lang="en-US" sz="1200" dirty="0"/>
          </a:p>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JSON by hand, then generated</a:t>
            </a:r>
            <a:endParaRPr lang="en-US" sz="1200" dirty="0"/>
          </a:p>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Mapping failures to sentences</a:t>
            </a:r>
            <a:endParaRPr lang="en-US" sz="1200" dirty="0"/>
          </a:p>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Lab 8.1 - the real order service</a:t>
            </a:r>
            <a:endParaRPr lang="en-US" sz="1200" dirty="0"/>
          </a:p>
        </p:txBody>
      </p:sp>
      <p:sp>
        <p:nvSpPr>
          <p:cNvPr id="9" name="Shape 7"/>
          <p:cNvSpPr/>
          <p:nvPr/>
        </p:nvSpPr>
        <p:spPr>
          <a:xfrm>
            <a:off x="3390138" y="1371600"/>
            <a:ext cx="2567178" cy="4663440"/>
          </a:xfrm>
          <a:prstGeom prst="roundRect">
            <a:avLst>
              <a:gd name="adj" fmla="val 3562"/>
            </a:avLst>
          </a:prstGeom>
          <a:solidFill>
            <a:srgbClr val="F2F5F6"/>
          </a:solidFill>
          <a:ln w="6350">
            <a:solidFill>
              <a:srgbClr val="F2F5F6"/>
            </a:solidFill>
            <a:prstDash val="solid"/>
          </a:ln>
          <a:effectLst>
            <a:outerShdw sx="100000" sy="100000" kx="0" ky="0" algn="bl" rotWithShape="0" blurRad="38100" dist="12700" dir="5400000">
              <a:srgbClr val="000000">
                <a:alpha val="8000"/>
              </a:srgbClr>
            </a:outerShdw>
          </a:effectLst>
        </p:spPr>
      </p:sp>
      <p:sp>
        <p:nvSpPr>
          <p:cNvPr id="10" name="Shape 8"/>
          <p:cNvSpPr/>
          <p:nvPr/>
        </p:nvSpPr>
        <p:spPr>
          <a:xfrm>
            <a:off x="3664458" y="1600200"/>
            <a:ext cx="548640" cy="548640"/>
          </a:xfrm>
          <a:prstGeom prst="ellipse">
            <a:avLst/>
          </a:prstGeom>
          <a:solidFill>
            <a:srgbClr val="2A9D8F"/>
          </a:solidFill>
          <a:ln w="12700">
            <a:solidFill>
              <a:srgbClr val="2A9D8F"/>
            </a:solidFill>
            <a:prstDash val="solid"/>
          </a:ln>
        </p:spPr>
      </p:sp>
      <p:sp>
        <p:nvSpPr>
          <p:cNvPr id="11" name="Text 9"/>
          <p:cNvSpPr txBox="1"/>
          <p:nvPr/>
        </p:nvSpPr>
        <p:spPr>
          <a:xfrm>
            <a:off x="3664458" y="1600200"/>
            <a:ext cx="548640" cy="548640"/>
          </a:xfrm>
          <a:prstGeom prst="rect">
            <a:avLst/>
          </a:prstGeom>
          <a:noFill/>
          <a:ln/>
        </p:spPr>
        <p:txBody>
          <a:bodyPr wrap="square" lIns="0" tIns="0" rIns="0" bIns="0" rtlCol="0" anchor="ctr"/>
          <a:lstStyle/>
          <a:p>
            <a:pPr algn="ctr" indent="0" marL="0">
              <a:buNone/>
            </a:pPr>
            <a:r>
              <a:rPr lang="en-US" sz="1600" b="1" dirty="0">
                <a:solidFill>
                  <a:srgbClr val="2E3440"/>
                </a:solidFill>
                <a:latin typeface="Calibri" pitchFamily="34" charset="0"/>
                <a:ea typeface="Calibri" pitchFamily="34" charset="-122"/>
                <a:cs typeface="Calibri" pitchFamily="34" charset="-120"/>
              </a:rPr>
              <a:t>2</a:t>
            </a:r>
            <a:endParaRPr lang="en-US" sz="1600" dirty="0"/>
          </a:p>
        </p:txBody>
      </p:sp>
      <p:sp>
        <p:nvSpPr>
          <p:cNvPr id="12" name="Text 10"/>
          <p:cNvSpPr txBox="1"/>
          <p:nvPr/>
        </p:nvSpPr>
        <p:spPr>
          <a:xfrm>
            <a:off x="4350258" y="1645920"/>
            <a:ext cx="1378458" cy="274320"/>
          </a:xfrm>
          <a:prstGeom prst="rect">
            <a:avLst/>
          </a:prstGeom>
          <a:noFill/>
          <a:ln/>
        </p:spPr>
        <p:txBody>
          <a:bodyPr wrap="square" lIns="0" tIns="0" rIns="0" bIns="0" rtlCol="0" anchor="ctr"/>
          <a:lstStyle/>
          <a:p>
            <a:pPr indent="0" marL="0">
              <a:buNone/>
            </a:pPr>
            <a:r>
              <a:rPr lang="en-US" sz="1000" dirty="0">
                <a:solidFill>
                  <a:srgbClr val="646E7A"/>
                </a:solidFill>
                <a:latin typeface="Calibri" pitchFamily="34" charset="0"/>
                <a:ea typeface="Calibri" pitchFamily="34" charset="-122"/>
                <a:cs typeface="Calibri" pitchFamily="34" charset="-120"/>
              </a:rPr>
              <a:t>10:45 - 12:30</a:t>
            </a:r>
            <a:endParaRPr lang="en-US" sz="1000" dirty="0"/>
          </a:p>
        </p:txBody>
      </p:sp>
      <p:sp>
        <p:nvSpPr>
          <p:cNvPr id="13" name="Text 11"/>
          <p:cNvSpPr txBox="1"/>
          <p:nvPr/>
        </p:nvSpPr>
        <p:spPr>
          <a:xfrm>
            <a:off x="4350258" y="1874520"/>
            <a:ext cx="1378458" cy="548640"/>
          </a:xfrm>
          <a:prstGeom prst="rect">
            <a:avLst/>
          </a:prstGeom>
          <a:noFill/>
          <a:ln/>
        </p:spPr>
        <p:txBody>
          <a:bodyPr wrap="square" lIns="0" tIns="0" rIns="0" bIns="0" rtlCol="0" anchor="t"/>
          <a:lstStyle/>
          <a:p>
            <a:pPr indent="0" marL="0">
              <a:buNone/>
            </a:pPr>
            <a:r>
              <a:rPr lang="en-US" sz="1500" b="1" dirty="0">
                <a:solidFill>
                  <a:srgbClr val="2E3440"/>
                </a:solidFill>
                <a:latin typeface="Calibri" pitchFamily="34" charset="0"/>
                <a:ea typeface="Calibri" pitchFamily="34" charset="-122"/>
                <a:cs typeface="Calibri" pitchFamily="34" charset="-120"/>
              </a:rPr>
              <a:t>Storing data</a:t>
            </a:r>
            <a:endParaRPr lang="en-US" sz="1500" dirty="0"/>
          </a:p>
        </p:txBody>
      </p:sp>
      <p:sp>
        <p:nvSpPr>
          <p:cNvPr id="14" name="Text 12"/>
          <p:cNvSpPr txBox="1"/>
          <p:nvPr/>
        </p:nvSpPr>
        <p:spPr>
          <a:xfrm>
            <a:off x="3664458" y="2560320"/>
            <a:ext cx="2018538" cy="329184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shared_preferences for settings</a:t>
            </a:r>
            <a:endParaRPr lang="en-US" sz="1200" dirty="0"/>
          </a:p>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The repository pattern</a:t>
            </a:r>
            <a:endParaRPr lang="en-US" sz="1200" dirty="0"/>
          </a:p>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Surviving a restart</a:t>
            </a:r>
            <a:endParaRPr lang="en-US" sz="1200" dirty="0"/>
          </a:p>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Lab 8.2 - persistence</a:t>
            </a:r>
            <a:endParaRPr lang="en-US" sz="1200" dirty="0"/>
          </a:p>
        </p:txBody>
      </p:sp>
      <p:sp>
        <p:nvSpPr>
          <p:cNvPr id="15" name="Shape 13"/>
          <p:cNvSpPr/>
          <p:nvPr/>
        </p:nvSpPr>
        <p:spPr>
          <a:xfrm>
            <a:off x="6231636" y="1371600"/>
            <a:ext cx="2567178" cy="4663440"/>
          </a:xfrm>
          <a:prstGeom prst="roundRect">
            <a:avLst>
              <a:gd name="adj" fmla="val 3562"/>
            </a:avLst>
          </a:prstGeom>
          <a:solidFill>
            <a:srgbClr val="F2F5F6"/>
          </a:solidFill>
          <a:ln w="6350">
            <a:solidFill>
              <a:srgbClr val="F2F5F6"/>
            </a:solidFill>
            <a:prstDash val="solid"/>
          </a:ln>
          <a:effectLst>
            <a:outerShdw sx="100000" sy="100000" kx="0" ky="0" algn="bl" rotWithShape="0" blurRad="38100" dist="12700" dir="5400000">
              <a:srgbClr val="000000">
                <a:alpha val="8000"/>
              </a:srgbClr>
            </a:outerShdw>
          </a:effectLst>
        </p:spPr>
      </p:sp>
      <p:sp>
        <p:nvSpPr>
          <p:cNvPr id="16" name="Shape 14"/>
          <p:cNvSpPr/>
          <p:nvPr/>
        </p:nvSpPr>
        <p:spPr>
          <a:xfrm>
            <a:off x="6505956" y="1600200"/>
            <a:ext cx="548640" cy="548640"/>
          </a:xfrm>
          <a:prstGeom prst="ellipse">
            <a:avLst/>
          </a:prstGeom>
          <a:solidFill>
            <a:srgbClr val="2A9D8F"/>
          </a:solidFill>
          <a:ln w="12700">
            <a:solidFill>
              <a:srgbClr val="2A9D8F"/>
            </a:solidFill>
            <a:prstDash val="solid"/>
          </a:ln>
        </p:spPr>
      </p:sp>
      <p:sp>
        <p:nvSpPr>
          <p:cNvPr id="17" name="Text 15"/>
          <p:cNvSpPr txBox="1"/>
          <p:nvPr/>
        </p:nvSpPr>
        <p:spPr>
          <a:xfrm>
            <a:off x="6505956" y="1600200"/>
            <a:ext cx="548640" cy="548640"/>
          </a:xfrm>
          <a:prstGeom prst="rect">
            <a:avLst/>
          </a:prstGeom>
          <a:noFill/>
          <a:ln/>
        </p:spPr>
        <p:txBody>
          <a:bodyPr wrap="square" lIns="0" tIns="0" rIns="0" bIns="0" rtlCol="0" anchor="ctr"/>
          <a:lstStyle/>
          <a:p>
            <a:pPr algn="ctr" indent="0" marL="0">
              <a:buNone/>
            </a:pPr>
            <a:r>
              <a:rPr lang="en-US" sz="1600" b="1" dirty="0">
                <a:solidFill>
                  <a:srgbClr val="2E3440"/>
                </a:solidFill>
                <a:latin typeface="Calibri" pitchFamily="34" charset="0"/>
                <a:ea typeface="Calibri" pitchFamily="34" charset="-122"/>
                <a:cs typeface="Calibri" pitchFamily="34" charset="-120"/>
              </a:rPr>
              <a:t>3</a:t>
            </a:r>
            <a:endParaRPr lang="en-US" sz="1600" dirty="0"/>
          </a:p>
        </p:txBody>
      </p:sp>
      <p:sp>
        <p:nvSpPr>
          <p:cNvPr id="18" name="Text 16"/>
          <p:cNvSpPr txBox="1"/>
          <p:nvPr/>
        </p:nvSpPr>
        <p:spPr>
          <a:xfrm>
            <a:off x="7191756" y="1645920"/>
            <a:ext cx="1378458" cy="274320"/>
          </a:xfrm>
          <a:prstGeom prst="rect">
            <a:avLst/>
          </a:prstGeom>
          <a:noFill/>
          <a:ln/>
        </p:spPr>
        <p:txBody>
          <a:bodyPr wrap="square" lIns="0" tIns="0" rIns="0" bIns="0" rtlCol="0" anchor="ctr"/>
          <a:lstStyle/>
          <a:p>
            <a:pPr indent="0" marL="0">
              <a:buNone/>
            </a:pPr>
            <a:r>
              <a:rPr lang="en-US" sz="1000" dirty="0">
                <a:solidFill>
                  <a:srgbClr val="646E7A"/>
                </a:solidFill>
                <a:latin typeface="Calibri" pitchFamily="34" charset="0"/>
                <a:ea typeface="Calibri" pitchFamily="34" charset="-122"/>
                <a:cs typeface="Calibri" pitchFamily="34" charset="-120"/>
              </a:rPr>
              <a:t>13:15 - 14:45</a:t>
            </a:r>
            <a:endParaRPr lang="en-US" sz="1000" dirty="0"/>
          </a:p>
        </p:txBody>
      </p:sp>
      <p:sp>
        <p:nvSpPr>
          <p:cNvPr id="19" name="Text 17"/>
          <p:cNvSpPr txBox="1"/>
          <p:nvPr/>
        </p:nvSpPr>
        <p:spPr>
          <a:xfrm>
            <a:off x="7191756" y="1874520"/>
            <a:ext cx="1378458" cy="548640"/>
          </a:xfrm>
          <a:prstGeom prst="rect">
            <a:avLst/>
          </a:prstGeom>
          <a:noFill/>
          <a:ln/>
        </p:spPr>
        <p:txBody>
          <a:bodyPr wrap="square" lIns="0" tIns="0" rIns="0" bIns="0" rtlCol="0" anchor="t"/>
          <a:lstStyle/>
          <a:p>
            <a:pPr indent="0" marL="0">
              <a:buNone/>
            </a:pPr>
            <a:r>
              <a:rPr lang="en-US" sz="1500" b="1" dirty="0">
                <a:solidFill>
                  <a:srgbClr val="2E3440"/>
                </a:solidFill>
                <a:latin typeface="Calibri" pitchFamily="34" charset="0"/>
                <a:ea typeface="Calibri" pitchFamily="34" charset="-122"/>
                <a:cs typeface="Calibri" pitchFamily="34" charset="-120"/>
              </a:rPr>
              <a:t>Testing and debugging</a:t>
            </a:r>
            <a:endParaRPr lang="en-US" sz="1500" dirty="0"/>
          </a:p>
        </p:txBody>
      </p:sp>
      <p:sp>
        <p:nvSpPr>
          <p:cNvPr id="20" name="Text 18"/>
          <p:cNvSpPr txBox="1"/>
          <p:nvPr/>
        </p:nvSpPr>
        <p:spPr>
          <a:xfrm>
            <a:off x="6505956" y="2560320"/>
            <a:ext cx="2018538" cy="329184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What to test at which level</a:t>
            </a:r>
            <a:endParaRPr lang="en-US" sz="1200" dirty="0"/>
          </a:p>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Unit, model and widget tests</a:t>
            </a:r>
            <a:endParaRPr lang="en-US" sz="1200" dirty="0"/>
          </a:p>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DevTools and reading errors</a:t>
            </a:r>
            <a:endParaRPr lang="en-US" sz="1200" dirty="0"/>
          </a:p>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Lab 8.3 - a green test suite</a:t>
            </a:r>
            <a:endParaRPr lang="en-US" sz="1200" dirty="0"/>
          </a:p>
        </p:txBody>
      </p:sp>
      <p:sp>
        <p:nvSpPr>
          <p:cNvPr id="21" name="Shape 19"/>
          <p:cNvSpPr/>
          <p:nvPr/>
        </p:nvSpPr>
        <p:spPr>
          <a:xfrm>
            <a:off x="9073134" y="1371600"/>
            <a:ext cx="2567178" cy="4663440"/>
          </a:xfrm>
          <a:prstGeom prst="roundRect">
            <a:avLst>
              <a:gd name="adj" fmla="val 3562"/>
            </a:avLst>
          </a:prstGeom>
          <a:solidFill>
            <a:srgbClr val="F2F5F6"/>
          </a:solidFill>
          <a:ln w="6350">
            <a:solidFill>
              <a:srgbClr val="F2F5F6"/>
            </a:solidFill>
            <a:prstDash val="solid"/>
          </a:ln>
          <a:effectLst>
            <a:outerShdw sx="100000" sy="100000" kx="0" ky="0" algn="bl" rotWithShape="0" blurRad="38100" dist="12700" dir="5400000">
              <a:srgbClr val="000000">
                <a:alpha val="8000"/>
              </a:srgbClr>
            </a:outerShdw>
          </a:effectLst>
        </p:spPr>
      </p:sp>
      <p:sp>
        <p:nvSpPr>
          <p:cNvPr id="22" name="Shape 20"/>
          <p:cNvSpPr/>
          <p:nvPr/>
        </p:nvSpPr>
        <p:spPr>
          <a:xfrm>
            <a:off x="9347454" y="1600200"/>
            <a:ext cx="548640" cy="548640"/>
          </a:xfrm>
          <a:prstGeom prst="ellipse">
            <a:avLst/>
          </a:prstGeom>
          <a:solidFill>
            <a:srgbClr val="2A9D8F"/>
          </a:solidFill>
          <a:ln w="12700">
            <a:solidFill>
              <a:srgbClr val="2A9D8F"/>
            </a:solidFill>
            <a:prstDash val="solid"/>
          </a:ln>
        </p:spPr>
      </p:sp>
      <p:sp>
        <p:nvSpPr>
          <p:cNvPr id="23" name="Text 21"/>
          <p:cNvSpPr txBox="1"/>
          <p:nvPr/>
        </p:nvSpPr>
        <p:spPr>
          <a:xfrm>
            <a:off x="9347454" y="1600200"/>
            <a:ext cx="548640" cy="548640"/>
          </a:xfrm>
          <a:prstGeom prst="rect">
            <a:avLst/>
          </a:prstGeom>
          <a:noFill/>
          <a:ln/>
        </p:spPr>
        <p:txBody>
          <a:bodyPr wrap="square" lIns="0" tIns="0" rIns="0" bIns="0" rtlCol="0" anchor="ctr"/>
          <a:lstStyle/>
          <a:p>
            <a:pPr algn="ctr" indent="0" marL="0">
              <a:buNone/>
            </a:pPr>
            <a:r>
              <a:rPr lang="en-US" sz="1600" b="1" dirty="0">
                <a:solidFill>
                  <a:srgbClr val="2E3440"/>
                </a:solidFill>
                <a:latin typeface="Calibri" pitchFamily="34" charset="0"/>
                <a:ea typeface="Calibri" pitchFamily="34" charset="-122"/>
                <a:cs typeface="Calibri" pitchFamily="34" charset="-120"/>
              </a:rPr>
              <a:t>4</a:t>
            </a:r>
            <a:endParaRPr lang="en-US" sz="1600" dirty="0"/>
          </a:p>
        </p:txBody>
      </p:sp>
      <p:sp>
        <p:nvSpPr>
          <p:cNvPr id="24" name="Text 22"/>
          <p:cNvSpPr txBox="1"/>
          <p:nvPr/>
        </p:nvSpPr>
        <p:spPr>
          <a:xfrm>
            <a:off x="10033254" y="1645920"/>
            <a:ext cx="1378458" cy="274320"/>
          </a:xfrm>
          <a:prstGeom prst="rect">
            <a:avLst/>
          </a:prstGeom>
          <a:noFill/>
          <a:ln/>
        </p:spPr>
        <p:txBody>
          <a:bodyPr wrap="square" lIns="0" tIns="0" rIns="0" bIns="0" rtlCol="0" anchor="ctr"/>
          <a:lstStyle/>
          <a:p>
            <a:pPr indent="0" marL="0">
              <a:buNone/>
            </a:pPr>
            <a:r>
              <a:rPr lang="en-US" sz="1000" dirty="0">
                <a:solidFill>
                  <a:srgbClr val="646E7A"/>
                </a:solidFill>
                <a:latin typeface="Calibri" pitchFamily="34" charset="0"/>
                <a:ea typeface="Calibri" pitchFamily="34" charset="-122"/>
                <a:cs typeface="Calibri" pitchFamily="34" charset="-120"/>
              </a:rPr>
              <a:t>15:00 - 16:00</a:t>
            </a:r>
            <a:endParaRPr lang="en-US" sz="1000" dirty="0"/>
          </a:p>
        </p:txBody>
      </p:sp>
      <p:sp>
        <p:nvSpPr>
          <p:cNvPr id="25" name="Text 23"/>
          <p:cNvSpPr txBox="1"/>
          <p:nvPr/>
        </p:nvSpPr>
        <p:spPr>
          <a:xfrm>
            <a:off x="10033254" y="1874520"/>
            <a:ext cx="1378458" cy="548640"/>
          </a:xfrm>
          <a:prstGeom prst="rect">
            <a:avLst/>
          </a:prstGeom>
          <a:noFill/>
          <a:ln/>
        </p:spPr>
        <p:txBody>
          <a:bodyPr wrap="square" lIns="0" tIns="0" rIns="0" bIns="0" rtlCol="0" anchor="t"/>
          <a:lstStyle/>
          <a:p>
            <a:pPr indent="0" marL="0">
              <a:buNone/>
            </a:pPr>
            <a:r>
              <a:rPr lang="en-US" sz="1500" b="1" dirty="0">
                <a:solidFill>
                  <a:srgbClr val="2E3440"/>
                </a:solidFill>
                <a:latin typeface="Calibri" pitchFamily="34" charset="0"/>
                <a:ea typeface="Calibri" pitchFamily="34" charset="-122"/>
                <a:cs typeface="Calibri" pitchFamily="34" charset="-120"/>
              </a:rPr>
              <a:t>Shipping and close</a:t>
            </a:r>
            <a:endParaRPr lang="en-US" sz="1500" dirty="0"/>
          </a:p>
        </p:txBody>
      </p:sp>
      <p:sp>
        <p:nvSpPr>
          <p:cNvPr id="26" name="Text 24"/>
          <p:cNvSpPr txBox="1"/>
          <p:nvPr/>
        </p:nvSpPr>
        <p:spPr>
          <a:xfrm>
            <a:off x="9347454" y="2560320"/>
            <a:ext cx="2018538" cy="329184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Performance and the frame budget</a:t>
            </a:r>
            <a:endParaRPr lang="en-US" sz="1200" dirty="0"/>
          </a:p>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Accessibility in six checks</a:t>
            </a:r>
            <a:endParaRPr lang="en-US" sz="1200" dirty="0"/>
          </a:p>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Release builds, signing and CI</a:t>
            </a:r>
            <a:endParaRPr lang="en-US" sz="1200" dirty="0"/>
          </a:p>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Where to go next</a:t>
            </a:r>
            <a:endParaRPr lang="en-US" sz="1200" dirty="0"/>
          </a:p>
        </p:txBody>
      </p:sp>
      <p:sp>
        <p:nvSpPr>
          <p:cNvPr id="27" name="Text 2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8 - Data, Testing and Shipping</a:t>
            </a:r>
            <a:endParaRPr lang="en-US" sz="900" dirty="0"/>
          </a:p>
        </p:txBody>
      </p:sp>
      <p:sp>
        <p:nvSpPr>
          <p:cNvPr id="28" name="Text 2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E3440"/>
        </a:solidFill>
      </p:bgPr>
    </p:bg>
    <p:spTree>
      <p:nvGrpSpPr>
        <p:cNvPr id="1" name=""/>
        <p:cNvGrpSpPr/>
        <p:nvPr/>
      </p:nvGrpSpPr>
      <p:grpSpPr>
        <a:xfrm>
          <a:off x="0" y="0"/>
          <a:ext cx="0" cy="0"/>
          <a:chOff x="0" y="0"/>
          <a:chExt cx="0" cy="0"/>
        </a:xfrm>
      </p:grpSpPr>
      <p:sp>
        <p:nvSpPr>
          <p:cNvPr id="2" name="Shape 0"/>
          <p:cNvSpPr/>
          <p:nvPr/>
        </p:nvSpPr>
        <p:spPr>
          <a:xfrm>
            <a:off x="-1371600" y="3840480"/>
            <a:ext cx="4572000" cy="4572000"/>
          </a:xfrm>
          <a:prstGeom prst="ellipse">
            <a:avLst/>
          </a:prstGeom>
          <a:solidFill>
            <a:srgbClr val="434C5E"/>
          </a:solidFill>
          <a:ln w="12700">
            <a:solidFill>
              <a:srgbClr val="434C5E"/>
            </a:solidFill>
            <a:prstDash val="solid"/>
          </a:ln>
        </p:spPr>
      </p:sp>
      <p:sp>
        <p:nvSpPr>
          <p:cNvPr id="3" name="Text 1"/>
          <p:cNvSpPr txBox="1"/>
          <p:nvPr/>
        </p:nvSpPr>
        <p:spPr>
          <a:xfrm>
            <a:off x="548640" y="1097280"/>
            <a:ext cx="5486400" cy="457200"/>
          </a:xfrm>
          <a:prstGeom prst="rect">
            <a:avLst/>
          </a:prstGeom>
          <a:noFill/>
          <a:ln/>
        </p:spPr>
        <p:txBody>
          <a:bodyPr wrap="square" lIns="0" tIns="0" rIns="0" bIns="0" rtlCol="0" anchor="ctr"/>
          <a:lstStyle/>
          <a:p>
            <a:pPr indent="0" marL="0">
              <a:buNone/>
            </a:pPr>
            <a:r>
              <a:rPr lang="en-US" sz="1400" spc="300" kern="0" dirty="0">
                <a:solidFill>
                  <a:srgbClr val="6FC5B8"/>
                </a:solidFill>
                <a:latin typeface="Calibri" pitchFamily="34" charset="0"/>
                <a:ea typeface="Calibri" pitchFamily="34" charset="-122"/>
                <a:cs typeface="Calibri" pitchFamily="34" charset="-120"/>
              </a:rPr>
              <a:t>MODULE 1  ·  09:15 - 10:30</a:t>
            </a:r>
            <a:endParaRPr lang="en-US" sz="1400" dirty="0"/>
          </a:p>
        </p:txBody>
      </p:sp>
      <p:sp>
        <p:nvSpPr>
          <p:cNvPr id="4" name="Text 2"/>
          <p:cNvSpPr txBox="1"/>
          <p:nvPr/>
        </p:nvSpPr>
        <p:spPr>
          <a:xfrm>
            <a:off x="548640" y="1554480"/>
            <a:ext cx="6400800" cy="164592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Talking to a real API</a:t>
            </a:r>
            <a:endParaRPr lang="en-US" sz="4000" dirty="0"/>
          </a:p>
        </p:txBody>
      </p:sp>
      <p:sp>
        <p:nvSpPr>
          <p:cNvPr id="5" name="Shape 3"/>
          <p:cNvSpPr/>
          <p:nvPr/>
        </p:nvSpPr>
        <p:spPr>
          <a:xfrm>
            <a:off x="6949440" y="1188720"/>
            <a:ext cx="4663440" cy="4389120"/>
          </a:xfrm>
          <a:prstGeom prst="roundRect">
            <a:avLst>
              <a:gd name="adj" fmla="val 2083"/>
            </a:avLst>
          </a:prstGeom>
          <a:solidFill>
            <a:srgbClr val="434C5E"/>
          </a:solidFill>
          <a:ln w="6350">
            <a:solidFill>
              <a:srgbClr val="434C5E"/>
            </a:solidFill>
            <a:prstDash val="solid"/>
          </a:ln>
          <a:effectLst>
            <a:outerShdw sx="100000" sy="100000" kx="0" ky="0" algn="bl" rotWithShape="0" blurRad="38100" dist="12700" dir="5400000">
              <a:srgbClr val="000000">
                <a:alpha val="8000"/>
              </a:srgbClr>
            </a:outerShdw>
          </a:effectLst>
        </p:spPr>
      </p:sp>
      <p:sp>
        <p:nvSpPr>
          <p:cNvPr id="6" name="Text 4"/>
          <p:cNvSpPr txBox="1"/>
          <p:nvPr/>
        </p:nvSpPr>
        <p:spPr>
          <a:xfrm>
            <a:off x="7223760" y="1371600"/>
            <a:ext cx="4206240" cy="365760"/>
          </a:xfrm>
          <a:prstGeom prst="rect">
            <a:avLst/>
          </a:prstGeom>
          <a:noFill/>
          <a:ln/>
        </p:spPr>
        <p:txBody>
          <a:bodyPr wrap="square" lIns="0" tIns="0" rIns="0" bIns="0" rtlCol="0" anchor="ctr"/>
          <a:lstStyle/>
          <a:p>
            <a:pPr indent="0" marL="0">
              <a:buNone/>
            </a:pPr>
            <a:r>
              <a:rPr lang="en-US" sz="1100" dirty="0">
                <a:solidFill>
                  <a:srgbClr val="6FC5B8"/>
                </a:solidFill>
                <a:latin typeface="Calibri" pitchFamily="34" charset="0"/>
                <a:ea typeface="Calibri" pitchFamily="34" charset="-122"/>
                <a:cs typeface="Calibri" pitchFamily="34" charset="-120"/>
              </a:rPr>
              <a:t>By the end of this module you can</a:t>
            </a:r>
            <a:endParaRPr lang="en-US" sz="1100" dirty="0"/>
          </a:p>
        </p:txBody>
      </p:sp>
      <p:sp>
        <p:nvSpPr>
          <p:cNvPr id="7" name="Text 5"/>
          <p:cNvSpPr txBox="1"/>
          <p:nvPr/>
        </p:nvSpPr>
        <p:spPr>
          <a:xfrm>
            <a:off x="7223760" y="1783080"/>
            <a:ext cx="4206240" cy="365760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Make HTTP requests and check the status code properly</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Turn JSON into objects, by hand and with code generation</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Map every failure to a sentence a customer could read</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Swap the fake service for a real one in one line</a:t>
            </a:r>
            <a:endParaRPr lang="en-US" sz="1400" dirty="0"/>
          </a:p>
        </p:txBody>
      </p:sp>
      <p:sp>
        <p:nvSpPr>
          <p:cNvPr id="8" name="Text 6"/>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8 - Data, Testing and Shipping</a:t>
            </a:r>
            <a:endParaRPr lang="en-US" sz="900" dirty="0"/>
          </a:p>
        </p:txBody>
      </p:sp>
      <p:sp>
        <p:nvSpPr>
          <p:cNvPr id="9" name="Text 7"/>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http, and the status code trap</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flutter pub add http</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flutter pub add http</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import 'dart:convert';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import 'package:http/http.dart' as http;</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 GET request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final response = await http.get(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Uri.parse('https://api.example.com/orders'),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headers: {'Accept': 'application/json'},</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ALWAYS CHECK THE STATUS CODE. http does not throw on 404</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or 500. It returns a response with that status, and if you</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do not check it you will try to parse an error page as JSON.</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if (response.statusCode != 200)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throw Exception('Server returned ${response.statusCode}');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final decoded = jsonDecode(response.body);</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 POST request with a JSON body</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final created = await http.post(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Uri.parse('https://api.example.com/orders'),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headers: {'Content-Type': 'application/json'},</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body: jsonEncode(order.toJson()),</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 timeout. EVERY network call should have one.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final r = await http</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.get(Uri.parse('https://api.example.com/orders'))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.timeout(const Duration(seconds: 10));</a:t>
            </a:r>
            <a:endParaRPr lang="en-US" sz="9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http does not throw on a 404 or a 500. It returns a response with that status. If you do not check it, you will try to parse an error page as JSON.</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8 - Data, Testing and Shipping</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JSON to objects, by hand  (1/2)</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the boundary where dynamic stops</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JSON arrives as Map&lt;String, dynamic&gt;. Everything in it is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dynamic, so you assert the types on the way in. That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boundary is the only place your app should contain casts.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class OrderLine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const OrderLine({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required this.sku,</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required this.description,</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required this.quantity,</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required this.unitPrice,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final String sku;</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final String description;</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final int quantity;</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final double unitPrice;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factory OrderLine.fromJson(Map&lt;String, dynamic&gt; json) =&gt; OrderLine(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sku: json['sku'] as String,</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description: json['description'] as String? ??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quantity: json['quantity'] as int,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a JSON number may be int OR double, so go through num</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unitPrice: (json['unitPrice'] as num).toDouble(),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8 - Data, Testing and Shipping</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JSON to objects, by hand  (2/2)</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the boundary where dynamic stops</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Map&lt;String, dynamic&gt; toJson() =&gt;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'sku': sku,</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'description': description,</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'quantity': quantity,</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'unitPrice': unitPrice,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 LIST of them</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final list = jsonDecode(body) as List&lt;dynamic&gt;;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final lines = list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.map((e) =&gt; OrderLine.fromJson(e as Map&lt;String, dynamic&gt;))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.toList();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 NESTED object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factory Order.fromJson(Map&lt;String, dynamic&gt; json) =&gt; Order(</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id: json['id'] as String,</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customer: json['customer'] as String,</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status: OrderStatus.values.byName(json['status'] as String),</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lines: (json['lines'] as List&lt;dynamic&gt;)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.map((e) =&gt; OrderLine.fromJson(e as Map&lt;String, dynamic&gt;))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.toList(),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JSON arrives as a map of dynamic. Assert the types on the way in, and that boundary is the only place your app should contain casts.</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8 - Data, Testing and Shipping</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JSON, generated  (1/2)</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json_serializable and build_runner</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Writing fromJson by hand is fine for five classes and</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tedious for fifty. Code generation removes the boilerplate.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flutter pub add json_annotation</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flutter pub add --dev build_runner json_serializable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import 'package:json_annotation/json_annotation.dart';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part 'order_line.g.dart';          // the generated file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@JsonSerializable()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class OrderLine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const OrderLine({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required this.sku,</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required this.description,</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required this.quantity,</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required this.unitPrice,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final String sku;</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final String description;</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final int quantity;</a:t>
            </a:r>
            <a:endParaRPr lang="en-US" sz="10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8 - Data, Testing and Shipping</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JSON, generated  (2/2)</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json_serializable and build_runner</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Map a different name on the wire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@JsonKey(name: 'unit_price')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final double unitPrice;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factory OrderLine.fromJson(Map&lt;String, dynamic&gt; json) =&gt;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_$OrderLineFromJson(json);</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Map&lt;String, dynamic&gt; toJson() =&gt; _$OrderLineToJson(this);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Generate once: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dart run build_runner build --delete-conflicting-outputs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Or watch while you work:</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dart run build_runner watch --delete-conflicting-outputs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COMMIT THE .g.dart FILES. CI and a fresh clone then build</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without running the generator first, and the compiler needs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them as real source.</a:t>
            </a:r>
            <a:endParaRPr lang="en-US" sz="10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Annotate the class, run the generator, and the fromJson and toJson are written for you. Commit the generated files.</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8 - Data, Testing and Shipping</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The service, and swapping it in  (1/2)</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the only file that knows HTTP exists</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The service, behind the interface you already registered</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yesterday. Only this file knows that HTTP exists.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class HttpOrderService implements OrderService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HttpOrderService({required this.baseUrl, http.Client? client})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_client = client ?? http.Client();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final String baseUrl;</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final http.Client _client;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@override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Future&lt;List&lt;Order&gt;&gt; fetchAll() async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try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final response = await _client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.get(Uri.parse('$baseUrl/orders'))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.timeout(const Duration(seconds: 10));</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if (response.statusCode != 200)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throw ServerException(response.statusCode);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8 - Data, Testing and Shipping</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The service, and swapping it in  (2/2)</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the only file that knows HTTP exists</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final list = jsonDecode(response.body) as List&lt;dynamic&gt;;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return list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.map((e) =&gt; Order.fromJson(e as Map&lt;String, dynamic&gt;))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.toList();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 on SocketException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throw const NoConnectionException();</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 on TimeoutException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throw const SlowConnectionException();</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 on FormatException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throw const BadResponseException();</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PASSING THE CLIENT IN is what makes this testable. A test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passes a fake client and never touches the network.</a:t>
            </a:r>
            <a:endParaRPr lang="en-US" sz="11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It implements the interface you registered yesterday. Passing the client in is what makes it testable without a network.</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8 - Data, Testing and Shipping</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Every failure becomes a sentence  (1/2)</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the rule for the whole course</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THE RULE FOR THE WHOLE COURSE: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the user never sees a stack trace, a status code, or the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word Exception. Every failure becomes a sentence a customer</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could read.</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sealed class AppException implements Exception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const AppException(this.message);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final String message;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class NoConnectionException extends AppException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const NoConnectionException() : super('no connection');</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class SlowConnectionException extends AppException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const SlowConnectionException() : super('timeout');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class BadResponseException extends AppException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const BadResponseException() : super('bad response');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8 - Data, Testing and Shipping</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Every failure becomes a sentence  (2/2)</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the rule for the whole course</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class ServerException extends AppException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const ServerException(this.statusCode) : super('server error');</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final int statusCode;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Because it is sealed, the compiler checks you handled</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every failure mode. Adding a fifth one breaks this until</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somebody writes a sentence for it.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String userMessage(AppException e) =&gt; switch (e)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NoConnectionException() =&gt;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'You appear to be offline. Check your connection and try again.',</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SlowConnectionException() =&gt;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'The server is taking too long. Please try again.',</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BadResponseException() =&gt;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'We could not read the response. Please try again shortly.',</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ServerException(:final statusCode) when statusCode == 404 =&gt;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'That order no longer exists.',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ServerException(:final statusCode) when statusCode &gt;= 500 =&gt;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'The server is having trouble. Please try again shortly.',</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ServerException() =&gt; 'Something went wrong. Please try again.',</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A sealed exception hierarchy means the compiler checks that every failure mode has a user-facing message. Adding one breaks the build until somebody writes a sentence.</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8 - Data, Testing and Shipping</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Loading, loaded, failed, rendered exhaustively  (1/2)</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Day 3 finally doing its job</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The model now has to represent loading and failure, not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just data. Day 3's sealed state finally does real work.</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class OrderListModel extends ChangeNotifier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OrderListModel(this._service);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final OrderService _service;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OrderState _state = const OrderIdle();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OrderState get state =&gt; _state;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Future&lt;void&gt; load() async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_state = const OrderLoading();</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notifyListeners();</a:t>
            </a:r>
            <a:endParaRPr lang="en-US" sz="11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8 - Data, Testing and Shipping</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Loading, loaded, failed, rendered exhaustively  (2/2)</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Day 3 finally doing its job</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try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final orders = await _service.fetchAll();</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_state = OrderLoaded(orders.first);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 on AppException catch (e)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_state = OrderFailed(userMessage(e));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notifyListeners();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And the screen renders it EXHAUSTIVELY. The compiler will</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not let you forget the loading case or the error case.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Widget build(BuildContext context)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final state = context.watch&lt;OrderListModel&gt;().state;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return switch (state)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OrderIdle() =&gt; const EmptyState(message: 'Pull down to load'),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OrderLoading() =&gt; const Center(child: CircularProgressIndicator()),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OrderLoaded(:final order) =&gt; OrderView(order: order),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OrderFailed(:final message) =&gt; ErrorView(</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message: message,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onRetry: () =&gt; context.read&lt;OrderListModel&gt;().load(),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a:t>
            </a:r>
            <a:endParaRPr lang="en-US" sz="9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The sealed OrderState from Day 3 now drives a real screen against a real server. The compiler will not let you forget the loading case or the error case.</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8 - Data, Testing and Shipping</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1188720" cy="457200"/>
          </a:xfrm>
          <a:prstGeom prst="roundRect">
            <a:avLst>
              <a:gd name="adj" fmla="val 20000"/>
            </a:avLst>
          </a:prstGeom>
          <a:solidFill>
            <a:srgbClr val="2A9D8F"/>
          </a:solidFill>
          <a:ln w="12700">
            <a:solidFill>
              <a:srgbClr val="2A9D8F"/>
            </a:solidFill>
            <a:prstDash val="solid"/>
          </a:ln>
        </p:spPr>
      </p:sp>
      <p:sp>
        <p:nvSpPr>
          <p:cNvPr id="3" name="Text 1"/>
          <p:cNvSpPr txBox="1"/>
          <p:nvPr/>
        </p:nvSpPr>
        <p:spPr>
          <a:xfrm>
            <a:off x="548640" y="411480"/>
            <a:ext cx="1188720" cy="457200"/>
          </a:xfrm>
          <a:prstGeom prst="rect">
            <a:avLst/>
          </a:prstGeom>
          <a:noFill/>
          <a:ln/>
        </p:spPr>
        <p:txBody>
          <a:bodyPr wrap="square" lIns="0" tIns="0" rIns="0" bIns="0" rtlCol="0" anchor="ctr"/>
          <a:lstStyle/>
          <a:p>
            <a:pPr algn="ctr" indent="0" marL="0">
              <a:buNone/>
            </a:pPr>
            <a:r>
              <a:rPr lang="en-US" sz="1400" b="1" dirty="0">
                <a:solidFill>
                  <a:srgbClr val="2E3440"/>
                </a:solidFill>
                <a:latin typeface="Calibri" pitchFamily="34" charset="0"/>
                <a:ea typeface="Calibri" pitchFamily="34" charset="-122"/>
                <a:cs typeface="Calibri" pitchFamily="34" charset="-120"/>
              </a:rPr>
              <a:t>LAB 8.1</a:t>
            </a:r>
            <a:endParaRPr lang="en-US" sz="1400" dirty="0"/>
          </a:p>
        </p:txBody>
      </p:sp>
      <p:sp>
        <p:nvSpPr>
          <p:cNvPr id="4" name="Text 2"/>
          <p:cNvSpPr txBox="1"/>
          <p:nvPr/>
        </p:nvSpPr>
        <p:spPr>
          <a:xfrm>
            <a:off x="1920240" y="365760"/>
            <a:ext cx="8165592" cy="548640"/>
          </a:xfrm>
          <a:prstGeom prst="rect">
            <a:avLst/>
          </a:prstGeom>
          <a:noFill/>
          <a:ln/>
        </p:spPr>
        <p:txBody>
          <a:bodyPr wrap="square" lIns="0" tIns="0" rIns="0" bIns="0" rtlCol="0" anchor="ctr"/>
          <a:lstStyle/>
          <a:p>
            <a:pPr indent="0" marL="0">
              <a:buNone/>
            </a:pPr>
            <a:r>
              <a:rPr lang="en-US" sz="2600" b="1" dirty="0">
                <a:solidFill>
                  <a:srgbClr val="2E3440"/>
                </a:solidFill>
                <a:latin typeface="Calibri" pitchFamily="34" charset="0"/>
                <a:ea typeface="Calibri" pitchFamily="34" charset="-122"/>
                <a:cs typeface="Calibri" pitchFamily="34" charset="-120"/>
              </a:rPr>
              <a:t>The real order service</a:t>
            </a:r>
            <a:endParaRPr lang="en-US" sz="2600" dirty="0"/>
          </a:p>
        </p:txBody>
      </p:sp>
      <p:sp>
        <p:nvSpPr>
          <p:cNvPr id="5" name="Text 3"/>
          <p:cNvSpPr txBox="1"/>
          <p:nvPr/>
        </p:nvSpPr>
        <p:spPr>
          <a:xfrm>
            <a:off x="10177272" y="411480"/>
            <a:ext cx="1463040" cy="457200"/>
          </a:xfrm>
          <a:prstGeom prst="rect">
            <a:avLst/>
          </a:prstGeom>
          <a:noFill/>
          <a:ln/>
        </p:spPr>
        <p:txBody>
          <a:bodyPr wrap="square" lIns="0" tIns="0" rIns="0" bIns="0" rtlCol="0" anchor="ctr"/>
          <a:lstStyle/>
          <a:p>
            <a:pPr algn="r" indent="0" marL="0">
              <a:buNone/>
            </a:pPr>
            <a:r>
              <a:rPr lang="en-US" sz="1200" dirty="0">
                <a:solidFill>
                  <a:srgbClr val="646E7A"/>
                </a:solidFill>
                <a:latin typeface="Calibri" pitchFamily="34" charset="0"/>
                <a:ea typeface="Calibri" pitchFamily="34" charset="-122"/>
                <a:cs typeface="Calibri" pitchFamily="34" charset="-120"/>
              </a:rPr>
              <a:t>40 min</a:t>
            </a:r>
            <a:endParaRPr lang="en-US" sz="1200" dirty="0"/>
          </a:p>
        </p:txBody>
      </p:sp>
      <p:sp>
        <p:nvSpPr>
          <p:cNvPr id="6" name="Text 4"/>
          <p:cNvSpPr txBox="1"/>
          <p:nvPr/>
        </p:nvSpPr>
        <p:spPr>
          <a:xfrm>
            <a:off x="548640" y="1097280"/>
            <a:ext cx="11091672" cy="502920"/>
          </a:xfrm>
          <a:prstGeom prst="rect">
            <a:avLst/>
          </a:prstGeom>
          <a:noFill/>
          <a:ln/>
        </p:spPr>
        <p:txBody>
          <a:bodyPr wrap="square" lIns="0" tIns="0" rIns="0" bIns="0" rtlCol="0" anchor="t"/>
          <a:lstStyle/>
          <a:p>
            <a:pPr indent="0" marL="0">
              <a:buNone/>
            </a:pPr>
            <a:r>
              <a:rPr lang="en-US" sz="1400" b="1" dirty="0">
                <a:solidFill>
                  <a:srgbClr val="2E3440"/>
                </a:solidFill>
                <a:latin typeface="Calibri" pitchFamily="34" charset="0"/>
                <a:ea typeface="Calibri" pitchFamily="34" charset="-122"/>
                <a:cs typeface="Calibri" pitchFamily="34" charset="-120"/>
              </a:rPr>
              <a:t>Goal  </a:t>
            </a:r>
            <a:pPr indent="0" marL="0">
              <a:buNone/>
            </a:pPr>
            <a:r>
              <a:rPr lang="en-US" sz="1400" dirty="0">
                <a:solidFill>
                  <a:srgbClr val="22272E"/>
                </a:solidFill>
                <a:latin typeface="Calibri" pitchFamily="34" charset="0"/>
                <a:ea typeface="Calibri" pitchFamily="34" charset="-122"/>
                <a:cs typeface="Calibri" pitchFamily="34" charset="-120"/>
              </a:rPr>
              <a:t>A real HTTP call to the classroom API, JSON mapped to your model, every failure turned into a sentence, and four states rendered exhaustively.</a:t>
            </a:r>
            <a:endParaRPr lang="en-US" sz="1400" dirty="0"/>
          </a:p>
        </p:txBody>
      </p:sp>
      <p:sp>
        <p:nvSpPr>
          <p:cNvPr id="7" name="Text 5"/>
          <p:cNvSpPr txBox="1"/>
          <p:nvPr/>
        </p:nvSpPr>
        <p:spPr>
          <a:xfrm>
            <a:off x="548640" y="1691640"/>
            <a:ext cx="7098670" cy="4389120"/>
          </a:xfrm>
          <a:prstGeom prst="rect">
            <a:avLst/>
          </a:prstGeom>
          <a:noFill/>
          <a:ln/>
        </p:spPr>
        <p:txBody>
          <a:bodyPr wrap="square" lIns="0" tIns="0" rIns="0" bIns="0" rtlCol="0" anchor="t"/>
          <a:lstStyle/>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flutter pub add http. Add fromJson and toJson to OrderLine and Order.</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Write the sealed AppException hierarchy with four subtypes.</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Write userMessage as an exhaustive switch, with guards for 404 and 500.</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Write HttpOrderService implementing OrderService, with a baseUrl, an optional client and a ten second timeout.</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Register it in main instead of the fake. One line.</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Give OrderListModel a load method that sets Loading, awaits, then sets Loaded or Failed.</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Render the four states with an exhaustive switch, including a Retry button on failure.</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Turn off the wifi on the emulator and confirm you see your own sentence, not a stack trace.</a:t>
            </a:r>
            <a:endParaRPr lang="en-US" sz="1300" dirty="0"/>
          </a:p>
        </p:txBody>
      </p:sp>
      <p:sp>
        <p:nvSpPr>
          <p:cNvPr id="8" name="Shape 6"/>
          <p:cNvSpPr/>
          <p:nvPr/>
        </p:nvSpPr>
        <p:spPr>
          <a:xfrm>
            <a:off x="7921630" y="1691640"/>
            <a:ext cx="3718682" cy="4389120"/>
          </a:xfrm>
          <a:prstGeom prst="roundRect">
            <a:avLst>
              <a:gd name="adj" fmla="val 2459"/>
            </a:avLst>
          </a:prstGeom>
          <a:solidFill>
            <a:srgbClr val="EAF2EC"/>
          </a:solidFill>
          <a:ln w="6350">
            <a:solidFill>
              <a:srgbClr val="EAF2EC"/>
            </a:solidFill>
            <a:prstDash val="solid"/>
          </a:ln>
          <a:effectLst>
            <a:outerShdw sx="100000" sy="100000" kx="0" ky="0" algn="bl" rotWithShape="0" blurRad="38100" dist="12700" dir="5400000">
              <a:srgbClr val="000000">
                <a:alpha val="8000"/>
              </a:srgbClr>
            </a:outerShdw>
          </a:effectLst>
        </p:spPr>
      </p:sp>
      <p:sp>
        <p:nvSpPr>
          <p:cNvPr id="9" name="Text 7"/>
          <p:cNvSpPr txBox="1"/>
          <p:nvPr/>
        </p:nvSpPr>
        <p:spPr>
          <a:xfrm>
            <a:off x="8104510" y="1828800"/>
            <a:ext cx="3352922" cy="365760"/>
          </a:xfrm>
          <a:prstGeom prst="rect">
            <a:avLst/>
          </a:prstGeom>
          <a:noFill/>
          <a:ln/>
        </p:spPr>
        <p:txBody>
          <a:bodyPr wrap="square" lIns="0" tIns="0" rIns="0" bIns="0" rtlCol="0" anchor="ctr"/>
          <a:lstStyle/>
          <a:p>
            <a:pPr indent="0" marL="0">
              <a:buNone/>
            </a:pPr>
            <a:r>
              <a:rPr lang="en-US" sz="1300" b="1" dirty="0">
                <a:solidFill>
                  <a:srgbClr val="2A7F62"/>
                </a:solidFill>
                <a:latin typeface="Calibri" pitchFamily="34" charset="0"/>
                <a:ea typeface="Calibri" pitchFamily="34" charset="-122"/>
                <a:cs typeface="Calibri" pitchFamily="34" charset="-120"/>
              </a:rPr>
              <a:t>Stretch (fast lane)</a:t>
            </a:r>
            <a:endParaRPr lang="en-US" sz="1300" dirty="0"/>
          </a:p>
        </p:txBody>
      </p:sp>
      <p:sp>
        <p:nvSpPr>
          <p:cNvPr id="10" name="Text 8"/>
          <p:cNvSpPr txBox="1"/>
          <p:nvPr/>
        </p:nvSpPr>
        <p:spPr>
          <a:xfrm>
            <a:off x="8104510" y="2240280"/>
            <a:ext cx="3352922" cy="365760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22272E"/>
                </a:solidFill>
                <a:latin typeface="Calibri" pitchFamily="34" charset="0"/>
                <a:ea typeface="Calibri" pitchFamily="34" charset="-122"/>
                <a:cs typeface="Calibri" pitchFamily="34" charset="-120"/>
              </a:rPr>
              <a:t>Add a POST that submits the order, and handle a 422 as a specific message.</a:t>
            </a:r>
            <a:endParaRPr lang="en-US" sz="1200" dirty="0"/>
          </a:p>
          <a:p>
            <a:pPr marL="177800" indent="-177800">
              <a:spcAft>
                <a:spcPts val="600"/>
              </a:spcAft>
              <a:buSzPct val="100000"/>
              <a:buChar char="•"/>
            </a:pPr>
            <a:r>
              <a:rPr lang="en-US" sz="1200" dirty="0">
                <a:solidFill>
                  <a:srgbClr val="22272E"/>
                </a:solidFill>
                <a:latin typeface="Calibri" pitchFamily="34" charset="0"/>
                <a:ea typeface="Calibri" pitchFamily="34" charset="-122"/>
                <a:cs typeface="Calibri" pitchFamily="34" charset="-120"/>
              </a:rPr>
              <a:t>Add a pull-to-refresh that calls load again.</a:t>
            </a:r>
            <a:endParaRPr lang="en-US" sz="1200" dirty="0"/>
          </a:p>
          <a:p>
            <a:pPr marL="177800" indent="-177800">
              <a:spcAft>
                <a:spcPts val="600"/>
              </a:spcAft>
              <a:buSzPct val="100000"/>
              <a:buChar char="•"/>
            </a:pPr>
            <a:r>
              <a:rPr lang="en-US" sz="1200" dirty="0">
                <a:solidFill>
                  <a:srgbClr val="22272E"/>
                </a:solidFill>
                <a:latin typeface="Calibri" pitchFamily="34" charset="0"/>
                <a:ea typeface="Calibri" pitchFamily="34" charset="-122"/>
                <a:cs typeface="Calibri" pitchFamily="34" charset="-120"/>
              </a:rPr>
              <a:t>Set up json_serializable for one class and compare the generated code with your hand-written version.</a:t>
            </a:r>
            <a:endParaRPr lang="en-US" sz="1200" dirty="0"/>
          </a:p>
        </p:txBody>
      </p:sp>
      <p:sp>
        <p:nvSpPr>
          <p:cNvPr id="11" name="Text 9"/>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8 - Data, Testing and Shipping</a:t>
            </a:r>
            <a:endParaRPr lang="en-US" sz="900" dirty="0"/>
          </a:p>
        </p:txBody>
      </p:sp>
      <p:sp>
        <p:nvSpPr>
          <p:cNvPr id="12" name="Text 10"/>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2E3440"/>
        </a:solidFill>
      </p:bgPr>
    </p:bg>
    <p:spTree>
      <p:nvGrpSpPr>
        <p:cNvPr id="1" name=""/>
        <p:cNvGrpSpPr/>
        <p:nvPr/>
      </p:nvGrpSpPr>
      <p:grpSpPr>
        <a:xfrm>
          <a:off x="0" y="0"/>
          <a:ext cx="0" cy="0"/>
          <a:chOff x="0" y="0"/>
          <a:chExt cx="0" cy="0"/>
        </a:xfrm>
      </p:grpSpPr>
      <p:sp>
        <p:nvSpPr>
          <p:cNvPr id="2" name="Shape 0"/>
          <p:cNvSpPr/>
          <p:nvPr/>
        </p:nvSpPr>
        <p:spPr>
          <a:xfrm>
            <a:off x="-1371600" y="3840480"/>
            <a:ext cx="4572000" cy="4572000"/>
          </a:xfrm>
          <a:prstGeom prst="ellipse">
            <a:avLst/>
          </a:prstGeom>
          <a:solidFill>
            <a:srgbClr val="434C5E"/>
          </a:solidFill>
          <a:ln w="12700">
            <a:solidFill>
              <a:srgbClr val="434C5E"/>
            </a:solidFill>
            <a:prstDash val="solid"/>
          </a:ln>
        </p:spPr>
      </p:sp>
      <p:sp>
        <p:nvSpPr>
          <p:cNvPr id="3" name="Text 1"/>
          <p:cNvSpPr txBox="1"/>
          <p:nvPr/>
        </p:nvSpPr>
        <p:spPr>
          <a:xfrm>
            <a:off x="548640" y="1097280"/>
            <a:ext cx="5486400" cy="457200"/>
          </a:xfrm>
          <a:prstGeom prst="rect">
            <a:avLst/>
          </a:prstGeom>
          <a:noFill/>
          <a:ln/>
        </p:spPr>
        <p:txBody>
          <a:bodyPr wrap="square" lIns="0" tIns="0" rIns="0" bIns="0" rtlCol="0" anchor="ctr"/>
          <a:lstStyle/>
          <a:p>
            <a:pPr indent="0" marL="0">
              <a:buNone/>
            </a:pPr>
            <a:r>
              <a:rPr lang="en-US" sz="1400" spc="300" kern="0" dirty="0">
                <a:solidFill>
                  <a:srgbClr val="6FC5B8"/>
                </a:solidFill>
                <a:latin typeface="Calibri" pitchFamily="34" charset="0"/>
                <a:ea typeface="Calibri" pitchFamily="34" charset="-122"/>
                <a:cs typeface="Calibri" pitchFamily="34" charset="-120"/>
              </a:rPr>
              <a:t>MODULE 2  ·  10:45 - 12:30</a:t>
            </a:r>
            <a:endParaRPr lang="en-US" sz="1400" dirty="0"/>
          </a:p>
        </p:txBody>
      </p:sp>
      <p:sp>
        <p:nvSpPr>
          <p:cNvPr id="4" name="Text 2"/>
          <p:cNvSpPr txBox="1"/>
          <p:nvPr/>
        </p:nvSpPr>
        <p:spPr>
          <a:xfrm>
            <a:off x="548640" y="1554480"/>
            <a:ext cx="6400800" cy="164592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Storing data on the device</a:t>
            </a:r>
            <a:endParaRPr lang="en-US" sz="4000" dirty="0"/>
          </a:p>
        </p:txBody>
      </p:sp>
      <p:sp>
        <p:nvSpPr>
          <p:cNvPr id="5" name="Shape 3"/>
          <p:cNvSpPr/>
          <p:nvPr/>
        </p:nvSpPr>
        <p:spPr>
          <a:xfrm>
            <a:off x="6949440" y="1188720"/>
            <a:ext cx="4663440" cy="4389120"/>
          </a:xfrm>
          <a:prstGeom prst="roundRect">
            <a:avLst>
              <a:gd name="adj" fmla="val 2083"/>
            </a:avLst>
          </a:prstGeom>
          <a:solidFill>
            <a:srgbClr val="434C5E"/>
          </a:solidFill>
          <a:ln w="6350">
            <a:solidFill>
              <a:srgbClr val="434C5E"/>
            </a:solidFill>
            <a:prstDash val="solid"/>
          </a:ln>
          <a:effectLst>
            <a:outerShdw sx="100000" sy="100000" kx="0" ky="0" algn="bl" rotWithShape="0" blurRad="38100" dist="12700" dir="5400000">
              <a:srgbClr val="000000">
                <a:alpha val="8000"/>
              </a:srgbClr>
            </a:outerShdw>
          </a:effectLst>
        </p:spPr>
      </p:sp>
      <p:sp>
        <p:nvSpPr>
          <p:cNvPr id="6" name="Text 4"/>
          <p:cNvSpPr txBox="1"/>
          <p:nvPr/>
        </p:nvSpPr>
        <p:spPr>
          <a:xfrm>
            <a:off x="7223760" y="1371600"/>
            <a:ext cx="4206240" cy="365760"/>
          </a:xfrm>
          <a:prstGeom prst="rect">
            <a:avLst/>
          </a:prstGeom>
          <a:noFill/>
          <a:ln/>
        </p:spPr>
        <p:txBody>
          <a:bodyPr wrap="square" lIns="0" tIns="0" rIns="0" bIns="0" rtlCol="0" anchor="ctr"/>
          <a:lstStyle/>
          <a:p>
            <a:pPr indent="0" marL="0">
              <a:buNone/>
            </a:pPr>
            <a:r>
              <a:rPr lang="en-US" sz="1100" dirty="0">
                <a:solidFill>
                  <a:srgbClr val="6FC5B8"/>
                </a:solidFill>
                <a:latin typeface="Calibri" pitchFamily="34" charset="0"/>
                <a:ea typeface="Calibri" pitchFamily="34" charset="-122"/>
                <a:cs typeface="Calibri" pitchFamily="34" charset="-120"/>
              </a:rPr>
              <a:t>By the end of this module you can</a:t>
            </a:r>
            <a:endParaRPr lang="en-US" sz="1100" dirty="0"/>
          </a:p>
        </p:txBody>
      </p:sp>
      <p:sp>
        <p:nvSpPr>
          <p:cNvPr id="7" name="Text 5"/>
          <p:cNvSpPr txBox="1"/>
          <p:nvPr/>
        </p:nvSpPr>
        <p:spPr>
          <a:xfrm>
            <a:off x="7223760" y="1783080"/>
            <a:ext cx="4206240" cy="365760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Use shared_preferences for settings and small values</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Hide storage behind a repository interface</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Make the app survive being closed and reopened</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Know when you have outgrown key-value storage</a:t>
            </a:r>
            <a:endParaRPr lang="en-US" sz="1400" dirty="0"/>
          </a:p>
        </p:txBody>
      </p:sp>
      <p:sp>
        <p:nvSpPr>
          <p:cNvPr id="8" name="Text 6"/>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8 - Data, Testing and Shipping</a:t>
            </a:r>
            <a:endParaRPr lang="en-US" sz="900" dirty="0"/>
          </a:p>
        </p:txBody>
      </p:sp>
      <p:sp>
        <p:nvSpPr>
          <p:cNvPr id="9" name="Text 7"/>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shared_preferences</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key and value storage</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flutter pub add shared_preferences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Key and value storage for small things: a setting, a flag,</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the last chosen theme. Not for lists of business data.</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On Android it is SharedPreferences, on iOS UserDefaults.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import 'package:shared_preferences/shared_preferences.dart';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Reading is asynchronous the first time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final prefs = await SharedPreferences.getInstance();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await prefs.setString('seedColor', '2A9D8F');</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await prefs.setBool('darkMode', true);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await prefs.setInt('lastOrderNumber', 1042);</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final seed = prefs.getString('seedColor');      // String? - may be null</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final dark = prefs.getBool('darkMode') ?? false;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await prefs.remove('darkMode');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await prefs.clear();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GOOD FOR: settings, flags, a token, the last screen visited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NOT FOR: lists of records, anything you will query, anything</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large, anything secret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FOR SECRETS use flutter_secure_storage, which uses the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Keychain on iOS and the Keystore on Android.</a:t>
            </a:r>
            <a:endParaRPr lang="en-US" sz="9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SharedPreferences on Android, UserDefaults on iOS. Right for settings, flags and small values. Wrong for lists of business data.</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8 - Data, Testing and Shipping</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The repository pattern  (1/2)</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hiding where the data lives</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 repository hides WHERE the data comes from. The model</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asks the repository; the repository decides whether that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means the network, the disk, or a cache.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abstract class OrderRepository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Future&lt;List&lt;Order&gt;&gt; load();</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Future&lt;void&gt; save(List&lt;Order&gt; orders);</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class LocalOrderRepository implements OrderRepository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static const _key = 'orders';</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@override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Future&lt;List&lt;Order&gt;&gt; load() async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final prefs = await SharedPreferences.getInstance();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final raw = prefs.getString(_key);</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if (raw == null) return [];</a:t>
            </a:r>
            <a:endParaRPr lang="en-US" sz="11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8 - Data, Testing and Shipping</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The repository pattern  (2/2)</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hiding where the data lives</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final list = jsonDecode(raw) as List&lt;dynamic&gt;;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return list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.map((e) =&gt; Order.fromJson(e as Map&lt;String, dynamic&gt;))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.toList();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@override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Future&lt;void&gt; save(List&lt;Order&gt; orders) async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final prefs = await SharedPreferences.getInstance();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final raw = jsonEncode(orders.map((o) =&gt; o.toJson()).toList());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await prefs.setString(_key, raw);</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FOR THE SPRING PEOPLE: this is the repository pattern you</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already use, with the same benefit. The model depends on</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the interface, so swapping storage for a database later</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changes one registration and nothing else.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WHEN YOU OUTGROW THIS: sqflite gives you real SQLite with</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SQL, and drift gives you a typed query layer on top of it.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The repository interface does not change.</a:t>
            </a:r>
            <a:endParaRPr lang="en-US" sz="10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The model asks the repository. The repository decides whether that means the network, the disk or a cache. Nothing above it knows or cares.</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8 - Data, Testing and Shipping</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1188720" cy="457200"/>
          </a:xfrm>
          <a:prstGeom prst="roundRect">
            <a:avLst>
              <a:gd name="adj" fmla="val 20000"/>
            </a:avLst>
          </a:prstGeom>
          <a:solidFill>
            <a:srgbClr val="2A9D8F"/>
          </a:solidFill>
          <a:ln w="12700">
            <a:solidFill>
              <a:srgbClr val="2A9D8F"/>
            </a:solidFill>
            <a:prstDash val="solid"/>
          </a:ln>
        </p:spPr>
      </p:sp>
      <p:sp>
        <p:nvSpPr>
          <p:cNvPr id="3" name="Text 1"/>
          <p:cNvSpPr txBox="1"/>
          <p:nvPr/>
        </p:nvSpPr>
        <p:spPr>
          <a:xfrm>
            <a:off x="548640" y="411480"/>
            <a:ext cx="1188720" cy="457200"/>
          </a:xfrm>
          <a:prstGeom prst="rect">
            <a:avLst/>
          </a:prstGeom>
          <a:noFill/>
          <a:ln/>
        </p:spPr>
        <p:txBody>
          <a:bodyPr wrap="square" lIns="0" tIns="0" rIns="0" bIns="0" rtlCol="0" anchor="ctr"/>
          <a:lstStyle/>
          <a:p>
            <a:pPr algn="ctr" indent="0" marL="0">
              <a:buNone/>
            </a:pPr>
            <a:r>
              <a:rPr lang="en-US" sz="1400" b="1" dirty="0">
                <a:solidFill>
                  <a:srgbClr val="2E3440"/>
                </a:solidFill>
                <a:latin typeface="Calibri" pitchFamily="34" charset="0"/>
                <a:ea typeface="Calibri" pitchFamily="34" charset="-122"/>
                <a:cs typeface="Calibri" pitchFamily="34" charset="-120"/>
              </a:rPr>
              <a:t>LAB 8.2</a:t>
            </a:r>
            <a:endParaRPr lang="en-US" sz="1400" dirty="0"/>
          </a:p>
        </p:txBody>
      </p:sp>
      <p:sp>
        <p:nvSpPr>
          <p:cNvPr id="4" name="Text 2"/>
          <p:cNvSpPr txBox="1"/>
          <p:nvPr/>
        </p:nvSpPr>
        <p:spPr>
          <a:xfrm>
            <a:off x="1920240" y="365760"/>
            <a:ext cx="8165592" cy="548640"/>
          </a:xfrm>
          <a:prstGeom prst="rect">
            <a:avLst/>
          </a:prstGeom>
          <a:noFill/>
          <a:ln/>
        </p:spPr>
        <p:txBody>
          <a:bodyPr wrap="square" lIns="0" tIns="0" rIns="0" bIns="0" rtlCol="0" anchor="ctr"/>
          <a:lstStyle/>
          <a:p>
            <a:pPr indent="0" marL="0">
              <a:buNone/>
            </a:pPr>
            <a:r>
              <a:rPr lang="en-US" sz="2600" b="1" dirty="0">
                <a:solidFill>
                  <a:srgbClr val="2E3440"/>
                </a:solidFill>
                <a:latin typeface="Calibri" pitchFamily="34" charset="0"/>
                <a:ea typeface="Calibri" pitchFamily="34" charset="-122"/>
                <a:cs typeface="Calibri" pitchFamily="34" charset="-120"/>
              </a:rPr>
              <a:t>Make it survive a restart</a:t>
            </a:r>
            <a:endParaRPr lang="en-US" sz="2600" dirty="0"/>
          </a:p>
        </p:txBody>
      </p:sp>
      <p:sp>
        <p:nvSpPr>
          <p:cNvPr id="5" name="Text 3"/>
          <p:cNvSpPr txBox="1"/>
          <p:nvPr/>
        </p:nvSpPr>
        <p:spPr>
          <a:xfrm>
            <a:off x="10177272" y="411480"/>
            <a:ext cx="1463040" cy="457200"/>
          </a:xfrm>
          <a:prstGeom prst="rect">
            <a:avLst/>
          </a:prstGeom>
          <a:noFill/>
          <a:ln/>
        </p:spPr>
        <p:txBody>
          <a:bodyPr wrap="square" lIns="0" tIns="0" rIns="0" bIns="0" rtlCol="0" anchor="ctr"/>
          <a:lstStyle/>
          <a:p>
            <a:pPr algn="r" indent="0" marL="0">
              <a:buNone/>
            </a:pPr>
            <a:r>
              <a:rPr lang="en-US" sz="1200" dirty="0">
                <a:solidFill>
                  <a:srgbClr val="646E7A"/>
                </a:solidFill>
                <a:latin typeface="Calibri" pitchFamily="34" charset="0"/>
                <a:ea typeface="Calibri" pitchFamily="34" charset="-122"/>
                <a:cs typeface="Calibri" pitchFamily="34" charset="-120"/>
              </a:rPr>
              <a:t>40 min</a:t>
            </a:r>
            <a:endParaRPr lang="en-US" sz="1200" dirty="0"/>
          </a:p>
        </p:txBody>
      </p:sp>
      <p:sp>
        <p:nvSpPr>
          <p:cNvPr id="6" name="Text 4"/>
          <p:cNvSpPr txBox="1"/>
          <p:nvPr/>
        </p:nvSpPr>
        <p:spPr>
          <a:xfrm>
            <a:off x="548640" y="1097280"/>
            <a:ext cx="11091672" cy="502920"/>
          </a:xfrm>
          <a:prstGeom prst="rect">
            <a:avLst/>
          </a:prstGeom>
          <a:noFill/>
          <a:ln/>
        </p:spPr>
        <p:txBody>
          <a:bodyPr wrap="square" lIns="0" tIns="0" rIns="0" bIns="0" rtlCol="0" anchor="t"/>
          <a:lstStyle/>
          <a:p>
            <a:pPr indent="0" marL="0">
              <a:buNone/>
            </a:pPr>
            <a:r>
              <a:rPr lang="en-US" sz="1400" b="1" dirty="0">
                <a:solidFill>
                  <a:srgbClr val="2E3440"/>
                </a:solidFill>
                <a:latin typeface="Calibri" pitchFamily="34" charset="0"/>
                <a:ea typeface="Calibri" pitchFamily="34" charset="-122"/>
                <a:cs typeface="Calibri" pitchFamily="34" charset="-120"/>
              </a:rPr>
              <a:t>Goal  </a:t>
            </a:r>
            <a:pPr indent="0" marL="0">
              <a:buNone/>
            </a:pPr>
            <a:r>
              <a:rPr lang="en-US" sz="1400" dirty="0">
                <a:solidFill>
                  <a:srgbClr val="22272E"/>
                </a:solidFill>
                <a:latin typeface="Calibri" pitchFamily="34" charset="0"/>
                <a:ea typeface="Calibri" pitchFamily="34" charset="-122"/>
                <a:cs typeface="Calibri" pitchFamily="34" charset="-120"/>
              </a:rPr>
              <a:t>The order and the theme stored on the device, loaded at startup, and saved after every change, all behind a repository interface.</a:t>
            </a:r>
            <a:endParaRPr lang="en-US" sz="1400" dirty="0"/>
          </a:p>
        </p:txBody>
      </p:sp>
      <p:sp>
        <p:nvSpPr>
          <p:cNvPr id="7" name="Text 5"/>
          <p:cNvSpPr txBox="1"/>
          <p:nvPr/>
        </p:nvSpPr>
        <p:spPr>
          <a:xfrm>
            <a:off x="548640" y="1691640"/>
            <a:ext cx="7098670" cy="4389120"/>
          </a:xfrm>
          <a:prstGeom prst="rect">
            <a:avLst/>
          </a:prstGeom>
          <a:noFill/>
          <a:ln/>
        </p:spPr>
        <p:txBody>
          <a:bodyPr wrap="square" lIns="0" tIns="0" rIns="0" bIns="0" rtlCol="0" anchor="t"/>
          <a:lstStyle/>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flutter pub add shared_preferences.</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Write the OrderRepository interface with load and save.</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Write LocalOrderRepository using SharedPreferences with jsonEncode and jsonDecode.</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Register it with Provider, and give OrderModel the repository.</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Load at startup, and save after every change.</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Run the app, add two lines, kill it completely from the task switcher, and reopen it. The lines should still be there.</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Persist the theme seed colour and mode too, so the app reopens with your colour.</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Handle the first run, where nothing is stored, without crashing.</a:t>
            </a:r>
            <a:endParaRPr lang="en-US" sz="1300" dirty="0"/>
          </a:p>
        </p:txBody>
      </p:sp>
      <p:sp>
        <p:nvSpPr>
          <p:cNvPr id="8" name="Shape 6"/>
          <p:cNvSpPr/>
          <p:nvPr/>
        </p:nvSpPr>
        <p:spPr>
          <a:xfrm>
            <a:off x="7921630" y="1691640"/>
            <a:ext cx="3718682" cy="4389120"/>
          </a:xfrm>
          <a:prstGeom prst="roundRect">
            <a:avLst>
              <a:gd name="adj" fmla="val 2459"/>
            </a:avLst>
          </a:prstGeom>
          <a:solidFill>
            <a:srgbClr val="EAF2EC"/>
          </a:solidFill>
          <a:ln w="6350">
            <a:solidFill>
              <a:srgbClr val="EAF2EC"/>
            </a:solidFill>
            <a:prstDash val="solid"/>
          </a:ln>
          <a:effectLst>
            <a:outerShdw sx="100000" sy="100000" kx="0" ky="0" algn="bl" rotWithShape="0" blurRad="38100" dist="12700" dir="5400000">
              <a:srgbClr val="000000">
                <a:alpha val="8000"/>
              </a:srgbClr>
            </a:outerShdw>
          </a:effectLst>
        </p:spPr>
      </p:sp>
      <p:sp>
        <p:nvSpPr>
          <p:cNvPr id="9" name="Text 7"/>
          <p:cNvSpPr txBox="1"/>
          <p:nvPr/>
        </p:nvSpPr>
        <p:spPr>
          <a:xfrm>
            <a:off x="8104510" y="1828800"/>
            <a:ext cx="3352922" cy="365760"/>
          </a:xfrm>
          <a:prstGeom prst="rect">
            <a:avLst/>
          </a:prstGeom>
          <a:noFill/>
          <a:ln/>
        </p:spPr>
        <p:txBody>
          <a:bodyPr wrap="square" lIns="0" tIns="0" rIns="0" bIns="0" rtlCol="0" anchor="ctr"/>
          <a:lstStyle/>
          <a:p>
            <a:pPr indent="0" marL="0">
              <a:buNone/>
            </a:pPr>
            <a:r>
              <a:rPr lang="en-US" sz="1300" b="1" dirty="0">
                <a:solidFill>
                  <a:srgbClr val="2A7F62"/>
                </a:solidFill>
                <a:latin typeface="Calibri" pitchFamily="34" charset="0"/>
                <a:ea typeface="Calibri" pitchFamily="34" charset="-122"/>
                <a:cs typeface="Calibri" pitchFamily="34" charset="-120"/>
              </a:rPr>
              <a:t>Stretch (fast lane)</a:t>
            </a:r>
            <a:endParaRPr lang="en-US" sz="1300" dirty="0"/>
          </a:p>
        </p:txBody>
      </p:sp>
      <p:sp>
        <p:nvSpPr>
          <p:cNvPr id="10" name="Text 8"/>
          <p:cNvSpPr txBox="1"/>
          <p:nvPr/>
        </p:nvSpPr>
        <p:spPr>
          <a:xfrm>
            <a:off x="8104510" y="2240280"/>
            <a:ext cx="3352922" cy="365760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22272E"/>
                </a:solidFill>
                <a:latin typeface="Calibri" pitchFamily="34" charset="0"/>
                <a:ea typeface="Calibri" pitchFamily="34" charset="-122"/>
                <a:cs typeface="Calibri" pitchFamily="34" charset="-120"/>
              </a:rPr>
              <a:t>Add a lastSavedAt timestamp and show it in the app bar.</a:t>
            </a:r>
            <a:endParaRPr lang="en-US" sz="1200" dirty="0"/>
          </a:p>
          <a:p>
            <a:pPr marL="177800" indent="-177800">
              <a:spcAft>
                <a:spcPts val="600"/>
              </a:spcAft>
              <a:buSzPct val="100000"/>
              <a:buChar char="•"/>
            </a:pPr>
            <a:r>
              <a:rPr lang="en-US" sz="1200" dirty="0">
                <a:solidFill>
                  <a:srgbClr val="22272E"/>
                </a:solidFill>
                <a:latin typeface="Calibri" pitchFamily="34" charset="0"/>
                <a:ea typeface="Calibri" pitchFamily="34" charset="-122"/>
                <a:cs typeface="Calibri" pitchFamily="34" charset="-120"/>
              </a:rPr>
              <a:t>Make load tolerant of a corrupt stored value by returning an empty list.</a:t>
            </a:r>
            <a:endParaRPr lang="en-US" sz="1200" dirty="0"/>
          </a:p>
          <a:p>
            <a:pPr marL="177800" indent="-177800">
              <a:spcAft>
                <a:spcPts val="600"/>
              </a:spcAft>
              <a:buSzPct val="100000"/>
              <a:buChar char="•"/>
            </a:pPr>
            <a:r>
              <a:rPr lang="en-US" sz="1200" dirty="0">
                <a:solidFill>
                  <a:srgbClr val="22272E"/>
                </a:solidFill>
                <a:latin typeface="Calibri" pitchFamily="34" charset="0"/>
                <a:ea typeface="Calibri" pitchFamily="34" charset="-122"/>
                <a:cs typeface="Calibri" pitchFamily="34" charset="-120"/>
              </a:rPr>
              <a:t>Write an InMemoryOrderRepository and swap it in with one line. That is what your tests will use this afternoon.</a:t>
            </a:r>
            <a:endParaRPr lang="en-US" sz="1200" dirty="0"/>
          </a:p>
        </p:txBody>
      </p:sp>
      <p:sp>
        <p:nvSpPr>
          <p:cNvPr id="11" name="Text 9"/>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8 - Data, Testing and Shipping</a:t>
            </a:r>
            <a:endParaRPr lang="en-US" sz="900" dirty="0"/>
          </a:p>
        </p:txBody>
      </p:sp>
      <p:sp>
        <p:nvSpPr>
          <p:cNvPr id="12" name="Text 10"/>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2E3440"/>
        </a:solidFill>
      </p:bgPr>
    </p:bg>
    <p:spTree>
      <p:nvGrpSpPr>
        <p:cNvPr id="1" name=""/>
        <p:cNvGrpSpPr/>
        <p:nvPr/>
      </p:nvGrpSpPr>
      <p:grpSpPr>
        <a:xfrm>
          <a:off x="0" y="0"/>
          <a:ext cx="0" cy="0"/>
          <a:chOff x="0" y="0"/>
          <a:chExt cx="0" cy="0"/>
        </a:xfrm>
      </p:grpSpPr>
      <p:sp>
        <p:nvSpPr>
          <p:cNvPr id="2" name="Shape 0"/>
          <p:cNvSpPr/>
          <p:nvPr/>
        </p:nvSpPr>
        <p:spPr>
          <a:xfrm>
            <a:off x="-1371600" y="3840480"/>
            <a:ext cx="4572000" cy="4572000"/>
          </a:xfrm>
          <a:prstGeom prst="ellipse">
            <a:avLst/>
          </a:prstGeom>
          <a:solidFill>
            <a:srgbClr val="434C5E"/>
          </a:solidFill>
          <a:ln w="12700">
            <a:solidFill>
              <a:srgbClr val="434C5E"/>
            </a:solidFill>
            <a:prstDash val="solid"/>
          </a:ln>
        </p:spPr>
      </p:sp>
      <p:sp>
        <p:nvSpPr>
          <p:cNvPr id="3" name="Text 1"/>
          <p:cNvSpPr txBox="1"/>
          <p:nvPr/>
        </p:nvSpPr>
        <p:spPr>
          <a:xfrm>
            <a:off x="548640" y="1097280"/>
            <a:ext cx="5486400" cy="457200"/>
          </a:xfrm>
          <a:prstGeom prst="rect">
            <a:avLst/>
          </a:prstGeom>
          <a:noFill/>
          <a:ln/>
        </p:spPr>
        <p:txBody>
          <a:bodyPr wrap="square" lIns="0" tIns="0" rIns="0" bIns="0" rtlCol="0" anchor="ctr"/>
          <a:lstStyle/>
          <a:p>
            <a:pPr indent="0" marL="0">
              <a:buNone/>
            </a:pPr>
            <a:r>
              <a:rPr lang="en-US" sz="1400" spc="300" kern="0" dirty="0">
                <a:solidFill>
                  <a:srgbClr val="6FC5B8"/>
                </a:solidFill>
                <a:latin typeface="Calibri" pitchFamily="34" charset="0"/>
                <a:ea typeface="Calibri" pitchFamily="34" charset="-122"/>
                <a:cs typeface="Calibri" pitchFamily="34" charset="-120"/>
              </a:rPr>
              <a:t>MODULE 3  ·  13:15 - 14:45</a:t>
            </a:r>
            <a:endParaRPr lang="en-US" sz="1400" dirty="0"/>
          </a:p>
        </p:txBody>
      </p:sp>
      <p:sp>
        <p:nvSpPr>
          <p:cNvPr id="4" name="Text 2"/>
          <p:cNvSpPr txBox="1"/>
          <p:nvPr/>
        </p:nvSpPr>
        <p:spPr>
          <a:xfrm>
            <a:off x="548640" y="1554480"/>
            <a:ext cx="6400800" cy="164592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Testing and debugging</a:t>
            </a:r>
            <a:endParaRPr lang="en-US" sz="4000" dirty="0"/>
          </a:p>
        </p:txBody>
      </p:sp>
      <p:sp>
        <p:nvSpPr>
          <p:cNvPr id="5" name="Shape 3"/>
          <p:cNvSpPr/>
          <p:nvPr/>
        </p:nvSpPr>
        <p:spPr>
          <a:xfrm>
            <a:off x="6949440" y="1188720"/>
            <a:ext cx="4663440" cy="4389120"/>
          </a:xfrm>
          <a:prstGeom prst="roundRect">
            <a:avLst>
              <a:gd name="adj" fmla="val 2083"/>
            </a:avLst>
          </a:prstGeom>
          <a:solidFill>
            <a:srgbClr val="434C5E"/>
          </a:solidFill>
          <a:ln w="6350">
            <a:solidFill>
              <a:srgbClr val="434C5E"/>
            </a:solidFill>
            <a:prstDash val="solid"/>
          </a:ln>
          <a:effectLst>
            <a:outerShdw sx="100000" sy="100000" kx="0" ky="0" algn="bl" rotWithShape="0" blurRad="38100" dist="12700" dir="5400000">
              <a:srgbClr val="000000">
                <a:alpha val="8000"/>
              </a:srgbClr>
            </a:outerShdw>
          </a:effectLst>
        </p:spPr>
      </p:sp>
      <p:sp>
        <p:nvSpPr>
          <p:cNvPr id="6" name="Text 4"/>
          <p:cNvSpPr txBox="1"/>
          <p:nvPr/>
        </p:nvSpPr>
        <p:spPr>
          <a:xfrm>
            <a:off x="7223760" y="1371600"/>
            <a:ext cx="4206240" cy="365760"/>
          </a:xfrm>
          <a:prstGeom prst="rect">
            <a:avLst/>
          </a:prstGeom>
          <a:noFill/>
          <a:ln/>
        </p:spPr>
        <p:txBody>
          <a:bodyPr wrap="square" lIns="0" tIns="0" rIns="0" bIns="0" rtlCol="0" anchor="ctr"/>
          <a:lstStyle/>
          <a:p>
            <a:pPr indent="0" marL="0">
              <a:buNone/>
            </a:pPr>
            <a:r>
              <a:rPr lang="en-US" sz="1100" dirty="0">
                <a:solidFill>
                  <a:srgbClr val="6FC5B8"/>
                </a:solidFill>
                <a:latin typeface="Calibri" pitchFamily="34" charset="0"/>
                <a:ea typeface="Calibri" pitchFamily="34" charset="-122"/>
                <a:cs typeface="Calibri" pitchFamily="34" charset="-120"/>
              </a:rPr>
              <a:t>By the end of this module you can</a:t>
            </a:r>
            <a:endParaRPr lang="en-US" sz="1100" dirty="0"/>
          </a:p>
        </p:txBody>
      </p:sp>
      <p:sp>
        <p:nvSpPr>
          <p:cNvPr id="7" name="Text 5"/>
          <p:cNvSpPr txBox="1"/>
          <p:nvPr/>
        </p:nvSpPr>
        <p:spPr>
          <a:xfrm>
            <a:off x="7223760" y="1783080"/>
            <a:ext cx="4206240" cy="365760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Decide what to test at which level</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Write unit tests, model tests and widget tests</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Use DevTools to inspect, measure and debug</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Read a Flutter error properly</a:t>
            </a:r>
            <a:endParaRPr lang="en-US" sz="1400" dirty="0"/>
          </a:p>
        </p:txBody>
      </p:sp>
      <p:sp>
        <p:nvSpPr>
          <p:cNvPr id="8" name="Text 6"/>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8 - Data, Testing and Shipping</a:t>
            </a:r>
            <a:endParaRPr lang="en-US" sz="900" dirty="0"/>
          </a:p>
        </p:txBody>
      </p:sp>
      <p:sp>
        <p:nvSpPr>
          <p:cNvPr id="9" name="Text 7"/>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What to test, and at which level</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the shape of a test suite</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WHAT TO TEST, AND AT WHICH LEVEL</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UNIT          many, fast, no Flutter imports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pricing rules, validators, models, mappers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milliseconds each. Write lots of these.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MODEL         several, fast, no widgets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 ChangeNotifier with a fake service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state transitions, and every failure path</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WIDGET        some, fast enough, a real tree in memory</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does this screen render the right thing</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does tapping this do what it should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INTEGRATION   few, slow, a real device or emulator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the one or two journeys that must never break</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for us: add a line, submit, see it saved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THE SHAPE THAT GOES WRONG: lots of slow end-to-end tests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and almost no unit tests. They take twenty minutes, they</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fail for unrelated reasons, and eventually somebody turns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them off.</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flutter test                     everything except integration</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flutter test test/one_test.dart  a single file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flutter test --coverage          writes coverage/lcov.info</a:t>
            </a:r>
            <a:endParaRPr lang="en-US" sz="9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Many fast unit tests, several model tests, some widget tests, and very few slow end-to-end ones. The inverted version is how test suites get switched off.</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8 - Data, Testing and Shipping</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Unit tests  (1/2)</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test/order_test.dart</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test/order_model_test.dart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import 'package:flutter_test/flutter_test.dart';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void main()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group('Order', ()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test('itemCount sums the quantities', ()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const order = Order(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id: 'ORD-1',</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customer: 'Acme',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lines: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OrderLine(sku: 'SKU-1', description: 'a', quantity: 40, unitPrice: 250),</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OrderLine(sku: 'SKU-2', description: 'b', quantity: 10, unitPrice: 120),</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expect(order.itemCount, 50);</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test('subtotal multiplies and adds', ()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const order = Order(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id: 'ORD-1',</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customer: 'Acme',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lines: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OrderLine(sku: 'SKU-1', description: 'a', quantity: 40, unitPrice: 250),</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8 - Data, Testing and Shipping</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Unit tests  (2/2)</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test/order_test.dart</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expect(order.subtotal, 10000.0);</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test('copyWith does not change the original', ()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const original = Order(id: 'ORD-1', customer: 'Acme', lines: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final copy = original.copyWith(status: OrderStatus.submitted);</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expect(original.status, OrderStatus.draft);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expect(copy.status, OrderStatus.submitted);</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flutter test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This is JUnit with different spelling. group is a test class,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test is a @Test method, expect is an assertion. setUp and</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tearDown exist and mean what you expect.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These run in milliseconds because nothing here imports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Flutter. That is the Day 1 domain rule, paying off.</a:t>
            </a:r>
            <a:endParaRPr lang="en-US" sz="10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This is JUnit with different spelling. group is a test class, test is a test method, expect is an assertion. These run in milliseconds.</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8 - Data, Testing and Shipping</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Testing a model with a fake service  (1/2)</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test/order_model_test.dart</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Testing a ChangeNotifier, still with no widgets involved.</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class FakeOrderService implements OrderService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FakeOrderService({this.shouldFail = false});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final bool shouldFail;</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@override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Future&lt;List&lt;Order&gt;&gt; fetchAll() async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if (shouldFail) throw const NoConnectionException();</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return const [Order(id: 'ORD-1', customer: 'Acme', lines: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void main()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test('load moves idle to loading to loaded', () async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final model = OrderListModel(FakeOrderService());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final seen = &lt;OrderState&gt;[];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model.addListener(() =&gt; seen.add(model.state));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await model.load();</a:t>
            </a:r>
            <a:endParaRPr lang="en-US" sz="10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8 - Data, Testing and Shipping</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Testing a model with a fake service  (2/2)</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test/order_model_test.dart</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expect(seen.map((s) =&gt; s.runtimeType),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[OrderLoading, OrderLoaded]);</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test('a connection failure becomes a readable message', () async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final model = OrderListModel(FakeOrderService(shouldFail: true));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await model.load();</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expect(model.state, isA&lt;OrderFailed&gt;());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expect((model.state as OrderFailed).message, contains('offline'));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THIS IS THE ARGUMENT FOR THE WHOLE ARCHITECTURE. The entire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order flow, including its failure path, verified in under a</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second, with no emulator, no network and no widget tree.</a:t>
            </a:r>
            <a:endParaRPr lang="en-US" sz="11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The entire order flow, including its failure path, verified in under a second, with no emulator, no network and no widget tree.</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8 - Data, Testing and Shipping</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Widget tests  (1/2)</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test/order_screen_test.dart</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 widget test builds a real widget tree in memory, without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 device. It is fast, and it is the right level for</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"does this screen show what it should".</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void main()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testWidgets('shows the empty state when there are no lines',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(WidgetTester tester) async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await tester.pumpWidget(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MaterialApp(</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home: ChangeNotifierProvider(</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create: (_) =&gt; OrderModel(),</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child: const OrderScreen(),</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expect(find.text('No lines yet'), findsOneWidget);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testWidgets('adding a line shows it in the list',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(WidgetTester tester) async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final model = OrderModel()</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..addLine(const OrderLine(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sku: 'SKU-1', description: 'Widget', quantity: 40, unitPrice: 250));</a:t>
            </a:r>
            <a:endParaRPr lang="en-US" sz="10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8 - Data, Testing and Shipping</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Widget tests  (2/2)</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test/order_screen_test.dart</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await tester.pumpWidget(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MaterialApp(</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home: ChangeNotifierProvider.value(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value: model,</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child: const OrderScreen(),</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expect(find.text('Widget'), findsOneWidget);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expect(find.text('No lines yet'), findsNothing);</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testWidgets('tapping clear empties the list',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(WidgetTester tester) async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 ...pump as above...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await tester.tap(find.byTooltip('Clear'));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await tester.pump();               // rebuild after setState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expect(find.text('No lines yet'), findsOneWidget);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pump()          advance one frame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pumpAndSettle() keep pumping until nothing is animating</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find.text, find.byType, find.byIcon, find.byTooltip, find.byKey</a:t>
            </a:r>
            <a:endParaRPr lang="en-US" sz="9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A real widget tree, built in memory, with no device. Pump a frame, find things, tap things, and assert what is on screen.</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8 - Data, Testing and Shipping</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Debugging and DevTools</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the tools you have</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PRINT AND LOG</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debugPrint('order: $order');           // truncates huge output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Never ship print() in release code. There is a lint for it.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BREAKPOINTS work exactly as you expect in VS Code and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Android Studio. Set one in build() and step through.</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DEVTOOLS: press v in the flutter run terminal, or use the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button in your editor.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Widget Inspector   tap a widget on the device, jump to</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the source line that created it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Layout Explorer    see flex factors and constraints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Performance        one bar per frame; red means over budget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Memory             allocations and leaks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Network            every HTTP request the app made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DEBUG PAINT: press p in the terminal. It draws the layout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guides over your app, which makes padding and alignment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problems visible instantly.</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ASSERTIONS in Flutter's own source produce long, specific</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error messages in debug builds. Read them. They usually</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name the widget and suggest the fix.</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 RED SCREEN is a build error caught in debug. In release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it would be a grey box, so fix every one.</a:t>
            </a:r>
            <a:endParaRPr lang="en-US" sz="9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Breakpoints work as you expect. DevTools gives you an inspector, a layout explorer, a frame timeline, memory and a network log.</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8 - Data, Testing and Shipping</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1188720" cy="457200"/>
          </a:xfrm>
          <a:prstGeom prst="roundRect">
            <a:avLst>
              <a:gd name="adj" fmla="val 20000"/>
            </a:avLst>
          </a:prstGeom>
          <a:solidFill>
            <a:srgbClr val="2A9D8F"/>
          </a:solidFill>
          <a:ln w="12700">
            <a:solidFill>
              <a:srgbClr val="2A9D8F"/>
            </a:solidFill>
            <a:prstDash val="solid"/>
          </a:ln>
        </p:spPr>
      </p:sp>
      <p:sp>
        <p:nvSpPr>
          <p:cNvPr id="3" name="Text 1"/>
          <p:cNvSpPr txBox="1"/>
          <p:nvPr/>
        </p:nvSpPr>
        <p:spPr>
          <a:xfrm>
            <a:off x="548640" y="411480"/>
            <a:ext cx="1188720" cy="457200"/>
          </a:xfrm>
          <a:prstGeom prst="rect">
            <a:avLst/>
          </a:prstGeom>
          <a:noFill/>
          <a:ln/>
        </p:spPr>
        <p:txBody>
          <a:bodyPr wrap="square" lIns="0" tIns="0" rIns="0" bIns="0" rtlCol="0" anchor="ctr"/>
          <a:lstStyle/>
          <a:p>
            <a:pPr algn="ctr" indent="0" marL="0">
              <a:buNone/>
            </a:pPr>
            <a:r>
              <a:rPr lang="en-US" sz="1400" b="1" dirty="0">
                <a:solidFill>
                  <a:srgbClr val="2E3440"/>
                </a:solidFill>
                <a:latin typeface="Calibri" pitchFamily="34" charset="0"/>
                <a:ea typeface="Calibri" pitchFamily="34" charset="-122"/>
                <a:cs typeface="Calibri" pitchFamily="34" charset="-120"/>
              </a:rPr>
              <a:t>LAB 8.3</a:t>
            </a:r>
            <a:endParaRPr lang="en-US" sz="1400" dirty="0"/>
          </a:p>
        </p:txBody>
      </p:sp>
      <p:sp>
        <p:nvSpPr>
          <p:cNvPr id="4" name="Text 2"/>
          <p:cNvSpPr txBox="1"/>
          <p:nvPr/>
        </p:nvSpPr>
        <p:spPr>
          <a:xfrm>
            <a:off x="1920240" y="365760"/>
            <a:ext cx="8165592" cy="548640"/>
          </a:xfrm>
          <a:prstGeom prst="rect">
            <a:avLst/>
          </a:prstGeom>
          <a:noFill/>
          <a:ln/>
        </p:spPr>
        <p:txBody>
          <a:bodyPr wrap="square" lIns="0" tIns="0" rIns="0" bIns="0" rtlCol="0" anchor="ctr"/>
          <a:lstStyle/>
          <a:p>
            <a:pPr indent="0" marL="0">
              <a:buNone/>
            </a:pPr>
            <a:r>
              <a:rPr lang="en-US" sz="2600" b="1" dirty="0">
                <a:solidFill>
                  <a:srgbClr val="2E3440"/>
                </a:solidFill>
                <a:latin typeface="Calibri" pitchFamily="34" charset="0"/>
                <a:ea typeface="Calibri" pitchFamily="34" charset="-122"/>
                <a:cs typeface="Calibri" pitchFamily="34" charset="-120"/>
              </a:rPr>
              <a:t>A green test suite</a:t>
            </a:r>
            <a:endParaRPr lang="en-US" sz="2600" dirty="0"/>
          </a:p>
        </p:txBody>
      </p:sp>
      <p:sp>
        <p:nvSpPr>
          <p:cNvPr id="5" name="Text 3"/>
          <p:cNvSpPr txBox="1"/>
          <p:nvPr/>
        </p:nvSpPr>
        <p:spPr>
          <a:xfrm>
            <a:off x="10177272" y="411480"/>
            <a:ext cx="1463040" cy="457200"/>
          </a:xfrm>
          <a:prstGeom prst="rect">
            <a:avLst/>
          </a:prstGeom>
          <a:noFill/>
          <a:ln/>
        </p:spPr>
        <p:txBody>
          <a:bodyPr wrap="square" lIns="0" tIns="0" rIns="0" bIns="0" rtlCol="0" anchor="ctr"/>
          <a:lstStyle/>
          <a:p>
            <a:pPr algn="r" indent="0" marL="0">
              <a:buNone/>
            </a:pPr>
            <a:r>
              <a:rPr lang="en-US" sz="1200" dirty="0">
                <a:solidFill>
                  <a:srgbClr val="646E7A"/>
                </a:solidFill>
                <a:latin typeface="Calibri" pitchFamily="34" charset="0"/>
                <a:ea typeface="Calibri" pitchFamily="34" charset="-122"/>
                <a:cs typeface="Calibri" pitchFamily="34" charset="-120"/>
              </a:rPr>
              <a:t>35 min</a:t>
            </a:r>
            <a:endParaRPr lang="en-US" sz="1200" dirty="0"/>
          </a:p>
        </p:txBody>
      </p:sp>
      <p:sp>
        <p:nvSpPr>
          <p:cNvPr id="6" name="Text 4"/>
          <p:cNvSpPr txBox="1"/>
          <p:nvPr/>
        </p:nvSpPr>
        <p:spPr>
          <a:xfrm>
            <a:off x="548640" y="1097280"/>
            <a:ext cx="11091672" cy="502920"/>
          </a:xfrm>
          <a:prstGeom prst="rect">
            <a:avLst/>
          </a:prstGeom>
          <a:noFill/>
          <a:ln/>
        </p:spPr>
        <p:txBody>
          <a:bodyPr wrap="square" lIns="0" tIns="0" rIns="0" bIns="0" rtlCol="0" anchor="t"/>
          <a:lstStyle/>
          <a:p>
            <a:pPr indent="0" marL="0">
              <a:buNone/>
            </a:pPr>
            <a:r>
              <a:rPr lang="en-US" sz="1400" b="1" dirty="0">
                <a:solidFill>
                  <a:srgbClr val="2E3440"/>
                </a:solidFill>
                <a:latin typeface="Calibri" pitchFamily="34" charset="0"/>
                <a:ea typeface="Calibri" pitchFamily="34" charset="-122"/>
                <a:cs typeface="Calibri" pitchFamily="34" charset="-120"/>
              </a:rPr>
              <a:t>Goal  </a:t>
            </a:r>
            <a:pPr indent="0" marL="0">
              <a:buNone/>
            </a:pPr>
            <a:r>
              <a:rPr lang="en-US" sz="1400" dirty="0">
                <a:solidFill>
                  <a:srgbClr val="22272E"/>
                </a:solidFill>
                <a:latin typeface="Calibri" pitchFamily="34" charset="0"/>
                <a:ea typeface="Calibri" pitchFamily="34" charset="-122"/>
                <a:cs typeface="Calibri" pitchFamily="34" charset="-120"/>
              </a:rPr>
              <a:t>Unit tests for the model, boundary tests for the discount bands, a model test with a fake service, and one widget test. All green.</a:t>
            </a:r>
            <a:endParaRPr lang="en-US" sz="1400" dirty="0"/>
          </a:p>
        </p:txBody>
      </p:sp>
      <p:sp>
        <p:nvSpPr>
          <p:cNvPr id="7" name="Text 5"/>
          <p:cNvSpPr txBox="1"/>
          <p:nvPr/>
        </p:nvSpPr>
        <p:spPr>
          <a:xfrm>
            <a:off x="548640" y="1691640"/>
            <a:ext cx="7098670" cy="4389120"/>
          </a:xfrm>
          <a:prstGeom prst="rect">
            <a:avLst/>
          </a:prstGeom>
          <a:noFill/>
          <a:ln/>
        </p:spPr>
        <p:txBody>
          <a:bodyPr wrap="square" lIns="0" tIns="0" rIns="0" bIns="0" rtlCol="0" anchor="t"/>
          <a:lstStyle/>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test/order_test.dart with a group for Order: itemCount, subtotal, copyWith immutability, and an empty order.</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Test the discount bands at the boundaries: 9999, 10000, 49999, 50000.</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test/order_model_test.dart with a FakeOrderService that can be told to fail.</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Test that load moves through Loading then Loaded, and that a failure produces your message.</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test/order_screen_test.dart: the empty state shows, a line appears when added, and tapping Clear empties the list.</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flutter test, and get everything green.</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BREAK SOMETHING on purpose, such as the subtotal calculation, and confirm a test catches it.</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flutter test --coverage, and look at what is not covered. Decide whether any of it matters.</a:t>
            </a:r>
            <a:endParaRPr lang="en-US" sz="1300" dirty="0"/>
          </a:p>
        </p:txBody>
      </p:sp>
      <p:sp>
        <p:nvSpPr>
          <p:cNvPr id="8" name="Shape 6"/>
          <p:cNvSpPr/>
          <p:nvPr/>
        </p:nvSpPr>
        <p:spPr>
          <a:xfrm>
            <a:off x="7921630" y="1691640"/>
            <a:ext cx="3718682" cy="4389120"/>
          </a:xfrm>
          <a:prstGeom prst="roundRect">
            <a:avLst>
              <a:gd name="adj" fmla="val 2459"/>
            </a:avLst>
          </a:prstGeom>
          <a:solidFill>
            <a:srgbClr val="EAF2EC"/>
          </a:solidFill>
          <a:ln w="6350">
            <a:solidFill>
              <a:srgbClr val="EAF2EC"/>
            </a:solidFill>
            <a:prstDash val="solid"/>
          </a:ln>
          <a:effectLst>
            <a:outerShdw sx="100000" sy="100000" kx="0" ky="0" algn="bl" rotWithShape="0" blurRad="38100" dist="12700" dir="5400000">
              <a:srgbClr val="000000">
                <a:alpha val="8000"/>
              </a:srgbClr>
            </a:outerShdw>
          </a:effectLst>
        </p:spPr>
      </p:sp>
      <p:sp>
        <p:nvSpPr>
          <p:cNvPr id="9" name="Text 7"/>
          <p:cNvSpPr txBox="1"/>
          <p:nvPr/>
        </p:nvSpPr>
        <p:spPr>
          <a:xfrm>
            <a:off x="8104510" y="1828800"/>
            <a:ext cx="3352922" cy="365760"/>
          </a:xfrm>
          <a:prstGeom prst="rect">
            <a:avLst/>
          </a:prstGeom>
          <a:noFill/>
          <a:ln/>
        </p:spPr>
        <p:txBody>
          <a:bodyPr wrap="square" lIns="0" tIns="0" rIns="0" bIns="0" rtlCol="0" anchor="ctr"/>
          <a:lstStyle/>
          <a:p>
            <a:pPr indent="0" marL="0">
              <a:buNone/>
            </a:pPr>
            <a:r>
              <a:rPr lang="en-US" sz="1300" b="1" dirty="0">
                <a:solidFill>
                  <a:srgbClr val="2A7F62"/>
                </a:solidFill>
                <a:latin typeface="Calibri" pitchFamily="34" charset="0"/>
                <a:ea typeface="Calibri" pitchFamily="34" charset="-122"/>
                <a:cs typeface="Calibri" pitchFamily="34" charset="-120"/>
              </a:rPr>
              <a:t>Stretch (fast lane)</a:t>
            </a:r>
            <a:endParaRPr lang="en-US" sz="1300" dirty="0"/>
          </a:p>
        </p:txBody>
      </p:sp>
      <p:sp>
        <p:nvSpPr>
          <p:cNvPr id="10" name="Text 8"/>
          <p:cNvSpPr txBox="1"/>
          <p:nvPr/>
        </p:nvSpPr>
        <p:spPr>
          <a:xfrm>
            <a:off x="8104510" y="2240280"/>
            <a:ext cx="3352922" cy="365760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22272E"/>
                </a:solidFill>
                <a:latin typeface="Calibri" pitchFamily="34" charset="0"/>
                <a:ea typeface="Calibri" pitchFamily="34" charset="-122"/>
                <a:cs typeface="Calibri" pitchFamily="34" charset="-120"/>
              </a:rPr>
              <a:t>Add a test that a null description in JSON does not crash fromJson.</a:t>
            </a:r>
            <a:endParaRPr lang="en-US" sz="1200" dirty="0"/>
          </a:p>
          <a:p>
            <a:pPr marL="177800" indent="-177800">
              <a:spcAft>
                <a:spcPts val="600"/>
              </a:spcAft>
              <a:buSzPct val="100000"/>
              <a:buChar char="•"/>
            </a:pPr>
            <a:r>
              <a:rPr lang="en-US" sz="1200" dirty="0">
                <a:solidFill>
                  <a:srgbClr val="22272E"/>
                </a:solidFill>
                <a:latin typeface="Calibri" pitchFamily="34" charset="0"/>
                <a:ea typeface="Calibri" pitchFamily="34" charset="-122"/>
                <a:cs typeface="Calibri" pitchFamily="34" charset="-120"/>
              </a:rPr>
              <a:t>Use mocktail instead of a hand-written fake and compare the two.</a:t>
            </a:r>
            <a:endParaRPr lang="en-US" sz="1200" dirty="0"/>
          </a:p>
          <a:p>
            <a:pPr marL="177800" indent="-177800">
              <a:spcAft>
                <a:spcPts val="600"/>
              </a:spcAft>
              <a:buSzPct val="100000"/>
              <a:buChar char="•"/>
            </a:pPr>
            <a:r>
              <a:rPr lang="en-US" sz="1200" dirty="0">
                <a:solidFill>
                  <a:srgbClr val="22272E"/>
                </a:solidFill>
                <a:latin typeface="Calibri" pitchFamily="34" charset="0"/>
                <a:ea typeface="Calibri" pitchFamily="34" charset="-122"/>
                <a:cs typeface="Calibri" pitchFamily="34" charset="-120"/>
              </a:rPr>
              <a:t>Add a widget test that the error state shows a Retry button and that tapping it calls load again.</a:t>
            </a:r>
            <a:endParaRPr lang="en-US" sz="1200" dirty="0"/>
          </a:p>
        </p:txBody>
      </p:sp>
      <p:sp>
        <p:nvSpPr>
          <p:cNvPr id="11" name="Text 9"/>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8 - Data, Testing and Shipping</a:t>
            </a:r>
            <a:endParaRPr lang="en-US" sz="900" dirty="0"/>
          </a:p>
        </p:txBody>
      </p:sp>
      <p:sp>
        <p:nvSpPr>
          <p:cNvPr id="12" name="Text 10"/>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2E3440"/>
        </a:solidFill>
      </p:bgPr>
    </p:bg>
    <p:spTree>
      <p:nvGrpSpPr>
        <p:cNvPr id="1" name=""/>
        <p:cNvGrpSpPr/>
        <p:nvPr/>
      </p:nvGrpSpPr>
      <p:grpSpPr>
        <a:xfrm>
          <a:off x="0" y="0"/>
          <a:ext cx="0" cy="0"/>
          <a:chOff x="0" y="0"/>
          <a:chExt cx="0" cy="0"/>
        </a:xfrm>
      </p:grpSpPr>
      <p:sp>
        <p:nvSpPr>
          <p:cNvPr id="2" name="Shape 0"/>
          <p:cNvSpPr/>
          <p:nvPr/>
        </p:nvSpPr>
        <p:spPr>
          <a:xfrm>
            <a:off x="-1371600" y="3840480"/>
            <a:ext cx="4572000" cy="4572000"/>
          </a:xfrm>
          <a:prstGeom prst="ellipse">
            <a:avLst/>
          </a:prstGeom>
          <a:solidFill>
            <a:srgbClr val="434C5E"/>
          </a:solidFill>
          <a:ln w="12700">
            <a:solidFill>
              <a:srgbClr val="434C5E"/>
            </a:solidFill>
            <a:prstDash val="solid"/>
          </a:ln>
        </p:spPr>
      </p:sp>
      <p:sp>
        <p:nvSpPr>
          <p:cNvPr id="3" name="Text 1"/>
          <p:cNvSpPr txBox="1"/>
          <p:nvPr/>
        </p:nvSpPr>
        <p:spPr>
          <a:xfrm>
            <a:off x="548640" y="1097280"/>
            <a:ext cx="5486400" cy="457200"/>
          </a:xfrm>
          <a:prstGeom prst="rect">
            <a:avLst/>
          </a:prstGeom>
          <a:noFill/>
          <a:ln/>
        </p:spPr>
        <p:txBody>
          <a:bodyPr wrap="square" lIns="0" tIns="0" rIns="0" bIns="0" rtlCol="0" anchor="ctr"/>
          <a:lstStyle/>
          <a:p>
            <a:pPr indent="0" marL="0">
              <a:buNone/>
            </a:pPr>
            <a:r>
              <a:rPr lang="en-US" sz="1400" spc="300" kern="0" dirty="0">
                <a:solidFill>
                  <a:srgbClr val="6FC5B8"/>
                </a:solidFill>
                <a:latin typeface="Calibri" pitchFamily="34" charset="0"/>
                <a:ea typeface="Calibri" pitchFamily="34" charset="-122"/>
                <a:cs typeface="Calibri" pitchFamily="34" charset="-120"/>
              </a:rPr>
              <a:t>MODULE 4  ·  15:00 - 16:00</a:t>
            </a:r>
            <a:endParaRPr lang="en-US" sz="1400" dirty="0"/>
          </a:p>
        </p:txBody>
      </p:sp>
      <p:sp>
        <p:nvSpPr>
          <p:cNvPr id="4" name="Text 2"/>
          <p:cNvSpPr txBox="1"/>
          <p:nvPr/>
        </p:nvSpPr>
        <p:spPr>
          <a:xfrm>
            <a:off x="548640" y="1554480"/>
            <a:ext cx="6400800" cy="164592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Shipping, and where to go next</a:t>
            </a:r>
            <a:endParaRPr lang="en-US" sz="4000" dirty="0"/>
          </a:p>
        </p:txBody>
      </p:sp>
      <p:sp>
        <p:nvSpPr>
          <p:cNvPr id="5" name="Shape 3"/>
          <p:cNvSpPr/>
          <p:nvPr/>
        </p:nvSpPr>
        <p:spPr>
          <a:xfrm>
            <a:off x="6949440" y="1188720"/>
            <a:ext cx="4663440" cy="4389120"/>
          </a:xfrm>
          <a:prstGeom prst="roundRect">
            <a:avLst>
              <a:gd name="adj" fmla="val 2083"/>
            </a:avLst>
          </a:prstGeom>
          <a:solidFill>
            <a:srgbClr val="434C5E"/>
          </a:solidFill>
          <a:ln w="6350">
            <a:solidFill>
              <a:srgbClr val="434C5E"/>
            </a:solidFill>
            <a:prstDash val="solid"/>
          </a:ln>
          <a:effectLst>
            <a:outerShdw sx="100000" sy="100000" kx="0" ky="0" algn="bl" rotWithShape="0" blurRad="38100" dist="12700" dir="5400000">
              <a:srgbClr val="000000">
                <a:alpha val="8000"/>
              </a:srgbClr>
            </a:outerShdw>
          </a:effectLst>
        </p:spPr>
      </p:sp>
      <p:sp>
        <p:nvSpPr>
          <p:cNvPr id="6" name="Text 4"/>
          <p:cNvSpPr txBox="1"/>
          <p:nvPr/>
        </p:nvSpPr>
        <p:spPr>
          <a:xfrm>
            <a:off x="7223760" y="1371600"/>
            <a:ext cx="4206240" cy="365760"/>
          </a:xfrm>
          <a:prstGeom prst="rect">
            <a:avLst/>
          </a:prstGeom>
          <a:noFill/>
          <a:ln/>
        </p:spPr>
        <p:txBody>
          <a:bodyPr wrap="square" lIns="0" tIns="0" rIns="0" bIns="0" rtlCol="0" anchor="ctr"/>
          <a:lstStyle/>
          <a:p>
            <a:pPr indent="0" marL="0">
              <a:buNone/>
            </a:pPr>
            <a:r>
              <a:rPr lang="en-US" sz="1100" dirty="0">
                <a:solidFill>
                  <a:srgbClr val="6FC5B8"/>
                </a:solidFill>
                <a:latin typeface="Calibri" pitchFamily="34" charset="0"/>
                <a:ea typeface="Calibri" pitchFamily="34" charset="-122"/>
                <a:cs typeface="Calibri" pitchFamily="34" charset="-120"/>
              </a:rPr>
              <a:t>By the end of this module you can</a:t>
            </a:r>
            <a:endParaRPr lang="en-US" sz="1100" dirty="0"/>
          </a:p>
        </p:txBody>
      </p:sp>
      <p:sp>
        <p:nvSpPr>
          <p:cNvPr id="7" name="Text 5"/>
          <p:cNvSpPr txBox="1"/>
          <p:nvPr/>
        </p:nvSpPr>
        <p:spPr>
          <a:xfrm>
            <a:off x="7223760" y="1783080"/>
            <a:ext cx="4206240" cy="365760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Find and fix a performance problem with DevTools</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Meet the six accessibility checks that cost almost nothing</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Build a signed release and know what a store needs</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Leave with a clear next step</a:t>
            </a:r>
            <a:endParaRPr lang="en-US" sz="1400" dirty="0"/>
          </a:p>
        </p:txBody>
      </p:sp>
      <p:sp>
        <p:nvSpPr>
          <p:cNvPr id="8" name="Text 6"/>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8 - Data, Testing and Shipping</a:t>
            </a:r>
            <a:endParaRPr lang="en-US" sz="900" dirty="0"/>
          </a:p>
        </p:txBody>
      </p:sp>
      <p:sp>
        <p:nvSpPr>
          <p:cNvPr id="9" name="Text 7"/>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Performance</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measure, then fix</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MEASURE IN PROFILE MODE. Debug numbers are meaningless.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flutter run --profile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THE BUDGET: 16.7 ms per frame at 60 Hz, 8.3 ms at 120 Hz.</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That covers building, laying out and painting everything.</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THE CHECKLIST, in order of how often it is the answer: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1. const constructors everywhere the compiler allows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2. extract widgets so a rebuild touches less of the tree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3. ListView.builder, never a Column of a thousand children</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4. context.select instead of watch for expensive widgets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5. cacheWidth and cacheHeight on large images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6. RepaintBoundary around something animating inside a</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static parent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7. compute() for any CPU work over a few milliseconds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8. do not await network calls in main() before runApp</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FINDING THE PROBLEM</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DevTools, Performance tab, record, use the app, look for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frames over the line. Click one and it shows you what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built during it.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DevTools, Inspector, Track widget rebuilds. Turn it on,</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use the app, and watch which widgets rebuild that should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not have.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dart devtools  or press v in the flutter run terminal</a:t>
            </a:r>
            <a:endParaRPr lang="en-US" sz="9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Measure in profile mode. The budget is 16.7 milliseconds per frame, and the first two items on the checklist are the answer far more often than the rest.</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8 - Data, Testing and Shipping</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Accessibility, in six checks  (1/2)</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most of it costs one line</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Accessibility is not optional in most enterprise and public</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sector work, and most of it costs one line.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1. LABEL EVERYTHING A SCREEN READER WILL ANNOUNCE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IconButton(</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icon: const Icon(Icons.delete),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tooltip: 'Delete line',          // announced, and shown on hover</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onPressed: _delete,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Image.asset('assets/logo.png', semanticLabel: 'OrderFlow logo')</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2. WRAP ANYTHING CUSTOM IN Semantics</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Semantics(</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label: 'Order total, 11 500 rand',</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child: Text(order.subtotal.rands),</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a:t>
            </a:r>
            <a:endParaRPr lang="en-US" sz="11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8 - Data, Testing and Shipping</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Accessibility, in six checks  (2/2)</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most of it costs one line</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3. TEST AT 200 PER CENT TEXT SCALE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Device settings, Display, Font size, largest.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Anything with a fixed height around text will break.</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4. TOUCH TARGETS MUST BE AT LEAST 48 BY 48</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IconButton already is. A bare GestureDetector on a small</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icon is not.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5. CONTRAST: ColorScheme.fromSeed gives you correct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contrast between a role and its on colour. Hard-coded</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colours are where contrast failures come from.</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6. DO NOT RELY ON COLOUR ALONE. A red border with no</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message is invisible to a colour-blind user.</a:t>
            </a:r>
            <a:endParaRPr lang="en-US" sz="11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Tooltips, semantic labels, 200 per cent text, 48 by 48 touch targets, contrast from the theme, and never colour alone.</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8 - Data, Testing and Shipping</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Building a release  (1/2)</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demonstration only</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1. CHECK IT BUILDS AND RUNS AS A RELEASE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flutter build apk --release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flutter run --release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2. SET THE APPLICATION ID AND VERSION</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android/app/build.gradle.kts   applicationId</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pubspec.yaml                   version: 1.0.0+1</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Before the plus is what users see.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After the plus is the build number, and it MUST go up</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for every upload to a store.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3. ICONS AND SPLASH, without opening the native projects</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flutter pub add --dev flutter_launcher_icons</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flutter pub add --dev flutter_native_splash</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then configure in pubspec and run each package's command</a:t>
            </a:r>
            <a:endParaRPr lang="en-US" sz="11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8 - Data, Testing and Shipping</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34</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Building a release  (2/2)</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demonstration only</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4. SIGN IT. A release build for a store must be signed with</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 keystore you create once and then guard carefully.</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Lose it and you cannot update your app, ever.</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keytool -genkey -v -keystore upload-keystore.jks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-keyalg RSA -keysize 2048 -validity 10000 -alias upload</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5. BUILD THE BUNDLE for Google Play</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flutter build appbundle --release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6. CHECK THE SIZE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flutter build apk --analyze-size --target-platform android-arm64</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iOS needs a Mac, an Apple Developer account, and Xcode.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The Flutter side is identical; everything different is</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Apple's process rather than Flutter's.</a:t>
            </a:r>
            <a:endParaRPr lang="en-US" sz="11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A release build, a version number that must increase, icons, a keystore you must never lose, and an App Bundle for the store.</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8 - Data, Testing and Shipping</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35</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CI and lints: the four gates  (1/2)</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.github/workflows/ci.yml · analysis_options.yaml</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.github/workflows/ci.yml</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name: CI</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on: [push, pull_request]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jobs: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test: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runs-on: ubuntu-latest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steps: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uses: actions/checkout@v4</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uses: subosito/flutter-action@v2</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with:</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channel: stable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run: flutter pub get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run: dart format --set-exit-if-changed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run: flutter analyze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run: flutter test --coverage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run: flutter build apk --release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THE FOUR GATES, and they are worth having from day one: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dart format --set-exit-if-changed   no formatting debates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flutter analyze                     no warnings merged</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flutter test                        nothing merged broken</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flutter build                        it still compiles for real</a:t>
            </a:r>
            <a:endParaRPr lang="en-US" sz="10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8 - Data, Testing and Shipping</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36</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CI and lints: the four gates  (2/2)</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.github/workflows/ci.yml · analysis_options.yaml</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analysis_options.yaml</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include: package:flutter_lints/flutter.yaml</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linter:</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rules: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always_declare_return_types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avoid_print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prefer_const_constructors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prefer_final_locals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unawaited_futures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use_build_context_synchronously</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analyzer:</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errors: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promote the dangerous ones from warning to error</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use_build_context_synchronously: error</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unawaited_futures: error</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flutter analyze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dart fix --dry-run</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dart fix --apply</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dart format .</a:t>
            </a:r>
            <a:endParaRPr lang="en-US" sz="10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Format, analyse, test, build. Four gates, twenty lines of YAML, and they are worth having from the first commit rather than from month six.</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8 - Data, Testing and Shipping</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37</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Where to go next  (1/2)</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the map</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WHAT YOU HAVE NOT SEEN, roughly in the order you will want it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ROUTING AT SCALE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go_router: URL routes, typed parameters, redirect guards,</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deep links from outside the app</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STATE MANAGEMENT, THE NEXT STEP</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riverpod: the same ideas without BuildContext, testable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in isolation, and no runtime provider-not-found</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REAL DATABASES</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sqflite for SQLite and SQL</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drift for a typed query layer on top of it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CODE GENERATION</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freezed: immutable classes, copyWith, equality and</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sealed unions, all generated</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json_serializable: the JSON you wrote by hand today</a:t>
            </a:r>
            <a:endParaRPr lang="en-US" sz="11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8 - Data, Testing and Shipping</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38</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Where to go next  (2/2)</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the map</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ANIMATION</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implicit: AnimatedContainer, AnimatedOpacity, one line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explicit: AnimationController and Tween</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Hero: a shared element between two screens</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PLATFORM CODE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MethodChannel: call Kotlin or Swift from Dart when no</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plugin exists for what you need</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THE REST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flavours for dev, staging and production builds</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firebase_crashlytics or sentry for crash reporting</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integration_test for real-device journeys</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golden tests for pixel comparison</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flutter_secure_storage for tokens and secrets</a:t>
            </a:r>
            <a:endParaRPr lang="en-US" sz="11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None of this is needed for the app you built. All of it is a step you can take on your own now, because the foundations are in place.</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8 - Data, Testing and Shipping</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39</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2E3440"/>
        </a:solidFill>
      </p:bgPr>
    </p:bg>
    <p:spTree>
      <p:nvGrpSpPr>
        <p:cNvPr id="1" name=""/>
        <p:cNvGrpSpPr/>
        <p:nvPr/>
      </p:nvGrpSpPr>
      <p:grpSpPr>
        <a:xfrm>
          <a:off x="0" y="0"/>
          <a:ext cx="0" cy="0"/>
          <a:chOff x="0" y="0"/>
          <a:chExt cx="0" cy="0"/>
        </a:xfrm>
      </p:grpSpPr>
      <p:sp>
        <p:nvSpPr>
          <p:cNvPr id="2" name="Shape 0"/>
          <p:cNvSpPr/>
          <p:nvPr/>
        </p:nvSpPr>
        <p:spPr>
          <a:xfrm>
            <a:off x="9445752" y="-1371600"/>
            <a:ext cx="4572000" cy="4572000"/>
          </a:xfrm>
          <a:prstGeom prst="ellipse">
            <a:avLst/>
          </a:prstGeom>
          <a:solidFill>
            <a:srgbClr val="434C5E"/>
          </a:solidFill>
          <a:ln w="12700">
            <a:solidFill>
              <a:srgbClr val="434C5E"/>
            </a:solidFill>
            <a:prstDash val="solid"/>
          </a:ln>
        </p:spPr>
      </p:sp>
      <p:sp>
        <p:nvSpPr>
          <p:cNvPr id="3" name="Text 1"/>
          <p:cNvSpPr txBox="1"/>
          <p:nvPr/>
        </p:nvSpPr>
        <p:spPr>
          <a:xfrm>
            <a:off x="548640" y="548640"/>
            <a:ext cx="8229600" cy="82296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Course close</a:t>
            </a:r>
            <a:endParaRPr lang="en-US" sz="3400" dirty="0"/>
          </a:p>
        </p:txBody>
      </p:sp>
      <p:sp>
        <p:nvSpPr>
          <p:cNvPr id="4" name="Text 2"/>
          <p:cNvSpPr txBox="1"/>
          <p:nvPr/>
        </p:nvSpPr>
        <p:spPr>
          <a:xfrm>
            <a:off x="548640" y="1554480"/>
            <a:ext cx="6583680" cy="4114800"/>
          </a:xfrm>
          <a:prstGeom prst="rect">
            <a:avLst/>
          </a:prstGeom>
          <a:noFill/>
          <a:ln/>
        </p:spPr>
        <p:txBody>
          <a:bodyPr wrap="square" lIns="0" tIns="0" rIns="0" bIns="0" rtlCol="0" anchor="t"/>
          <a:lstStyle/>
          <a:p>
            <a:pPr marL="177800" indent="-177800">
              <a:spcAft>
                <a:spcPts val="900"/>
              </a:spcAft>
              <a:buSzPct val="100000"/>
              <a:buChar char="•"/>
            </a:pPr>
            <a:r>
              <a:rPr lang="en-US" sz="1500" dirty="0">
                <a:solidFill>
                  <a:srgbClr val="FFFFFF"/>
                </a:solidFill>
                <a:latin typeface="Calibri" pitchFamily="34" charset="0"/>
                <a:ea typeface="Calibri" pitchFamily="34" charset="-122"/>
                <a:cs typeface="Calibri" pitchFamily="34" charset="-120"/>
              </a:rPr>
              <a:t>Eight days ago most of you had never written Dart. Today the app calls a real API, stores data on the device, has three layers of tests, and builds a release.</a:t>
            </a:r>
            <a:endParaRPr lang="en-US" sz="1500" dirty="0"/>
          </a:p>
          <a:p>
            <a:pPr marL="177800" indent="-177800">
              <a:spcAft>
                <a:spcPts val="900"/>
              </a:spcAft>
              <a:buSzPct val="100000"/>
              <a:buChar char="•"/>
            </a:pPr>
            <a:r>
              <a:rPr lang="en-US" sz="1500" dirty="0">
                <a:solidFill>
                  <a:srgbClr val="FFFFFF"/>
                </a:solidFill>
                <a:latin typeface="Calibri" pitchFamily="34" charset="0"/>
                <a:ea typeface="Calibri" pitchFamily="34" charset="-122"/>
                <a:cs typeface="Calibri" pitchFamily="34" charset="-120"/>
              </a:rPr>
              <a:t>Four days on the language was the right call. Every Flutter problem you will hit is a Dart problem wearing a costume.</a:t>
            </a:r>
            <a:endParaRPr lang="en-US" sz="1500" dirty="0"/>
          </a:p>
          <a:p>
            <a:pPr marL="177800" indent="-177800">
              <a:spcAft>
                <a:spcPts val="900"/>
              </a:spcAft>
              <a:buSzPct val="100000"/>
              <a:buChar char="•"/>
            </a:pPr>
            <a:r>
              <a:rPr lang="en-US" sz="1500" dirty="0">
                <a:solidFill>
                  <a:srgbClr val="FFFFFF"/>
                </a:solidFill>
                <a:latin typeface="Calibri" pitchFamily="34" charset="0"/>
                <a:ea typeface="Calibri" pitchFamily="34" charset="-122"/>
                <a:cs typeface="Calibri" pitchFamily="34" charset="-120"/>
              </a:rPr>
              <a:t>The architecture is the point: domain knows nothing about the UI, services are injected, and the model imports nothing from Flutter.</a:t>
            </a:r>
            <a:endParaRPr lang="en-US" sz="1500" dirty="0"/>
          </a:p>
          <a:p>
            <a:pPr marL="177800" indent="-177800">
              <a:spcAft>
                <a:spcPts val="900"/>
              </a:spcAft>
              <a:buSzPct val="100000"/>
              <a:buChar char="•"/>
            </a:pPr>
            <a:r>
              <a:rPr lang="en-US" sz="1500" dirty="0">
                <a:solidFill>
                  <a:srgbClr val="FFFFFF"/>
                </a:solidFill>
                <a:latin typeface="Calibri" pitchFamily="34" charset="0"/>
                <a:ea typeface="Calibri" pitchFamily="34" charset="-122"/>
                <a:cs typeface="Calibri" pitchFamily="34" charset="-120"/>
              </a:rPr>
              <a:t>Sealed states and exhaustive switches mean you cannot forget the loading case or the error case. The compiler enforces it.</a:t>
            </a:r>
            <a:endParaRPr lang="en-US" sz="1500" dirty="0"/>
          </a:p>
          <a:p>
            <a:pPr marL="177800" indent="-177800">
              <a:spcAft>
                <a:spcPts val="900"/>
              </a:spcAft>
              <a:buSzPct val="100000"/>
              <a:buChar char="•"/>
            </a:pPr>
            <a:r>
              <a:rPr lang="en-US" sz="1500" dirty="0">
                <a:solidFill>
                  <a:srgbClr val="FFFFFF"/>
                </a:solidFill>
                <a:latin typeface="Calibri" pitchFamily="34" charset="0"/>
                <a:ea typeface="Calibri" pitchFamily="34" charset="-122"/>
                <a:cs typeface="Calibri" pitchFamily="34" charset="-120"/>
              </a:rPr>
              <a:t>Every failure becomes a sentence a customer could read. No stack traces, no status codes, no leaked exception text.</a:t>
            </a:r>
            <a:endParaRPr lang="en-US" sz="1500" dirty="0"/>
          </a:p>
          <a:p>
            <a:pPr marL="177800" indent="-177800">
              <a:spcAft>
                <a:spcPts val="900"/>
              </a:spcAft>
              <a:buSzPct val="100000"/>
              <a:buChar char="•"/>
            </a:pPr>
            <a:r>
              <a:rPr lang="en-US" sz="1500" dirty="0">
                <a:solidFill>
                  <a:srgbClr val="FFFFFF"/>
                </a:solidFill>
                <a:latin typeface="Calibri" pitchFamily="34" charset="0"/>
                <a:ea typeface="Calibri" pitchFamily="34" charset="-122"/>
                <a:cs typeface="Calibri" pitchFamily="34" charset="-120"/>
              </a:rPr>
              <a:t>The handbooks contain every file in full. You are not reconstructing anything from memory on Monday.</a:t>
            </a:r>
            <a:endParaRPr lang="en-US" sz="1500" dirty="0"/>
          </a:p>
        </p:txBody>
      </p:sp>
      <p:sp>
        <p:nvSpPr>
          <p:cNvPr id="5" name="Shape 3"/>
          <p:cNvSpPr/>
          <p:nvPr/>
        </p:nvSpPr>
        <p:spPr>
          <a:xfrm>
            <a:off x="7589520" y="1554480"/>
            <a:ext cx="4023360" cy="3840480"/>
          </a:xfrm>
          <a:prstGeom prst="roundRect">
            <a:avLst>
              <a:gd name="adj" fmla="val 2381"/>
            </a:avLst>
          </a:prstGeom>
          <a:solidFill>
            <a:srgbClr val="434C5E"/>
          </a:solidFill>
          <a:ln w="6350">
            <a:solidFill>
              <a:srgbClr val="434C5E"/>
            </a:solidFill>
            <a:prstDash val="solid"/>
          </a:ln>
          <a:effectLst>
            <a:outerShdw sx="100000" sy="100000" kx="0" ky="0" algn="bl" rotWithShape="0" blurRad="38100" dist="12700" dir="5400000">
              <a:srgbClr val="000000">
                <a:alpha val="8000"/>
              </a:srgbClr>
            </a:outerShdw>
          </a:effectLst>
        </p:spPr>
      </p:sp>
      <p:sp>
        <p:nvSpPr>
          <p:cNvPr id="6" name="Text 4"/>
          <p:cNvSpPr txBox="1"/>
          <p:nvPr/>
        </p:nvSpPr>
        <p:spPr>
          <a:xfrm>
            <a:off x="7818120" y="1691640"/>
            <a:ext cx="3657600" cy="365760"/>
          </a:xfrm>
          <a:prstGeom prst="rect">
            <a:avLst/>
          </a:prstGeom>
          <a:noFill/>
          <a:ln/>
        </p:spPr>
        <p:txBody>
          <a:bodyPr wrap="square" lIns="0" tIns="0" rIns="0" bIns="0" rtlCol="0" anchor="ctr"/>
          <a:lstStyle/>
          <a:p>
            <a:pPr indent="0" marL="0">
              <a:buNone/>
            </a:pPr>
            <a:r>
              <a:rPr lang="en-US" sz="1100" dirty="0">
                <a:solidFill>
                  <a:srgbClr val="6FC5B8"/>
                </a:solidFill>
                <a:latin typeface="Calibri" pitchFamily="34" charset="0"/>
                <a:ea typeface="Calibri" pitchFamily="34" charset="-122"/>
                <a:cs typeface="Calibri" pitchFamily="34" charset="-120"/>
              </a:rPr>
              <a:t>Tomorrow</a:t>
            </a:r>
            <a:endParaRPr lang="en-US" sz="1100" dirty="0"/>
          </a:p>
        </p:txBody>
      </p:sp>
      <p:sp>
        <p:nvSpPr>
          <p:cNvPr id="7" name="Text 5"/>
          <p:cNvSpPr txBox="1"/>
          <p:nvPr/>
        </p:nvSpPr>
        <p:spPr>
          <a:xfrm>
            <a:off x="7818120" y="2103120"/>
            <a:ext cx="3657600" cy="3108960"/>
          </a:xfrm>
          <a:prstGeom prst="rect">
            <a:avLst/>
          </a:prstGeom>
          <a:noFill/>
          <a:ln/>
        </p:spPr>
        <p:txBody>
          <a:bodyPr wrap="square" lIns="0" tIns="0" rIns="0" bIns="0" rtlCol="0" anchor="t"/>
          <a:lstStyle/>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Start your real project from the folder structure in the Day 1 handbook</a:t>
            </a:r>
            <a:endParaRPr lang="en-US" sz="1300" dirty="0"/>
          </a:p>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Add the four CI gates on day one, not month six</a:t>
            </a:r>
            <a:endParaRPr lang="en-US" sz="1300" dirty="0"/>
          </a:p>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Pick one state management approach and be consistent</a:t>
            </a:r>
            <a:endParaRPr lang="en-US" sz="1300" dirty="0"/>
          </a:p>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Write the unit tests for your pure logic first. They are the cheapest tests you will ever write</a:t>
            </a:r>
            <a:endParaRPr lang="en-US" sz="1300" dirty="0"/>
          </a:p>
        </p:txBody>
      </p:sp>
      <p:sp>
        <p:nvSpPr>
          <p:cNvPr id="8" name="Text 6"/>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8 - Data, Testing and Shipping</a:t>
            </a:r>
            <a:endParaRPr lang="en-US" sz="900" dirty="0"/>
          </a:p>
        </p:txBody>
      </p:sp>
      <p:sp>
        <p:nvSpPr>
          <p:cNvPr id="9" name="Text 7"/>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40</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PLAN B · When it breaks in class</a:t>
            </a:r>
            <a:endParaRPr lang="en-US" sz="30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914400"/>
        </p:xfrm>
        <a:graphic>
          <a:graphicData uri="http://schemas.openxmlformats.org/drawingml/2006/table">
            <a:tbl>
              <a:tblPr/>
              <a:tblGrid>
                <a:gridCol w="3771168"/>
                <a:gridCol w="7320504"/>
              </a:tblGrid>
              <a:tr h="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If this happens</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2E3440"/>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Do this instead</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2E3440"/>
                    </a:solidFill>
                  </a:tcPr>
                </a:tc>
              </a:tr>
              <a:tr h="0">
                <a:tc>
                  <a:txBody>
                    <a:bodyPr/>
                    <a:lstStyle/>
                    <a:p>
                      <a:pPr indent="0" marL="0">
                        <a:buNone/>
                      </a:pPr>
                      <a:r>
                        <a:rPr lang="en-US" sz="1050" b="1" dirty="0">
                          <a:solidFill>
                            <a:srgbClr val="22272E"/>
                          </a:solidFill>
                          <a:latin typeface="Calibri" pitchFamily="34" charset="0"/>
                          <a:ea typeface="Calibri" pitchFamily="34" charset="-122"/>
                          <a:cs typeface="Calibri" pitchFamily="34" charset="-120"/>
                        </a:rPr>
                        <a:t>The mock API is unreachable</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50" dirty="0">
                          <a:solidFill>
                            <a:srgbClr val="22272E"/>
                          </a:solidFill>
                          <a:latin typeface="Calibri" pitchFamily="34" charset="0"/>
                          <a:ea typeface="Calibri" pitchFamily="34" charset="-122"/>
                          <a:cs typeface="Calibri" pitchFamily="34" charset="-120"/>
                        </a:rPr>
                        <a:t>Point every machine at your laptop's LAN address, or fall back to the fake service. The interface is identical, so Labs 8.2 and 8.3 are unaffected</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22272E"/>
                          </a:solidFill>
                          <a:latin typeface="Calibri" pitchFamily="34" charset="0"/>
                          <a:ea typeface="Calibri" pitchFamily="34" charset="-122"/>
                          <a:cs typeface="Calibri" pitchFamily="34" charset="-120"/>
                        </a:rPr>
                        <a:t>Android emulator cannot reach localhost</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050" dirty="0">
                          <a:solidFill>
                            <a:srgbClr val="22272E"/>
                          </a:solidFill>
                          <a:latin typeface="Calibri" pitchFamily="34" charset="0"/>
                          <a:ea typeface="Calibri" pitchFamily="34" charset="-122"/>
                          <a:cs typeface="Calibri" pitchFamily="34" charset="-120"/>
                        </a:rPr>
                        <a:t>From an Android emulator the host machine is 10.0.2.2, not localhost. This catches somebody every time</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950" b="1" dirty="0">
                          <a:solidFill>
                            <a:srgbClr val="22272E"/>
                          </a:solidFill>
                          <a:latin typeface="Courier New" pitchFamily="34" charset="0"/>
                          <a:ea typeface="Courier New" pitchFamily="34" charset="-122"/>
                          <a:cs typeface="Courier New" pitchFamily="34" charset="-120"/>
                        </a:rPr>
                        <a:t>flutter pub add fails on the venue network</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50" dirty="0">
                          <a:solidFill>
                            <a:srgbClr val="22272E"/>
                          </a:solidFill>
                          <a:latin typeface="Calibri" pitchFamily="34" charset="0"/>
                          <a:ea typeface="Calibri" pitchFamily="34" charset="-122"/>
                          <a:cs typeface="Calibri" pitchFamily="34" charset="-120"/>
                        </a:rPr>
                        <a:t>Hand out the pubspec you resolved last night and run flutter pub get. Copy the pub cache from a USB stick if needed</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950" b="1" dirty="0">
                          <a:solidFill>
                            <a:srgbClr val="22272E"/>
                          </a:solidFill>
                          <a:latin typeface="Courier New" pitchFamily="34" charset="0"/>
                          <a:ea typeface="Courier New" pitchFamily="34" charset="-122"/>
                          <a:cs typeface="Courier New" pitchFamily="34" charset="-120"/>
                        </a:rPr>
                        <a:t>build_runner fails or hangs</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050" dirty="0">
                          <a:solidFill>
                            <a:srgbClr val="22272E"/>
                          </a:solidFill>
                          <a:latin typeface="Calibri" pitchFamily="34" charset="0"/>
                          <a:ea typeface="Calibri" pitchFamily="34" charset="-122"/>
                          <a:cs typeface="Calibri" pitchFamily="34" charset="-120"/>
                        </a:rPr>
                        <a:t>The hand-written fromJson is already correct. Generation is an optimisation, not a requirement. Move on</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1050" b="1" dirty="0">
                          <a:solidFill>
                            <a:srgbClr val="22272E"/>
                          </a:solidFill>
                          <a:latin typeface="Calibri" pitchFamily="34" charset="0"/>
                          <a:ea typeface="Calibri" pitchFamily="34" charset="-122"/>
                          <a:cs typeface="Calibri" pitchFamily="34" charset="-120"/>
                        </a:rPr>
                        <a:t>A test will not pass on one machine</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50" dirty="0">
                          <a:solidFill>
                            <a:srgbClr val="22272E"/>
                          </a:solidFill>
                          <a:latin typeface="Calibri" pitchFamily="34" charset="0"/>
                          <a:ea typeface="Calibri" pitchFamily="34" charset="-122"/>
                          <a:cs typeface="Calibri" pitchFamily="34" charset="-120"/>
                        </a:rPr>
                        <a:t>Do not debug it during the lab. The appendix has the full test file. They copy it, see it green, and diff afterwards</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22272E"/>
                          </a:solidFill>
                          <a:latin typeface="Calibri" pitchFamily="34" charset="0"/>
                          <a:ea typeface="Calibri" pitchFamily="34" charset="-122"/>
                          <a:cs typeface="Calibri" pitchFamily="34" charset="-120"/>
                        </a:rPr>
                        <a:t>Nobody can build a signed release</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050" dirty="0">
                          <a:solidFill>
                            <a:srgbClr val="22272E"/>
                          </a:solidFill>
                          <a:latin typeface="Calibri" pitchFamily="34" charset="0"/>
                          <a:ea typeface="Calibri" pitchFamily="34" charset="-122"/>
                          <a:cs typeface="Calibri" pitchFamily="34" charset="-120"/>
                        </a:rPr>
                        <a:t>They were not supposed to. This block is a demonstration. Show yours and hand them the commands</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1050" b="1" dirty="0">
                          <a:solidFill>
                            <a:srgbClr val="22272E"/>
                          </a:solidFill>
                          <a:latin typeface="Calibri" pitchFamily="34" charset="0"/>
                          <a:ea typeface="Calibri" pitchFamily="34" charset="-122"/>
                          <a:cs typeface="Calibri" pitchFamily="34" charset="-120"/>
                        </a:rPr>
                        <a:t>You are thirty minutes behind at 15:00</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50" dirty="0">
                          <a:solidFill>
                            <a:srgbClr val="22272E"/>
                          </a:solidFill>
                          <a:latin typeface="Calibri" pitchFamily="34" charset="0"/>
                          <a:ea typeface="Calibri" pitchFamily="34" charset="-122"/>
                          <a:cs typeface="Calibri" pitchFamily="34" charset="-120"/>
                        </a:rPr>
                        <a:t>Cut performance and CI to five minutes each, keep accessibility and release, and never cut the close</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22272E"/>
                          </a:solidFill>
                          <a:latin typeface="Calibri" pitchFamily="34" charset="0"/>
                          <a:ea typeface="Calibri" pitchFamily="34" charset="-122"/>
                          <a:cs typeface="Calibri" pitchFamily="34" charset="-120"/>
                        </a:rPr>
                        <a:t>A question you cannot answer</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050" dirty="0">
                          <a:solidFill>
                            <a:srgbClr val="22272E"/>
                          </a:solidFill>
                          <a:latin typeface="Calibri" pitchFamily="34" charset="0"/>
                          <a:ea typeface="Calibri" pitchFamily="34" charset="-122"/>
                          <a:cs typeface="Calibri" pitchFamily="34" charset="-120"/>
                        </a:rPr>
                        <a:t>Whiteboard it, answer it in the last ten minutes or by email. Doing that once honestly is worth more than a confident guess</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bl>
          </a:graphicData>
        </a:graphic>
      </p:graphicFrame>
      <p:sp>
        <p:nvSpPr>
          <p:cNvPr id="4" name="Text 1"/>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8 - Data, Testing and Shipping</a:t>
            </a:r>
            <a:endParaRPr lang="en-US" sz="900" dirty="0"/>
          </a:p>
        </p:txBody>
      </p:sp>
      <p:sp>
        <p:nvSpPr>
          <p:cNvPr id="5" name="Text 2"/>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41</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2A9D8F"/>
        </a:solidFill>
      </p:bgPr>
    </p:bg>
    <p:spTree>
      <p:nvGrpSpPr>
        <p:cNvPr id="1" name=""/>
        <p:cNvGrpSpPr/>
        <p:nvPr/>
      </p:nvGrpSpPr>
      <p:grpSpPr>
        <a:xfrm>
          <a:off x="0" y="0"/>
          <a:ext cx="0" cy="0"/>
          <a:chOff x="0" y="0"/>
          <a:chExt cx="0" cy="0"/>
        </a:xfrm>
      </p:grpSpPr>
      <p:sp>
        <p:nvSpPr>
          <p:cNvPr id="2" name="Text 0"/>
          <p:cNvSpPr txBox="1"/>
          <p:nvPr/>
        </p:nvSpPr>
        <p:spPr>
          <a:xfrm>
            <a:off x="548640" y="2011680"/>
            <a:ext cx="7315200" cy="457200"/>
          </a:xfrm>
          <a:prstGeom prst="rect">
            <a:avLst/>
          </a:prstGeom>
          <a:noFill/>
          <a:ln/>
        </p:spPr>
        <p:txBody>
          <a:bodyPr wrap="square" lIns="0" tIns="0" rIns="0" bIns="0" rtlCol="0" anchor="ctr"/>
          <a:lstStyle/>
          <a:p>
            <a:pPr indent="0" marL="0">
              <a:buNone/>
            </a:pPr>
            <a:r>
              <a:rPr lang="en-US" sz="1400" spc="400" kern="0" dirty="0">
                <a:solidFill>
                  <a:srgbClr val="2E3440"/>
                </a:solidFill>
                <a:latin typeface="Calibri" pitchFamily="34" charset="0"/>
                <a:ea typeface="Calibri" pitchFamily="34" charset="-122"/>
                <a:cs typeface="Calibri" pitchFamily="34" charset="-120"/>
              </a:rPr>
              <a:t>APPENDIX</a:t>
            </a:r>
            <a:endParaRPr lang="en-US" sz="1400" dirty="0"/>
          </a:p>
        </p:txBody>
      </p:sp>
      <p:sp>
        <p:nvSpPr>
          <p:cNvPr id="3" name="Text 1"/>
          <p:cNvSpPr txBox="1"/>
          <p:nvPr/>
        </p:nvSpPr>
        <p:spPr>
          <a:xfrm>
            <a:off x="548640" y="2468880"/>
            <a:ext cx="10058400" cy="1097280"/>
          </a:xfrm>
          <a:prstGeom prst="rect">
            <a:avLst/>
          </a:prstGeom>
          <a:noFill/>
          <a:ln/>
        </p:spPr>
        <p:txBody>
          <a:bodyPr wrap="square" lIns="0" tIns="0" rIns="0" bIns="0" rtlCol="0" anchor="ctr"/>
          <a:lstStyle/>
          <a:p>
            <a:pPr indent="0" marL="0">
              <a:buNone/>
            </a:pPr>
            <a:r>
              <a:rPr lang="en-US" sz="4000" b="1" dirty="0">
                <a:solidFill>
                  <a:srgbClr val="2E3440"/>
                </a:solidFill>
                <a:latin typeface="Calibri" pitchFamily="34" charset="0"/>
                <a:ea typeface="Calibri" pitchFamily="34" charset="-122"/>
                <a:cs typeface="Calibri" pitchFamily="34" charset="-120"/>
              </a:rPr>
              <a:t>Day 8 reference</a:t>
            </a:r>
            <a:endParaRPr lang="en-US" sz="4000" dirty="0"/>
          </a:p>
        </p:txBody>
      </p:sp>
      <p:sp>
        <p:nvSpPr>
          <p:cNvPr id="4" name="Text 2"/>
          <p:cNvSpPr txBox="1"/>
          <p:nvPr/>
        </p:nvSpPr>
        <p:spPr>
          <a:xfrm>
            <a:off x="548640" y="3566160"/>
            <a:ext cx="10058400" cy="731520"/>
          </a:xfrm>
          <a:prstGeom prst="rect">
            <a:avLst/>
          </a:prstGeom>
          <a:noFill/>
          <a:ln/>
        </p:spPr>
        <p:txBody>
          <a:bodyPr wrap="square" lIns="0" tIns="0" rIns="0" bIns="0" rtlCol="0" anchor="ctr"/>
          <a:lstStyle/>
          <a:p>
            <a:pPr indent="0" marL="0">
              <a:buNone/>
            </a:pPr>
            <a:r>
              <a:rPr lang="en-US" sz="1600" dirty="0">
                <a:solidFill>
                  <a:srgbClr val="2E3440"/>
                </a:solidFill>
                <a:latin typeface="Calibri" pitchFamily="34" charset="0"/>
                <a:ea typeface="Calibri" pitchFamily="34" charset="-122"/>
                <a:cs typeface="Calibri" pitchFamily="34" charset="-120"/>
              </a:rPr>
              <a:t>A · Lab 8.1   B · Lab 8.2   C · Lab 8.3   D · Release checklist   E · Troubleshooting   F · Links</a:t>
            </a:r>
            <a:endParaRPr lang="en-US" sz="1600" dirty="0"/>
          </a:p>
        </p:txBody>
      </p:sp>
      <p:sp>
        <p:nvSpPr>
          <p:cNvPr id="5" name="Text 3"/>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8 - Data, Testing and Shipping</a:t>
            </a:r>
            <a:endParaRPr lang="en-US" sz="900" dirty="0"/>
          </a:p>
        </p:txBody>
      </p:sp>
      <p:sp>
        <p:nvSpPr>
          <p:cNvPr id="6" name="Text 4"/>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42</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A · Lab 8.1 starter</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the project</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LAB 8.1 - a real API</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flutter pub add http</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TODO 1: add fromJson and toJson to OrderLine and Order.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Remember (json['unitPrice'] as num).toDouble()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TODO 2: a sealed AppException with NoConnection,</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SlowConnection, BadResponse and Server(statusCode)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TODO 3: String userMessage(AppException e) as an exhaustive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switch, returning a sentence a customer could read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TODO 4: HttpOrderService implements OrderService, taking a</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baseUrl and an optional http.Client. fetchAll does a</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GET, checks the status code, and maps the failures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from TODO 2. Give it a 10 second timeout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TODO 5: register it in main instead of the fake, in ONE line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TODO 6: give OrderListModel a load() that sets Loading,</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awaits the service, then sets Loaded or Failed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TODO 7: render the four states with an exhaustive switch:</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idle, a spinner, the data, and an error with a</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Retry button</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TODO 8: turn off the wifi on the emulator and confirm you</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see your own sentence, not a stack trace</a:t>
            </a:r>
            <a:endParaRPr lang="en-US" sz="9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8 - Data, Testing and Shipping</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43</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A · Lab 8.1 solution  (1/5)</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http_order_service.dart · order_list_model.dart</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sealed class AppException implements Exception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const AppException();</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class NoConnectionException extends AppException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const NoConnectionException();</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class SlowConnectionException extends AppException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const SlowConnectionException();</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class BadResponseException extends AppException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const BadResponseException();</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class ServerException extends AppException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const ServerException(this.statusCode);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final int statusCode;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8 - Data, Testing and Shipping</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44</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A · Lab 8.1 solution  (2/5)</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http_order_service.dart · order_list_model.dart</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String userMessage(AppException e) =&gt; switch (e)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NoConnectionException() =&gt;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'You appear to be offline. Check your connection and try again.',</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SlowConnectionException() =&gt;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'The server is taking too long. Please try again.',</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BadResponseException() =&gt;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'We could not read the response. Please try again shortly.',</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ServerException(:final statusCode) when statusCode == 404 =&gt;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'That order no longer exists.',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ServerException(:final statusCode) when statusCode &gt;= 500 =&gt;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'The server is having trouble. Please try again shortly.',</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ServerException() =&gt; 'Something went wrong. Please try again.',</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class HttpOrderService implements OrderService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HttpOrderService({required this.baseUrl, http.Client? client})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 _client = client ?? http.Client();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final String baseUrl;</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final http.Client _client;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@override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Future&lt;List&lt;Order&gt;&gt; fetchAll() async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try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final response = await _client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.get(Uri.parse('$baseUrl/orders'))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.timeout(const Duration(seconds: 10));</a:t>
            </a:r>
            <a:endParaRPr lang="en-US" sz="9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8 - Data, Testing and Shipping</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45</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A · Lab 8.1 solution  (3/5)</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http_order_service.dart · order_list_model.dart</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if (response.statusCode != 200)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throw ServerException(response.statusCode);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final list = jsonDecode(response.body) as List&lt;dynamic&gt;;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return list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.map((e) =&gt; Order.fromJson(e as Map&lt;String, dynamic&gt;))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.toList();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 on SocketException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throw const NoConnectionException();</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 on TimeoutException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throw const SlowConnectionException();</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 on FormatException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throw const BadResponseException();</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class OrderListModel extends ChangeNotifier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OrderListModel(this._service);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final OrderService _service;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OrderState _state = const OrderIdle();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OrderState get state =&gt; _state;</a:t>
            </a:r>
            <a:endParaRPr lang="en-US" sz="9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8 - Data, Testing and Shipping</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46</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A · Lab 8.1 solution  (4/5)</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http_order_service.dart · order_list_model.dart</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Future&lt;void&gt; load() async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_state = const OrderLoading();</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notifyListeners();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try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final orders = await _service.fetchAll();</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_state = OrderLoaded(orders.first);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 on AppException catch (e)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_state = OrderFailed(userMessage(e));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notifyListeners();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The screen:</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Widget build(BuildContext context)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final state = context.watch&lt;OrderListModel&gt;().state;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return Scaffold(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appBar: AppBar(title: const Text('OrderFlow')),</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body: switch (state)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OrderIdle() =&gt; const EmptyState(message: 'Pull down to load'),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OrderLoading() =&gt; const Center(child: CircularProgressIndicator()),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OrderLoaded(:final order) =&gt; OrderView(order: order),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OrderFailed(:final message) =&gt; ErrorView(</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message: message,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onRetry: () =&gt; context.read&lt;OrderListModel&gt;().load(),</a:t>
            </a:r>
            <a:endParaRPr lang="en-US" sz="9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8 - Data, Testing and Shipping</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47</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A · Lab 8.1 solution  (5/5)</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http_order_service.dart · order_list_model.dart</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Needs: dart:io for SocketException, dart:async for</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TimeoutException, dart:convert for jsonDecode.</a:t>
            </a:r>
            <a:endParaRPr lang="en-US" sz="11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Imports needed: dart:io for SocketException, dart:async for TimeoutException, dart:convert for jsonDecode.</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8 - Data, Testing and Shipping</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48</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B · Lab 8.2 starter</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the project</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LAB 8.2 - make it survive a restart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flutter pub add shared_preferences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TODO 1: an abstract class OrderRepository with</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Future&lt;List&lt;Order&gt;&gt; load()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Future&lt;void&gt; save(List&lt;Order&gt; orders)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TODO 2: LocalOrderRepository implements it using</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SharedPreferences and jsonEncode / jsonDecode,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storing the whole list under one key</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TODO 3: register it with Provider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TODO 4: give OrderModel the repository, load in a method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called at startup, and save after every change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TODO 5: run the app, add two lines, kill it completely and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reopen it. The lines should still be there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TODO 6: also persist the theme seed colour and the theme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mode, so the app reopens with the colour you chose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TODO 7: handle the first-run case, where there is nothing</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stored yet, without crashing</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TODO 8 (stretch): add a lastSavedAt timestamp and show it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in the app bar</a:t>
            </a:r>
            <a:endParaRPr lang="en-US" sz="9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8 - Data, Testing and Shipping</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49</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B · Lab 8.2 solution  (1/4)</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order_repository.dart · order_model.dart · main.dart</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abstract class OrderRepository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Future&lt;List&lt;Order&gt;&gt; load();</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Future&lt;void&gt; save(List&lt;Order&gt; orders);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class LocalOrderRepository implements OrderRepository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static const _key = 'orders';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@override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Future&lt;List&lt;Order&gt;&gt; load() async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final prefs = await SharedPreferences.getInstance();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final raw = prefs.getString(_key);</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if (raw == null) return [];            // first run</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try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final list = jsonDecode(raw) as List&lt;dynamic&gt;;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return list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.map((e) =&gt; Order.fromJson(e as Map&lt;String, dynamic&gt;))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.toList();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on FormatException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return [];                           // corrupt, start clean</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8 - Data, Testing and Shipping</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50</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B · Lab 8.2 solution  (2/4)</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order_repository.dart · order_model.dart · main.dart</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@override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Future&lt;void&gt; save(List&lt;Order&gt; orders) async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final prefs = await SharedPreferences.getInstance();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await prefs.setString(</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_key,</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jsonEncode(orders.map((o) =&gt; o.toJson()).toList()),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class OrderModel extends ChangeNotifier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OrderModel(this._repository);</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final OrderRepository _repository;</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Order _order = const Order(id: 'ORD-1042', customer: 'Acme Ltd', lines: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Order get order =&gt; _order;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int get itemCount =&gt; _order.itemCount;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bool get isEmpty =&gt; _order.lines.isEmpty;</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Future&lt;void&gt; restore() async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final saved = await _repository.load();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if (saved.isNotEmpty) _order = saved.first;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notifyListeners();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8 - Data, Testing and Shipping</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51</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B · Lab 8.2 solution  (3/4)</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order_repository.dart · order_model.dart · main.dart</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Future&lt;void&gt; addLine(OrderLine line) async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_order = _order.copyWith(lines: [..._order.lines, line]);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notifyListeners();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await _repository.save([_order]);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Future&lt;void&gt; removeLine(OrderLine line) async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_order = _order.copyWith(</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lines: _order.lines.where((l) =&gt; l != line).toList(),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notifyListeners();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await _repository.save([_order]);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main.dart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void main()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runApp(</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MultiProvider(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providers: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Provider&lt;OrderRepository&gt;(create: (_) =&gt; LocalOrderRepository()),</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ChangeNotifierProvider(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create: (context) =&gt;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OrderModel(context.read&lt;OrderRepository&gt;())..restore(),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child: const OrderFlowApp(),</a:t>
            </a:r>
            <a:endParaRPr lang="en-US" sz="9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8 - Data, Testing and Shipping</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52</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B · Lab 8.2 solution  (4/4)</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order_repository.dart · order_model.dart · main.dart</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NOTE the order: notifyListeners() FIRST so the screen</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updates immediately, then save to disk. The user should</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never wait for a write.</a:t>
            </a:r>
            <a:endParaRPr lang="en-US" sz="11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Note the order: notifyListeners first so the screen updates, then save to disk.</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8 - Data, Testing and Shipping</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53</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C · Lab 8.3 starter</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test/</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LAB 8.3 - tests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TODO 1: test/order_test.dart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group('Order') with tests for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itemCount sums the quantities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subtotal multiplies and adds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copyWith does not change the original</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an empty order has a subtotal of zero</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TODO 2: test the discount bands from Day 3 at the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boundaries: 9999, 10000, 49999, 50000</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TODO 3: test/order_model_test.dart with a FakeOrderService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that can be told to fail</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load moves through Loading then Loaded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 failure produces OrderFailed with your message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TODO 4: test/order_screen_test.dart, a widget test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the empty state shows when there are no lines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 line appears in the list when added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tapping Clear empties the list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TODO 5: run flutter test and get everything green</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TODO 6: BREAK SOMETHING on purpose, such as the subtotal</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calculation, and confirm a test catches it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TODO 7: flutter test --coverage, and look at what is not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covered. Decide whether any of it matters</a:t>
            </a:r>
            <a:endParaRPr lang="en-US" sz="9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8 - Data, Testing and Shipping</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54</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C · Lab 8.3 solution  (1/4)</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test/order_test.dart · test/order_model_test.dart</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test/order_test.dart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void main()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group('Order', ()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const line1 = OrderLine(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sku: 'SKU-1', description: 'a', quantity: 40, unitPrice: 250);</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const line2 = OrderLine(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sku: 'SKU-2', description: 'b', quantity: 10, unitPrice: 120);</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test('itemCount sums the quantities', ()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const order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Order(id: 'ORD-1', customer: 'Acme', lines: [line1, line2]);</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expect(order.itemCount, 50);</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test('subtotal multiplies and adds', ()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const order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Order(id: 'ORD-1', customer: 'Acme', lines: [line1, line2]);</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expect(order.subtotal, 11200.0);</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test('an empty order has a subtotal of zero', ()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const order = Order(id: 'ORD-1', customer: 'Acme', lines: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expect(order.subtotal, 0.0);</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8 - Data, Testing and Shipping</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55</a:t>
            </a:r>
            <a:endParaRPr lang="en-US" sz="9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C · Lab 8.3 solution  (2/4)</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test/order_test.dart · test/order_model_test.dart</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test('copyWith does not change the original', ()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const original = Order(id: 'ORD-1', customer: 'Acme', lines: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final copy = original.copyWith(status: OrderStatus.submitted);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expect(original.status, OrderStatus.draft);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expect(copy.status, OrderStatus.submitted);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group('discount bands', ()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double discountFor(double subtotal) =&gt;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subtotal &gt;= 50000 ? 0.10 : subtotal &gt;= 10000 ? 0.05 : 0.0;</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test('below 10000 there is no discount', ()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expect(discountFor(9999), 0.0);</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test('at exactly 10000 the discount starts', ()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expect(discountFor(10000), 0.05);</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test('just below 50000 it is still five per cent', ()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expect(discountFor(49999), 0.05);</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test('at exactly 50000 it becomes ten per cent', ()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expect(discountFor(50000), 0.10);</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a:t>
            </a:r>
            <a:endParaRPr lang="en-US" sz="9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8 - Data, Testing and Shipping</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56</a:t>
            </a:r>
            <a:endParaRPr lang="en-US" sz="9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C · Lab 8.3 solution  (3/4)</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test/order_test.dart · test/order_model_test.dart</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test/order_model_test.dart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class FakeOrderService implements OrderService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FakeOrderService({this.shouldFail = false});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final bool shouldFail;</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@override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Future&lt;List&lt;Order&gt;&gt; fetchAll() async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if (shouldFail) throw const NoConnectionException();</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return const [Order(id: 'ORD-1', customer: 'Acme', lines: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void main()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test('load moves through loading to loaded', () async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final model = OrderListModel(FakeOrderService());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final seen = &lt;Type&gt;[];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model.addListener(() =&gt; seen.add(model.state.runtimeType));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await model.load();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expect(seen, [OrderLoading, OrderLoaded]);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test('a connection failure becomes a readable message', () async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final model = OrderListModel(FakeOrderService(shouldFail: true));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await model.load();</a:t>
            </a:r>
            <a:endParaRPr lang="en-US" sz="9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8 - Data, Testing and Shipping</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57</a:t>
            </a:r>
            <a:endParaRPr lang="en-US" sz="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C · Lab 8.3 solution  (4/4)</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test/order_test.dart · test/order_model_test.dart</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expect(model.state, isA&lt;OrderFailed&gt;());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expect((model.state as OrderFailed).message, contains('offline'));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The boundary tests in the second group are the most valuable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ones here. Off-by-one at a band boundary is the classic</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pricing bug and it is invisible to manual testing.</a:t>
            </a:r>
            <a:endParaRPr lang="en-US" sz="11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The boundary tests on the discount bands are the most valuable four tests in the file.</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8 - Data, Testing and Shipping</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58</a:t>
            </a:r>
            <a:endParaRPr lang="en-US" sz="9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D · Release checklist</a:t>
            </a:r>
            <a:endParaRPr lang="en-US" sz="3000" dirty="0"/>
          </a:p>
        </p:txBody>
      </p:sp>
      <p:graphicFrame>
        <p:nvGraphicFramePr>
          <p:cNvPr id="61"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914400"/>
        </p:xfrm>
        <a:graphic>
          <a:graphicData uri="http://schemas.openxmlformats.org/drawingml/2006/table">
            <a:tbl>
              <a:tblPr/>
              <a:tblGrid>
                <a:gridCol w="2662001"/>
                <a:gridCol w="4436669"/>
                <a:gridCol w="3993002"/>
              </a:tblGrid>
              <a:tr h="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Step</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2E3440"/>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What to do</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2E3440"/>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Watch out for</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2E3440"/>
                    </a:solidFill>
                  </a:tcPr>
                </a:tc>
              </a:tr>
              <a:tr h="0">
                <a:tc>
                  <a:txBody>
                    <a:bodyPr/>
                    <a:lstStyle/>
                    <a:p>
                      <a:pPr indent="0" marL="0">
                        <a:buNone/>
                      </a:pPr>
                      <a:r>
                        <a:rPr lang="en-US" sz="950" b="1" dirty="0">
                          <a:solidFill>
                            <a:srgbClr val="22272E"/>
                          </a:solidFill>
                          <a:latin typeface="Calibri" pitchFamily="34" charset="0"/>
                          <a:ea typeface="Calibri" pitchFamily="34" charset="-122"/>
                          <a:cs typeface="Calibri" pitchFamily="34" charset="-120"/>
                        </a:rPr>
                        <a:t>Test in release</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850" dirty="0">
                          <a:solidFill>
                            <a:srgbClr val="22272E"/>
                          </a:solidFill>
                          <a:latin typeface="Courier New" pitchFamily="34" charset="0"/>
                          <a:ea typeface="Courier New" pitchFamily="34" charset="-122"/>
                          <a:cs typeface="Courier New" pitchFamily="34" charset="-120"/>
                        </a:rPr>
                        <a:t>flutter run --release</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Things that work in debug can fail in release</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950" b="1" dirty="0">
                          <a:solidFill>
                            <a:srgbClr val="22272E"/>
                          </a:solidFill>
                          <a:latin typeface="Calibri" pitchFamily="34" charset="0"/>
                          <a:ea typeface="Calibri" pitchFamily="34" charset="-122"/>
                          <a:cs typeface="Calibri" pitchFamily="34" charset="-120"/>
                        </a:rPr>
                        <a:t>Version</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850" dirty="0">
                          <a:solidFill>
                            <a:srgbClr val="22272E"/>
                          </a:solidFill>
                          <a:latin typeface="Courier New" pitchFamily="34" charset="0"/>
                          <a:ea typeface="Courier New" pitchFamily="34" charset="-122"/>
                          <a:cs typeface="Courier New" pitchFamily="34" charset="-120"/>
                        </a:rPr>
                        <a:t>version: 1.0.0+1 in pubspec</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The build number MUST increase every upload</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950" b="1" dirty="0">
                          <a:solidFill>
                            <a:srgbClr val="22272E"/>
                          </a:solidFill>
                          <a:latin typeface="Calibri" pitchFamily="34" charset="0"/>
                          <a:ea typeface="Calibri" pitchFamily="34" charset="-122"/>
                          <a:cs typeface="Calibri" pitchFamily="34" charset="-120"/>
                        </a:rPr>
                        <a:t>Application id</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850" dirty="0">
                          <a:solidFill>
                            <a:srgbClr val="22272E"/>
                          </a:solidFill>
                          <a:latin typeface="Courier New" pitchFamily="34" charset="0"/>
                          <a:ea typeface="Courier New" pitchFamily="34" charset="-122"/>
                          <a:cs typeface="Courier New" pitchFamily="34" charset="-120"/>
                        </a:rPr>
                        <a:t>applicationId in build.gradle</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It can never be changed after publishing</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950" b="1" dirty="0">
                          <a:solidFill>
                            <a:srgbClr val="22272E"/>
                          </a:solidFill>
                          <a:latin typeface="Calibri" pitchFamily="34" charset="0"/>
                          <a:ea typeface="Calibri" pitchFamily="34" charset="-122"/>
                          <a:cs typeface="Calibri" pitchFamily="34" charset="-120"/>
                        </a:rPr>
                        <a:t>Icons</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850" dirty="0">
                          <a:solidFill>
                            <a:srgbClr val="22272E"/>
                          </a:solidFill>
                          <a:latin typeface="Courier New" pitchFamily="34" charset="0"/>
                          <a:ea typeface="Courier New" pitchFamily="34" charset="-122"/>
                          <a:cs typeface="Courier New" pitchFamily="34" charset="-120"/>
                        </a:rPr>
                        <a:t>flutter_launcher_icons</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Supply a 1024 square source image</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950" b="1" dirty="0">
                          <a:solidFill>
                            <a:srgbClr val="22272E"/>
                          </a:solidFill>
                          <a:latin typeface="Calibri" pitchFamily="34" charset="0"/>
                          <a:ea typeface="Calibri" pitchFamily="34" charset="-122"/>
                          <a:cs typeface="Calibri" pitchFamily="34" charset="-120"/>
                        </a:rPr>
                        <a:t>Splash</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850" dirty="0">
                          <a:solidFill>
                            <a:srgbClr val="22272E"/>
                          </a:solidFill>
                          <a:latin typeface="Courier New" pitchFamily="34" charset="0"/>
                          <a:ea typeface="Courier New" pitchFamily="34" charset="-122"/>
                          <a:cs typeface="Courier New" pitchFamily="34" charset="-120"/>
                        </a:rPr>
                        <a:t>flutter_native_splash</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Keep it simple. It shows before your code runs</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950" b="1" dirty="0">
                          <a:solidFill>
                            <a:srgbClr val="22272E"/>
                          </a:solidFill>
                          <a:latin typeface="Calibri" pitchFamily="34" charset="0"/>
                          <a:ea typeface="Calibri" pitchFamily="34" charset="-122"/>
                          <a:cs typeface="Calibri" pitchFamily="34" charset="-120"/>
                        </a:rPr>
                        <a:t>Permissions</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Android manifest, iOS Info.plist</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Each one needs a reason at review</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950" b="1" dirty="0">
                          <a:solidFill>
                            <a:srgbClr val="22272E"/>
                          </a:solidFill>
                          <a:latin typeface="Calibri" pitchFamily="34" charset="0"/>
                          <a:ea typeface="Calibri" pitchFamily="34" charset="-122"/>
                          <a:cs typeface="Calibri" pitchFamily="34" charset="-120"/>
                        </a:rPr>
                        <a:t>Keystore</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850" dirty="0">
                          <a:solidFill>
                            <a:srgbClr val="22272E"/>
                          </a:solidFill>
                          <a:latin typeface="Courier New" pitchFamily="34" charset="0"/>
                          <a:ea typeface="Courier New" pitchFamily="34" charset="-122"/>
                          <a:cs typeface="Courier New" pitchFamily="34" charset="-120"/>
                        </a:rPr>
                        <a:t>keytool -genkey ...</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LOSE IT AND YOU CANNOT UPDATE, EVER. Back it up</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950" b="1" dirty="0">
                          <a:solidFill>
                            <a:srgbClr val="22272E"/>
                          </a:solidFill>
                          <a:latin typeface="Calibri" pitchFamily="34" charset="0"/>
                          <a:ea typeface="Calibri" pitchFamily="34" charset="-122"/>
                          <a:cs typeface="Calibri" pitchFamily="34" charset="-120"/>
                        </a:rPr>
                        <a:t>Play App Signing</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Let Google hold the app key</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Recommended. The upload key can be reset</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950" b="1" dirty="0">
                          <a:solidFill>
                            <a:srgbClr val="22272E"/>
                          </a:solidFill>
                          <a:latin typeface="Calibri" pitchFamily="34" charset="0"/>
                          <a:ea typeface="Calibri" pitchFamily="34" charset="-122"/>
                          <a:cs typeface="Calibri" pitchFamily="34" charset="-120"/>
                        </a:rPr>
                        <a:t>Bundle</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850" dirty="0">
                          <a:solidFill>
                            <a:srgbClr val="22272E"/>
                          </a:solidFill>
                          <a:latin typeface="Courier New" pitchFamily="34" charset="0"/>
                          <a:ea typeface="Courier New" pitchFamily="34" charset="-122"/>
                          <a:cs typeface="Courier New" pitchFamily="34" charset="-120"/>
                        </a:rPr>
                        <a:t>flutter build appbundle --release</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Not an APK, for Google Play</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950" b="1" dirty="0">
                          <a:solidFill>
                            <a:srgbClr val="22272E"/>
                          </a:solidFill>
                          <a:latin typeface="Calibri" pitchFamily="34" charset="0"/>
                          <a:ea typeface="Calibri" pitchFamily="34" charset="-122"/>
                          <a:cs typeface="Calibri" pitchFamily="34" charset="-120"/>
                        </a:rPr>
                        <a:t>Size</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850" dirty="0">
                          <a:solidFill>
                            <a:srgbClr val="22272E"/>
                          </a:solidFill>
                          <a:latin typeface="Courier New" pitchFamily="34" charset="0"/>
                          <a:ea typeface="Courier New" pitchFamily="34" charset="-122"/>
                          <a:cs typeface="Courier New" pitchFamily="34" charset="-120"/>
                        </a:rPr>
                        <a:t>--analyze-size --target-platform android-arm64</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The engine is a 15 to 20 MB floor</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950" b="1" dirty="0">
                          <a:solidFill>
                            <a:srgbClr val="22272E"/>
                          </a:solidFill>
                          <a:latin typeface="Calibri" pitchFamily="34" charset="0"/>
                          <a:ea typeface="Calibri" pitchFamily="34" charset="-122"/>
                          <a:cs typeface="Calibri" pitchFamily="34" charset="-120"/>
                        </a:rPr>
                        <a:t>Obfuscation</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850" dirty="0">
                          <a:solidFill>
                            <a:srgbClr val="22272E"/>
                          </a:solidFill>
                          <a:latin typeface="Courier New" pitchFamily="34" charset="0"/>
                          <a:ea typeface="Courier New" pitchFamily="34" charset="-122"/>
                          <a:cs typeface="Courier New" pitchFamily="34" charset="-120"/>
                        </a:rPr>
                        <a:t>--obfuscate --split-debug-info=...</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Keep the symbols or crash reports are unreadable</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950" b="1" dirty="0">
                          <a:solidFill>
                            <a:srgbClr val="22272E"/>
                          </a:solidFill>
                          <a:latin typeface="Calibri" pitchFamily="34" charset="0"/>
                          <a:ea typeface="Calibri" pitchFamily="34" charset="-122"/>
                          <a:cs typeface="Calibri" pitchFamily="34" charset="-120"/>
                        </a:rPr>
                        <a:t>Crash reporting</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Crashlytics or Sentry</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Add it before launch, not after the first crash</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950" b="1" dirty="0">
                          <a:solidFill>
                            <a:srgbClr val="22272E"/>
                          </a:solidFill>
                          <a:latin typeface="Calibri" pitchFamily="34" charset="0"/>
                          <a:ea typeface="Calibri" pitchFamily="34" charset="-122"/>
                          <a:cs typeface="Calibri" pitchFamily="34" charset="-120"/>
                        </a:rPr>
                        <a:t>Store listing</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Screenshots, description, privacy policy</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A privacy policy URL is mandatory on both stores</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950" b="1" dirty="0">
                          <a:solidFill>
                            <a:srgbClr val="22272E"/>
                          </a:solidFill>
                          <a:latin typeface="Calibri" pitchFamily="34" charset="0"/>
                          <a:ea typeface="Calibri" pitchFamily="34" charset="-122"/>
                          <a:cs typeface="Calibri" pitchFamily="34" charset="-120"/>
                        </a:rPr>
                        <a:t>iOS</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Mac, Apple Developer account, Xcode</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Everything different is Apple's process, not Flutter's</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bl>
          </a:graphicData>
        </a:graphic>
      </p:graphicFrame>
      <p:sp>
        <p:nvSpPr>
          <p:cNvPr id="4" name="Text 1"/>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8 - Data, Testing and Shipping</a:t>
            </a:r>
            <a:endParaRPr lang="en-US" sz="900" dirty="0"/>
          </a:p>
        </p:txBody>
      </p:sp>
      <p:sp>
        <p:nvSpPr>
          <p:cNvPr id="5" name="Text 2"/>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59</a:t>
            </a:r>
            <a:endParaRPr lang="en-US" sz="9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E · Troubleshooting: symptom to fix</a:t>
            </a:r>
            <a:endParaRPr lang="en-US" sz="3000" dirty="0"/>
          </a:p>
        </p:txBody>
      </p:sp>
      <p:graphicFrame>
        <p:nvGraphicFramePr>
          <p:cNvPr id="62"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914400"/>
        </p:xfrm>
        <a:graphic>
          <a:graphicData uri="http://schemas.openxmlformats.org/drawingml/2006/table">
            <a:tbl>
              <a:tblPr/>
              <a:tblGrid>
                <a:gridCol w="3771168"/>
                <a:gridCol w="3105668"/>
                <a:gridCol w="4214835"/>
              </a:tblGrid>
              <a:tr h="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Symptom</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2E3440"/>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Cause</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2E3440"/>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Fix</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2E3440"/>
                    </a:solidFill>
                  </a:tcPr>
                </a:tc>
              </a:tr>
              <a:tr h="0">
                <a:tc>
                  <a:txBody>
                    <a:bodyPr/>
                    <a:lstStyle/>
                    <a:p>
                      <a:pPr indent="0" marL="0">
                        <a:buNone/>
                      </a:pPr>
                      <a:r>
                        <a:rPr lang="en-US" sz="850" b="1" dirty="0">
                          <a:solidFill>
                            <a:srgbClr val="22272E"/>
                          </a:solidFill>
                          <a:latin typeface="Courier New" pitchFamily="34" charset="0"/>
                          <a:ea typeface="Courier New" pitchFamily="34" charset="-122"/>
                          <a:cs typeface="Courier New" pitchFamily="34" charset="-120"/>
                        </a:rPr>
                        <a:t>FormatException: Unexpected character</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Parsing an error page as JSON</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Check statusCode before decoding</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850" b="1" dirty="0">
                          <a:solidFill>
                            <a:srgbClr val="22272E"/>
                          </a:solidFill>
                          <a:latin typeface="Courier New" pitchFamily="34" charset="0"/>
                          <a:ea typeface="Courier New" pitchFamily="34" charset="-122"/>
                          <a:cs typeface="Courier New" pitchFamily="34" charset="-120"/>
                        </a:rPr>
                        <a:t>type int is not a subtype of double</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JSON number cast straight to double</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850" dirty="0">
                          <a:solidFill>
                            <a:srgbClr val="22272E"/>
                          </a:solidFill>
                          <a:latin typeface="Courier New" pitchFamily="34" charset="0"/>
                          <a:ea typeface="Courier New" pitchFamily="34" charset="-122"/>
                          <a:cs typeface="Courier New" pitchFamily="34" charset="-120"/>
                        </a:rPr>
                        <a:t>(json[k] as num).toDouble()</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850" b="1" dirty="0">
                          <a:solidFill>
                            <a:srgbClr val="22272E"/>
                          </a:solidFill>
                          <a:latin typeface="Courier New" pitchFamily="34" charset="0"/>
                          <a:ea typeface="Courier New" pitchFamily="34" charset="-122"/>
                          <a:cs typeface="Courier New" pitchFamily="34" charset="-120"/>
                        </a:rPr>
                        <a:t>Connection refused from the emulator</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Used localhost</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The host machine is 10.0.2.2</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850" b="1" dirty="0">
                          <a:solidFill>
                            <a:srgbClr val="22272E"/>
                          </a:solidFill>
                          <a:latin typeface="Courier New" pitchFamily="34" charset="0"/>
                          <a:ea typeface="Courier New" pitchFamily="34" charset="-122"/>
                          <a:cs typeface="Courier New" pitchFamily="34" charset="-120"/>
                        </a:rPr>
                        <a:t>SocketException on the web build</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850" dirty="0">
                          <a:solidFill>
                            <a:srgbClr val="22272E"/>
                          </a:solidFill>
                          <a:latin typeface="Courier New" pitchFamily="34" charset="0"/>
                          <a:ea typeface="Courier New" pitchFamily="34" charset="-122"/>
                          <a:cs typeface="Courier New" pitchFamily="34" charset="-120"/>
                        </a:rPr>
                        <a:t>dart:io is not available on web</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Guard it, or check the platform</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850" b="1" dirty="0">
                          <a:solidFill>
                            <a:srgbClr val="22272E"/>
                          </a:solidFill>
                          <a:latin typeface="Courier New" pitchFamily="34" charset="0"/>
                          <a:ea typeface="Courier New" pitchFamily="34" charset="-122"/>
                          <a:cs typeface="Courier New" pitchFamily="34" charset="-120"/>
                        </a:rPr>
                        <a:t>Null check operator used on a null value</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A field was missing from the JSON</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Use as String? and a default</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850" b="1" dirty="0">
                          <a:solidFill>
                            <a:srgbClr val="22272E"/>
                          </a:solidFill>
                          <a:latin typeface="Courier New" pitchFamily="34" charset="0"/>
                          <a:ea typeface="Courier New" pitchFamily="34" charset="-122"/>
                          <a:cs typeface="Courier New" pitchFamily="34" charset="-120"/>
                        </a:rPr>
                        <a:t>part file not found</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Generator has not run yet</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850" dirty="0">
                          <a:solidFill>
                            <a:srgbClr val="22272E"/>
                          </a:solidFill>
                          <a:latin typeface="Courier New" pitchFamily="34" charset="0"/>
                          <a:ea typeface="Courier New" pitchFamily="34" charset="-122"/>
                          <a:cs typeface="Courier New" pitchFamily="34" charset="-120"/>
                        </a:rPr>
                        <a:t>dart run build_runner build --delete-conflicting-outputs</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950" b="1" dirty="0">
                          <a:solidFill>
                            <a:srgbClr val="22272E"/>
                          </a:solidFill>
                          <a:latin typeface="Calibri" pitchFamily="34" charset="0"/>
                          <a:ea typeface="Calibri" pitchFamily="34" charset="-122"/>
                          <a:cs typeface="Calibri" pitchFamily="34" charset="-120"/>
                        </a:rPr>
                        <a:t>Data does not survive a restart</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Tested with hot restart, not a real kill</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Swipe the app away and reopen it</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850" b="1" dirty="0">
                          <a:solidFill>
                            <a:srgbClr val="22272E"/>
                          </a:solidFill>
                          <a:latin typeface="Courier New" pitchFamily="34" charset="0"/>
                          <a:ea typeface="Courier New" pitchFamily="34" charset="-122"/>
                          <a:cs typeface="Courier New" pitchFamily="34" charset="-120"/>
                        </a:rPr>
                        <a:t>getInstance errors at startup</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Called before the bindings are ready</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850" dirty="0">
                          <a:solidFill>
                            <a:srgbClr val="22272E"/>
                          </a:solidFill>
                          <a:latin typeface="Courier New" pitchFamily="34" charset="0"/>
                          <a:ea typeface="Courier New" pitchFamily="34" charset="-122"/>
                          <a:cs typeface="Courier New" pitchFamily="34" charset="-120"/>
                        </a:rPr>
                        <a:t>WidgetsFlutterBinding.ensureInitialized() in main</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950" b="1" dirty="0">
                          <a:solidFill>
                            <a:srgbClr val="22272E"/>
                          </a:solidFill>
                          <a:latin typeface="Calibri" pitchFamily="34" charset="0"/>
                          <a:ea typeface="Calibri" pitchFamily="34" charset="-122"/>
                          <a:cs typeface="Calibri" pitchFamily="34" charset="-120"/>
                        </a:rPr>
                        <a:t>Stored data crashes on load</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Format changed between versions</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Catch FormatException and start clean</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850" b="1" dirty="0">
                          <a:solidFill>
                            <a:srgbClr val="22272E"/>
                          </a:solidFill>
                          <a:latin typeface="Courier New" pitchFamily="34" charset="0"/>
                          <a:ea typeface="Courier New" pitchFamily="34" charset="-122"/>
                          <a:cs typeface="Courier New" pitchFamily="34" charset="-120"/>
                        </a:rPr>
                        <a:t>No Directionality widget found in a test</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No MaterialApp around the widget</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Wrap it in MaterialApp in pumpWidget</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950" b="1" dirty="0">
                          <a:solidFill>
                            <a:srgbClr val="22272E"/>
                          </a:solidFill>
                          <a:latin typeface="Calibri" pitchFamily="34" charset="0"/>
                          <a:ea typeface="Calibri" pitchFamily="34" charset="-122"/>
                          <a:cs typeface="Calibri" pitchFamily="34" charset="-120"/>
                        </a:rPr>
                        <a:t>A widget test fails intermittently</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850" dirty="0">
                          <a:solidFill>
                            <a:srgbClr val="22272E"/>
                          </a:solidFill>
                          <a:latin typeface="Courier New" pitchFamily="34" charset="0"/>
                          <a:ea typeface="Courier New" pitchFamily="34" charset="-122"/>
                          <a:cs typeface="Courier New" pitchFamily="34" charset="-120"/>
                        </a:rPr>
                        <a:t>pump where pumpAndSettle was needed</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Use pumpAndSettle after animations</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850" b="1" dirty="0">
                          <a:solidFill>
                            <a:srgbClr val="22272E"/>
                          </a:solidFill>
                          <a:latin typeface="Courier New" pitchFamily="34" charset="0"/>
                          <a:ea typeface="Courier New" pitchFamily="34" charset="-122"/>
                          <a:cs typeface="Courier New" pitchFamily="34" charset="-120"/>
                        </a:rPr>
                        <a:t>flutter test finds nothing</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Wrong file name or folder</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Must end in _test.dart, under test/</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950" b="1" dirty="0">
                          <a:solidFill>
                            <a:srgbClr val="22272E"/>
                          </a:solidFill>
                          <a:latin typeface="Calibri" pitchFamily="34" charset="0"/>
                          <a:ea typeface="Calibri" pitchFamily="34" charset="-122"/>
                          <a:cs typeface="Calibri" pitchFamily="34" charset="-120"/>
                        </a:rPr>
                        <a:t>Release build crashes, debug is fine</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Assertion doing real work, or lazy init</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Test release builds before shipping</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950" b="1" dirty="0">
                          <a:solidFill>
                            <a:srgbClr val="22272E"/>
                          </a:solidFill>
                          <a:latin typeface="Calibri" pitchFamily="34" charset="0"/>
                          <a:ea typeface="Calibri" pitchFamily="34" charset="-122"/>
                          <a:cs typeface="Calibri" pitchFamily="34" charset="-120"/>
                        </a:rPr>
                        <a:t>Store rejects the upload</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Build number not increased</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Raise the number after the +</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bl>
          </a:graphicData>
        </a:graphic>
      </p:graphicFrame>
      <p:sp>
        <p:nvSpPr>
          <p:cNvPr id="4" name="Text 1"/>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8 - Data, Testing and Shipping</a:t>
            </a:r>
            <a:endParaRPr lang="en-US" sz="900" dirty="0"/>
          </a:p>
        </p:txBody>
      </p:sp>
      <p:sp>
        <p:nvSpPr>
          <p:cNvPr id="5" name="Text 2"/>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60</a:t>
            </a:r>
            <a:endParaRPr lang="en-US" sz="9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F · Links used today</a:t>
            </a:r>
            <a:endParaRPr lang="en-US" sz="3000" dirty="0"/>
          </a:p>
        </p:txBody>
      </p:sp>
      <p:graphicFrame>
        <p:nvGraphicFramePr>
          <p:cNvPr id="63"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914400"/>
        </p:xfrm>
        <a:graphic>
          <a:graphicData uri="http://schemas.openxmlformats.org/drawingml/2006/table">
            <a:tbl>
              <a:tblPr/>
              <a:tblGrid>
                <a:gridCol w="3327502"/>
                <a:gridCol w="776417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Topic</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2E3440"/>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Link</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2E3440"/>
                    </a:solidFill>
                  </a:tcPr>
                </a:tc>
              </a:tr>
              <a:tr h="0">
                <a:tc>
                  <a:txBody>
                    <a:bodyPr/>
                    <a:lstStyle/>
                    <a:p>
                      <a:pPr indent="0" marL="0">
                        <a:buNone/>
                      </a:pPr>
                      <a:r>
                        <a:rPr lang="en-US" sz="1000" b="1" dirty="0">
                          <a:solidFill>
                            <a:srgbClr val="22272E"/>
                          </a:solidFill>
                          <a:latin typeface="Calibri" pitchFamily="34" charset="0"/>
                          <a:ea typeface="Calibri" pitchFamily="34" charset="-122"/>
                          <a:cs typeface="Calibri" pitchFamily="34" charset="-120"/>
                        </a:rPr>
                        <a:t>Fetch data from the internet</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docs.flutter.dev/cookbook/networking/fetch-data</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22272E"/>
                          </a:solidFill>
                          <a:latin typeface="Calibri" pitchFamily="34" charset="0"/>
                          <a:ea typeface="Calibri" pitchFamily="34" charset="-122"/>
                          <a:cs typeface="Calibri" pitchFamily="34" charset="-120"/>
                        </a:rPr>
                        <a:t>http package</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pub.dev/packages/http</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1000" b="1" dirty="0">
                          <a:solidFill>
                            <a:srgbClr val="22272E"/>
                          </a:solidFill>
                          <a:latin typeface="Calibri" pitchFamily="34" charset="0"/>
                          <a:ea typeface="Calibri" pitchFamily="34" charset="-122"/>
                          <a:cs typeface="Calibri" pitchFamily="34" charset="-120"/>
                        </a:rPr>
                        <a:t>JSON and serialization</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docs.flutter.dev/data-and-backend/serialization/json</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22272E"/>
                          </a:solidFill>
                          <a:latin typeface="Calibri" pitchFamily="34" charset="0"/>
                          <a:ea typeface="Calibri" pitchFamily="34" charset="-122"/>
                          <a:cs typeface="Calibri" pitchFamily="34" charset="-120"/>
                        </a:rPr>
                        <a:t>json_serializable</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pub.dev/packages/json_serializable</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1000" b="1" dirty="0">
                          <a:solidFill>
                            <a:srgbClr val="22272E"/>
                          </a:solidFill>
                          <a:latin typeface="Calibri" pitchFamily="34" charset="0"/>
                          <a:ea typeface="Calibri" pitchFamily="34" charset="-122"/>
                          <a:cs typeface="Calibri" pitchFamily="34" charset="-120"/>
                        </a:rPr>
                        <a:t>shared_preferences</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pub.dev/packages/shared_preferences</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22272E"/>
                          </a:solidFill>
                          <a:latin typeface="Calibri" pitchFamily="34" charset="0"/>
                          <a:ea typeface="Calibri" pitchFamily="34" charset="-122"/>
                          <a:cs typeface="Calibri" pitchFamily="34" charset="-120"/>
                        </a:rPr>
                        <a:t>sqflite, for later</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pub.dev/packages/sqflite</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1000" b="1" dirty="0">
                          <a:solidFill>
                            <a:srgbClr val="22272E"/>
                          </a:solidFill>
                          <a:latin typeface="Calibri" pitchFamily="34" charset="0"/>
                          <a:ea typeface="Calibri" pitchFamily="34" charset="-122"/>
                          <a:cs typeface="Calibri" pitchFamily="34" charset="-120"/>
                        </a:rPr>
                        <a:t>Testing overview</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docs.flutter.dev/testing/overview</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22272E"/>
                          </a:solidFill>
                          <a:latin typeface="Calibri" pitchFamily="34" charset="0"/>
                          <a:ea typeface="Calibri" pitchFamily="34" charset="-122"/>
                          <a:cs typeface="Calibri" pitchFamily="34" charset="-120"/>
                        </a:rPr>
                        <a:t>Widget testing</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docs.flutter.dev/cookbook/testing/widget/introduction</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1000" b="1" dirty="0">
                          <a:solidFill>
                            <a:srgbClr val="22272E"/>
                          </a:solidFill>
                          <a:latin typeface="Calibri" pitchFamily="34" charset="0"/>
                          <a:ea typeface="Calibri" pitchFamily="34" charset="-122"/>
                          <a:cs typeface="Calibri" pitchFamily="34" charset="-120"/>
                        </a:rPr>
                        <a:t>mocktail</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pub.dev/packages/mocktail</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22272E"/>
                          </a:solidFill>
                          <a:latin typeface="Calibri" pitchFamily="34" charset="0"/>
                          <a:ea typeface="Calibri" pitchFamily="34" charset="-122"/>
                          <a:cs typeface="Calibri" pitchFamily="34" charset="-120"/>
                        </a:rPr>
                        <a:t>DevTools</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docs.flutter.dev/tools/devtools/overview</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1000" b="1" dirty="0">
                          <a:solidFill>
                            <a:srgbClr val="22272E"/>
                          </a:solidFill>
                          <a:latin typeface="Calibri" pitchFamily="34" charset="0"/>
                          <a:ea typeface="Calibri" pitchFamily="34" charset="-122"/>
                          <a:cs typeface="Calibri" pitchFamily="34" charset="-120"/>
                        </a:rPr>
                        <a:t>Performance best practices</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docs.flutter.dev/perf/best-practices</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22272E"/>
                          </a:solidFill>
                          <a:latin typeface="Calibri" pitchFamily="34" charset="0"/>
                          <a:ea typeface="Calibri" pitchFamily="34" charset="-122"/>
                          <a:cs typeface="Calibri" pitchFamily="34" charset="-120"/>
                        </a:rPr>
                        <a:t>Accessibility</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docs.flutter.dev/ui/accessibility-and-internationalization/accessibility</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1000" b="1" dirty="0">
                          <a:solidFill>
                            <a:srgbClr val="22272E"/>
                          </a:solidFill>
                          <a:latin typeface="Calibri" pitchFamily="34" charset="0"/>
                          <a:ea typeface="Calibri" pitchFamily="34" charset="-122"/>
                          <a:cs typeface="Calibri" pitchFamily="34" charset="-120"/>
                        </a:rPr>
                        <a:t>Build and release for Android</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docs.flutter.dev/deployment/android</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22272E"/>
                          </a:solidFill>
                          <a:latin typeface="Calibri" pitchFamily="34" charset="0"/>
                          <a:ea typeface="Calibri" pitchFamily="34" charset="-122"/>
                          <a:cs typeface="Calibri" pitchFamily="34" charset="-120"/>
                        </a:rPr>
                        <a:t>Build and release for iOS</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docs.flutter.dev/deployment/ios</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1000" b="1" dirty="0">
                          <a:solidFill>
                            <a:srgbClr val="22272E"/>
                          </a:solidFill>
                          <a:latin typeface="Calibri" pitchFamily="34" charset="0"/>
                          <a:ea typeface="Calibri" pitchFamily="34" charset="-122"/>
                          <a:cs typeface="Calibri" pitchFamily="34" charset="-120"/>
                        </a:rPr>
                        <a:t>Continuous delivery</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docs.flutter.dev/deployment/cd</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8 - Data, Testing and Shipping</a:t>
            </a:r>
            <a:endParaRPr lang="en-US" sz="900" dirty="0"/>
          </a:p>
        </p:txBody>
      </p:sp>
      <p:sp>
        <p:nvSpPr>
          <p:cNvPr id="5" name="Text 2"/>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61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62</Slides>
  <Notes>62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62</vt:i4>
      </vt:variant>
    </vt:vector>
  </HeadingPairs>
  <TitlesOfParts>
    <vt:vector size="6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Flutter for Java Developers - Day 8</dc:title>
  <dc:subject>Flutter Mobile Development for Java Developers</dc:subject>
  <dc:creator>Flutter for Java Developers</dc:creator>
  <cp:lastModifiedBy>Flutter for Java Developers</cp:lastModifiedBy>
  <cp:revision>1</cp:revision>
  <dcterms:created xsi:type="dcterms:W3CDTF">2026-09-11T06:37:25Z</dcterms:created>
  <dcterms:modified xsi:type="dcterms:W3CDTF">2026-09-11T06:37:25Z</dcterms:modified>
</cp:coreProperties>
</file>