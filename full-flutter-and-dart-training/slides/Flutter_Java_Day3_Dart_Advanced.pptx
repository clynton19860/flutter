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Open by naming what today is. "Yesterday was translation. Today is the opposite: four features where Java either has nothing, or has something much heavier. This is the most interesting day of the three and it is the day that makes Flutter make sense."
SET THE STAKES HONESTLY: sealed classes and pattern matching are the single most important idea in this course. Every screen you build from Day 5 onward is a switch over a sealed state. If somebody only takes one thing home from this week, it should be that.
PRESENTER CHECKLIST: dartpad.dev on the projector all day; the Day 3 handbook on your second display; everyone's Day 2 Order, OrderLine and OrderStatus pasted into a fresh pad before you start, because all three labs build on them.
PACE: generics go fast, records go medium, sealed classes get the most time you can give them, extensions and mixins go fast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Four modules, three labs, and the whole day builds on the Order model they finished yesterday.
THE BLOCK THAT MATTERS MOST is the afternoon one. If the morning overruns, take it out of records rather than out of sealed classes.
SAY WHAT THEY WILL HAVE BY 16:00: a complete order state model with four states the compiler will not let them mishandle, plus extensions that make every screen from Day 5 read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Seventy-five minutes. This room knows generics, so most of this is confirmation rather than teaching. Spend the saved time on the two real differences: reified types, and the absence of wildcards.
THE FRAMING: "You know all of this. I am showing it so that when you see Future&lt;List&lt;Order&gt;&gt; on Thursday it reads as ordinary rather than as noise. There are two places where Dart is different and both are simpler than Java."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and the second half is the interesting part.
THE FIRST HALF IS FAMILIAR: without a type parameter you get a bag of anything and cast on the way out. Move quickly.
REIFICATION IS THE HEADLINE. In Java, type arguments are erased at compile time. At runtime a List&lt;String&gt; and a List&lt;Integer&gt; are the same class, which is why you cannot test for one, cannot create an array of a generic type, and cannot overload on a type parameter.
IN DART THE TYPE SURVIVES. print(skus.runtimeType) prints List&lt;String&gt;. skus is List&lt;String&gt; compiles and returns true. Run both lines in DartPad and let them see it.
WHY THEY CARE: a lot of the awkwardness Java developers associate with generics comes from erasure, and most of it simply is not here. You can check, you can switch on it, and the runtime knows.
THE COST OF REIFICATION is a little runtime information carried around, which is a price Dart is happy to pay.
EXPECT THIS QUESTION: "so is there a raw type?" No. There is dynamic, which turns off checking entirely, and we will not use it once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Type Box live, then Pair, then Result.
THE SYNTAX IS IDENTICAL TO JAVA. class Box&lt;T&gt;, and T is usable anywhere a type goes: fields, parameters, return types.
INFERENCE: Box('SKU-2') with no angle brackets infers T as String. Java has the diamond operator for this; Dart just does it.
Pair&lt;K, V&gt; shows two parameters. Same convention as Java for the letters: T for a general type, K and V for a map, E for an element, R for a result. Say that, because consistent naming is half of readable generic code.
Result&lt;T&gt; IS WORTH PAUSING ON because it is a pattern they will recognise from their own codebases: a success or a failure in one type. Note the two named constructors and the initialiser lists that set the other field to null.
THEN SAY THIS, and it sets up the afternoon: Result works, it is what you would write in Java, and this afternoon you will see a better way to do exactly this using a sealed class. Do not solve it now; plant the flag.
DO NOT go into generic type aliases or f-bounded types. They exist, they are rarely needed, and they will cost you ten minutes for no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Type Box live, then Pair, then Result.
THE SYNTAX IS IDENTICAL TO JAVA. class Box&lt;T&gt;, and T is usable anywhere a type goes: fields, parameters, return types.
INFERENCE: Box('SKU-2') with no angle brackets infers T as String. Java has the diamond operator for this; Dart just does it.
Pair&lt;K, V&gt; shows two parameters. Same convention as Java for the letters: T for a general type, K and V for a map, E for an element, R for a result. Say that, because consistent naming is half of readable generic code.
Result&lt;T&gt; IS WORTH PAUSING ON because it is a pattern they will recognise from their own codebases: a success or a failure in one type. Note the two named constructors and the initialiser lists that set the other field to null.
THEN SAY THIS, and it sets up the afternoon: Result works, it is what you would write in Java, and this afternoon you will see a better way to do exactly this using a sealed class. Do not solve it now; plant the flag.
DO NOT go into generic type aliases or f-bounded types. They exist, they are rarely needed, and they will cost you ten minutes for no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THE POSITION IS THE DIFFERENCE. Java writes public &lt;T&gt; T firstOr(...). Dart writes T firstOr&lt;T&gt;(...). Same meaning, different place. Put both on the whiteboard once and it is done.
INFERENCE AGAIN: firstOr([], 0) infers T as int from the fallback. You almost never write the angle brackets at a call site.
A METHOD WITH ITS OWN TYPE PARAMETER is the bit worth slowing down for. In Repository&lt;T&gt;, the method mapAll&lt;R&gt; introduces R, which is independent of T. That is exactly Java's &lt;R&gt; R map(...) on a generic class, and it is what lets one class transform into another type.
WHERE THEY WILL SEE THIS: every collection method they used yesterday is a generic method. map&lt;R&gt; is why lines.map((l) =&gt; l.sku) gives you an Iterable&lt;String&gt; from a List&lt;OrderLine&gt;. Say that, because it retroactively explains yesterday.
fold&lt;double&gt; FINALLY MAKES SENSE HERE. Yesterday you told them to always write the type argument. Now they can see why: fold has its own type parameter and inference sometimes picks num instead of double. This is the slide where that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Bounds are quick; variance is the conversation.
BOUNDS ARE IDENTICAL. T extends num, T extends Identifiable. Inside the class you can use whatever the bound provides, which is why total can do arithmetic and save can read item.id.
NO WILDCARDS, and this is the second real difference. Java has ? extends T and ? super T, and they exist because Java generics are invariant: a List&lt;String&gt; is NOT a List&lt;Object&gt;.
IN DART, A List&lt;String&gt; IS A List&lt;Object&gt;. Generics are covariant by default. That removes the need for wildcards entirely, and it removes the PECS rule that half this room has had to look up more than once.
BE HONEST ABOUT THE COST: covariance is less safe. You can pass a List&lt;String&gt; where a List&lt;Object&gt; is expected and then try to add an int, which compiles and throws at runtime. In practice it rarely bites, because most Dart collections you pass around are read from rather than written to.
IF SOMEBODY PUSHES on this, and somebody might: Dart lets you opt into invariance for a type parameter if you need it, but application code essentially never does. Do not go down that road in class.
THE PRACTICAL SUMMARY to give them: bounds yes, wildcards no, and if you find yourself reaching for PECS, you do not need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Bounds are quick; variance is the conversation.
BOUNDS ARE IDENTICAL. T extends num, T extends Identifiable. Inside the class you can use whatever the bound provides, which is why total can do arithmetic and save can read item.id.
NO WILDCARDS, and this is the second real difference. Java has ? extends T and ? super T, and they exist because Java generics are invariant: a List&lt;String&gt; is NOT a List&lt;Object&gt;.
IN DART, A List&lt;String&gt; IS A List&lt;Object&gt;. Generics are covariant by default. That removes the need for wildcards entirely, and it removes the PECS rule that half this room has had to look up more than once.
BE HONEST ABOUT THE COST: covariance is less safe. You can pass a List&lt;String&gt; where a List&lt;Object&gt; is expected and then try to add an int, which compiles and throws at runtime. In practice it rarely bites, because most Dart collections you pass around are read from rather than written to.
IF SOMEBODY PUSHES on this, and somebody might: Dart lets you opt into invariance for a type parameter if you need it, but application code essentially never does. Do not go down that road in class.
THE PRACTICAL SUMMARY to give them: bounds yes, wildcards no, and if you find yourself reaching for PECS, you do not need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Eight minutes, and it is a reference slide rather than a teaching one. Read the interesting ones out.
Future&lt;Order&gt; AND Stream&lt;Order&gt; are tomorrow's whole day, so introduce the shape now and say no more.
READING INSIDE OUT is a small skill worth naming explicitly. Future&lt;List&lt;Order&gt;&gt; confuses people for about a day. Say it in words: "later, you will get a list of orders". Then Map&lt;String, List&lt;OrderLine&gt;&gt;: "sku to the lines that use it". Do two or three of these out loud and it clicks.
List&lt;Widget&gt; IS THE ONE THEY WILL TYPE MOST from Day 5. The children of every Row and Column is a List&lt;Widget&gt;, and yesterday's collection-for is how you build one from a list of orders. Point that connection out now.
Future&lt;void&gt; looks odd and is common: an async job that finishes but produces nothing. Java's CompletableFuture&lt;Void&gt; with the capital V.
ValueChanged&lt;String&gt; is a Flutter type alias for void Function(String). Mention that Dart has typedef for naming function types, that Flutter uses it heavily, and that they do not need to write one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hundred and five minutes including the lab.
THE HOOK FOR A JAVA 8 ROOM: "You have all written a small class whose only job was to carry three values out of one method, and you have all named it something you were not happy with. This is the feature that fixes that."
IF ANYONE KNOWS JAVA 16 RECORDS, be precise about the difference: a Java record is a named class you declare. A Dart record is anonymous and structural, with no declaration anywhere. They solve overlapping problems in different ways.
DESTRUCTURING IS THE PART THAT SETS UP THE AFTERNOON. Records are how they meet patterns for the first time, so do not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Type every form live and run them.
POSITIONAL FIRST, so they see the dollar-one and dollar-two accessors and understand why nobody likes them. They exist, they are unreadable, and you should steer people away.
NAMED RECORDS ARE THE USEFUL FORM. The type is written as a set of named fields in brackets, and it looks strange for about ten minutes. Write one on the whiteboard and take it apart.
STRUCTURAL TYPING IS THE KEY IDEA. There is no declaration anywhere. Any record with a sku String and a quantity int is that type. Nothing is imported, nothing is registered.
EQUALITY IS FREE AND STRUCTURAL. Run the a == b line. After yesterday, where they wrote == and hashCode by hand, this lands well.
MIXED RECORDS exist and are rarely worth it. Show one, advise against, move on.
THE SYNTAX TRAP: a single positional record needs a trailing comma, so (42,) not (42). Without the comma it is just a bracketed expression. Mention it once; somebody will hit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this is the payoff slide for the module.
DESCRIBE THE JAVA VERSION OUT LOUD before showing the Dart: declare a small class or record, pick a name for it, decide which package it lives in, write the constructor and the getters, import it wherever it is used. Then show that this replaces all of it.
calculateTotal IS THE FUNCTION THEY WILL WRITE IN LAB 3.1, so walk the arithmetic properly. Subtotal, then the discount band, then VAT on the discounted amount, then the total. Say the order matters and why.
THE NESTED TERNARY for the rate band is deliberately ugly. Point at it and say that this afternoon they will rewrite it as a switch with guards and it will read far better. That is a nice callback to make at 14:00.
A RECORD AS A MAP KEY works because equality is structural, and it is genuinely useful for caching. Show it briefly.
THE ONE GOTCHA: the return type on a function returning a named record is long. Some people will find it verbose. Acknowledge it honestly, and note that a typedef can name it if it starts to hurt.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This is the bridge to the afternoon, so take the time.
THE BASIC FORM: final (sku, qty) = someRecord. Two variables from one value, in one line.
NAMED RECORDS destructure by field name, and there is a shorthand when the variable name matches. The colon-with-nothing-after-it syntax, final (:sku, :quantity), looks alien for about a day. Write it out in both forms on the whiteboard.
IN A FOR LOOP is where they will use it most: iterating a list of records and naming both parts in the loop header.
MAP ENTRIES destructure with MapEntry(key:, value:), which is an object pattern rather than a record pattern. Do not explain the distinction now; just show it working and say the afternoon covers why.
THE SWAP TRICK, (a, b) = (b, a), is a nice five-second demo. It needs no temporary and no XOR cleverness.
SAY THIS EXPLICITLY BEFORE THE BREAK: everything you just learned about pulling values out of a shape is the same machinery that runs inside switch this afternoon. Patterns are one idea used in several places, and you have just met the easy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This is the bridge to the afternoon, so take the time.
THE BASIC FORM: final (sku, qty) = someRecord. Two variables from one value, in one line.
NAMED RECORDS destructure by field name, and there is a shorthand when the variable name matches. The colon-with-nothing-after-it syntax, final (:sku, :quantity), looks alien for about a day. Write it out in both forms on the whiteboard.
IN A FOR LOOP is where they will use it most: iterating a list of records and naming both parts in the loop header.
MAP ENTRIES destructure with MapEntry(key:, value:), which is an object pattern rather than a record pattern. Do not explain the distinction now; just show it working and say the afternoon covers why.
THE SWAP TRICK, (a, b) = (b, a), is a nice five-second demo. It needs no temporary and no XOR cleverness.
SAY THIS EXPLICITLY BEFORE THE BREAK: everything you just learned about pulling values out of a shape is the same machinery that runs inside switch this afternoon. Patterns are one idea used in several places, and you have just met the easy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Eight minutes and make it a discussion rather than a lecture. Ask the room where they would draw the line, then show the slide.
THE NAMING TEST IS THE BEST ONE and it is worth stating plainly: if you found it hard to name the class, that is a signal there is no concept there, only a shape. OrderTotals, TotalsResult, CalculationOutput. Everyone has written one of those and been faintly unhappy.
THE THREE-PLACES RULE is the practical guard against overuse. Records are new and shiny and the room will over-apply them on day one. Give them a rule they can actually follow.
WHAT RECORDS CANNOT DO IS IMPORTANT. No methods at all. If you want a total on your order, that is a class. This limitation is what stops records eating your domain model.
EXPECT THIS QUESTION: "should the four totals be a class?" It is a genuinely defensible position, and the honest answer is that it depends on whether the business talks about an order total as a thing. Let the room argue for two minutes; it is exactly the kind of design conversation that makes the concept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35 minutes, hard stop. Everything here builds on yesterday, so anyone whose Day 2 code is missing must paste the Lab 2.3 solution from the handbook first. Check for that in the first two minutes.
CHECKPOINTS: at 12 minutes Box and firstOr compile. At 25 minutes calculateTotal returns numbers.
THE NICE MOMENT IN THIS LAB is TODO 3. Order already has a String id, so writing "implements Identifiable" requires no extra code whatsoever. Point that out when someone notices; it is implicit interfaces from yesterday paying off immediately.
EXPECTED TOTALS, put them on the whiteboard: subtotal 11650.00, discount 582.50, VAT 1660.13, total 12727.63.
COMMON ERRORS: forgetting fold&lt;double&gt; again. Writing Store&lt;Order&gt; before Order implements Identifiable, which gives a bound error that reads worse than it is. Destructuring with the wrong field names, which is a compile error and a good one. Trying to give the record a method.
THE STRETCH GOAL ABOUT Store&lt;String&gt; IS WORTH DOING AT THE STOP even if nobody got there. The error message names the bound, and reading a good compiler error out loud is a teaching moment you get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most important ninety minutes of the entire course. Do not let anything eat this block.
WHY IT MATTERS SO MUCH: every screen they build from Day 5 renders a sealed state with an exhaustive switch. Get this right today and Flutter's state handling feels inevitable. Get it wrong and they will write three booleans on every screen for the rest of their careers.
THE TEACHING SEQUENCE IS DELIBERATE: show the problem first, with flags, and let them feel it. Only then introduce sealed. Leading with the solution wastes the insight.
IF THE ROOM IS ON JAVA 8, none of this exists for them at all, so pitch it as new rather than as a comparison. Ask for a show of hands on Java 17 sealed interfaces before you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and spend it properly. This slide does the persuading; the next one just delivers the syntax.
PUT THE CLASS UP AND ASK THE ROOM: "what does it mean if isLoading is true and hasError is true and order is not null?" Let the silence sit. Somebody will say it is nonsense. Exactly.
DO THE ARITHMETIC OUT LOUD: four booleans is sixteen combinations. Four of them are legal. Twelve are bugs waiting for a rainy Tuesday, and nothing in the type system stops any of them.
ASK WHERE THEY HAVE SEEN THIS. Everyone has a class with isLoading and hasError in it. Everyone has written an if that checks isLoading first because the order of checks accidentally matters. That accidental ordering IS the bug.
THE OTHER HALF OF THE PROBLEM: the data is wrong too. errorMessage is nullable because it only exists sometimes. order is nullable for the same reason. So every read needs a null check, forever, in every screen.
THEN SAY THE GOAL: we are going to make the illegal states impossible to write down, rather than defending against them. That sentence is the whole afternoon.
DO NOT SHOW THE SOLUTION YET. Let the problem sit for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Type it live, all four classes, and talk while you do.
WHAT sealed MEANS: every direct subtype must be in the same file. Because of that, the compiler knows the complete list, and it can check that you handled all of them. That is the entire feature.
WHY SAME FILE: it is the only way the compiler can be certain nobody added a fifth subtype somewhere else. Java 17 uses a permits clause for the same reason. Dart chose the file boundary, which is why privacy being by file yesterday turns out to be consistent.
THE DATA POINT IS AS IMPORTANT AS THE EXHAUSTIVENESS. Look at what each class carries. OrderLoaded has an order, and it is NOT nullable, because if you have an OrderLoaded you definitely have an order. OrderFailed has a message and no order. Sixteen combinations became four, and every field is non-nullable.
SAY THAT AGAIN: the nullable fields are gone. That is not a side effect, it is the main benefit. Every null check on every screen disappears.
YOU CANNOT INSTANTIATE THE SEALED CLASS ITSELF. Show the compile error; it takes ten seconds.
CONNECT TO YESTERDAY: this is why we wrote const constructors. Three of these four states carry no data, so they are compile-time constants and Flutter reuses one instance of each. That will matter on Day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Type it live, all four classes, and talk while you do.
WHAT sealed MEANS: every direct subtype must be in the same file. Because of that, the compiler knows the complete list, and it can check that you handled all of them. That is the entire feature.
WHY SAME FILE: it is the only way the compiler can be certain nobody added a fifth subtype somewhere else. Java 17 uses a permits clause for the same reason. Dart chose the file boundary, which is why privacy being by file yesterday turns out to be consistent.
THE DATA POINT IS AS IMPORTANT AS THE EXHAUSTIVENESS. Look at what each class carries. OrderLoaded has an order, and it is NOT nullable, because if you have an OrderLoaded you definitely have an order. OrderFailed has a message and no order. Sixteen combinations became four, and every field is non-nullable.
SAY THAT AGAIN: the nullable fields are gone. That is not a side effect, it is the main benefit. Every null check on every screen disappears.
YOU CANNOT INSTANTIATE THE SEALED CLASS ITSELF. Show the compile error; it takes ten seconds.
CONNECT TO YESTERDAY: this is why we wrote const constructors. Three of these four states carry no data, so they are compile-time constants and Flutter reuses one instance of each. That will matter on Day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and this is the demo that has to land. Do it live and do not skip it.
THE SYNTAX FIRST: switch as an EXPRESSION, so it produces a value. Arrow per branch, comma between branches, no break anywhere. It is much closer to a lookup table than to a Java switch statement.
THE MISSING default IS THE ENTIRE POINT. Say that clearly. In Java you write a default branch, usually throwing, because the compiler cannot help you. Here there is no default, because the compiler knows the four subtypes and checks all four are handled.
NOW THE DEMO, and this is the moment of the day: add a fifth class, OrderCancelled, to the sealed hierarchy. Save. The describe function turns red. Read the error message out loud. Then add the branch and watch it go green.
PAUSE AFTER THAT. Say: "in a system with forty screens, adding a state means the compiler shows you every one of the forty places you have to think about. Not a test, not a code review, not a bug report from production. The compiler, before you commit."
For a room that maintains large Java systems, that is the single most persuasive thirty seconds in the course.
THE STATEMENT FORM still exists and still allows default. Show it briefly and say to prefer the expression form, because the expression form is the one that forces exhaustiveness.
THE COLON-FINAL SYNTAX in OrderLoaded(:final order) is the object pattern, and it is the next slide. Say "that comes next" rather than explaining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THE SYNTAX: OrderLoaded(:final order) means "if this is an OrderLoaded, bind its order field to a variable called order". The colon with nothing in front is the shorthand for "same name as the field".
THE LONG FORM, OrderFailed(message: final why), renames the variable. Use it when the field name is not what you want to call it locally.
COMPARE TO JAVA 8 EXPLICITLY: instanceof, then a cast, then a field access, on three lines, with a variable you had to name. Here it is one pattern and the variable arrives typed and non-null.
NESTED PATTERNS are the part that makes people sit up. OrderLoaded(order: Order(:final customer)) reaches two levels down in one expression. Show it, then warn against going three levels deep, because readability falls off fast.
MATCHING ON A LITERAL INSIDE A PATTERN, the Acme Ltd example, surprises people. You can match a constant value at any depth. It is genuinely useful for special-casing, and genuinely dangerous if you hard-code business rules that way. Say both.
ORDER MATTERS in a switch. The first matching branch wins, so the specific case must come before the general one. Show what happens if you put OrderLoaded() above the Acme case: the specific branch becomes unreachable and the analyser tells you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This is where the nested ternary from this morning gets its revenge.
GUARDS: the when keyword adds a boolean condition to a pattern. The branch only matches if both the shape and the condition hold.
THE CALLBACK TO THIS MORNING: show the discount band as a nested ternary next to the switch with guards. Ask which one they would rather review. That is the whole argument for guards in one comparison, and it is why this slide is placed after lunch rather than before it.
VALUE PATTERNS on a plain int: literals, or-patterns with double pipe, ranges with &gt;= and &lt;, combined with double ampersand. The size function reads like a specification rather than like code.
THE UNDERSCORE is the wildcard: match anything. In an exhaustive switch over a sealed type, using an underscore turns exhaustiveness checking OFF for the remaining cases, so use it deliberately. canRetry uses it correctly, because it genuinely only cares about one case.
SAY THAT WARNING CLEARLY. An underscore in a sealed switch is you telling the compiler to stop helping. Sometimes right, often lazy.
RECORD PATTERNS, the point example, connect the morning to the afternoon. Same destructuring syntax, now inside a switch.
if-case IS THE LIGHTWEIGHT FORM for when you only care about one shape and do not want a whole switch. They will use it on Day 7 for handling a single failure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Run it, look at the output, and then say where it goes.
THIS IS THE DELIVERABLE. Everything in the afternoon has been building to this file, and it is the file that Day 5 puts on a screen.
WALK THE OUTPUT LINE BY LINE. Four states, four descriptions, and only one of them can be retried.
THEN SAY WHERE IT GOES: on Day 5 the screen watches this state and renders a different widget for each case, using exactly this switch. Idle shows a prompt, Loading shows a spinner, Loaded shows the order, Failed shows an error with a retry button. Four states, four widgets, and the compiler will not let anyone forget the error case.
CONTRAST WITH WHAT THEY DO NOW: in most codebases the loading spinner is forgotten on at least one screen, and the error case is a silent failure. This makes both impossible.
canRetry SHOWS THE UNDERSCORE USED WELL. It genuinely only cares about one case, so the wildcard is honest rather than lazy.
TELL THEM TO KEEP THIS PAD. Lab 3.2 extends it and Day 5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Run it, look at the output, and then say where it goes.
THIS IS THE DELIVERABLE. Everything in the afternoon has been building to this file, and it is the file that Day 5 puts on a screen.
WALK THE OUTPUT LINE BY LINE. Four states, four descriptions, and only one of them can be retried.
THEN SAY WHERE IT GOES: on Day 5 the screen watches this state and renders a different widget for each case, using exactly this switch. Idle shows a prompt, Loading shows a spinner, Loaded shows the order, Failed shows an error with a retry button. Four states, four widgets, and the compiler will not let anyone forget the error case.
CONTRAST WITH WHAT THEY DO NOW: in most codebases the loading spinner is forgotten on at least one screen, and the error case is a silent failure. This makes both impossible.
canRetry SHOWS THE UNDERSCORE USED WELL. It genuinely only cares about one case, so the wildcard is honest rather than lazy.
TELL THEM TO KEEP THIS PAD. Lab 3.2 extends it and Day 5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Run it, look at the output, and then say where it goes.
THIS IS THE DELIVERABLE. Everything in the afternoon has been building to this file, and it is the file that Day 5 puts on a screen.
WALK THE OUTPUT LINE BY LINE. Four states, four descriptions, and only one of them can be retried.
THEN SAY WHERE IT GOES: on Day 5 the screen watches this state and renders a different widget for each case, using exactly this switch. Idle shows a prompt, Loading shows a spinner, Loaded shows the order, Failed shows an error with a retry button. Four states, four widgets, and the compiler will not let anyone forget the error case.
CONTRAST WITH WHAT THEY DO NOW: in most codebases the loading spinner is forgotten on at least one screen, and the error case is a silent failure. This makes both impossible.
canRetry SHOWS THE UNDERSCORE USED WELL. It genuinely only cares about one case, so the wildcard is honest rather than lazy.
TELL THEM TO KEEP THIS PAD. Lab 3.2 extends it and Day 5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35 minutes, hard stop. The single most important lab of the course.
CHECKPOINTS: at 10 minutes the sealed class compiles. At 22 minutes describe prints all four.
STEP 7 IS NOT OPTIONAL AND NOBODY MAY SKIP IT. Everyone must add the fifth state, see the compile error, and read it. If anybody runs out of time, do it on the projector at the hard stop and make the room watch. That thirty seconds is the argument for the whole architecture of the next five days.
BEFORE THE TIMER STARTS, say out loud that the four subtypes must be in the same file as the sealed class. In DartPad that is automatic, but somebody will ask why, and answering it up front saves four identical questions.
COMMON ERRORS: putting a default branch in and then wondering why adding the fifth state did not break anything. That is the most instructive mistake available, so if you see it, do not fix it quietly, call it out to the room. Using a colon instead of an arrow. Forgetting the commas between branches. Writing case OrderIdle: with a colon, which is the statement form, inside an expression.
THE THIRD STRETCH GOAL IS A REAL DESIGN ARGUMENT with no single right answer, and it is a good thing for the fast half of the room to chew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last hour. Extensions are the crowd pleaser and mixins are the one to warn about.
KEEP IT PRACTICAL. Everything on these two slides appears in the code they write from Day 5, so frame each one as "here is where you will use this on Thursday".
END ON THE LAB so people leave having made something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this is the most enjoyable slide of the day.
THE PITCH: every Java codebase has a StringUtils, a DateUtils and a MoneyUtils. Every one of them reads backwards: MoneyUtils.format(amount) puts the tool before the material. Extensions let you write amount.rands instead.
THE SYNTAX: extension Name on Type, then members as normal. Inside, this refers to the value, and you can usually omit it, which is why toStringAsFixed appears with no receiver.
Money ON double IS THE ONE THEY WILL USE ALL WEEK. Every amount on every screen from Day 5 is formatted with .rands. Say that, because it turns a nice trick into a course convention.
THE FOUR LIMITS MATTER and you should read them out. No new fields, because there is nowhere to store them. No overriding an existing member, because the real one always wins. Resolved from the STATIC type, so an extension on String does not fire on a variable declared as Object. And it must be imported to be visible, which is the one that confuses people in a multi-file project.
THAT THIRD LIMIT DESERVES A DEMO if you have time: declare Object o = 'SKU-1' and try o.isValidSku. It does not compile, because the static type is Object. That is the clearest possible illustration that extensions are compile-time sugar, not runtime dispatch.
EXTENSIONS ON YOUR OWN TYPES are legitimate and useful for keeping presentation concerns out of a domain class. OrderReporting is exactly that: the Order class stays pure and the display helpers live beside the screen that needs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and this is the most enjoyable slide of the day.
THE PITCH: every Java codebase has a StringUtils, a DateUtils and a MoneyUtils. Every one of them reads backwards: MoneyUtils.format(amount) puts the tool before the material. Extensions let you write amount.rands instead.
THE SYNTAX: extension Name on Type, then members as normal. Inside, this refers to the value, and you can usually omit it, which is why toStringAsFixed appears with no receiver.
Money ON double IS THE ONE THEY WILL USE ALL WEEK. Every amount on every screen from Day 5 is formatted with .rands. Say that, because it turns a nice trick into a course convention.
THE FOUR LIMITS MATTER and you should read them out. No new fields, because there is nowhere to store them. No overriding an existing member, because the real one always wins. Resolved from the STATIC type, so an extension on String does not fire on a variable declared as Object. And it must be imported to be visible, which is the one that confuses people in a multi-file project.
THAT THIRD LIMIT DESERVES A DEMO if you have time: declare Object o = 'SKU-1' and try o.isValidSku. It does not compile, because the static type is Object. That is the clearest possible illustration that extensions are compile-time sugar, not runtime dispatch.
EXTENSIONS ON YOUR OWN TYPES are legitimate and useful for keeping presentation concerns out of a domain class. OrderReporting is exactly that: the Order class stays pure and the display helpers live beside the screen that needs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extension ListExtras&lt;T&gt; on List&lt;T&gt; adds a method to every list in the program. That is a large amount of power and it is worth pausing on.
groupBy IS THE ONE WORTH WRITING because Java has Collectors.groupingBy and Dart does not ship an equivalent. Walk the implementation: putIfAbsent creates the bucket on first use, then add puts the item in. Five lines.
THE METHOD HAS ITS OWN TYPE PARAMETER K, independent of the extension's T. That is the generic method idea from this morning, applied. Point back at it.
EXTENSIONS ON NULLABLE TYPES are allowed, which surprises people: on String? rather than on String. Inside, this may be null, so you handle it. orEmpty is the classic example and they will want it.
THE WARNING: an extension is invisible until imported, so a team that scatters them across files gets a codebase where the same expression compiles in one file and not another. Keep them in a small number of well-named files. On this course, one file called extensions.dart.
DO NOT go into extension types, which is a separate Dart 3 feature with a confusingly similar name. Mention they exist if asked, and say they are for zero-cost wrappers and not needed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extension ListExtras&lt;T&gt; on List&lt;T&gt; adds a method to every list in the program. That is a large amount of power and it is worth pausing on.
groupBy IS THE ONE WORTH WRITING because Java has Collectors.groupingBy and Dart does not ship an equivalent. Walk the implementation: putIfAbsent creates the bucket on first use, then add puts the item in. Five lines.
THE METHOD HAS ITS OWN TYPE PARAMETER K, independent of the extension's T. That is the generic method idea from this morning, applied. Point back at it.
EXTENSIONS ON NULLABLE TYPES are allowed, which surprises people: on String? rather than on String. Inside, this may be null, so you handle it. orEmpty is the classic example and they will want it.
THE WARNING: an extension is invisible until imported, so a team that scatters them across files gets a codebase where the same expression compiles in one file and not another. Keep them in a small number of well-named files. On this course, one file called extensions.dart.
DO NOT go into extension types, which is a separate Dart 3 feature with a confusingly similar name. Mention they exist if asked, and say they are for zero-cost wrappers and not needed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and be even-handed. Mixins are useful and over-used.
WHAT A MIXIN IS: a block of implementation you can drop into any class with the with keyword. Unlike an interface with default methods, it can declare and use its own fields, which is what _lastChanged demonstrates.
A MIXIN CAN DECLARE AN ABSTRACT MEMBER, as Describable does with displayName. The class that uses the mixin must provide it. That is how a mixin adds behaviour that depends on something the class knows.
ORDER MATTERS, and this is the part Java developers find uncomfortable. With with A, B, the later one wins any conflict. Java's default methods refuse to compile on a conflict and make you resolve it explicitly. Dart resolves it silently by position. Say that plainly; it is a real difference in safety.
THE on KEYWORD restricts a mixin to classes that already have something. Timestamped on Auditable can use Auditable's private field. It is the mixin equivalent of a bound.
WHERE THEY WILL ACTUALLY MEET MIXINS: Flutter uses them for lifecycle. On Day 7, animations need SingleTickerProviderStateMixin. That is very likely the only mixin they will apply all week, and knowing what the keyword means is the point of this slide.
THE ADVICE: prefer composition and extensions. Reach for a mixin when several unrelated classes genuinely need the same stateful behaviour, which is rarer than it sounds.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and be even-handed. Mixins are useful and over-used.
WHAT A MIXIN IS: a block of implementation you can drop into any class with the with keyword. Unlike an interface with default methods, it can declare and use its own fields, which is what _lastChanged demonstrates.
A MIXIN CAN DECLARE AN ABSTRACT MEMBER, as Describable does with displayName. The class that uses the mixin must provide it. That is how a mixin adds behaviour that depends on something the class knows.
ORDER MATTERS, and this is the part Java developers find uncomfortable. With with A, B, the later one wins any conflict. Java's default methods refuse to compile on a conflict and make you resolve it explicitly. Dart resolves it silently by position. Say that plainly; it is a real difference in safety.
THE on KEYWORD restricts a mixin to classes that already have something. Timestamped on Auditable can use Auditable's private field. It is the mixin equivalent of a bound.
WHERE THEY WILL ACTUALLY MEET MIXINS: Flutter uses them for lifecycle. On Day 7, animations need SingleTickerProviderStateMixin. That is very likely the only mixin they will apply all week, and knowing what the keyword means is the point of this slide.
THE ADVICE: prefer composition and extensions. Reach for a mixin when several unrelated classes genuinely need the same stateful behaviour, which is rarer than it sounds.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Eight minutes. This slide is the summary of two days of object modelling, so let it breathe.
GO ROUND THE ROOM if you have time: give them a scenario each and ask which tool. A test double for a repository, that is implements. Money formatting on a double, that is extension. A shared lifecycle hook, that is with. A specialised widget, that is extends.
THE LAST BULLET IS THE MOST IMPORTANT and it is the one people skip. Most of the time none of these is the answer and a plain function is. Java's everything-must-be-in-a-class rule trains people out of that instinct, and Dart gives it back.
THE CALLOUT IS THE THEME OF THE WHOLE COURSE. Flutter is composition all the way down: a padded, centred, coloured button is four widgets nested, not a subclass with four properties. Say it now and it will make Day 5 feel familiar.
CONNECT BACKWARD: yesterday's implicit interfaces mean you can implements anything, including a concrete class, which is why Dart needs fewer extracted interfaces than Java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30 minutes, hard stop at 15:55. Lighter than the last two, deliberately, because it is the end of a heavy day.
CHECKPOINTS: at 10 minutes Money works. At 20 minutes groupBy compiles.
THE REGEX IN isValidSku will trip someone. It is a raw string, with an r before the quote, so the backslash is not an escape. Say that before the timer starts.
THE FIRST STRETCH GOAL IS A GOOD DESIGN QUESTION. A colour belongs in an extension rather than on the enum because a colour is a presentation concern and the enum is domain. That is the domain-knows-nothing-about-the-UI rule from Day 1, applied. If anyone gets there, make them explain it to the room.
THE THIRD STRETCH GOAL demonstrates static resolution, which is the extension limit most likely to confuse them in a real project. Worth doing on the projector at the stop even if nobody attempted it.
COMMON ERRORS: forgetting the r on the regex string. Trying to add a field to an extension. Writing extension on Order without importing the Order file, which in a single pad cannot happen but will in a real project on Day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Five minutes and read it slowly. This has been the densest day so far.
THE CLOSING QUESTION: "which of today's four features would you most want in Java tomorrow?" It gets real answers and the answer is almost always sealed classes or extensions.
NAME WHAT THEY BUILT: a complete order state model with four states the compiler will not let them mishandle. That is a genuinely professional piece of modelling and most Java codebases do not have its equivalent.
SET UP TOMORROW: "Tomorrow is the last Dart day, and it is about time: what happens when something takes a while, what happens when it fails, and why Dart has no threads. Then on Thursday we finally put all of this on a screen."
PRESENTER, TONIGHT: check that everyone's pad has a working sealed OrderState, because tomorrow's service returns one and Day 5 renders one. Anyone without it needs the Lab 3.2 solution before 09:00.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PAGE: patterns are the feature most likely to be under-used, because today only showed the parts we needed. The official page is short and full of runnable examples.
EXPECTED: Q1 usually the map pattern or the list pattern. Q2 an irrefutable pattern always matches and appears in declarations and assignments; a refutable one may fail and appears in switch and if-case. That is why final (a, b) = pair always compiles and a list pattern can throw. Q3 a list pattern with a rest element is how you take the first line and the remainder in one step.
NAME THE TWO VOLUNTEERS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The one block that must survive intact is sealed classes and patterns. Everything else today is negotiable.
IF YOU ONLY GET THROUGH ONE THING, make it the boolean-flags slide followed by the exhaustiveness demo. That pairing is the argument, and the syntax can be learned from the handbook.
MIXINS ARE THE FIRST THING TO CUT. They will apply exactly one mixin all week, on Day 7, and the handbook covers it.
GENERICS ARE THE SECOND THING TO CUT, because this room already knows the concept and only needs the syntax, which is nearly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 the projector at every hard stop so anyone behind can copy and rejoin.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This is the model Day 5 renders, so make sure everyone leaves with a working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This is the model Day 5 renders, so make sure everyone leaves with a working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This is the model Day 5 renders, so make sure everyone leaves with a working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page in the Day 3 handbook. Tell them it is there so nobody photographs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the second display. Rows one and two together answer the most common confusion of the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are in the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262872" y="-1463040"/>
            <a:ext cx="4754880" cy="4754880"/>
          </a:xfrm>
          <a:prstGeom prst="ellipse">
            <a:avLst/>
          </a:prstGeom>
          <a:solidFill>
            <a:srgbClr val="434C5E"/>
          </a:solidFill>
          <a:ln w="12700">
            <a:solidFill>
              <a:srgbClr val="434C5E"/>
            </a:solidFill>
            <a:prstDash val="solid"/>
          </a:ln>
        </p:spPr>
      </p:sp>
      <p:sp>
        <p:nvSpPr>
          <p:cNvPr id="3" name="Shape 1"/>
          <p:cNvSpPr/>
          <p:nvPr/>
        </p:nvSpPr>
        <p:spPr>
          <a:xfrm>
            <a:off x="10543032" y="4480560"/>
            <a:ext cx="3108960" cy="3108960"/>
          </a:xfrm>
          <a:prstGeom prst="ellipse">
            <a:avLst/>
          </a:prstGeom>
          <a:solidFill>
            <a:srgbClr val="2A9D8F"/>
          </a:solidFill>
          <a:ln w="12700">
            <a:solidFill>
              <a:srgbClr val="2A9D8F"/>
            </a:solidFill>
            <a:prstDash val="solid"/>
          </a:ln>
        </p:spPr>
      </p:sp>
      <p:sp>
        <p:nvSpPr>
          <p:cNvPr id="4" name="Text 2"/>
          <p:cNvSpPr txBox="1"/>
          <p:nvPr/>
        </p:nvSpPr>
        <p:spPr>
          <a:xfrm>
            <a:off x="548640" y="731520"/>
            <a:ext cx="7315200" cy="365760"/>
          </a:xfrm>
          <a:prstGeom prst="rect">
            <a:avLst/>
          </a:prstGeom>
          <a:noFill/>
          <a:ln/>
        </p:spPr>
        <p:txBody>
          <a:bodyPr wrap="square" lIns="0" tIns="0" rIns="0" bIns="0" rtlCol="0" anchor="ctr"/>
          <a:lstStyle/>
          <a:p>
            <a:pPr indent="0" marL="0">
              <a:buNone/>
            </a:pPr>
            <a:r>
              <a:rPr lang="en-US" sz="1200" spc="400" kern="0" dirty="0">
                <a:solidFill>
                  <a:srgbClr val="6FC5B8"/>
                </a:solidFill>
                <a:latin typeface="Calibri" pitchFamily="34" charset="0"/>
                <a:ea typeface="Calibri" pitchFamily="34" charset="-122"/>
                <a:cs typeface="Calibri" pitchFamily="34" charset="-120"/>
              </a:rPr>
              <a:t>TECHNICAL TRAINING</a:t>
            </a:r>
            <a:endParaRPr lang="en-US" sz="1200" dirty="0"/>
          </a:p>
        </p:txBody>
      </p:sp>
      <p:sp>
        <p:nvSpPr>
          <p:cNvPr id="5" name="Text 3"/>
          <p:cNvSpPr txBox="1"/>
          <p:nvPr/>
        </p:nvSpPr>
        <p:spPr>
          <a:xfrm>
            <a:off x="548640" y="1371600"/>
            <a:ext cx="8229600" cy="548640"/>
          </a:xfrm>
          <a:prstGeom prst="rect">
            <a:avLst/>
          </a:prstGeom>
          <a:noFill/>
          <a:ln/>
        </p:spPr>
        <p:txBody>
          <a:bodyPr wrap="square" lIns="0" tIns="0" rIns="0" bIns="0" rtlCol="0" anchor="ctr"/>
          <a:lstStyle/>
          <a:p>
            <a:pPr indent="0" marL="0">
              <a:buNone/>
            </a:pPr>
            <a:r>
              <a:rPr lang="en-US" sz="1800" dirty="0">
                <a:solidFill>
                  <a:srgbClr val="D7DEE8"/>
                </a:solidFill>
                <a:latin typeface="Calibri" pitchFamily="34" charset="0"/>
                <a:ea typeface="Calibri" pitchFamily="34" charset="-122"/>
                <a:cs typeface="Calibri" pitchFamily="34" charset="-120"/>
              </a:rPr>
              <a:t>Flutter for Java Developers · 8-Day Programme</a:t>
            </a:r>
            <a:endParaRPr lang="en-US" sz="1800" dirty="0"/>
          </a:p>
        </p:txBody>
      </p:sp>
      <p:sp>
        <p:nvSpPr>
          <p:cNvPr id="6" name="Text 4"/>
          <p:cNvSpPr txBox="1"/>
          <p:nvPr/>
        </p:nvSpPr>
        <p:spPr>
          <a:xfrm>
            <a:off x="548640" y="2103120"/>
            <a:ext cx="8686800" cy="146304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Day 3</a:t>
            </a:r>
            <a:endParaRPr lang="en-US" sz="4800" dirty="0"/>
          </a:p>
          <a:p>
            <a:pPr indent="0" marL="0">
              <a:buNone/>
            </a:pPr>
            <a:r>
              <a:rPr lang="en-US" sz="4800" b="1" dirty="0">
                <a:solidFill>
                  <a:srgbClr val="FFFFFF"/>
                </a:solidFill>
                <a:latin typeface="Calibri" pitchFamily="34" charset="0"/>
                <a:ea typeface="Calibri" pitchFamily="34" charset="-122"/>
                <a:cs typeface="Calibri" pitchFamily="34" charset="-120"/>
              </a:rPr>
              <a:t>Dart Advanced</a:t>
            </a:r>
            <a:endParaRPr lang="en-US" sz="4800" dirty="0"/>
          </a:p>
        </p:txBody>
      </p:sp>
      <p:sp>
        <p:nvSpPr>
          <p:cNvPr id="7" name="Text 5"/>
          <p:cNvSpPr txBox="1"/>
          <p:nvPr/>
        </p:nvSpPr>
        <p:spPr>
          <a:xfrm>
            <a:off x="548640" y="3657600"/>
            <a:ext cx="8229600" cy="731520"/>
          </a:xfrm>
          <a:prstGeom prst="rect">
            <a:avLst/>
          </a:prstGeom>
          <a:noFill/>
          <a:ln/>
        </p:spPr>
        <p:txBody>
          <a:bodyPr wrap="square" lIns="0" tIns="0" rIns="0" bIns="0" rtlCol="0" anchor="ctr"/>
          <a:lstStyle/>
          <a:p>
            <a:pPr indent="0" marL="0">
              <a:buNone/>
            </a:pPr>
            <a:r>
              <a:rPr lang="en-US" sz="2000" dirty="0">
                <a:solidFill>
                  <a:srgbClr val="6FC5B8"/>
                </a:solidFill>
                <a:latin typeface="Calibri" pitchFamily="34" charset="0"/>
                <a:ea typeface="Calibri" pitchFamily="34" charset="-122"/>
                <a:cs typeface="Calibri" pitchFamily="34" charset="-120"/>
              </a:rPr>
              <a:t>Generics · Records · Sealed classes and patterns · Extensions and mixins</a:t>
            </a:r>
            <a:endParaRPr lang="en-US" sz="2000" dirty="0"/>
          </a:p>
        </p:txBody>
      </p:sp>
      <p:sp>
        <p:nvSpPr>
          <p:cNvPr id="8" name="Text 6"/>
          <p:cNvSpPr txBox="1"/>
          <p:nvPr/>
        </p:nvSpPr>
        <p:spPr>
          <a:xfrm>
            <a:off x="548640" y="5760720"/>
            <a:ext cx="8229600" cy="457200"/>
          </a:xfrm>
          <a:prstGeom prst="rect">
            <a:avLst/>
          </a:prstGeom>
          <a:noFill/>
          <a:ln/>
        </p:spPr>
        <p:txBody>
          <a:bodyPr wrap="square" lIns="0" tIns="0" rIns="0" bIns="0" rtlCol="0" anchor="ctr"/>
          <a:lstStyle/>
          <a:p>
            <a:pPr indent="0" marL="0">
              <a:buNone/>
            </a:pPr>
            <a:r>
              <a:rPr lang="en-US" sz="1200" dirty="0">
                <a:solidFill>
                  <a:srgbClr val="AAB6C4"/>
                </a:solidFill>
                <a:latin typeface="Calibri" pitchFamily="34" charset="0"/>
                <a:ea typeface="Calibri" pitchFamily="34" charset="-122"/>
                <a:cs typeface="Calibri" pitchFamily="34" charset="-120"/>
              </a:rPr>
              <a:t>The parts of Dart that Java has no answer for  ·  Day 3 of 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Day 3 agenda</a:t>
            </a:r>
            <a:endParaRPr lang="en-US" sz="3000" dirty="0"/>
          </a:p>
        </p:txBody>
      </p:sp>
      <p:sp>
        <p:nvSpPr>
          <p:cNvPr id="3" name="Shape 1"/>
          <p:cNvSpPr/>
          <p:nvPr/>
        </p:nvSpPr>
        <p:spPr>
          <a:xfrm>
            <a:off x="548640"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4" name="Shape 2"/>
          <p:cNvSpPr/>
          <p:nvPr/>
        </p:nvSpPr>
        <p:spPr>
          <a:xfrm>
            <a:off x="822960" y="1600200"/>
            <a:ext cx="548640" cy="548640"/>
          </a:xfrm>
          <a:prstGeom prst="ellipse">
            <a:avLst/>
          </a:prstGeom>
          <a:solidFill>
            <a:srgbClr val="2A9D8F"/>
          </a:solidFill>
          <a:ln w="12700">
            <a:solidFill>
              <a:srgbClr val="2A9D8F"/>
            </a:solidFill>
            <a:prstDash val="solid"/>
          </a:ln>
        </p:spPr>
      </p:sp>
      <p:sp>
        <p:nvSpPr>
          <p:cNvPr id="5" name="Text 3"/>
          <p:cNvSpPr txBox="1"/>
          <p:nvPr/>
        </p:nvSpPr>
        <p:spPr>
          <a:xfrm>
            <a:off x="822960"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508760"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09:00 - 10:30</a:t>
            </a:r>
            <a:endParaRPr lang="en-US" sz="1000" dirty="0"/>
          </a:p>
        </p:txBody>
      </p:sp>
      <p:sp>
        <p:nvSpPr>
          <p:cNvPr id="7" name="Text 5"/>
          <p:cNvSpPr txBox="1"/>
          <p:nvPr/>
        </p:nvSpPr>
        <p:spPr>
          <a:xfrm>
            <a:off x="1508760"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Generics</a:t>
            </a:r>
            <a:endParaRPr lang="en-US" sz="1500" dirty="0"/>
          </a:p>
        </p:txBody>
      </p:sp>
      <p:sp>
        <p:nvSpPr>
          <p:cNvPr id="8" name="Text 6"/>
          <p:cNvSpPr txBox="1"/>
          <p:nvPr/>
        </p:nvSpPr>
        <p:spPr>
          <a:xfrm>
            <a:off x="822960"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Why type parameters exist</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Generic classes and functions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Bounds, and why there are no wildcards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Reified generics, unlike Java</a:t>
            </a:r>
            <a:endParaRPr lang="en-US" sz="1200" dirty="0"/>
          </a:p>
        </p:txBody>
      </p:sp>
      <p:sp>
        <p:nvSpPr>
          <p:cNvPr id="9" name="Shape 7"/>
          <p:cNvSpPr/>
          <p:nvPr/>
        </p:nvSpPr>
        <p:spPr>
          <a:xfrm>
            <a:off x="3390138"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10" name="Shape 8"/>
          <p:cNvSpPr/>
          <p:nvPr/>
        </p:nvSpPr>
        <p:spPr>
          <a:xfrm>
            <a:off x="3664458" y="1600200"/>
            <a:ext cx="548640" cy="548640"/>
          </a:xfrm>
          <a:prstGeom prst="ellipse">
            <a:avLst/>
          </a:prstGeom>
          <a:solidFill>
            <a:srgbClr val="2A9D8F"/>
          </a:solidFill>
          <a:ln w="12700">
            <a:solidFill>
              <a:srgbClr val="2A9D8F"/>
            </a:solidFill>
            <a:prstDash val="solid"/>
          </a:ln>
        </p:spPr>
      </p:sp>
      <p:sp>
        <p:nvSpPr>
          <p:cNvPr id="11" name="Text 9"/>
          <p:cNvSpPr txBox="1"/>
          <p:nvPr/>
        </p:nvSpPr>
        <p:spPr>
          <a:xfrm>
            <a:off x="3664458"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350258"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10:45 - 12:30</a:t>
            </a:r>
            <a:endParaRPr lang="en-US" sz="1000" dirty="0"/>
          </a:p>
        </p:txBody>
      </p:sp>
      <p:sp>
        <p:nvSpPr>
          <p:cNvPr id="13" name="Text 11"/>
          <p:cNvSpPr txBox="1"/>
          <p:nvPr/>
        </p:nvSpPr>
        <p:spPr>
          <a:xfrm>
            <a:off x="4350258"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Records</a:t>
            </a:r>
            <a:endParaRPr lang="en-US" sz="1500" dirty="0"/>
          </a:p>
        </p:txBody>
      </p:sp>
      <p:sp>
        <p:nvSpPr>
          <p:cNvPr id="14" name="Text 12"/>
          <p:cNvSpPr txBox="1"/>
          <p:nvPr/>
        </p:nvSpPr>
        <p:spPr>
          <a:xfrm>
            <a:off x="3664458"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Positional and named records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Returning several values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Destructuring</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3.1 - generics and records</a:t>
            </a:r>
            <a:endParaRPr lang="en-US" sz="1200" dirty="0"/>
          </a:p>
        </p:txBody>
      </p:sp>
      <p:sp>
        <p:nvSpPr>
          <p:cNvPr id="15" name="Shape 13"/>
          <p:cNvSpPr/>
          <p:nvPr/>
        </p:nvSpPr>
        <p:spPr>
          <a:xfrm>
            <a:off x="6231636"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16" name="Shape 14"/>
          <p:cNvSpPr/>
          <p:nvPr/>
        </p:nvSpPr>
        <p:spPr>
          <a:xfrm>
            <a:off x="6505956" y="1600200"/>
            <a:ext cx="548640" cy="548640"/>
          </a:xfrm>
          <a:prstGeom prst="ellipse">
            <a:avLst/>
          </a:prstGeom>
          <a:solidFill>
            <a:srgbClr val="2A9D8F"/>
          </a:solidFill>
          <a:ln w="12700">
            <a:solidFill>
              <a:srgbClr val="2A9D8F"/>
            </a:solidFill>
            <a:prstDash val="solid"/>
          </a:ln>
        </p:spPr>
      </p:sp>
      <p:sp>
        <p:nvSpPr>
          <p:cNvPr id="17" name="Text 15"/>
          <p:cNvSpPr txBox="1"/>
          <p:nvPr/>
        </p:nvSpPr>
        <p:spPr>
          <a:xfrm>
            <a:off x="6505956"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7191756"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13:15 - 14:45</a:t>
            </a:r>
            <a:endParaRPr lang="en-US" sz="1000" dirty="0"/>
          </a:p>
        </p:txBody>
      </p:sp>
      <p:sp>
        <p:nvSpPr>
          <p:cNvPr id="19" name="Text 17"/>
          <p:cNvSpPr txBox="1"/>
          <p:nvPr/>
        </p:nvSpPr>
        <p:spPr>
          <a:xfrm>
            <a:off x="7191756"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Sealed classes and patterns</a:t>
            </a:r>
            <a:endParaRPr lang="en-US" sz="1500" dirty="0"/>
          </a:p>
        </p:txBody>
      </p:sp>
      <p:sp>
        <p:nvSpPr>
          <p:cNvPr id="20" name="Text 18"/>
          <p:cNvSpPr txBox="1"/>
          <p:nvPr/>
        </p:nvSpPr>
        <p:spPr>
          <a:xfrm>
            <a:off x="6505956"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The problem with boolean flags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sealed, and exhaustive switch</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Object patterns and guards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3.2 - the order state model</a:t>
            </a:r>
            <a:endParaRPr lang="en-US" sz="1200" dirty="0"/>
          </a:p>
        </p:txBody>
      </p:sp>
      <p:sp>
        <p:nvSpPr>
          <p:cNvPr id="21" name="Shape 19"/>
          <p:cNvSpPr/>
          <p:nvPr/>
        </p:nvSpPr>
        <p:spPr>
          <a:xfrm>
            <a:off x="9073134"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22" name="Shape 20"/>
          <p:cNvSpPr/>
          <p:nvPr/>
        </p:nvSpPr>
        <p:spPr>
          <a:xfrm>
            <a:off x="9347454" y="1600200"/>
            <a:ext cx="548640" cy="548640"/>
          </a:xfrm>
          <a:prstGeom prst="ellipse">
            <a:avLst/>
          </a:prstGeom>
          <a:solidFill>
            <a:srgbClr val="2A9D8F"/>
          </a:solidFill>
          <a:ln w="12700">
            <a:solidFill>
              <a:srgbClr val="2A9D8F"/>
            </a:solidFill>
            <a:prstDash val="solid"/>
          </a:ln>
        </p:spPr>
      </p:sp>
      <p:sp>
        <p:nvSpPr>
          <p:cNvPr id="23" name="Text 21"/>
          <p:cNvSpPr txBox="1"/>
          <p:nvPr/>
        </p:nvSpPr>
        <p:spPr>
          <a:xfrm>
            <a:off x="9347454"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10033254"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15:00 - 16:00</a:t>
            </a:r>
            <a:endParaRPr lang="en-US" sz="1000" dirty="0"/>
          </a:p>
        </p:txBody>
      </p:sp>
      <p:sp>
        <p:nvSpPr>
          <p:cNvPr id="25" name="Text 23"/>
          <p:cNvSpPr txBox="1"/>
          <p:nvPr/>
        </p:nvSpPr>
        <p:spPr>
          <a:xfrm>
            <a:off x="10033254"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Extensions and mixins</a:t>
            </a:r>
            <a:endParaRPr lang="en-US" sz="1500" dirty="0"/>
          </a:p>
        </p:txBody>
      </p:sp>
      <p:sp>
        <p:nvSpPr>
          <p:cNvPr id="26" name="Text 24"/>
          <p:cNvSpPr txBox="1"/>
          <p:nvPr/>
        </p:nvSpPr>
        <p:spPr>
          <a:xfrm>
            <a:off x="9347454"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Extension methods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Mixins, and when not to use one</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3.3 - making the code read well</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Recap</a:t>
            </a:r>
            <a:endParaRPr lang="en-US" sz="1200" dirty="0"/>
          </a:p>
        </p:txBody>
      </p:sp>
      <p:sp>
        <p:nvSpPr>
          <p:cNvPr id="27" name="Text 2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28" name="Text 2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1  ·  09:15 - 10:30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Generics</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what a type parameter buys you</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Write a generic class and a generic function</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Constrain a type parameter with extends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Know how Dart generics differ from Java generics</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Why generics, and the one big difference from Java</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Without generics you lose the type and have to cast back.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This is Java before 1.5, and it is why generics exist.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List things = [];          // List&lt;dynamic&gt; - anything goes in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things.add('SKU-1');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things.add(42);            // no complaint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String s = things[0];   // runtime failure waiting to happen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With generics the compiler knows, and checks, every element.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List&lt;String&gt; skus =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skus.add('SKU-1');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skus.add(42);           // COMPILE ERROR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Generics are erased at runtime in Java. In Dart they are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REIFIED, which means the type survives into the running program: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print(skus.runtimeType);          // List&lt;String&gt;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print(skus is List&lt;String&gt;);      // true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print(skus is List&lt;int&gt;);         // false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In Java, `skus instanceof List&lt;String&gt;` will not even compile,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because the type argument is gone by then. That single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difference removes a lot of the awkwardness Java developers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associate with generics.</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Dart generics are reified: the type argument survives into the running program. Java erases it, which is why you cannot write instanceof List&lt;String&gt;.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Generic classes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generic class. T is a placeholder for a real type.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Box&lt;T&gt;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Box(this.value);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T value;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 get item =&gt; value;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bool holds(Object? other) =&gt; value == other;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skuBox = Box&lt;String&gt;('SKU-1');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qtyBox = Box&lt;int&gt;(40);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inferred = Box('SKU-2');        // T is inferred as String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print(skuBox.item.toUpperCase());     // the compiler knows it is a String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generic class with two type parameters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Pair&lt;K, V&gt;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Pair(this.key, this.value);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K key;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V value;</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Generic classes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@override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String toString() =&gt; '($key, $value)';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line = Pair&lt;String, int&gt;('SKU-1', 40);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generic result type, which we use for the rest of the week</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Result&lt;T&gt;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Result.success(this.value) : error = null;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Result.failure(this.error) : value = null;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T? value;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String? error;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bool get isSuccess =&gt; error == null;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Angle brackets after the class name, exactly as in Java. Type inference means you rarely have to write the argument at the call site.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Generic functions and methods</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generic FUNCTION. The type parameter goes after the name.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T firstOr&lt;T&gt;(List&lt;T&gt; items, T fallback)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items.isEmpty ? fallback : items.first;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print(firstOr&lt;String&gt;(['SKU-1'], 'NONE'));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print(firstOr([], 0));                   // T inferred as int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generic method on a class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Repository&lt;T&gt;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List&lt;T&gt; _items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void add(T item) =&gt; _items.add(item);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List&lt;T&gt; all() =&gt; List.unmodifiable(_items);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A method with its OWN type parameter, independent of 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List&lt;R&gt; mapAll&lt;R&gt;(R Function(T) transform)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_items.map(transform).toList();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repo = Repository&lt;OrderLine&gt;();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skus = repo.mapAll&lt;String&gt;((line) =&gt; line.sku);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Java syntax for comparison: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public &lt;T&gt; T firstOr(List&lt;T&gt; items, T fallback) {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Dart puts the type parameter after the method name instead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of before the return type. Same idea, different position.</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type parameter goes after the function name. Java puts it before the return type, which is the only difference worth remembering.</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Bounds, and no wildcards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BOUND restricts what T can be. Java: &lt;T extends Number&gt;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Dart uses the same word.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Ledger&lt;T extends num&gt;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List&lt;T&gt; _amounts =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void add(T amount) =&gt; _amounts.add(amount);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Because T is a num, we can do arithmetic on 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double get total =&gt; _amounts.fold&lt;double&gt;(0, (sum, a) =&gt; sum + 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l = Ledger&lt;double&gt;();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l.add(250.0);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bad = Ledger&lt;String&gt;();   // COMPILE ERROR: String is not a num</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Bounds, and no wildcards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Bounding on your own type works the same way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abstract class Identifiable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String get id;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Store&lt;T extends Identifiable&gt;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Map&lt;String, T&gt; _byId =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void save(T item) =&gt; _byId[item.id] = item;   // .id is available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 find(String id) =&gt; _byId[id];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NO WILDCARDS. Dart has no ? extends T and no ? super 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Dart generics are covariant by default, which means 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List&lt;String&gt; IS a List&lt;Object&gt;. That is convenient and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slightly less safe than Java, and in practice it rarely bites.</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extends constrains a type parameter, exactly as in Java. There is no ? extends and no ? super, because Dart generics are covariant by default.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generic types you will actually meet</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reference</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generic types you will meet every day this week.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List&lt;String&gt;                  // an ordered collection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Set&lt;String&gt;                   // no duplicates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Map&lt;String, int&gt;              // key to value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Iterable&lt;String&gt;              // anything you can loop over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Future&lt;Order&gt;                 // a value that arrives later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Stream&lt;Order&gt;                 // many values that arrive over time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Comparable&lt;Order&gt;             // has a compareTo</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Nested generics read inside out, same as Java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Future&lt;List&lt;Order&gt;&gt;           // later, you will get a list of orders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Map&lt;String, List&lt;OrderLine&gt;&gt;  // sku to the lines that use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Flutter ones you meet from Day 5</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List&lt;Widget&gt;                  // the children of a Row or Column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Future&lt;void&gt;                  // an async job with no result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ValueChanged&lt;String&gt;          // a callback taking a String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function type with generics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T Function(T) identity;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List&lt;R&gt; Function(List&lt;T&gt;, R Function(T)) mapper;</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Reading nested generics inside out is the only skill that matters. Future&lt;List&lt;Order&gt;&gt; is: later, you will get a list of orders.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2  ·  10:45 - 12:30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Records</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Write positional and named records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Return several values from a function without declaring a class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Destructure a record in a declaration, a loop and a pattern</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Decide when a record is right and when you want a class</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Records: positional and named</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record groups several values with no class to declare.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Java got records in 16, but those are NAMED CLASSES you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declare. Dart records are anonymous and structural.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POSITIONAL: the fields have no names, just positions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int) firstLine() =&gt; ('SKU-1', 40);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line = firstLine();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print(line.$1);          // SKU-1   - dollar one, dollar two</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print(line.$2);          // 40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NAMED: much more readable, and what you should prefer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sku, int quantity}) namedLine() =&gt; (sku: 'SKU-1', quantity: 40);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l = namedLine();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print(l.sku);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print(l.quantity);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MIXED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{int quantity}) mixed() =&gt; ('SKU-1', quantity: 40);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type IS the shape. Two records with the same field names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and types are the same type, with no declaration anywhere.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sku, int quantity}) a = (sku: 'SKU-1', quantity: 40);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sku, int quantity}) b = (sku: 'SKU-1', quantity: 40);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print(a == b);          // true - equality is structural and free</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record has no declaration. The type is the shape, so two records with the same field names and types are the same type.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Returning several values</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classic use: a function that needs to return more than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one thing, without you inventing a class for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({double subtotal, double discount, double vat, double total})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calculateTotal(Order order)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subtotal = order.lines.fold&lt;double&gt;(0, (s, l) =&gt; s + l.lineTotal);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rate = subtotal &gt;= 50000 ? 0.10 : subtotal &gt;= 10000 ? 0.05 : 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discount = subtotal * rate;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vat = (subtotal - discount) * 0.15;</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subtotal: subtotal,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discount: discount,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vat: vat,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total: subtotal - discount + vat,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t = calculateTotal(order);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print(t.total);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 Java you would declare a record or a small class, name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something like OrderTotals, put it in a file, and import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Here the shape is written where it is used and that is all.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record as a map key works, because equality is structural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cache = &lt;({String sku, int qty}), double&gt;{};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cache[(sku: 'SKU-1', qty: 40)] = 10000;</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classic use, and the one you will reach for most. The shape is written where it is used, and there is no class to name, file, or import.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Destructuring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DESTRUCTURING pulls a record apart into variables.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(sku, qty) = ('SKU-1', 40);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print(sku);</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print(qty);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Named records destructure by field name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(sku: s, quantity: q) = (sku: 'SKU-1', quantity: 40);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Shorthand when the variable name matches the field name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(:sku, :quantity) = (sku: 'SKU-1', quantity: 40);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print(sku);</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print(quantity);</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Destructuring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In a for loop, over a list of records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lines = [('SKU-1', 40), ('SKU-2', 10)];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for (final (sku, qty) in lines)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 x $qty');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 map entries, which destructure as a pair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stock = {'SKU-1': 12, 'SKU-2': 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for (final MapEntry(key: sku, value: qty) in stock.entries)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print('$sku has $qty');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Swapping two variables, with no temporary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var a = 1;</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var b = 2;</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 b) = (b, 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print('$a $b');          // 2 1</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Pulling a record apart into variables. This is your first taste of patterns, and this afternoon the same syntax appears inside switch.</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Record or class?</a:t>
            </a:r>
            <a:endParaRPr lang="en-US" sz="3000" dirty="0"/>
          </a:p>
        </p:txBody>
      </p:sp>
      <p:sp>
        <p:nvSpPr>
          <p:cNvPr id="3" name="Text 1"/>
          <p:cNvSpPr txBox="1"/>
          <p:nvPr/>
        </p:nvSpPr>
        <p:spPr>
          <a:xfrm>
            <a:off x="548640" y="1325880"/>
            <a:ext cx="11091672" cy="4754880"/>
          </a:xfrm>
          <a:prstGeom prst="rect">
            <a:avLst/>
          </a:prstGeom>
          <a:noFill/>
          <a:ln/>
        </p:spPr>
        <p:txBody>
          <a:bodyPr wrap="square" lIns="0" tIns="0" rIns="0" bIns="0" rtlCol="0" anchor="t"/>
          <a:lstStyle/>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Use a record when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The grouping has no name in the business domain, it is a return value rather than something stored, you need it in one or two places, and structural equality is what you want.</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Use a class when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The thing has a name a business person would recognise, it needs methods or validation, it will be stored or serialised, or you want to control its equality.</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The three-places rule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If you find yourself writing the same record shape in three different places, it wanted to be a class. Write the class.</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What records cannot do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No methods, no inheritance, no abstract, no private fields. They are data and nothing else, by design.</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In our app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Order, OrderLine and Product are classes, because the business names all three. The four totals that calculateTotal returns are a record, because nobody calls them anything.</a:t>
            </a:r>
            <a:endParaRPr lang="en-US" sz="1600" dirty="0"/>
          </a:p>
        </p:txBody>
      </p:sp>
      <p:sp>
        <p:nvSpPr>
          <p:cNvPr id="4" name="Shape 2"/>
          <p:cNvSpPr/>
          <p:nvPr/>
        </p:nvSpPr>
        <p:spPr>
          <a:xfrm>
            <a:off x="548640" y="5394960"/>
            <a:ext cx="11091672" cy="685800"/>
          </a:xfrm>
          <a:prstGeom prst="roundRect">
            <a:avLst>
              <a:gd name="adj" fmla="val 13333"/>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5" name="Text 3"/>
          <p:cNvSpPr txBox="1"/>
          <p:nvPr/>
        </p:nvSpPr>
        <p:spPr>
          <a:xfrm>
            <a:off x="685800" y="5440680"/>
            <a:ext cx="10817352" cy="594360"/>
          </a:xfrm>
          <a:prstGeom prst="rect">
            <a:avLst/>
          </a:prstGeom>
          <a:noFill/>
          <a:ln/>
        </p:spPr>
        <p:txBody>
          <a:bodyPr wrap="square" lIns="0" tIns="0" rIns="0" bIns="0" rtlCol="0" anchor="ctr"/>
          <a:lstStyle/>
          <a:p>
            <a:pPr indent="0" marL="0">
              <a:buNone/>
            </a:pPr>
            <a:r>
              <a:rPr lang="en-US" sz="1200" dirty="0">
                <a:solidFill>
                  <a:srgbClr val="22272E"/>
                </a:solidFill>
                <a:latin typeface="Calibri" pitchFamily="34" charset="0"/>
                <a:ea typeface="Calibri" pitchFamily="34" charset="-122"/>
                <a:cs typeface="Calibri" pitchFamily="34" charset="-120"/>
              </a:rPr>
              <a:t>A record is a shape. A class is a concept. If you struggled to name it, it probably wanted to be a record.</a:t>
            </a:r>
            <a:endParaRPr lang="en-US" sz="12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3.1</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Generics and records</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35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A generic Box, a generic function, a bounded Store keyed by id, and calculateTotal returning a named record that you destructure.</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Fresh pad. Paste in your Day 2 Order, OrderLine and OrderStatus first, then the Lab 3.1 starter from the handbook.</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1 to 2: the generic Box class and the generic firstOr function.</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3: declare abstract class Identifiable, make Order implement it, and write Store&lt;T extends Identifiable&gt;.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4: calculateTotal, returning a named record of four doubles.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5: destructure the result with the colon shorthand and print each value.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6: loop over a list of two-value records and print each.</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7: save the order in your Store, read it back by id, and print its totals.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Check your numbers against the expected output in the handbook.</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Make Store also hold a count and a findAll returning an unmodifiable list.</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Try to create a Store&lt;String&gt;. Read the error and explain it to your neighbour.</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typedef for the totals record type and use it as the return type. Decide whether it reads better.</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3  ·  13:15 - 14:45</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Sealed classes and pattern matching</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why a set of boolean flags is a bad way to model state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Declare a sealed class hierarchy and know what sealed guarantees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Write an exhaustive switch expression with no default branch</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object patterns, guards and if-case</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problem: four booleans, sixteen combinations, four legal</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version everybody writes first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PROBLEM. An order flow has four possible situations, and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every screen has to handle all four. In Java you reach for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flags, and the flags can contradict each other.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OrderScreenState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bool isLoading = false;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bool hasError = false;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String? errorMessage;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What does this mean?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isLoading = true, hasError = true, order = something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 is nonsense, but nothing stops you creating it, and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every screen has to defend against it. There are sixteen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combinations of four booleans and only four are legal.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ANSWER: make the illegal states impossible to write.</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Nothing stops you setting isLoading and hasError at the same time. Every screen then has to defend against a state that should not exist.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sealed: the compiler knows every subtype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sealed means: the compiler knows EVERY subtype, because they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must all live in this same file.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sealed class OrderState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OrderState();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OrderIdle extends OrderState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OrderIdle();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OrderLoading extends OrderState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OrderLoading();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sealed: the compiler knows every subtype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OrderLoaded extends OrderState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OrderLoaded(this.order);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Order order;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class OrderFailed extends OrderState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OrderFailed(this.message);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String message;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Now there are exactly four possible values, each carrying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exactly the data it needs and nothing it does not.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OrderLoading has no error message because it cannot fail.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OrderFailed has no order because there is not one.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You cannot create a sealed class itself:</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bad = OrderState();     // COMPILE ERROR</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Four states, each carrying exactly the data it needs and nothing it does not. OrderLoading has no error message, because loading cannot fail.</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Exhaustive switch expressions</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switch EXPRESSION returns a value, so you can use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anywhere a value is expected. Note the commas, not colons,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and the absence of break.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describe(OrderState s) =&gt; switch (s)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OrderIdle() =&gt; 'Start a new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OrderLoading() =&gt; 'Submitting...',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OrderLoaded(:final order) =&gt; 'Order ${order.id} accepted',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OrderFailed(:final message) =&gt; 'Failed: $message',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THERE IS NO default BRANCH, and that is the point.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compiler checks that every subtype is handled.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Add a fifth state and this stops compiling until you fix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old switch STATEMENT still exists and still works: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describeOld(OrderState 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switch (s)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case OrderIdle():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print('Start a new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case OrderLoaded(:final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print('Order ${order.id}');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default: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print('Something else');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Prefer the expression form. It returns a value, it forces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exhaustiveness, and it cannot fall through.</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It returns a value, it has no default branch, and it will not compile if you miss a case. Commas between branches, not colons, and no break.</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Object patterns</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OBJECT PATTERNS match a type and pull fields out at the same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time. The colon-final syntax binds a field to a variable.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summarise(OrderState s) =&gt; switch (s)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OrderLoaded(:final order) =&gt; 'Order ${order.id}',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OrderFailed(:final message) =&gt; 'Error: $message',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 =&gt; 'Nothing yet',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You can rename the variable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rename(OrderState s) =&gt; switch (s)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OrderFailed(message: final why) =&gt; 'Error: $why',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 =&gt;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You can match nested fields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customerOf(OrderState s) =&gt; switch (s)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OrderLoaded(order: Order(:final customer)) =&gt; customer,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 =&gt; 'unknown',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You can match on a literal value inside the pattern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special(OrderState s) =&gt; switch (s)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OrderLoaded(order: Order(customer: 'Acme Ltd')) =&gt; 'Key account',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OrderLoaded() =&gt; 'Standard account',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 =&gt;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Match the type and pull fields out in the same breath. No cast, no separate variable, and the field is non-nullable inside the branch.</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Guards, value patterns, and if-case</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GUARDS add a condition to a pattern with `when`.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band(Order o) =&gt; switch (o)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Order(:final subtotal) when subtotal &gt;= 50000 =&gt; 'platinum',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Order(:final subtotal) when subtotal &gt;= 10000 =&gt; 'gold',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 =&gt; 'standard',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Patterns on plain values: literals, ranges and or-patterns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size(int qty) =&gt; switch (qty)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0 =&gt; 'none',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1 || 2 =&gt; 'small',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&gt;= 3 &amp;&amp; &lt; 10 =&gt; 'medium',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 =&gt; 'bulk',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Patterns on records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shape((int, int) point) =&gt; switch (point)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(0, 0) =&gt; 'origin',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x, 0) =&gt; 'on the x axis at $x',</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(0, final y) =&gt; 'on the y axis at $y',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x, final y) =&gt; 'at $x, $y',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if-case, for when you only care about one shape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handle(OrderState 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(s case OrderFailed(:final message))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print('Only failures reach here: $message');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when adds a condition to a pattern. Patterns also work on plain values, with ranges and or-patterns, and if-case handles the single-shape check.</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complete pattern  (1/3)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complete pattern, and the shape every screen uses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from Day 5 onwards.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sealed class OrderState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OrderState();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OrderIdle extends OrderState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OrderIdle();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OrderLoading extends OrderState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OrderLoading();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OrderLoaded extends OrderState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OrderLoaded(this.order);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Order order;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OrderFailed extends OrderState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OrderFailed(this.message);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String message;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complete pattern  (2/3)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describe(OrderState s) =&gt; switch (s)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OrderIdle() =&gt; 'Start a new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OrderLoading() =&gt; 'Submitting...',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OrderLoaded(:final order)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 ${order.id} accepted, ${order.itemCount} items',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OrderFailed(:final message) =&gt; 'Failed: $message',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bool canRetry(OrderState s) =&gt; switch (s)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OrderFailed() =&gt; true,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 =&gt; false,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order =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id: 'ORD-1042',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customer: 'Acme Ltd',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lines: const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'SKU-1', description: 'Widget', quantity: 40, unitPrice: 250),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states = &lt;OrderState&gt;[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OrderIdle(),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OrderLoading(),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OrderLoaded(order),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OrderFailed('stock unavailable'),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complete pattern  (3/3)</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for (final s in states)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print('${describe(s)}   retry: ${canRetry(s)}');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This exact shape appears on every screen from Day 5 onwards. Four states, two functions over them, and the compiler enforcing that you handled all four.</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3.2</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The order state model</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35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A sealed OrderState with four subtypes, an exhaustive describe, a guarded band function, and value patterns. Then break it on purpose.</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Continue in the same pad. Copy the Lab 3.2 starter from the handbook.</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1: the sealed OrderState and its four subtypes, all in the same file.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2: describe, using a switch expression with no default branch.</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3: canRetry, true only for the failed state.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4: band, using guards with when on the order subtotal.</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5: size, using literal, or, and range patterns on an int.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6: loop over all four states and print describe and canRetry for each.</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7: add a FIFTH state, OrderCancelled, and do not touch describe. Run it. Read the error. Then handle it.</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nested pattern that matches only when the customer is Acme Ltd, and put it in the right position.</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Write a retryable getter using if-case instead of a switch and compare the two.</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Replace the wildcard in canRetry with all four explicit cases and argue which version you prefer.</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4  ·  15:00 - 16:00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Extensions and mixins</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Add methods to a type you do not own, using an extension</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Write a generic extension</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a mixin to share behaviour across unrelated classes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Choose between extends, implements, with and extension</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Extension methods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 extension adds members to a type you did not write and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cannot change. Java has NO equivalent. The nearest thing is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static utility class, which reads backwards at the call site.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extension Money on double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String get rands =&gt; 'R ${toStringAsFixed(2)}';</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double get withVat =&gt; this * 1.15;</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double percent(double p) =&gt; this * p / 100;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print(1250.0.rands);        // R 1250.00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print(1000.0.withVat);      // 1150.0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print(1000.0.percent(15));  // 150.0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Java equivalent, and the difference in reading order: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MoneyUtils.format(1250.0)      utility first, value second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1250.0.rands                   value first, operation second</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Extension methods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extension SkuChecks on String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bool get isValidSku =&gt; RegExp(r'^SKU-\d{1,6}$').hasMatch(this);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String get shortened =&gt; length &lt;= 8 ? this : '${substring(0, 8)}...';</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Extensions work on your own types too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extension OrderReporting on Order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String get oneLine =&gt; '$id  $customer  ${lines.length} lines';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bool get isLarge =&gt; itemCount &gt; 100;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LIMITS, and they matter: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 extension cannot add a FIELD, only computed members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an extension cannot OVERRIDE an existing member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it is resolved at compile time from the STATIC type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it must be imported to be visible</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Java has no equivalent at all. The nearest thing is a static utility class, which puts the operation before the value and reads backwards.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Generic extensions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Extensions can be generic, which is where they become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genuinely powerful.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extension ListExtras&lt;T&gt; on List&lt;T&gt;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 get secondOrNull =&gt; length &lt; 2 ? null : this[1];</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List&lt;T&gt; get reversedCopy =&gt; [...this].reversed.toList();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Map&lt;K, List&lt;T&gt;&gt; groupBy&lt;K&gt;(K Function(T) key)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final out = &lt;K, List&lt;T&gt;&gt;{};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for (final item in this)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out.putIfAbsent(key(item), () =&gt; []).add(item);</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return out;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Generic extensions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lines =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OrderLine(sku: 'SKU-1', description: 'Widget', quantity: 40, unitPrice: 250),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OrderLine(sku: 'SKU-2', description: 'Gasket', quantity: 200, unitPrice: 15),</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final byBand = lines.groupBy((l) =&gt; l.quantity &gt;= 100 ? 'bulk' : 'standard');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print(byBand.keys);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Java's Collectors.groupingBy does the same job. The difference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is that here you can add it to List itself, so it reads like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part of the language.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Extensions on a nullable type are allowed, which is how you</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add behaviour that handles null: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extension StringOrEmpty on String?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String get orEmpty =&gt; this ??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An extension can have its own type parameters, which is how you add a method to List itself and have it work for every element type.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Mixins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mixin is reusable implementation WITHOUT inheritance.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closest Java thing is an interface with default methods,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with one important difference: a mixin can hold state.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mixin Auditable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DateTime? _lastChanged;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touch() =&gt; _lastChanged = DateTime.now();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Duration? get sinceChange =&gt; _lastChanged == null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null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DateTime.now().difference(_lastChanged!);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mixin Describable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String get displayName;                 // abstract, must be provided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String describe() =&gt; 'This is $displayName';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`with` applies one or more mixins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Basket with Auditable, Describable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List&lt;String&gt; skus = [];</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Mixins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String get displayName =&gt; 'Basket of ${skus.length}';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add(String sku)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skus.add(sku);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touch();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b = Basket()..add('SKU-1');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print(b.describe());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print(b.sinceChange);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 MATTERS. With `with A, B`, B is applied last and wins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any conflict. Java's default methods simply refuse to compile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 a conflict and make you resolve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 restricts where a mixin can be applied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mixin Timestamped on Auditable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String get stamp =&gt; _lastChanged?.toIso8601String() ?? 'never';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Reusable implementation without inheritance. Closest to a Java interface with default methods, except a mixin can also hold state.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extends, implements, with, extension: choosing</a:t>
            </a:r>
            <a:endParaRPr lang="en-US" sz="3000" dirty="0"/>
          </a:p>
        </p:txBody>
      </p:sp>
      <p:sp>
        <p:nvSpPr>
          <p:cNvPr id="3" name="Text 1"/>
          <p:cNvSpPr txBox="1"/>
          <p:nvPr/>
        </p:nvSpPr>
        <p:spPr>
          <a:xfrm>
            <a:off x="548640" y="1325880"/>
            <a:ext cx="11091672" cy="4754880"/>
          </a:xfrm>
          <a:prstGeom prst="rect">
            <a:avLst/>
          </a:prstGeom>
          <a:noFill/>
          <a:ln/>
        </p:spPr>
        <p:txBody>
          <a:bodyPr wrap="square" lIns="0" tIns="0" rIns="0" bIns="0" rtlCol="0" anchor="t"/>
          <a:lstStyle/>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extends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You want the parent's code and its identity, and the relationship is a genuine is-a. One parent only. In Flutter you will extend StatelessWidget and StatefulWidget and almost nothing else.</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implements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You want the shape only, and you will write every member yourself. Use it for contracts, and for test fakes that match a real class without inheriting from it.</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with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You want the same stateful behaviour in several unrelated classes. Powerful, easy to overuse, and the conflict resolution is by position rather than by error.</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extension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You want to add behaviour to a type you do not own, or to make a call site read in the right order. No state, no overriding, and it must be imported.</a:t>
            </a:r>
            <a:endParaRPr lang="en-US" sz="1600" dirty="0"/>
          </a:p>
          <a:p>
            <a:pPr marL="177800" indent="-177800">
              <a:spcAft>
                <a:spcPts val="1000"/>
              </a:spcAft>
              <a:buSzPct val="100000"/>
              <a:buChar char="•"/>
            </a:pPr>
            <a:r>
              <a:rPr lang="en-US" sz="1600" b="1" dirty="0">
                <a:solidFill>
                  <a:srgbClr val="2E3440"/>
                </a:solidFill>
                <a:latin typeface="Calibri" pitchFamily="34" charset="0"/>
                <a:ea typeface="Calibri" pitchFamily="34" charset="-122"/>
                <a:cs typeface="Calibri" pitchFamily="34" charset="-120"/>
              </a:rPr>
              <a:t>None of the above </a:t>
            </a:r>
            <a:pPr indent="0" marL="0">
              <a:spcAft>
                <a:spcPts val="1000"/>
              </a:spcAft>
              <a:buNone/>
            </a:pPr>
            <a:r>
              <a:rPr lang="en-US" sz="1600" dirty="0">
                <a:solidFill>
                  <a:srgbClr val="22272E"/>
                </a:solidFill>
                <a:latin typeface="Calibri" pitchFamily="34" charset="0"/>
                <a:ea typeface="Calibri" pitchFamily="34" charset="-122"/>
                <a:cs typeface="Calibri" pitchFamily="34" charset="-120"/>
              </a:rPr>
              <a:t>Most of the time the answer is a plain function or a small class that takes the thing as a parameter. Reach for the simple option first.</a:t>
            </a:r>
            <a:endParaRPr lang="en-US" sz="1600" dirty="0"/>
          </a:p>
        </p:txBody>
      </p:sp>
      <p:sp>
        <p:nvSpPr>
          <p:cNvPr id="4" name="Shape 2"/>
          <p:cNvSpPr/>
          <p:nvPr/>
        </p:nvSpPr>
        <p:spPr>
          <a:xfrm>
            <a:off x="548640" y="5394960"/>
            <a:ext cx="11091672" cy="685800"/>
          </a:xfrm>
          <a:prstGeom prst="roundRect">
            <a:avLst>
              <a:gd name="adj" fmla="val 13333"/>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5" name="Text 3"/>
          <p:cNvSpPr txBox="1"/>
          <p:nvPr/>
        </p:nvSpPr>
        <p:spPr>
          <a:xfrm>
            <a:off x="685800" y="5440680"/>
            <a:ext cx="10817352" cy="594360"/>
          </a:xfrm>
          <a:prstGeom prst="rect">
            <a:avLst/>
          </a:prstGeom>
          <a:noFill/>
          <a:ln/>
        </p:spPr>
        <p:txBody>
          <a:bodyPr wrap="square" lIns="0" tIns="0" rIns="0" bIns="0" rtlCol="0" anchor="ctr"/>
          <a:lstStyle/>
          <a:p>
            <a:pPr indent="0" marL="0">
              <a:buNone/>
            </a:pPr>
            <a:r>
              <a:rPr lang="en-US" sz="1200" dirty="0">
                <a:solidFill>
                  <a:srgbClr val="22272E"/>
                </a:solidFill>
                <a:latin typeface="Calibri" pitchFamily="34" charset="0"/>
                <a:ea typeface="Calibri" pitchFamily="34" charset="-122"/>
                <a:cs typeface="Calibri" pitchFamily="34" charset="-120"/>
              </a:rPr>
              <a:t>The Java instinct is to reach for inheritance. The Dart instinct, and the Flutter one, is to compose: build the thing you want out of small pieces rather than deriving it from a base class.</a:t>
            </a:r>
            <a:endParaRPr lang="en-US" sz="12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3.3</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Making the code read well</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30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Three extensions, a generic extension with groupBy, and a mixin, applied to the order model you have been building for two days.</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Continue in the same pad. Copy the Lab 3.3 starter from the handbook.</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1: extension Money on double, with rands and withVat.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2: extension SkuChecks on String, with isValidSku and shortened.</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3: extension OrderReporting on Order, with oneLine and isLarge.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4: a generic ListExtras extension with a groupBy method.</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5 to 6: the Auditable mixin and a Basket class that uses it.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TODO 7 to 9: print an order report using your extensions, group the lines, and exercise the Basket.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Check against the expected output in the handbook.</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an extension on OrderStatus giving a colour name per status, and say why that belongs in an extension rather than on the enum.</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sumBy to ListExtras so you can write lines.sumBy((l) =&gt; l.lineTotal).</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Try calling one of your String extensions on a variable declared as Object and explain the error.</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445752" y="-137160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548640"/>
            <a:ext cx="82296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Day 3 recap</a:t>
            </a:r>
            <a:endParaRPr lang="en-US" sz="3400" dirty="0"/>
          </a:p>
        </p:txBody>
      </p:sp>
      <p:sp>
        <p:nvSpPr>
          <p:cNvPr id="4" name="Text 2"/>
          <p:cNvSpPr txBox="1"/>
          <p:nvPr/>
        </p:nvSpPr>
        <p:spPr>
          <a:xfrm>
            <a:off x="548640" y="1554480"/>
            <a:ext cx="6583680" cy="411480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Dart generics are reified, so the type survives to runtime and you can test it. Bounds work as in Java; there are no wildcards.</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A record groups values with no class to declare. Named fields, structural equality, and a shape instead of a type name.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Destructuring pulls a record apart, in a declaration, in a loop, or inside a switch.</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A sealed class tells the compiler every subtype, which makes a switch exhaustive and removes every nullable field from your state.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A switch expression returns a value, has no default branch, and refuses to compile when you add a case and forget to handle it.</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Object patterns match a type and bind its fields in one step. Guards add a condition with when.</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Extensions add behaviour to types you do not own. Mixins share stateful behaviour, and should be used sparingly.</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Composition over inheritance, which is also the entire philosophy of Flutter.</a:t>
            </a:r>
            <a:endParaRPr lang="en-US" sz="1500" dirty="0"/>
          </a:p>
        </p:txBody>
      </p:sp>
      <p:sp>
        <p:nvSpPr>
          <p:cNvPr id="5" name="Shape 3"/>
          <p:cNvSpPr/>
          <p:nvPr/>
        </p:nvSpPr>
        <p:spPr>
          <a:xfrm>
            <a:off x="7589520" y="1554480"/>
            <a:ext cx="4023360" cy="3840480"/>
          </a:xfrm>
          <a:prstGeom prst="roundRect">
            <a:avLst>
              <a:gd name="adj" fmla="val 2381"/>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818120" y="1691640"/>
            <a:ext cx="365760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Tomorrow</a:t>
            </a:r>
            <a:endParaRPr lang="en-US" sz="1100" dirty="0"/>
          </a:p>
        </p:txBody>
      </p:sp>
      <p:sp>
        <p:nvSpPr>
          <p:cNvPr id="7" name="Text 5"/>
          <p:cNvSpPr txBox="1"/>
          <p:nvPr/>
        </p:nvSpPr>
        <p:spPr>
          <a:xfrm>
            <a:off x="7818120" y="2103120"/>
            <a:ext cx="3657600" cy="31089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Errors and exceptions, and what Dart does differently</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Future, async and await</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Streams, and listening to values over time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Isolates, and why there are no threads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The order service, end to end</a:t>
            </a:r>
            <a:endParaRPr lang="en-US" sz="13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011680" cy="292608"/>
          </a:xfrm>
          <a:prstGeom prst="roundRect">
            <a:avLst>
              <a:gd name="adj" fmla="val 50000"/>
            </a:avLst>
          </a:prstGeom>
          <a:solidFill>
            <a:srgbClr val="2E3440"/>
          </a:solidFill>
          <a:ln w="12700">
            <a:solidFill>
              <a:srgbClr val="2E3440"/>
            </a:solidFill>
            <a:prstDash val="solid"/>
          </a:ln>
        </p:spPr>
      </p:sp>
      <p:sp>
        <p:nvSpPr>
          <p:cNvPr id="3" name="Text 1"/>
          <p:cNvSpPr txBox="1"/>
          <p:nvPr/>
        </p:nvSpPr>
        <p:spPr>
          <a:xfrm>
            <a:off x="548640" y="457200"/>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READ &amp; BREAK DOWN</a:t>
            </a:r>
            <a:endParaRPr lang="en-US" sz="1000" dirty="0"/>
          </a:p>
        </p:txBody>
      </p:sp>
      <p:sp>
        <p:nvSpPr>
          <p:cNvPr id="4" name="Text 2"/>
          <p:cNvSpPr txBox="1"/>
          <p:nvPr/>
        </p:nvSpPr>
        <p:spPr>
          <a:xfrm>
            <a:off x="9811512" y="457200"/>
            <a:ext cx="1828800" cy="292608"/>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Optional · 15 min</a:t>
            </a:r>
            <a:endParaRPr lang="en-US" sz="1200" dirty="0"/>
          </a:p>
        </p:txBody>
      </p:sp>
      <p:sp>
        <p:nvSpPr>
          <p:cNvPr id="5" name="Text 3"/>
          <p:cNvSpPr txBox="1"/>
          <p:nvPr/>
        </p:nvSpPr>
        <p:spPr>
          <a:xfrm>
            <a:off x="548640" y="868680"/>
            <a:ext cx="11091672" cy="640080"/>
          </a:xfrm>
          <a:prstGeom prst="rect">
            <a:avLst/>
          </a:prstGeom>
          <a:noFill/>
          <a:ln/>
        </p:spPr>
        <p:txBody>
          <a:bodyPr wrap="square" lIns="0" tIns="0" rIns="0" bIns="0" rtlCol="0" anchor="ctr"/>
          <a:lstStyle/>
          <a:p>
            <a:pPr indent="0" marL="0">
              <a:buNone/>
            </a:pPr>
            <a:r>
              <a:rPr lang="en-US" sz="2800" b="1" dirty="0">
                <a:solidFill>
                  <a:srgbClr val="2E3440"/>
                </a:solidFill>
                <a:latin typeface="Calibri" pitchFamily="34" charset="0"/>
                <a:ea typeface="Calibri" pitchFamily="34" charset="-122"/>
                <a:cs typeface="Calibri" pitchFamily="34" charset="-120"/>
              </a:rPr>
              <a:t>Optional tonight: patterns and records</a:t>
            </a:r>
            <a:endParaRPr lang="en-US" sz="2800" dirty="0"/>
          </a:p>
        </p:txBody>
      </p:sp>
      <p:sp>
        <p:nvSpPr>
          <p:cNvPr id="6" name="Shape 4"/>
          <p:cNvSpPr/>
          <p:nvPr/>
        </p:nvSpPr>
        <p:spPr>
          <a:xfrm>
            <a:off x="548640" y="1691640"/>
            <a:ext cx="11091672" cy="960120"/>
          </a:xfrm>
          <a:prstGeom prst="roundRect">
            <a:avLst>
              <a:gd name="adj" fmla="val 9524"/>
            </a:avLst>
          </a:prstGeom>
          <a:solidFill>
            <a:srgbClr val="EAF0F7"/>
          </a:solidFill>
          <a:ln w="6350">
            <a:solidFill>
              <a:srgbClr val="EAF0F7"/>
            </a:solidFill>
            <a:prstDash val="solid"/>
          </a:ln>
          <a:effectLst>
            <a:outerShdw sx="100000" sy="100000" kx="0" ky="0" algn="bl" rotWithShape="0" blurRad="38100" dist="12700" dir="5400000">
              <a:srgbClr val="000000">
                <a:alpha val="8000"/>
              </a:srgbClr>
            </a:outerShdw>
          </a:effectLst>
        </p:spPr>
      </p:sp>
      <p:sp>
        <p:nvSpPr>
          <p:cNvPr id="7" name="Text 5"/>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1800" b="1" dirty="0">
                <a:solidFill>
                  <a:srgbClr val="2E3440"/>
                </a:solidFill>
                <a:latin typeface="Courier New" pitchFamily="34" charset="0"/>
                <a:ea typeface="Courier New" pitchFamily="34" charset="-122"/>
                <a:cs typeface="Courier New" pitchFamily="34" charset="-120"/>
              </a:rPr>
              <a:t>dart.dev/language/patterns</a:t>
            </a:r>
            <a:endParaRPr lang="en-US" sz="1800" dirty="0"/>
          </a:p>
        </p:txBody>
      </p:sp>
      <p:sp>
        <p:nvSpPr>
          <p:cNvPr id="8" name="Text 6"/>
          <p:cNvSpPr txBox="1"/>
          <p:nvPr/>
        </p:nvSpPr>
        <p:spPr>
          <a:xfrm>
            <a:off x="822960" y="2212848"/>
            <a:ext cx="10543032" cy="365760"/>
          </a:xfrm>
          <a:prstGeom prst="rect">
            <a:avLst/>
          </a:prstGeom>
          <a:noFill/>
          <a:ln/>
        </p:spPr>
        <p:txBody>
          <a:bodyPr wrap="square" lIns="0" tIns="0" rIns="0" bIns="0" rtlCol="0" anchor="ctr"/>
          <a:lstStyle/>
          <a:p>
            <a:pPr indent="0" marL="0">
              <a:buNone/>
            </a:pPr>
            <a:r>
              <a:rPr lang="en-US" sz="1200" dirty="0">
                <a:solidFill>
                  <a:srgbClr val="646E7A"/>
                </a:solidFill>
                <a:latin typeface="Calibri" pitchFamily="34" charset="0"/>
                <a:ea typeface="Calibri" pitchFamily="34" charset="-122"/>
                <a:cs typeface="Calibri" pitchFamily="34" charset="-120"/>
              </a:rPr>
              <a:t>The "Patterns" page, then "Pattern types". Skip "Pattern uses" if you are short of time (about 15 minutes)</a:t>
            </a:r>
            <a:endParaRPr lang="en-US" sz="1200" dirty="0"/>
          </a:p>
        </p:txBody>
      </p:sp>
      <p:sp>
        <p:nvSpPr>
          <p:cNvPr id="9" name="Text 7"/>
          <p:cNvSpPr txBox="1"/>
          <p:nvPr/>
        </p:nvSpPr>
        <p:spPr>
          <a:xfrm>
            <a:off x="548640" y="2880360"/>
            <a:ext cx="6655003" cy="365760"/>
          </a:xfrm>
          <a:prstGeom prst="rect">
            <a:avLst/>
          </a:prstGeom>
          <a:noFill/>
          <a:ln/>
        </p:spPr>
        <p:txBody>
          <a:bodyPr wrap="square" lIns="0" tIns="0" rIns="0" bIns="0" rtlCol="0" anchor="ctr"/>
          <a:lstStyle/>
          <a:p>
            <a:pPr indent="0" marL="0">
              <a:buNone/>
            </a:pPr>
            <a:r>
              <a:rPr lang="en-US" sz="1400" b="1" dirty="0">
                <a:solidFill>
                  <a:srgbClr val="2E3440"/>
                </a:solidFill>
                <a:latin typeface="Calibri" pitchFamily="34" charset="0"/>
                <a:ea typeface="Calibri" pitchFamily="34" charset="-122"/>
                <a:cs typeface="Calibri" pitchFamily="34" charset="-120"/>
              </a:rPr>
              <a:t>Answer these as you read</a:t>
            </a:r>
            <a:endParaRPr lang="en-US" sz="1400" dirty="0"/>
          </a:p>
        </p:txBody>
      </p:sp>
      <p:sp>
        <p:nvSpPr>
          <p:cNvPr id="10" name="Text 8"/>
          <p:cNvSpPr txBox="1"/>
          <p:nvPr/>
        </p:nvSpPr>
        <p:spPr>
          <a:xfrm>
            <a:off x="548640" y="3291840"/>
            <a:ext cx="6655003" cy="2743200"/>
          </a:xfrm>
          <a:prstGeom prst="rect">
            <a:avLst/>
          </a:prstGeom>
          <a:noFill/>
          <a:ln/>
        </p:spPr>
        <p:txBody>
          <a:bodyPr wrap="square" lIns="0" tIns="0" rIns="0" bIns="0" rtlCol="0" anchor="t"/>
          <a:lstStyle/>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Find a pattern type we did not use today. What problem does it solve?</a:t>
            </a:r>
            <a:endParaRPr lang="en-US" sz="1400" dirty="0"/>
          </a:p>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The docs distinguish refutable from irrefutable patterns. What is the difference, and where does each appear?</a:t>
            </a:r>
            <a:endParaRPr lang="en-US" sz="1400" dirty="0"/>
          </a:p>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Find the list pattern with a rest element. Where would you use one in the order app?</a:t>
            </a:r>
            <a:endParaRPr lang="en-US" sz="1400" dirty="0"/>
          </a:p>
        </p:txBody>
      </p:sp>
      <p:sp>
        <p:nvSpPr>
          <p:cNvPr id="11" name="Shape 9"/>
          <p:cNvSpPr/>
          <p:nvPr/>
        </p:nvSpPr>
        <p:spPr>
          <a:xfrm>
            <a:off x="7477963" y="2880360"/>
            <a:ext cx="4162349" cy="3154680"/>
          </a:xfrm>
          <a:prstGeom prst="roundRect">
            <a:avLst>
              <a:gd name="adj" fmla="val 2899"/>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12" name="Text 10"/>
          <p:cNvSpPr txBox="1"/>
          <p:nvPr/>
        </p:nvSpPr>
        <p:spPr>
          <a:xfrm>
            <a:off x="7706563" y="3017520"/>
            <a:ext cx="3705149" cy="365760"/>
          </a:xfrm>
          <a:prstGeom prst="rect">
            <a:avLst/>
          </a:prstGeom>
          <a:noFill/>
          <a:ln/>
        </p:spPr>
        <p:txBody>
          <a:bodyPr wrap="square" lIns="0" tIns="0" rIns="0" bIns="0" rtlCol="0" anchor="ctr"/>
          <a:lstStyle/>
          <a:p>
            <a:pPr indent="0" marL="0">
              <a:buNone/>
            </a:pPr>
            <a:r>
              <a:rPr lang="en-US" sz="1400" b="1" dirty="0">
                <a:solidFill>
                  <a:srgbClr val="2E3440"/>
                </a:solidFill>
                <a:latin typeface="Calibri" pitchFamily="34" charset="0"/>
                <a:ea typeface="Calibri" pitchFamily="34" charset="-122"/>
                <a:cs typeface="Calibri" pitchFamily="34" charset="-120"/>
              </a:rPr>
              <a:t>Then</a:t>
            </a:r>
            <a:endParaRPr lang="en-US" sz="1400" dirty="0"/>
          </a:p>
        </p:txBody>
      </p:sp>
      <p:sp>
        <p:nvSpPr>
          <p:cNvPr id="13" name="Text 11"/>
          <p:cNvSpPr txBox="1"/>
          <p:nvPr/>
        </p:nvSpPr>
        <p:spPr>
          <a:xfrm>
            <a:off x="7706563" y="3429000"/>
            <a:ext cx="3705149"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22272E"/>
                </a:solidFill>
                <a:latin typeface="Calibri" pitchFamily="34" charset="0"/>
                <a:ea typeface="Calibri" pitchFamily="34" charset="-122"/>
                <a:cs typeface="Calibri" pitchFamily="34" charset="-120"/>
              </a:rPr>
              <a:t>09:00 tomorrow: two people take one question each, three minutes at the whiteboard.</a:t>
            </a:r>
            <a:endParaRPr lang="en-US" sz="1250" dirty="0"/>
          </a:p>
          <a:p>
            <a:pPr marL="177800" indent="-177800">
              <a:spcAft>
                <a:spcPts val="700"/>
              </a:spcAft>
              <a:buSzPct val="100000"/>
              <a:buChar char="•"/>
            </a:pPr>
            <a:r>
              <a:rPr lang="en-US" sz="1250" dirty="0">
                <a:solidFill>
                  <a:srgbClr val="22272E"/>
                </a:solidFill>
                <a:latin typeface="Calibri" pitchFamily="34" charset="0"/>
                <a:ea typeface="Calibri" pitchFamily="34" charset="-122"/>
                <a:cs typeface="Calibri" pitchFamily="34" charset="-120"/>
              </a:rPr>
              <a:t>Optional means optional. Three heavy days in and rest is a legitimate choice.</a:t>
            </a:r>
            <a:endParaRPr lang="en-US" sz="125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PLAN B · When it breaks in class</a:t>
            </a:r>
            <a:endParaRPr lang="en-US" sz="3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732050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If this happens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Do this instead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Somebody has lost their Day 2 code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Lab 2.3 solution from the Day 2 handbook, pasted at the top of a fresh pad. Two minutes, and they are level</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morning overruns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Take it out of records, not out of sealed classes. Records can be a fifteen-minute demonstration and Lab 3.1 can lose its Store step</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Nobody in the room has seen sealed types before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That is the normal case on Java 8. Drop every Java 17 comparison and teach it as new. The boolean-flags slide does all the work you need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exhaustiveness demo does not fail</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Check for a default branch or a wildcard. One of the two is always the cause, and finding it live is a good lesson</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A pattern-matching question you cannot answer</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dart.dev/language/patterns on the projector, find it together. The page is short and well organised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room is well ahead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Push the Lab 3.2 stretch goals, especially the nested Acme pattern, and start tomorrow's error handling at 15:40</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room is struggling</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Cut generics to twenty minutes and cut mixins entirely. Neither is needed for the rest of the week. Sealed classes are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A9D8F"/>
        </a:solidFill>
      </p:bgPr>
    </p:bg>
    <p:spTree>
      <p:nvGrpSpPr>
        <p:cNvPr id="1" name=""/>
        <p:cNvGrpSpPr/>
        <p:nvPr/>
      </p:nvGrpSpPr>
      <p:grpSpPr>
        <a:xfrm>
          <a:off x="0" y="0"/>
          <a:ext cx="0" cy="0"/>
          <a:chOff x="0" y="0"/>
          <a:chExt cx="0" cy="0"/>
        </a:xfrm>
      </p:grpSpPr>
      <p:sp>
        <p:nvSpPr>
          <p:cNvPr id="2" name="Text 0"/>
          <p:cNvSpPr txBox="1"/>
          <p:nvPr/>
        </p:nvSpPr>
        <p:spPr>
          <a:xfrm>
            <a:off x="548640" y="2011680"/>
            <a:ext cx="7315200" cy="457200"/>
          </a:xfrm>
          <a:prstGeom prst="rect">
            <a:avLst/>
          </a:prstGeom>
          <a:noFill/>
          <a:ln/>
        </p:spPr>
        <p:txBody>
          <a:bodyPr wrap="square" lIns="0" tIns="0" rIns="0" bIns="0" rtlCol="0" anchor="ctr"/>
          <a:lstStyle/>
          <a:p>
            <a:pPr indent="0" marL="0">
              <a:buNone/>
            </a:pPr>
            <a:r>
              <a:rPr lang="en-US" sz="1400" spc="400" kern="0" dirty="0">
                <a:solidFill>
                  <a:srgbClr val="2E3440"/>
                </a:solidFill>
                <a:latin typeface="Calibri" pitchFamily="34" charset="0"/>
                <a:ea typeface="Calibri" pitchFamily="34" charset="-122"/>
                <a:cs typeface="Calibri" pitchFamily="34" charset="-120"/>
              </a:rPr>
              <a:t>APPENDIX</a:t>
            </a:r>
            <a:endParaRPr lang="en-US" sz="1400" dirty="0"/>
          </a:p>
        </p:txBody>
      </p:sp>
      <p:sp>
        <p:nvSpPr>
          <p:cNvPr id="3" name="Text 1"/>
          <p:cNvSpPr txBox="1"/>
          <p:nvPr/>
        </p:nvSpPr>
        <p:spPr>
          <a:xfrm>
            <a:off x="548640" y="2468880"/>
            <a:ext cx="10058400" cy="1097280"/>
          </a:xfrm>
          <a:prstGeom prst="rect">
            <a:avLst/>
          </a:prstGeom>
          <a:noFill/>
          <a:ln/>
        </p:spPr>
        <p:txBody>
          <a:bodyPr wrap="square" lIns="0" tIns="0" rIns="0" bIns="0" rtlCol="0" anchor="ctr"/>
          <a:lstStyle/>
          <a:p>
            <a:pPr indent="0" marL="0">
              <a:buNone/>
            </a:pPr>
            <a:r>
              <a:rPr lang="en-US" sz="4000" b="1" dirty="0">
                <a:solidFill>
                  <a:srgbClr val="2E3440"/>
                </a:solidFill>
                <a:latin typeface="Calibri" pitchFamily="34" charset="0"/>
                <a:ea typeface="Calibri" pitchFamily="34" charset="-122"/>
                <a:cs typeface="Calibri" pitchFamily="34" charset="-120"/>
              </a:rPr>
              <a:t>Day 3 reference</a:t>
            </a:r>
            <a:endParaRPr lang="en-US" sz="4000" dirty="0"/>
          </a:p>
        </p:txBody>
      </p:sp>
      <p:sp>
        <p:nvSpPr>
          <p:cNvPr id="4" name="Text 2"/>
          <p:cNvSpPr txBox="1"/>
          <p:nvPr/>
        </p:nvSpPr>
        <p:spPr>
          <a:xfrm>
            <a:off x="548640" y="3566160"/>
            <a:ext cx="10058400" cy="731520"/>
          </a:xfrm>
          <a:prstGeom prst="rect">
            <a:avLst/>
          </a:prstGeom>
          <a:noFill/>
          <a:ln/>
        </p:spPr>
        <p:txBody>
          <a:bodyPr wrap="square" lIns="0" tIns="0" rIns="0" bIns="0" rtlCol="0" anchor="ctr"/>
          <a:lstStyle/>
          <a:p>
            <a:pPr indent="0" marL="0">
              <a:buNone/>
            </a:pPr>
            <a:r>
              <a:rPr lang="en-US" sz="1600" dirty="0">
                <a:solidFill>
                  <a:srgbClr val="2E3440"/>
                </a:solidFill>
                <a:latin typeface="Calibri" pitchFamily="34" charset="0"/>
                <a:ea typeface="Calibri" pitchFamily="34" charset="-122"/>
                <a:cs typeface="Calibri" pitchFamily="34" charset="-120"/>
              </a:rPr>
              <a:t>A · Lab 3.1   B · Lab 3.2   C · Lab 3.3   D · Pattern cheat sheet   E · Troubleshooting   F · Links</a:t>
            </a:r>
            <a:endParaRPr lang="en-US" sz="1600" dirty="0"/>
          </a:p>
        </p:txBody>
      </p:sp>
      <p:sp>
        <p:nvSpPr>
          <p:cNvPr id="5" name="Text 3"/>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6" name="Text 4"/>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3.1 starter</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 3.1 STARTER - dartpad.dev</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Paste your Day 2 Order, OrderLine and OrderStatus above this.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1: a generic class Box&lt;T&gt; with a final value and a getter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2: a generic function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 firstOr&lt;T&gt;(List&lt;T&gt; items, T fallback)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3: a generic class Store&lt;T extends Identifiable&gt; that keeps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items in a Map&lt;String, T&gt; keyed by id.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First declare:  abstract class Identifiable { String get id;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Then make Order implement it (its id field already fits).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4: a top-level function returning a NAMED RECORD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({double subtotal, double discount, double vat, double total})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calculateTotal(Order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subtotal = sum of line totals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discount = 10% at 50000 or more, 5% at 10000 or more, else 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vat      = 15% of (subtotal - discount)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total    = subtotal - discount + vat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5: destructure the result with final (:subtotal, :total)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and print both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6: loop over a list of (String, int) records and print each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TODO 7: build the order from Day 2, store it in your Store,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read it back by id, and print its totals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3.1 solution  (1/4)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abstract class Identifiable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String get id;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Box&lt;T&gt;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Box(this.value);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T value;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 get item =&gt; value;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T firstOr&lt;T&gt;(List&lt;T&gt; items, T fallback) =&gt;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items.isEmpty ? fallback : items.first;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Store&lt;T extends Identifiable&gt;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Map&lt;String, T&gt; _byId =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save(T item) =&gt; _byId[item.id] = item;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 find(String id) =&gt; _byId[id];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int get count =&gt; _byId.length;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3.1 solution  (2/4)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({double subtotal, double discount, double vat, double total})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calculateTotal(Order order)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subtotal = order.lines.fold&lt;double&gt;(0, (s, l) =&gt; s + l.lineTotal);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rate = subtotal &gt;= 50000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0.10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subtotal &gt;= 10000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0.05</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discount = subtotal * rate;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vat = (subtotal - discount) * 0.15;</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subtotal: subtotal,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discount: discount,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vat: vat,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total: subtotal - discount + vat,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print(Box&lt;String&gt;('SKU-1').item);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print(firstOr&lt;String&gt;([], 'NONE'));</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3.1 solution  (3/4)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order =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id: 'ORD-1042',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customer: 'Acme Ltd',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lines: const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'SKU-1', description: 'Widget', quantity: 40, unitPrice: 250),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'SKU-2', description: 'Gasket', quantity: 10, unitPrice: 120),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'SKU-3', description: 'Bracket', quantity: 5, unitPrice: 90),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store = Store&lt;Order&gt;();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store.save(order);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found = store.find('ORD-1042');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print('Found ${found?.id}, ${found?.itemCount} items');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(:subtotal, :discount, :vat, :total) = calculateTotal(order);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print('Subtotal  ${subtotal.toStringAsFixed(2)}');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print('Discount  ${discount.toStringAsFixed(2)}');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print('VAT       ${vat.toStringAsFixed(2)}');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print('Total     ${total.toStringAsFixed(2)}');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for (final (sku, qty) in [('SKU-1', 40), ('SKU-2', 10)])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print('$sku x $qty');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3.1 solution  (4/4)</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NOTE: Order must implement Identifiable. It already has a</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String id field, so `class Order implements Identifiable`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needs no extra code at all.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Expected totals: subtotal 11650.00, discount 582.50,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VAT 1660.13, total 12727.63</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Subtotal 11650.00, discount 582.50, VAT 1660.13, total 12727.63.</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3.2 starter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LAB 3.2 STARTER - continue in the same pad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1: a sealed class OrderState with four subtypes: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OrderIdle, OrderLoading,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OrderLoaded(Order order), OrderFailed(String message)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2: String describe(OrderState s) using a switch EXPRESSION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with no default branch: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Idle     -&gt; 'Start a new order'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Loading  -&gt; 'Submitting...'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Loaded   -&gt; 'Order ORD-1042 accepted, 55 items'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Failed   -&gt; 'Failed: &lt;message&gt;'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3: bool canRetry(OrderState s), true only for Failed</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3.2 starter  (2/2)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4: String band(Order o) using a switch with GUARDS: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subtotal 50000 or more -&gt; 'platinum'</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subtotal 10000 or more -&gt; 'gold'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otherwise              -&gt; 'standard'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TODO 5: String size(int qty) using literal, or, and range patterns: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0 -&gt; 'none', 1 or 2 -&gt; 'small',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3 to 9 -&gt; 'medium', anything else -&gt; 'bulk'</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void main()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TODO 6: loop over all four states and print describe and canRetry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TODO 7: add a FIFTH state, OrderCancelled, and DO NOT touch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describe. Run it. Read the compile error carefully.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Then handle it. That error is the point of this lab.</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3.2 solution  (1/3)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sealed class OrderState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OrderState();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OrderIdle extends OrderState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OrderIdle();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OrderLoading extends OrderState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OrderLoading();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OrderLoaded extends OrderState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OrderLoaded(this.order);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Order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OrderFailed extends OrderState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OrderFailed(this.message);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String message;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OrderCancelled extends OrderState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OrderCancelled(this.reason);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String reason;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3.2 solution  (2/3)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describe(OrderState s) =&gt; switch (s)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OrderIdle() =&gt; 'Start a new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OrderLoading() =&gt; 'Submitting...',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OrderLoaded(:final order)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 ${order.id} accepted, ${order.itemCount} items',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OrderFailed(:final message) =&gt; 'Failed: $message',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OrderCancelled(:final reason) =&gt; 'Cancelled: $reason',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bool canRetry(OrderState s) =&gt; switch (s)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OrderFailed() =&gt; true,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 =&gt; false,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band(Order o) =&gt; switch (o)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Order(:final subtotal) when subtotal &gt;= 50000 =&gt; 'platinum',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Order(:final subtotal) when subtotal &gt;= 10000 =&gt; 'gold',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 =&gt; 'standard',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String size(int qty) =&gt; switch (qty)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0 =&gt; 'none',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1 || 2 =&gt; 'small',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&gt;= 3 &amp;&amp; &lt; 10 =&gt; 'medium',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 =&gt; 'bulk',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3.2 solution  (3/3)</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order =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id: 'ORD-1042',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customer: 'Acme Ltd',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lines: const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'SKU-1', description: 'Widget', quantity: 40, unitPrice: 250),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'SKU-2', description: 'Gasket', quantity: 10, unitPrice: 120),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'SKU-3', description: 'Bracket', quantity: 5, unitPrice: 90),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states = &lt;OrderState&gt;[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OrderIdle(),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OrderLoading(),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OrderLoaded(order),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OrderFailed('stock unavailable'),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OrderCancelled('customer withdrew'),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for (final s in states)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print('${describe(s).padRight(45)} retry: ${canRetry(s)}');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print('Band ${band(order)}');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for (final q in [0, 2, 5, 200])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print('$q -&gt; ${size(q)}');</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Shown with the fifth state already handled. Make them add it themselves and see the error first.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3.3 starter</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 3.3 STARTER - continue in the same pad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1: extension Money on double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String get rands       -&gt; 'R 1250.00'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double get withVat     -&gt; times 1.15</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2: extension SkuChecks on String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bool get isValidSku    -&gt; matches SKU- followed by digits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String get shortened   -&gt; first 8 chars plus '...' if longer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3: extension OrderReporting on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String get oneLine     -&gt; 'ORD-1042  Acme Ltd  3 lines'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bool get isLarge       -&gt; itemCount over 100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4: a generic extension ListExtras&lt;T&gt; on List&lt;T&gt; with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Map&lt;K, List&lt;T&gt;&gt; groupBy&lt;K&gt;(K Function(T) key)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5: mixin Auditable with a private DateTime? field,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touch() method and a sinceChange getter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TODO 6: a class Basket that uses the mixin and records 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touch every time a sku is added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TODO 7: print a formatted order report using your extensions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TODO 8: group the order lines into bulk and standard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TODO 9: add three skus to a Basket and print sinceChange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3.3 solution  (1/3)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extension Money on double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String get rands =&gt; 'R ${toStringAsFixed(2)}';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double get withVat =&gt; this * 1.15;</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extension SkuChecks on String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bool get isValidSku =&gt; RegExp(r'^SKU-\d{1,6}$').hasMatch(this);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String get shortened =&gt; length &lt;= 8 ? this : '${substring(0, 8)}...';</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extension OrderReporting on Order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String get oneLine =&gt; '$id  $customer  ${lines.length} lines';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bool get isLarge =&gt; itemCount &gt; 100;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extension ListExtras&lt;T&gt; on List&lt;T&gt;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Map&lt;K, List&lt;T&gt;&gt; groupBy&lt;K&gt;(K Function(T) key)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out = &lt;K, List&lt;T&gt;&gt;{};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for (final item in this)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out.putIfAbsent(key(item), () =&gt; []).add(item);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out;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mixin Auditable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DateTime? _lastChanged;</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3.3 solution  (2/3)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void touch() =&gt; _lastChanged = DateTime.now();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Duration? get sinceChange =&gt; _lastChanged == null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null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 DateTime.now().difference(_lastChanged!);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Basket with Auditable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List&lt;String&gt; skus =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void add(String sku)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skus.add(sku);</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touch();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main()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order =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id: 'ORD-1042',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customer: 'Acme Ltd',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lines: const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'SKU-1', description: 'Widget', quantity: 40, unitPrice: 250),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'SKU-2', description: 'Gasket', quantity: 200, unitPrice: 15),</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OrderLine(sku: 'SKU-3', description: 'Bracket', quantity: 5, unitPrice: 90),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3.3 solution  (3/3)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dartpad.dev</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print(order.oneLine);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print('Large order: ${order.isLarge}');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print('Subtotal ${order.subtotal.rands}');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print('With VAT ${order.subtotal.withVat.rands}');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print('SKU-1 valid: ${'SKU-1'.isValidSku}');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print('BADSKU valid: ${'BADSKU'.isValidSku}');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print('SKU-123456789 short: ${'SKU-123456789'.shortened}');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grouped = order.lines.groupBy((l) =&gt; l.quantity &gt;= 100 ? 'bulk' : 'standard');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grouped.forEach((band, lines)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print('$band: ${lines.map((l) =&gt; l.sku).join(',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basket = Basket()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..add('SKU-1')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..add('SKU-2')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..add('SKU-3');</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print('${basket.skus.length} items, changed ${basket.sinceChange?.inMicroseconds} microseconds ago');</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 · Pattern cheat sheet</a:t>
            </a:r>
            <a:endParaRPr lang="en-US" sz="3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883835"/>
                <a:gridCol w="4214835"/>
                <a:gridCol w="3993002"/>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Pattern</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Looks like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Matches when</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Object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OrderLoaded(:final order)</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The value is that type. Binds the field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Object, renamed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OrderFailed(message: final why)</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Same, with your own variable name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Object, nested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OrderLoaded(order: Order(:final customer))</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Reaches two levels in one step</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Record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(final x, final y)</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The value is a record of that shape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Named record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(:sku, :quantity)</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Binds by field name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Literal</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0</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The value equals that literal</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Or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1 || 2</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Either branch matches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And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&gt;= 3 &amp;&amp; &lt; 10</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Both conditions hold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Relational</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&gt;= 50000</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The comparison is true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Wildcard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_</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Anything. Turns off exhaustiveness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Guard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Order(:final subtotal) when subtotal &gt; 100</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Shape matches AND the condition holds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Cast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order as Order</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Asserts the type inside a pattern</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Null check</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final order?</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The value is not null, and binds it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if-case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if (s case OrderFailed(:final message))</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One shape, without a switch</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 · Troubleshooting: symptom to fix</a:t>
            </a:r>
            <a:endParaRPr lang="en-US" sz="30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3105668"/>
                <a:gridCol w="4214835"/>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Symptom</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Cause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Fix</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The type ... is not exhaustively matched</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 sealed subtype has no branch</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Add the branch. This is the feature working</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Adding a subtype did not break anything</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A default branch or a _ wildcard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Remove it. That is what turned the checking off</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Subtypes of a sealed class must be in the same library</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Subtype declared in another file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Move it into the same file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Expected to find ','</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Colon instead of arrow in a switch expression</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Branches use =&gt; and are separated by commas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A value of type ... can't be returned</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Switch statement used where an expression was needed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Use the expression form with =&gt;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The getter isn't defined on an extension</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Extension not imported, or static type is too general</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Import it. Check the declared type, not the runtime type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Extension never fires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Variable declared as Object or dynamic</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Extensions resolve from the STATIC type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 doesn't conform to the bound</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Type argument fails extends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Make the type implement the bound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Record field not found</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Wrong field name in the destructure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Names must match the record exactly</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(42) is not a record</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Single positional record needs a comma</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Write (42,)</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Unreachable branch warning</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General case placed before a specific one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Specific patterns first. Order matters</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2272E"/>
                          </a:solidFill>
                          <a:latin typeface="Calibri" pitchFamily="34" charset="0"/>
                          <a:ea typeface="Calibri" pitchFamily="34" charset="-122"/>
                          <a:cs typeface="Calibri" pitchFamily="34" charset="-120"/>
                        </a:rPr>
                        <a:t>Mixin conflict resolved unexpectedly</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Two mixins define the same member</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The LAST one in with wins. Reorder or override</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00" b="1" dirty="0">
                          <a:solidFill>
                            <a:srgbClr val="22272E"/>
                          </a:solidFill>
                          <a:latin typeface="Courier New" pitchFamily="34" charset="0"/>
                          <a:ea typeface="Courier New" pitchFamily="34" charset="-122"/>
                          <a:cs typeface="Courier New" pitchFamily="34" charset="-120"/>
                        </a:rPr>
                        <a:t>fold type error, again</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00" dirty="0">
                          <a:solidFill>
                            <a:srgbClr val="22272E"/>
                          </a:solidFill>
                          <a:latin typeface="Calibri" pitchFamily="34" charset="0"/>
                          <a:ea typeface="Calibri" pitchFamily="34" charset="-122"/>
                          <a:cs typeface="Calibri" pitchFamily="34" charset="-120"/>
                        </a:rPr>
                        <a:t>No type argument</a:t>
                      </a:r>
                      <a:endParaRPr lang="en-US" sz="10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00" dirty="0">
                          <a:solidFill>
                            <a:srgbClr val="22272E"/>
                          </a:solidFill>
                          <a:latin typeface="Courier New" pitchFamily="34" charset="0"/>
                          <a:ea typeface="Courier New" pitchFamily="34" charset="-122"/>
                          <a:cs typeface="Courier New" pitchFamily="34" charset="-120"/>
                        </a:rPr>
                        <a:t>fold&lt;double&gt;(0, ...)</a:t>
                      </a:r>
                      <a:endParaRPr lang="en-US" sz="90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 · Links used today</a:t>
            </a:r>
            <a:endParaRPr lang="en-US" sz="3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327502"/>
                <a:gridCol w="776417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Topic</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Link</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Generics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dart.dev/language/generics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Records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dart.dev/language/records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Patterns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dart.dev/language/patterns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Pattern types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dart.dev/language/pattern-types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Branches: if-case and switch</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dart.dev/language/branches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Class modifiers, including sealed</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dart.dev/language/class-modifiers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Extension methods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dart.dev/language/extension-methods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Mixins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dart.dev/language/mixins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Effective Dart, design</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dart.dev/effective-dart/design</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DartPad</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dartpad.dev</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3 - Dart Advanced</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Flutter for Java Developers - Day 3</dc:title>
  <dc:subject>Flutter Mobile Development for Java Developers</dc:subject>
  <dc:creator>Flutter for Java Developers</dc:creator>
  <cp:lastModifiedBy>Flutter for Java Developers</cp:lastModifiedBy>
  <cp:revision>1</cp:revision>
  <dcterms:created xsi:type="dcterms:W3CDTF">2026-09-11T06:06:08Z</dcterms:created>
  <dcterms:modified xsi:type="dcterms:W3CDTF">2026-09-11T06:06:08Z</dcterms:modified>
</cp:coreProperties>
</file>