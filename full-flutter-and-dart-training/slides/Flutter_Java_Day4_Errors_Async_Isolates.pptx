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Open by naming the theme. "Today is about time. What happens when something takes a while, what happens when it fails, and what happens when your own code is the slow thing. Those three questions decide whether an app feels good or feels broken."
SAY THIS TOO: "This is the last day before we put anything on a screen. Tomorrow morning you finally build a user interface, and everything you have learned in four days goes into it."
THE HARDEST CONVERSATION OF THE WEEK is this afternoon, when you tell a room of Java developers that there are no threads. Expect resistance. Give it the time it needs and do not get defensive; the model genuinely is different and it genuinely is simpler.
PRESENTER CHECKLIST: dartpad.dev open; everyone's Day 3 pad with the sealed OrderState in it, because all three labs extend it; the Day 4 handbook on your second display.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Four modules, three labs. The first two blocks are comfortable for a Java room; the last two are where the new thinking is.
SAY WHAT THEY WILL HAVE BY 16:00: a working order service with a proper exception hierarchy, an event stream, and a measured understanding of what blocking the UI thread actually costs.
TIMING: errors is quicker than it looks because most of it is familiar. Bank the time and spend it on isolates, which is the block people push back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Seventy-five minutes. Most of the syntax is familiar, so the value is in three places: no checked exceptions, the Exception versus Error split, and sealed exceptions.
THE SEALED EXCEPTION IDEA IS THE PAYOFF and it connects straight back to yesterday. It is also the thing that turns an ugly failure into a sentence a customer can read, which is the theme of the whole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and most of it is the discussion at the end.
THE SYNTAX IS JAVA. throw, and an object. Dart technically lets you throw anything, including a String, and you should not.
NO CHECKED EXCEPTIONS IS THE HEADLINE and this room will have opinions. Give both sides properly.
WHAT YOU LOSE: the compiler no longer tells you a call can fail. A method's signature does not document its failure modes. In a large system that is real information gone.
WHAT YOU GAIN: no more wrapping an exception in another exception purely to get it through a signature. No more catch blocks that do nothing but rethrow as a RuntimeException. No more interface signatures polluted by an implementation's failure modes.
THE HONEST POSITION TO TAKE: most modern languages, including Kotlin and C#, made the same choice, and the Java community has largely concluded that checked exceptions did not deliver what was hoped. Say that, then say what to do instead.
WHAT TO DO INSTEAD, and this is the practical answer: document failure in the return TYPE rather than the signature. That is exactly what the sealed OrderState does. A function that returns OrderState makes failure visible in a way a throws clause never did, because the caller cannot ignore it.
THAT POINT IS WORTH MAKING WELL. It reframes yesterday's sealed classes as the answer to today's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Type it live.
on TYPE catch (e) IS JAVA'S catch (Type e). The keyword split looks odd for a day: on names the type, catch names the variable. You can use on with no catch if you do not need the object, and catch with no on to take anything.
THE SECOND CATCH PARAMETER IS THE STACK TRACE, and most people miss it. catch (e, stackTrace). There is no exception object carrying it around; the trace is passed separately. That surprises Java developers, who expect e.getStackTrace().
ORDER MATTERS, same as Java: specific types first, bare catch last. Unlike Java, the analyser will not always warn you about an unreachable catch, so be careful.
finally IS IDENTICAL. Always runs, including after a return.
rethrow IS THE ONE TO DRILL. Inside a catch block, rethrow preserves the original stack trace. Writing throw e instead resets it, and you lose where the problem actually came from. It is exactly the same mistake as throw e versus throw in Java, and it is just as common.
DEMO IT IF YOU HAVE TIME: catch, log, rethrow, and print the trace at the top level. Then change it to throw e and show the trace getting shorter. It takes ninety seconds and it is the kind of thing people remember.
NO try-with-resources. Dart has no equivalent, so cleanup goes in finally, or in a dispose method that something else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This is a design conversation more than a syntax one.
THE DART CONVENTION: Exception for expected failure, Error for programmer mistakes. It maps loosely onto Java's checked versus unchecked, except nothing is enforced and the split is about intent rather than about the compiler.
THE LIST OF BUILT-IN ERRORS IS WORTH READING OUT because they will see all of them this week. ArgumentError when a caller passed nonsense. StateError when something was called at the wrong time. RangeError for an index. UnimplementedError for a stub.
THE RULE TO GIVE THEM: catch Exceptions, let Errors crash. If your code throws a StateError in production, catching it hides a bug. Fix the code that called it at the wrong time.
THAT IS UNCOMFORTABLE FOR A ROOM USED TO DEFENSIVE CATCHING. Server code often catches everything at the boundary and returns a 500, because a crash takes down a request rather than a process. On mobile, a crash takes down the app in front of a user, so instinct says catch everything. The honest answer is that a swallowed Error becomes a silent wrong result, which is worse, and that Day 8 covers crash reporting properly.
OutOfStockException SHOWS A GOOD CUSTOM EXCEPTION: it implements Exception, carries the data the caller needs, and has a useful toString. Note implements rather than extends, because Exception is effectively an empty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this is the best idea in the module.
THE PROBLEM IT SOLVES: in a normal codebase, mapping an exception to a user message is a chain of instanceof checks ending in a generic "something went wrong". New exception types get added and the chain does not get updated, so users see the generic message for a failure you could have explained.
THE SOLUTION: make the exception hierarchy sealed. Now userMessage is an exhaustive switch, and adding a fourth exception type breaks compilation until somebody writes a sentence for it.
SAY WHAT THAT MEANS IN PRACTICE: it becomes structurally impossible to ship a failure mode with no user-facing message. For an enterprise app that is a genuinely valuable property, and it costs nothing.
NOTE implements Exception, NOT extends. Exception is an interface with essentially nothing in it, so you implement it and provide your own message field.
CONNECT BACK TO THE THEME: every failure becomes a sentence a customer could read. No stack traces, no leaked exception text, no "Exception: " prefix. That rule runs through the rest of the course.
THIS IS LAB 4.1 STEP 1, so tell them they are about to write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this is the best idea in the module.
THE PROBLEM IT SOLVES: in a normal codebase, mapping an exception to a user message is a chain of instanceof checks ending in a generic "something went wrong". New exception types get added and the chain does not get updated, so users see the generic message for a failure you could have explained.
THE SOLUTION: make the exception hierarchy sealed. Now userMessage is an exhaustive switch, and adding a fourth exception type breaks compilation until somebody writes a sentence for it.
SAY WHAT THAT MEANS IN PRACTICE: it becomes structurally impossible to ship a failure mode with no user-facing message. For an enterprise app that is a genuinely valuable property, and it costs nothing.
NOTE implements Exception, NOT extends. Exception is an interface with essentially nothing in it, so you implement it and provide your own message field.
CONNECT BACK TO THE THEME: every failure becomes a sentence a customer could read. No stack traces, no leaked exception text, no "Exception: " prefix. That rule runs through the rest of the course.
THIS IS LAB 4.1 STEP 1, so tell them they are about to write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Six minutes. Short, and mostly useful as a contrast.
JAVA'S assert IS EFFECTIVELY DEAD because it needs -ea at runtime and nobody sets it, so almost nobody writes asserts. Dart's is on by default in debug and compiled out of release, so it costs literally nothing in production and people actually use it.
THE SECOND ARGUMENT is a message, and you should always write one. An AssertionError with no message is a bad afternoon.
THE RULE: assert is for things that should be impossible if YOUR code is correct. Internal invariants. Not user input, not server data, because those must still be checked in release where the assert no longer exists.
THAT DISTINCTION MATTERS and people get it wrong. Validating a form field with an assert means the validation disappears in production.
WHERE THEY WILL SEE IT: Flutter's own source is full of asserts, with unusually good messages. When they get a long readable error at runtime on Day 5 explaining exactly what they did wrong, that is an assert firing.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 hundred and five minutes including the lab. This module is comfortable for anyone who has used CompletableFuture and revelatory for anyone who has not.
THE SELLING POINT for a Java 8 room is not Future itself, it is await. Chained thenApply and thenCompose against straight-line code with try and catch around it.
THE DEMO THAT MATTERS is the Stopwatch on Future.wait. Do it live and read the number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Type it live and run it.
THE MAPPING IS EXACT: Future is CompletableFuture, Future.value is completedFuture, Future.error is failedFuture, Future.wait is allOf.
async DOES TWO THINGS and say both: the function now returns a Future, and you may use await inside it. If a function has async, its declared return type must be a Future of something, or void.
SAY THIS SENTENCE TWICE, because it is the single most important thing in the module: async does not mean another thread. It means this function can pause and let the one thread do something else while it waits.
await UNWRAPS. Everything after the await runs when the value arrives. Read the code top to bottom and it reads like synchronous code, which is the entire point.
SHOW THE JAVA 8 VERSION next to it. thenApply and thenAccept and a method reference, against two plain lines. Nobody needs persuading after that.
Future.delayed IS YOUR FAKE NETWORK CALL for the rest of the week. Point it out; every lab uses it.
THE COMMON BEGINNER ERROR: forgetting await, so you print an Instance of Future rather than the value. Demo that deliberately. It takes twenty seconds and they will all do it at least once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THE BIG WIN: an exception thrown inside an awaited Future is caught by an ordinary try and catch around the await. No special API, no wrapper exception, and the type you catch is the type that was thrown.
COMPARE WITH CompletableFuture: exceptionally, handle, whenComplete, and the real cause wrapped inside a CompletionException that you have to unwrap with getCause. This room has all fought that. Say so.
THE on CLAUSES STACK in the same order as Java: most specific first. Catching OrderException after OutOfStockException works because the sealed hierarchy from this morning makes the relationship explicit.
then AND catchError ARE THE CALLBACK FORM. Show them once so the syntax is recognisable in other people's code, and then say to prefer try and catch.
THE UNAWAITED FUTURE TRAP IS THE IMPORTANT PART OF THIS SLIDE. If you call an async function and do not await it, and it throws, the error has nowhere to go. In Flutter that can take the app down. It is exactly Java's fire-and-forget future swallowing an exception, except more visible.
THE FIX: either await it, or wrap it in unawaited() to say explicitly that you meant it. The analyser has a lint called unawaited_futures that catches this, and Day 8 turns it on.
DEMO IT IF YOU CAN: call an async function that throws without awaiting, and watch the unhandled error appear after everything else has printed. The delayed timing is what makes it confusing in real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the Stopwatch demo is the centre of it.
RUN THE STOPWATCH LIVE AND READ THE NUMBER OUT. Three 800 millisecond calls, awaited together, finishing in around 800 milliseconds. That single number teaches concurrency better than any diagram.
THEN ASK THE ROOM HOW, given there is one thread. Let somebody work it out. The answer is that waiting does not use the thread: each call hands the thread back while the network is busy, so the three waits overlap.
SAY THE DISTINCTION EXPLICITLY, because it matters this afternoon: CONCURRENCY is several things in progress. PARALLELISM is several things executing at the same instant. Dart gives you the first on one thread, and the second only with isolates.
Future.wait FAILS IF ANY ONE FAILS, which surprises people. The whole wait throws with the first error. If you need all results regardless, you handle each future individually or catch per future.
Future.any is first-past-the-post, useful for racing a cache against a network.
timeout IS THE ONE THEY WILL USE MOST IN PRODUCTION. Every network call should have one. Day 8 puts a real timeout on a real HTTP client and this is where the habit starts.
THE RESULTS COME BACK IN ORDER, not in completion order. Worth saying, because it is a reasonable thing to get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the Stopwatch demo is the centre of it.
RUN THE STOPWATCH LIVE AND READ THE NUMBER OUT. Three 800 millisecond calls, awaited together, finishing in around 800 milliseconds. That single number teaches concurrency better than any diagram.
THEN ASK THE ROOM HOW, given there is one thread. Let somebody work it out. The answer is that waiting does not use the thread: each call hands the thread back while the network is busy, so the three waits overlap.
SAY THE DISTINCTION EXPLICITLY, because it matters this afternoon: CONCURRENCY is several things in progress. PARALLELISM is several things executing at the same instant. Dart gives you the first on one thread, and the second only with isolates.
Future.wait FAILS IF ANY ONE FAILS, which surprises people. The whole wait throws with the first error. If you need all results regardless, you handle each future individually or catch per future.
Future.any is first-past-the-post, useful for racing a cache against a network.
timeout IS THE ONE THEY WILL USE MOST IN PRODUCTION. Every network call should have one. Day 8 puts a real timeout on a real HTTP client and this is where the habit starts.
THE RESULTS COME BACK IN ORDER, not in completion order. Worth saying, because it is a reasonable thing to get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This is the slide that saves them a real production problem.
THE SETUP: three awaits on separate lines looks perfectly reasonable and takes 2400 ms. The same three in a Future.wait take 800. Nothing about the code shape warns you.
THE LOOP VERSION IS THE ONE THAT ACTUALLY SHIPS. for (final id in ids) { await fetch(id); } reads innocently and is sequential. With fifty ids and a 200 ms call, that is ten seconds and a frozen-looking screen.
THE FIX IS ONE LINE: await Future.wait(ids.map(fetchOrder)). Write both on the whiteboard side by side.
NOW THE BALANCE, and do not skip it: sequential is CORRECT whenever the second call needs the first call's answer. Fetching an order, then fetching the invoice named by that order, must be sequential. There is nothing to optimise and trying to would be wrong.
THE QUESTION TO TEACH THEM TO ASK: does call two need anything from call one? If no, they should overlap. If yes, they must not.
ONE PRACTICAL WARNING: firing fifty parallel requests at a server is its own problem. Real code batches them. Mention it, because somebody will go away and parallelise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40 minutes, hard stop. The biggest lab of the day and the one that produces the service Day 5 calls.
CHECKPOINTS: at 12 minutes the exceptions compile. At 25 minutes runFlow prints all four cases. At 35 minutes both timings are printed.
STEP 8 IS THE POINT OF THE LAB. Everyone must print both numbers and say them out loud to the person next to them. Parallel about 800, sequential about 2400. Concurrency is abstract until you measure it.
BEFORE THE TIMER: remind them that main must be async, and that forgetting await on runFlow means the program ends before anything prints. Both will happen otherwise.
COMMON ERRORS: main not marked async. Missing await, so an Instance of Future prints. Catching Exception instead of OrderException, so the exhaustive switch cannot be used. Putting a default in userMessage, which quietly removes the exhaustiveness the design depends on.
THAT LAST ONE IS WORTH CALLING OUT TO THE ROOM if you see it, because it is the same lesson as yesterday and it has already reappeared in a new place.
THE SECOND STRETCH GOAL IS A GOOD DISCUSSION: retrying an out-of-stock error is pointless, retrying a timeout is sensible. Failure type should decide retry policy, and that is a design habit worth naming.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Ninety minutes including the lab.
FRAME IT SIMPLY: a Future is one value later, a Stream is many values over time. That is the whole distinction and everything else follows.
FOR A JAVA 8 ROOM, there is no direct equivalent in the standard library. Reactor and RxJava are the comparison, and Dart streams are much simpler than either. Do not over-compare; teach it on its own terms.
WHERE THEY WILL USE IT: Day 7 listens to a stream of state changes, Day 8 watches a database. Say that so it does not feel academic.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Run the countdown live so they watch values arrive one at a time.
THE THREE STARS MATTER: async gives you a Future, async* gives you a Stream. The star means many. yield emits one value and keeps going; return ends the stream.
await for IS THE EASY FORM. It looks like a for loop and it suspends until each value arrives. Use it when you genuinely want to process values in order and there is nothing else to do.
listen IS THE OTHER FORM and it does not block. You hand it callbacks and carry on. Three callbacks: onData as the positional argument, then onError and onDone.
THE CANCEL RULE IS NOT OPTIONAL. A subscription you never cancel keeps the stream alive and keeps your object alive with it. On Day 7 that is a widget that has left the screen and is still receiving updates, which is the classic Flutter memory leak. Say it now so it is not new then.
THE SINGLE-SUBSCRIPTION RULE surprises everyone: by default a stream can be listened to ONCE, and listening again throws. That is on the next slide, but if somebody hits it here, name it early.
DO NOT GO INTO Stream.periodic, zip, or the rx-style operators. They exist, they are rarely needed, and they will cost you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Run the countdown live so they watch values arrive one at a time.
THE THREE STARS MATTER: async gives you a Future, async* gives you a Stream. The star means many. yield emits one value and keeps going; return ends the stream.
await for IS THE EASY FORM. It looks like a for loop and it suspends until each value arrives. Use it when you genuinely want to process values in order and there is nothing else to do.
listen IS THE OTHER FORM and it does not block. You hand it callbacks and carry on. Three callbacks: onData as the positional argument, then onError and onDone.
THE CANCEL RULE IS NOT OPTIONAL. A subscription you never cancel keeps the stream alive and keeps your object alive with it. On Day 7 that is a widget that has left the screen and is still receiving updates, which is the classic Flutter memory leak. Say it now so it is not new then.
THE SINGLE-SUBSCRIPTION RULE surprises everyone: by default a stream can be listened to ONCE, and listening again throws. That is on the next slide, but if somebody hits it here, name it early.
DO NOT GO INTO Stream.periodic, zip, or the rx-style operators. They exist, they are rarely needed, and they will cost you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THE VOCABULARY IS YESTERDAY'S: where, map, take, fold, any, first, length. The difference is that the terminal operations return a Future, because the answer cannot be known until the stream finishes.
toList() ON A STREAM WAITS FOR IT TO FINISH. On an infinite stream it never returns, which is a good trap to name.
SINGLE SUBSCRIPTION VERSUS BROADCAST IS THE IMPORTANT HALF OF THIS SLIDE. A normal stream permits one listener, and a second listen throws a StateError. That seems restrictive until you realise the alternative is silently splitting a network response between two consumers.
A BROADCAST STREAM permits many listeners, but it does not replay: a listener that arrives late misses everything already emitted. Say that clearly, because it is the source of the classic bug where a listener attached in the wrong place sees nothing.
asBroadcastStream() CONVERTS ONE, and it starts flowing immediately, which can also mean the first listener misses the first value. Demo it if you have time.
WHICH TO USE: single subscription for a one-off, like a file read or a single request. Broadcast for events several parts of the app care about, which is what Lab 4.2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WHY IT EXISTS: async* works when you already have a loop producing values. A StreamController is for when values arrive from somewhere you do not control: a button, a socket, a timer, a database.
THE PATTERN IS THE IMPORTANT PART, not the API. The controller is private. The class exposes stream for reading, and named methods for writing. Nobody outside can add to the stream directly.
COMPARE IT TO A JAVA LISTENER LIST: you would keep a private List&lt;Listener&gt;, an addListener method, and a fire method. This is the same design with the plumbing supplied.
addError PUTS AN ERROR INTO THE STREAM rather than throwing. Listeners get it in their onError callback. That is how you signal failure to something listening rather than something calling.
CLOSING IS NOT OPTIONAL AND SAY IT TWICE. An open controller with listeners keeps everything alive. On Day 7 every controller gets closed in a widget's dispose method, and forgetting is the most common leak in Flutter code.
THE .broadcast() CONSTRUCTOR is what you want for events. The default single-subscription controller will throw on the second listener, which in Lab 4.2 would be immediately confusing.
DO NOT GO INTO sync controllers or onListen callbacks. Not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35 minutes, hard stop. Lighter than Lab 4.1.
CHECKPOINTS: at 12 minutes submitStream prints through await for. At 25 minutes the two listeners both fire.
THE IMPORT IS THE FIRST THING PEOPLE FORGET. StreamController lives in dart:async, which is not imported by default in a plain Dart file. Say it before the timer starts.
THE FIRST TWO STRETCH GOALS ARE THE REAL LESSON and worth doing on the projector at the stop. Removing broadcast gives a StateError on the second listener, which is the error they will otherwise meet for the first time in a Flutter widget at an inconvenient moment. Attaching a listener late and seeing it miss the first event explains half the "my stream is not working" questions they will ever ask.
COMMON ERRORS: missing dart:async import. Forgetting to await the subscription, so main exits first. Using the default controller and hitting the single-listener error. Not closing the controller, which in DartPad is harmless and in a real app is a leak worth naming anyway.
asFuture IS SLIGHTLY OBSCURE and is in the solution: it turns a subscription into a Future that completes when the stream is done, which is how you wait for a listen-based consumer. Explain it rather than letting it be magic.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last hour and the one that gets pushback. Do not be defensive; the model genuinely is different and it genuinely removes a whole class of bug.
THE SEQUENCE: explain the model, kill the misconception, give them the escape hatch, then make them measure it. The measurement is what makes it real.
EXPECT THIS QUESTION AND PREPARE FOR IT: "so Dart cannot use multiple cores?" It can, with several isolates, and Flutter apps rarely need to. Answer it straight rather than dodging.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and let the room argue. This is the most interesting conversation of the week.
LEAD WITH WHAT THEY GAIN, not with what is missing. Every concurrency bug this room has ever debugged, and they have debugged plenty, comes from two threads touching the same memory. Remove shared memory and the entire category is gone. No synchronized blocks to get wrong, no volatile to forget, no lock ordering, no deadlocks, no ConcurrentModificationException.
THEN BE HONEST ABOUT THE COST: messages are copied, so you cannot hand a big object graph across cheaply. For an app that is almost never a problem. For heavy data processing it is a real constraint.
NOW KILL THE MISCONCEPTION, and this is the most important minute of the hour: async and await are not threading. They yield the single thread while waiting for IO. If your Dart code is busy computing, nothing else runs at all, including the user interface.
SAY IT AGAIN IN DIFFERENT WORDS: awaiting a network call frees the thread. Awaiting a busy loop does not, because there is nothing to wait for.
ANSWER THE MULTI-CORE QUESTION HONESTLY: you can run several isolates and use several cores. Flutter apps rarely do, because the work is IO-bound. When you do need it, compute is the one-line version and Isolate.spawn is the manual one.
THE COMPARISON THAT LANDS: this is closer to Node's model than to Java's, with the important addition that you can spawn real isolates for CPU work. Several people in the room will know Node and that lands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compute TAKES A FUNCTION AND ONE ARGUMENT and returns a Future. That is the whole API. Flutter handles spawning, messaging and teardown.
THE FUNCTION MUST BE TOP-LEVEL OR STATIC, and this catches everybody once. It cannot be a closure or an instance method, because the function itself has to be sendable to the other isolate. The error message when you get it wrong is not obvious, so say it now.
ONE ARGUMENT ONLY. If you need several values, pass a record or a small class. That is a nice callback to Day 3.
WHEN TO USE IT: JSON over roughly a hundred kilobytes, image work, encryption, any loop taking more than a few milliseconds.
WHEN NOT TO: network calls. They are already IO-bound, await already handles them, and compute would only add copying overhead for no benefit. That misunderstanding is common, so name it.
THE COPYING COST IS REAL. For a small result it is nothing. For a huge list it can cost more than the work saved. Measure rather than assume.
NOTE THE IMPORT: compute comes from package:flutter/foundation.dart, so it is not available in a plain DartPad. Lab 4.3 measures the problem rather than calling the API, and they use the real thing on Day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and make the number concrete.
DO THE ARITHMETIC ON THE WHITEBOARD: one second divided by sixty is 16.7 milliseconds. That is the total budget for everything that happens between two frames.
THE CONTRAST WITH THE SERVER WORLD IS THE POINT. Ask what their p99 latency target is. Somebody will say two hundred milliseconds and be quite proud of it. Then point out that two hundred milliseconds here is twelve dropped frames and a visibly stuttering interface.
ON A SERVER a slow method costs one request out of a large pool, and the pool absorbs it. Here there is no pool. There is one thread, and it is also drawing the screen.
THE THREE ANSWERS IN ORDER, and the order matters: do less work, do it when nobody is watching, move it off the thread. Most people reach for the third first, and the first is usually the right answer.
120 HZ DISPLAYS halve the budget to 8.3 milliseconds, and most current phones are 120. Worth mentioning, because it means the target is tighter than people assume.
CONNECT FORWARD TO DAY 8: DevTools shows you a bar per frame and colours the ones over budget. That is the tool that turns this number into something you can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20 minutes, hard stop at 15:50. Short, and the point is the conversation rather than the code.
THE NUMBER IS THE LESSON. A typical result is several hundred milliseconds and tens of dropped frames. Get people to say their number out loud around the room. Hearing eight different people say twenty, thirty, forty frames makes it stick.
THE FIRST STRETCH GOAL IS THE MOST VALUABLE THING IN THE LAB and you should do it on the projector even if nobody attempts it. Wrapping a busy loop in async and awaiting it changes nothing, because there is no IO to wait for. That demonstration kills the async-equals-threading misconception permanently.
TODO 4 IS NOT FILLER. Making somebody say "the screen would be completely frozen, no scrolling, no taps, no animation" out loud is what converts a number into an instinct.
IF THE ROOM IS ENGAGED, TODO 3 in the stretch list is a lovely closing exercise: everyone names a thing from their own systems that would need an isolate. It connects the whole day back to work they actually do.
DARTPAD NOTE: there is no compute in a plain pad. Do not try to demonstrate it here. Day 8 uses the real thing on a real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Five minutes, read slowly. Four days of language is behind them and that is genuinely hard work.
NAME THE ACHIEVEMENT PROPERLY: "Four days ago most of you had never written a line of Dart. You now have a complete domain model, a state machine the compiler enforces, a service with proper error handling, and a measured understanding of the frame budget. That is a working knowledge of the language, not an introduction to it."
THE CLOSING QUESTION: "what is the one thing from this week you would change about how you write Java?" It is a good question because the answers are usually sealed classes, extensions or await, and saying it out loud makes it real.
THEN SET UP TOMORROW WITH SOME ENERGY: "Tomorrow you build a screen. Everything you have written this week goes onto a phone, and you will be surprised how little new there is to learn, because Flutter is just Dart arranged in a particular shape."
PRESENTER, TONIGHT: this is the night everyone must have a working device, because tomorrow is the first day that needs one. Check every person. Anyone still broken gets fixed tonight, not tomorrow morning.
ALSO TONIGHT: make sure everyone has their Day 4 pad saved somewhere, because Day 5 imports the order model into a real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IS COMPULSORY WHEN THE OTHERS WERE OPTIONAL: it is the last night before the framework, and the async model is what Flutter is built on. Twenty minutes tonight makes tomorrow easier.
THE FOURTH QUESTION IS THE REAL ONE. Four days of language, and everyone has something they nodded along to without fully following. Tomorrow morning is the last clean moment to clear it, before new material starts landing on top.
TAKE THAT SESSION SERIOUSLY. Budget fifteen minutes for it and be willing to spend thirty. A wobbly foundation under Flutter is far more expensive than half an hour.
EXPECTED: Q1 an async function runs synchronously up to its first await, which matters for ordering and for validation you want to happen immediately. Q2 an error thrown before the first await still comes back as a failed Future, not as a synchronous throw, which surprises people. Q3 async* when you are generating values yourself in a loop; a controller when events arrive from outside your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Two things must survive today whatever else goes: the Future.wait timing demonstration, and the statement that async is not threading.
THE TIMING DEMO IS THE HEART OF THE DAY. If you only get one thing on the projector, make it the Stopwatch.
THE ISOLATES CONVERSATION is the one most likely to eat time. It is worth spending time on, but keep it anchored to concrete problems rather than letting it become a general debate about concurrency models.
IF YOU RUN LONG, take it out of streams rather than isolates. Streams reappear in context on Day 7; the frame budget is needed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On the projector at every hard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This is the service Day 5 calls, so make sure everyone leaves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This is the service Day 5 calls, so make sure everyone leaves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This is the service Day 5 calls, so make sure everyone leaves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This is the service Day 5 calls, so make sure everyone leaves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This is the service Day 5 calls, so make sure everyone leaves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 Note the dart:async import.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is the lesson. Get people to say theirs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is the lesson. Get people to say theirs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useful page in the Day 4 handbook.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the second display. Row one and row five between them cover most of the lab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these are in the handbook.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9262872" y="-1463040"/>
            <a:ext cx="4754880" cy="4754880"/>
          </a:xfrm>
          <a:prstGeom prst="ellipse">
            <a:avLst/>
          </a:prstGeom>
          <a:solidFill>
            <a:srgbClr val="434C5E"/>
          </a:solidFill>
          <a:ln w="12700">
            <a:solidFill>
              <a:srgbClr val="434C5E"/>
            </a:solidFill>
            <a:prstDash val="solid"/>
          </a:ln>
        </p:spPr>
      </p:sp>
      <p:sp>
        <p:nvSpPr>
          <p:cNvPr id="3" name="Shape 1"/>
          <p:cNvSpPr/>
          <p:nvPr/>
        </p:nvSpPr>
        <p:spPr>
          <a:xfrm>
            <a:off x="10543032" y="4480560"/>
            <a:ext cx="3108960" cy="3108960"/>
          </a:xfrm>
          <a:prstGeom prst="ellipse">
            <a:avLst/>
          </a:prstGeom>
          <a:solidFill>
            <a:srgbClr val="2A9D8F"/>
          </a:solidFill>
          <a:ln w="12700">
            <a:solidFill>
              <a:srgbClr val="2A9D8F"/>
            </a:solidFill>
            <a:prstDash val="solid"/>
          </a:ln>
        </p:spPr>
      </p:sp>
      <p:sp>
        <p:nvSpPr>
          <p:cNvPr id="4" name="Text 2"/>
          <p:cNvSpPr txBox="1"/>
          <p:nvPr/>
        </p:nvSpPr>
        <p:spPr>
          <a:xfrm>
            <a:off x="548640" y="731520"/>
            <a:ext cx="7315200" cy="365760"/>
          </a:xfrm>
          <a:prstGeom prst="rect">
            <a:avLst/>
          </a:prstGeom>
          <a:noFill/>
          <a:ln/>
        </p:spPr>
        <p:txBody>
          <a:bodyPr wrap="square" lIns="0" tIns="0" rIns="0" bIns="0" rtlCol="0" anchor="ctr"/>
          <a:lstStyle/>
          <a:p>
            <a:pPr indent="0" marL="0">
              <a:buNone/>
            </a:pPr>
            <a:r>
              <a:rPr lang="en-US" sz="1200" spc="400" kern="0" dirty="0">
                <a:solidFill>
                  <a:srgbClr val="6FC5B8"/>
                </a:solidFill>
                <a:latin typeface="Calibri" pitchFamily="34" charset="0"/>
                <a:ea typeface="Calibri" pitchFamily="34" charset="-122"/>
                <a:cs typeface="Calibri" pitchFamily="34" charset="-120"/>
              </a:rPr>
              <a:t>TECHNICAL TRAINING</a:t>
            </a:r>
            <a:endParaRPr lang="en-US" sz="1200" dirty="0"/>
          </a:p>
        </p:txBody>
      </p:sp>
      <p:sp>
        <p:nvSpPr>
          <p:cNvPr id="5" name="Text 3"/>
          <p:cNvSpPr txBox="1"/>
          <p:nvPr/>
        </p:nvSpPr>
        <p:spPr>
          <a:xfrm>
            <a:off x="548640" y="1371600"/>
            <a:ext cx="8229600" cy="548640"/>
          </a:xfrm>
          <a:prstGeom prst="rect">
            <a:avLst/>
          </a:prstGeom>
          <a:noFill/>
          <a:ln/>
        </p:spPr>
        <p:txBody>
          <a:bodyPr wrap="square" lIns="0" tIns="0" rIns="0" bIns="0" rtlCol="0" anchor="ctr"/>
          <a:lstStyle/>
          <a:p>
            <a:pPr indent="0" marL="0">
              <a:buNone/>
            </a:pPr>
            <a:r>
              <a:rPr lang="en-US" sz="1800" dirty="0">
                <a:solidFill>
                  <a:srgbClr val="D7DEE8"/>
                </a:solidFill>
                <a:latin typeface="Calibri" pitchFamily="34" charset="0"/>
                <a:ea typeface="Calibri" pitchFamily="34" charset="-122"/>
                <a:cs typeface="Calibri" pitchFamily="34" charset="-120"/>
              </a:rPr>
              <a:t>Flutter for Java Developers · 8-Day Programme</a:t>
            </a:r>
            <a:endParaRPr lang="en-US" sz="1800" dirty="0"/>
          </a:p>
        </p:txBody>
      </p:sp>
      <p:sp>
        <p:nvSpPr>
          <p:cNvPr id="6" name="Text 4"/>
          <p:cNvSpPr txBox="1"/>
          <p:nvPr/>
        </p:nvSpPr>
        <p:spPr>
          <a:xfrm>
            <a:off x="548640" y="2103120"/>
            <a:ext cx="8686800" cy="146304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Day 4</a:t>
            </a:r>
            <a:endParaRPr lang="en-US" sz="4800" dirty="0"/>
          </a:p>
          <a:p>
            <a:pPr indent="0" marL="0">
              <a:buNone/>
            </a:pPr>
            <a:r>
              <a:rPr lang="en-US" sz="4800" b="1" dirty="0">
                <a:solidFill>
                  <a:srgbClr val="FFFFFF"/>
                </a:solidFill>
                <a:latin typeface="Calibri" pitchFamily="34" charset="0"/>
                <a:ea typeface="Calibri" pitchFamily="34" charset="-122"/>
                <a:cs typeface="Calibri" pitchFamily="34" charset="-120"/>
              </a:rPr>
              <a:t>Errors, Async</a:t>
            </a:r>
            <a:endParaRPr lang="en-US" sz="4800" dirty="0"/>
          </a:p>
          <a:p>
            <a:pPr indent="0" marL="0">
              <a:buNone/>
            </a:pPr>
            <a:r>
              <a:rPr lang="en-US" sz="4800" b="1" dirty="0">
                <a:solidFill>
                  <a:srgbClr val="FFFFFF"/>
                </a:solidFill>
                <a:latin typeface="Calibri" pitchFamily="34" charset="0"/>
                <a:ea typeface="Calibri" pitchFamily="34" charset="-122"/>
                <a:cs typeface="Calibri" pitchFamily="34" charset="-120"/>
              </a:rPr>
              <a:t>and Isolates</a:t>
            </a:r>
            <a:endParaRPr lang="en-US" sz="4800" dirty="0"/>
          </a:p>
        </p:txBody>
      </p:sp>
      <p:sp>
        <p:nvSpPr>
          <p:cNvPr id="7" name="Text 5"/>
          <p:cNvSpPr txBox="1"/>
          <p:nvPr/>
        </p:nvSpPr>
        <p:spPr>
          <a:xfrm>
            <a:off x="548640" y="3657600"/>
            <a:ext cx="8229600" cy="731520"/>
          </a:xfrm>
          <a:prstGeom prst="rect">
            <a:avLst/>
          </a:prstGeom>
          <a:noFill/>
          <a:ln/>
        </p:spPr>
        <p:txBody>
          <a:bodyPr wrap="square" lIns="0" tIns="0" rIns="0" bIns="0" rtlCol="0" anchor="ctr"/>
          <a:lstStyle/>
          <a:p>
            <a:pPr indent="0" marL="0">
              <a:buNone/>
            </a:pPr>
            <a:r>
              <a:rPr lang="en-US" sz="2000" dirty="0">
                <a:solidFill>
                  <a:srgbClr val="6FC5B8"/>
                </a:solidFill>
                <a:latin typeface="Calibri" pitchFamily="34" charset="0"/>
                <a:ea typeface="Calibri" pitchFamily="34" charset="-122"/>
                <a:cs typeface="Calibri" pitchFamily="34" charset="-120"/>
              </a:rPr>
              <a:t>Exceptions · Future and await · Streams · Why Dart has no threads</a:t>
            </a:r>
            <a:endParaRPr lang="en-US" sz="2000" dirty="0"/>
          </a:p>
        </p:txBody>
      </p:sp>
      <p:sp>
        <p:nvSpPr>
          <p:cNvPr id="8" name="Text 6"/>
          <p:cNvSpPr txBox="1"/>
          <p:nvPr/>
        </p:nvSpPr>
        <p:spPr>
          <a:xfrm>
            <a:off x="548640" y="5760720"/>
            <a:ext cx="8229600" cy="457200"/>
          </a:xfrm>
          <a:prstGeom prst="rect">
            <a:avLst/>
          </a:prstGeom>
          <a:noFill/>
          <a:ln/>
        </p:spPr>
        <p:txBody>
          <a:bodyPr wrap="square" lIns="0" tIns="0" rIns="0" bIns="0" rtlCol="0" anchor="ctr"/>
          <a:lstStyle/>
          <a:p>
            <a:pPr indent="0" marL="0">
              <a:buNone/>
            </a:pPr>
            <a:r>
              <a:rPr lang="en-US" sz="1200" dirty="0">
                <a:solidFill>
                  <a:srgbClr val="AAB6C4"/>
                </a:solidFill>
                <a:latin typeface="Calibri" pitchFamily="34" charset="0"/>
                <a:ea typeface="Calibri" pitchFamily="34" charset="-122"/>
                <a:cs typeface="Calibri" pitchFamily="34" charset="-120"/>
              </a:rPr>
              <a:t>The last day of pure Dart  ·  Day 4 of 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Day 4 agenda</a:t>
            </a:r>
            <a:endParaRPr lang="en-US" sz="3000" dirty="0"/>
          </a:p>
        </p:txBody>
      </p:sp>
      <p:sp>
        <p:nvSpPr>
          <p:cNvPr id="3" name="Shape 1"/>
          <p:cNvSpPr/>
          <p:nvPr/>
        </p:nvSpPr>
        <p:spPr>
          <a:xfrm>
            <a:off x="548640"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4" name="Shape 2"/>
          <p:cNvSpPr/>
          <p:nvPr/>
        </p:nvSpPr>
        <p:spPr>
          <a:xfrm>
            <a:off x="822960" y="1600200"/>
            <a:ext cx="548640" cy="548640"/>
          </a:xfrm>
          <a:prstGeom prst="ellipse">
            <a:avLst/>
          </a:prstGeom>
          <a:solidFill>
            <a:srgbClr val="2A9D8F"/>
          </a:solidFill>
          <a:ln w="12700">
            <a:solidFill>
              <a:srgbClr val="2A9D8F"/>
            </a:solidFill>
            <a:prstDash val="solid"/>
          </a:ln>
        </p:spPr>
      </p:sp>
      <p:sp>
        <p:nvSpPr>
          <p:cNvPr id="5" name="Text 3"/>
          <p:cNvSpPr txBox="1"/>
          <p:nvPr/>
        </p:nvSpPr>
        <p:spPr>
          <a:xfrm>
            <a:off x="822960"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508760"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09:00 - 10:30</a:t>
            </a:r>
            <a:endParaRPr lang="en-US" sz="1000" dirty="0"/>
          </a:p>
        </p:txBody>
      </p:sp>
      <p:sp>
        <p:nvSpPr>
          <p:cNvPr id="7" name="Text 5"/>
          <p:cNvSpPr txBox="1"/>
          <p:nvPr/>
        </p:nvSpPr>
        <p:spPr>
          <a:xfrm>
            <a:off x="1508760"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Errors and exceptions</a:t>
            </a:r>
            <a:endParaRPr lang="en-US" sz="1500" dirty="0"/>
          </a:p>
        </p:txBody>
      </p:sp>
      <p:sp>
        <p:nvSpPr>
          <p:cNvPr id="8" name="Text 6"/>
          <p:cNvSpPr txBox="1"/>
          <p:nvPr/>
        </p:nvSpPr>
        <p:spPr>
          <a:xfrm>
            <a:off x="822960"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throw, try, on, catch, finally</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Exception versus Error</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Custom sealed exceptions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No checked exceptions, and what that costs</a:t>
            </a:r>
            <a:endParaRPr lang="en-US" sz="1200" dirty="0"/>
          </a:p>
        </p:txBody>
      </p:sp>
      <p:sp>
        <p:nvSpPr>
          <p:cNvPr id="9" name="Shape 7"/>
          <p:cNvSpPr/>
          <p:nvPr/>
        </p:nvSpPr>
        <p:spPr>
          <a:xfrm>
            <a:off x="3390138"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10" name="Shape 8"/>
          <p:cNvSpPr/>
          <p:nvPr/>
        </p:nvSpPr>
        <p:spPr>
          <a:xfrm>
            <a:off x="3664458" y="1600200"/>
            <a:ext cx="548640" cy="548640"/>
          </a:xfrm>
          <a:prstGeom prst="ellipse">
            <a:avLst/>
          </a:prstGeom>
          <a:solidFill>
            <a:srgbClr val="2A9D8F"/>
          </a:solidFill>
          <a:ln w="12700">
            <a:solidFill>
              <a:srgbClr val="2A9D8F"/>
            </a:solidFill>
            <a:prstDash val="solid"/>
          </a:ln>
        </p:spPr>
      </p:sp>
      <p:sp>
        <p:nvSpPr>
          <p:cNvPr id="11" name="Text 9"/>
          <p:cNvSpPr txBox="1"/>
          <p:nvPr/>
        </p:nvSpPr>
        <p:spPr>
          <a:xfrm>
            <a:off x="3664458"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4350258"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10:45 - 12:30</a:t>
            </a:r>
            <a:endParaRPr lang="en-US" sz="1000" dirty="0"/>
          </a:p>
        </p:txBody>
      </p:sp>
      <p:sp>
        <p:nvSpPr>
          <p:cNvPr id="13" name="Text 11"/>
          <p:cNvSpPr txBox="1"/>
          <p:nvPr/>
        </p:nvSpPr>
        <p:spPr>
          <a:xfrm>
            <a:off x="4350258"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Future and await</a:t>
            </a:r>
            <a:endParaRPr lang="en-US" sz="1500" dirty="0"/>
          </a:p>
        </p:txBody>
      </p:sp>
      <p:sp>
        <p:nvSpPr>
          <p:cNvPr id="14" name="Text 12"/>
          <p:cNvSpPr txBox="1"/>
          <p:nvPr/>
        </p:nvSpPr>
        <p:spPr>
          <a:xfrm>
            <a:off x="3664458"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Future is CompletableFuture</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async and await instead of chaining</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Errors, timeouts and Future.wait</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4.1 - the order service</a:t>
            </a:r>
            <a:endParaRPr lang="en-US" sz="1200" dirty="0"/>
          </a:p>
        </p:txBody>
      </p:sp>
      <p:sp>
        <p:nvSpPr>
          <p:cNvPr id="15" name="Shape 13"/>
          <p:cNvSpPr/>
          <p:nvPr/>
        </p:nvSpPr>
        <p:spPr>
          <a:xfrm>
            <a:off x="6231636"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16" name="Shape 14"/>
          <p:cNvSpPr/>
          <p:nvPr/>
        </p:nvSpPr>
        <p:spPr>
          <a:xfrm>
            <a:off x="6505956" y="1600200"/>
            <a:ext cx="548640" cy="548640"/>
          </a:xfrm>
          <a:prstGeom prst="ellipse">
            <a:avLst/>
          </a:prstGeom>
          <a:solidFill>
            <a:srgbClr val="2A9D8F"/>
          </a:solidFill>
          <a:ln w="12700">
            <a:solidFill>
              <a:srgbClr val="2A9D8F"/>
            </a:solidFill>
            <a:prstDash val="solid"/>
          </a:ln>
        </p:spPr>
      </p:sp>
      <p:sp>
        <p:nvSpPr>
          <p:cNvPr id="17" name="Text 15"/>
          <p:cNvSpPr txBox="1"/>
          <p:nvPr/>
        </p:nvSpPr>
        <p:spPr>
          <a:xfrm>
            <a:off x="6505956"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7191756"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13:15 - 14:45</a:t>
            </a:r>
            <a:endParaRPr lang="en-US" sz="1000" dirty="0"/>
          </a:p>
        </p:txBody>
      </p:sp>
      <p:sp>
        <p:nvSpPr>
          <p:cNvPr id="19" name="Text 17"/>
          <p:cNvSpPr txBox="1"/>
          <p:nvPr/>
        </p:nvSpPr>
        <p:spPr>
          <a:xfrm>
            <a:off x="7191756"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Streams</a:t>
            </a:r>
            <a:endParaRPr lang="en-US" sz="1500" dirty="0"/>
          </a:p>
        </p:txBody>
      </p:sp>
      <p:sp>
        <p:nvSpPr>
          <p:cNvPr id="20" name="Text 18"/>
          <p:cNvSpPr txBox="1"/>
          <p:nvPr/>
        </p:nvSpPr>
        <p:spPr>
          <a:xfrm>
            <a:off x="6505956"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Many values over time</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async*, yield, await for, listen</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StreamController and broadcast</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4.2 - an order event stream</a:t>
            </a:r>
            <a:endParaRPr lang="en-US" sz="1200" dirty="0"/>
          </a:p>
        </p:txBody>
      </p:sp>
      <p:sp>
        <p:nvSpPr>
          <p:cNvPr id="21" name="Shape 19"/>
          <p:cNvSpPr/>
          <p:nvPr/>
        </p:nvSpPr>
        <p:spPr>
          <a:xfrm>
            <a:off x="9073134"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22" name="Shape 20"/>
          <p:cNvSpPr/>
          <p:nvPr/>
        </p:nvSpPr>
        <p:spPr>
          <a:xfrm>
            <a:off x="9347454" y="1600200"/>
            <a:ext cx="548640" cy="548640"/>
          </a:xfrm>
          <a:prstGeom prst="ellipse">
            <a:avLst/>
          </a:prstGeom>
          <a:solidFill>
            <a:srgbClr val="2A9D8F"/>
          </a:solidFill>
          <a:ln w="12700">
            <a:solidFill>
              <a:srgbClr val="2A9D8F"/>
            </a:solidFill>
            <a:prstDash val="solid"/>
          </a:ln>
        </p:spPr>
      </p:sp>
      <p:sp>
        <p:nvSpPr>
          <p:cNvPr id="23" name="Text 21"/>
          <p:cNvSpPr txBox="1"/>
          <p:nvPr/>
        </p:nvSpPr>
        <p:spPr>
          <a:xfrm>
            <a:off x="9347454"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10033254"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15:00 - 16:00</a:t>
            </a:r>
            <a:endParaRPr lang="en-US" sz="1000" dirty="0"/>
          </a:p>
        </p:txBody>
      </p:sp>
      <p:sp>
        <p:nvSpPr>
          <p:cNvPr id="25" name="Text 23"/>
          <p:cNvSpPr txBox="1"/>
          <p:nvPr/>
        </p:nvSpPr>
        <p:spPr>
          <a:xfrm>
            <a:off x="10033254"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Isolates</a:t>
            </a:r>
            <a:endParaRPr lang="en-US" sz="1500" dirty="0"/>
          </a:p>
        </p:txBody>
      </p:sp>
      <p:sp>
        <p:nvSpPr>
          <p:cNvPr id="26" name="Text 24"/>
          <p:cNvSpPr txBox="1"/>
          <p:nvPr/>
        </p:nvSpPr>
        <p:spPr>
          <a:xfrm>
            <a:off x="9347454"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No threads, no locks, no data races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compute, and when to use it</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The 16 millisecond budget</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4.3 - measuring the cost</a:t>
            </a:r>
            <a:endParaRPr lang="en-US" sz="1200" dirty="0"/>
          </a:p>
        </p:txBody>
      </p:sp>
      <p:sp>
        <p:nvSpPr>
          <p:cNvPr id="27" name="Text 2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28" name="Text 2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1  ·  09:15 - 10:30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Errors and exceptions</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Throw and catch, with on, catch, rethrow and finally</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Explain the difference between an Exception and an Error in Dart</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Design a sealed exception hierarchy and switch over it</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Know what the absence of checked exceptions costs you</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Throwing, and the absence of checked exceptions</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Throwing. Dart can throw ANY object, but by convention you</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throw something that implements Exception or Error.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throw Exception('An order needs at least one line');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throw ArgumentError('quantity must be positive');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throw StateError('Order already submitted');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throw FormatException('Not a valid SKU: $sku');</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THERE ARE NO CHECKED EXCEPTIONS. None. There is no throws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clause, nothing forces you to catch anything, and the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compiler will not warn you that a call can fail.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Java:   public Order submit(Order o) throws StockException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Dart:   Order submit(Order o)</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That is a real trade-off. You lose the compiler reminding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you, and you gain not having to wrap or declare exceptions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through five layers of call stack.</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There is no throws clause and nothing forces you to catch. That is a genuine trade-off and it is worth discussing honestly.</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try, on, catch, finally, rethrow</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loadOrder(String id)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try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order = fetch(id);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on FormatException catch (e)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`on` catches ONE type. This is Java's catch (FormatException 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print('Bad format: ${e.message}');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on ArgumentError catch (e, stackTrace)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A second parameter gives you the stack trace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print('Bad argument: $e');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print(stackTrace);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catch (e)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Bare catch takes anything at all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print('Something else: $e');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finally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Always runs, exactly as in Java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print('done');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RETHROW keeps the original stack trace. Using `throw 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inside a catch block RESETS it, which is the same mistake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as `throw e` versus `throw` in Java.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try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risky();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catch (e)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log(e);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rethrow;          // not: throw 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on catches one type, bare catch catches everything, and the second catch parameter gives you the stack trace.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Exception or Error: a line Java does not draw</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Dart draws a line that Java does not.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Exception: something went wrong that the program should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expect and handle. A network failure. A bad input. Out of</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stock. You catch these.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class OutOfStockException implements Exception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OutOfStockException(this.sku, this.requested, this.available);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String sku;</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int requested;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int available;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String toString() =&gt;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'Only $available of $sku available, $requested requested';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Error: a BUG. The programmer made a mistake. You should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NOT catch these; you should fix the code.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ArgumentError        caller passed nonsense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StateError           called at the wrong time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RangeError           index out of bounds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UnimplementedError   not written yet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AssertionError       an assert failed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practical rule: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throw an Exception for things the world does to you</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throw an Error for things a programmer did wrong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catch Exceptions; let Errors crash in development</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An Exception is something the world did to you and you should handle it. An Error is a bug, and you should fix the code rather than catch it.</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Sealed exceptions: failures you cannot forget to handle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custom exception hierarchy for the order domain.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Note: implements Exception, not extends. Exception is an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interface with almost nothing in 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sealed class OrderException implements Exception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OrderException(this.message);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String message;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@override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String toString() =&gt; message;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EmptyOrderException extends OrderException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EmptyOrderException() : super('An order needs at least one line');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Sealed exceptions: failures you cannot forget to handle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OutOfStockException extends OrderException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OutOfStockException(this.sku)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super('$sku is out of stock');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ApprovalRequiredException extends OrderException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ApprovalRequiredException(this.itemCount)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super('Orders over 500 units need manual approval');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int itemCount;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Because it is SEALED, you can switch over it exhaustively,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which is how you turn a failure into a message for the user.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String userMessage(OrderException e) =&gt; switch (e)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EmptyOrderException() =&gt; 'Add at least one item before submitting.',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OutOfStockException(:final sku) =&gt; 'Sorry, $sku is out of stock.',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ApprovalRequiredException() =&gt;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'This order needs a manager to approve 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Yesterday's sealed classes, applied to failure. The compiler now checks that every failure mode has a user-facing message.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assert: on in debug, gone in release</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assert only runs in DEBUG builds. It is stripped out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completely from a release build, so it costs nothing.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void setQuantity(int value)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assert(value &gt; 0, 'quantity must be positive, got $value');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_quantity = value;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Java's assert has to be enabled with -ea and almost nobody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does. Dart's is on by default in debug and off in release,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which is the behaviour people expected from Java's.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USE IT FOR: things that should be impossible if your own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code is correct. Internal invariants.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DO NOT USE IT FOR: validating user input or data from a</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server. Those must be checked in release too.</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Dart asserts are enabled in debug builds by default and stripped entirely from release builds, which is the behaviour Java developers expected from -ea.</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2  ·  10:45 - 12:30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Future and await</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Future, async and await for work that finishes later</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Handle failure with ordinary try and catch</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Run several futures at once with Future.wait, and know what that does not do</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Recognise the sequential-await trap</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Future, async, await</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Future&lt;T&gt; is CompletableFuture&lt;T&gt;. It represents a value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that is not here yet.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Future&lt;Order&gt; fetchOrder(String id) async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await Future.delayed(const Duration(milliseconds: 800));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(id.isEmpty) throw ArgumentError('id is required');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Order(id: id, customer: 'Acme Ltd', lines: const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async on a function means two things: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1. it returns a Future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2. you may use await inside 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await unwraps the Future and gives you the value.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Future&lt;void&gt; show() async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order = await fetchOrder('ORD-1042');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print(order.customer);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Java 8 equivalent, and why await is worth having: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CompletableFuture&lt;Order&gt; f = fetchOrder("ORD-1042");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f.thenApply(Order::getCustomer)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.thenAccept(System.out::println);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Making a Future without async</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ready = Future.value(42);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failed = Future&lt;int&gt;.error(Exception('nope'));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later = Future.delayed(const Duration(seconds: 1), () =&gt; 42);</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Future&lt;T&gt; is CompletableFuture&lt;T&gt;. async means the function returns a Future and may await inside. await unwraps one.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Handling failure</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Ordinary try and catch. No exceptionally, no handle, no</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CompletionException wrapping the real cause.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Future&lt;void&gt; submit(Order order) async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try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saved = await service.submit(order);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print('Saved ${saved.id}');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on OutOfStockException catch (e)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print('Out of stock: ${e.sku}');</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on OrderException catch (e)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print('Rejected: ${e.message}');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catch (e)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print('Unexpected: $e');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finally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print('finished');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catchError is the callback form. Prefer try and catch.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fetchOrder('x')</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.then((order) =&gt; print(order.id))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.catchError((e) =&gt; print('failed: $e'))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.whenComplete(() =&gt; print('done'));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UNAWAITED FUTURE TRAP:</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 exception in a Future nobody awaits becomes an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unhandled async error and can crash the app.</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you deliberately do not want to wait, say so:</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unawaited(logAnalytics(order));</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Ordinary try and catch around an await. No exceptionally, no handle, and no CompletionException hiding the real cause three layers down.</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Doing several things at once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Future.wait is CompletableFuture.allOf, and it returns the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results in 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results = await Future.wait([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fetchOrder('ORD-1'),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fetchOrder('ORD-2'),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fetchOrder('ORD-3'),</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print(results.length);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Three 800 ms calls finish in about 800 ms, not 2400 ms.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Prove 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sw = Stopwatch()..start();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await Future.wait([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fetchOrder('ORD-1'),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fetchOrder('ORD-2'),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fetchOrder('ORD-3'),</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print('${sw.elapsedMilliseconds} ms');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IMPORTANT: this is CONCURRENCY, not PARALLELISM. There is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still one thread. The three calls overlap because each one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is waiting on IO, and waiting does not use the thread.</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Doing several things at once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If ONE fails, the whole wait fails. To collect all results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including failures: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final settled = await Future.wait(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[fetchOrder('ORD-1'), fetchOrder('')],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eagerError: false,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).catchError((e) =&gt; &lt;Order&gt;[]);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First one to finish wins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final fastest = await Future.any([fetchOrder('a'), fetchOrder('b')]);</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Give up after a while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try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o = await fetchOrder('ORD-1')</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.timeout(const Duration(milliseconds: 300));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on TimeoutException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print('too slow');</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Three 800 ms calls finish in about 800 ms. This is concurrency, not parallelism: there is still exactly one thread.</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sequential-await trap</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SEQUENTIAL TRAP. This takes 2400 ms: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a = await fetchOrder('ORD-1');</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b = await fetchOrder('ORD-2');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c = await fetchOrder('ORD-3');</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This takes 800 ms: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results = await Future.wait([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fetchOrder('ORD-1'),</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fetchOrder('ORD-2'),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fetchOrder('ORD-3'),</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Await in a loop is the same trap, wearing a disguise: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for (final id in ids)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await fetchOrder(id);           // one after another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parallel version: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await Future.wait(ids.map(fetchOrder));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WHEN SEQUENTIAL IS CORRECT: when the second call needs the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first call's answer. Then await in order is exactly right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and there is nothing to optimise.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order = await fetchOrder(id);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invoice = await fetchInvoice(order.invoiceId);</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Three awaits in a row take three times as long. An await inside a loop is the same mistake wearing a disguise, and it is the most common performance bug in async code.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4.1</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The order service</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40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A sealed exception hierarchy, a user-message switch, an async OrderService with three failure modes, and a measured comparison of parallel against sequential.</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Fresh pad. Paste in your Day 3 code first: Order, OrderLine, OrderStatus and the sealed OrderState.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1 to 2: the sealed OrderException and its three subclasses.</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3: userMessage, an exhaustive switch turning each exception into a friendly sentence.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4: OrderService.submit, waiting 800 ms then applying the three rules.</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5: runFlow, printing Idle, Loading, then Loaded or Failed.</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6: run the flow for all four cases: good, empty, out of stock, over 500 units.</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7: time three parallel submits with Future.wait and a Stopwatch.</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8: time the same three sequentially and compare the two numbers.</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 timeout of 300 ms to one submit and catch TimeoutException.</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 retry that attempts submit twice before giving up, and think about which failures are worth retrying.</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Make submit take an optional delay parameter so the tests can run fast.</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3  ·  13:15 - 14:45</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Streams</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Explain the difference between a Future and a Stream</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Create a stream with async* and yield</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Consume a stream with await for and with listen</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a StreamController, and know why you must close it</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Stream is many values over time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Future gives you ONE value later.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Stream gives you MANY values over time.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Java 8 has nothing quite like it. Reactor's Flux and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RxJava's Observable are the closest, and a Stream is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considerably simpler than either.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Making one with async* and yield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Stream&lt;int&gt; countdown(int from) async*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for (var i = from; i &gt; 0; i--)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await Future.delayed(const Duration(milliseconds: 300));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yield i;</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Stream is many values over time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Consuming one with await for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Future&lt;void&gt; run() async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await for (final tick in countdown(3))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print(tick);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print('liftoff');</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 with listen, which does not block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sub = countdown(3).listen(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(value) =&gt; print('got $value'),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onError: (e) =&gt; print('error $e'),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onDone: () =&gt; print('finished'),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ALWAYS CANCEL a subscription you no longer need, or 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leaks. On Day 7 that happens in a widget's dispose method.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await sub.cancel();</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async* with yield produces one. await for consumes it like a loop, and listen consumes it without blocking.</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Transforming streams, and broadcast</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same operations you know from Iterable, but async.</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stream = countdown(10);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stream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.where((i) =&gt; i.isEven)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.map((i) =&gt; 'tick $i')</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.take(3)</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.listen(print);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Collecting a whole stream into a list, which waits for 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 finish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all = await countdown(3).toList();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Other useful ones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await countdown(3).first;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await countdown(3).length;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total = await countdown(3).fold&lt;int&gt;(0, (s, i) =&gt; s + i);</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anyBig = await countdown(3).any((i) =&gt; i &gt; 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SINGLE SUBSCRIPTION versus BROADCAST.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By default a stream can be listened to ONCE. Listening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twice throws. A broadcast stream allows many listeners.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broadcast = countdown(3).asBroadcastStream();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broadcast.listen((v) =&gt; print('a: $v'));</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broadcast.listen((v) =&gt; print('b: $v'));</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 same vocabulary as Iterable, but asynchronous, so every terminal operation returns a Future. And by default a stream accepts exactly one listener.</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StreamController: making a stream from anything</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StreamController is how you create a stream from events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that are not already a stream: a button, a socket, a queue.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OrderEvents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_controller = StreamController&lt;Order&gt;.broadcast();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The read side, handed out to anyone who wants to listen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Stream&lt;Order&gt; get stream =&gt; _controller.stream;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The write side, kept private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void submitted(Order order) =&gt; _controller.add(order);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void failed(Object error) =&gt; _controller.addError(error);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Future&lt;void&gt; dispose() =&gt; _controller.close();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events = OrderEvents();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events.stream.listen((o) =&gt; print('order ${o.id} submitted'));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events.submitted(order);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ALWAYS CLOSE THE CONTROLLER. An open controller with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listeners is a memory leak, and on Day 7 that means 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widget that stays alive after the screen is gone.</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Keep the controller private and expose only the stream. That gives you a read side and a write side, which is the whole pattern.</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4.2</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An order event stream</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35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A stream of OrderState values, consumed two ways, plus a broadcast StreamController with two listeners and a transformation chain.</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Continue in the same pad. Add import dart:async at the top.</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1: submitStream, an async* function yielding Loading, then Loaded or Failed.</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2: consume it with await for and print describe for each state.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3: consume it again with listen, using all three callbacks.</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4: the OrderEvents class wrapping a broadcast StreamController.</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5: attach two listeners, push two orders through, then dispose.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6: a chain over a ten-tick stream: keep the even ones, map to text, take three.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7: run each in turn and check against the expected output.</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Remove .broadcast() from the controller and see what the second listener does.</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Attach a listener AFTER pushing the first order and confirm it misses it.</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an error to the stream with addError and handle it in the listener.</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4  ·  15:00 - 16:00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Isolates, and the frame budget</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Explain why Dart has no shared-memory threads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Say what async and await do and do not give you</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compute to move CPU work off the UI thread</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State the frame budget and what exceeding it looks like</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No threads: one isolate, one thread, no shared memory</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model</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Dart has NO THREADS in the Java sense.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An isolate has its own memory and its own single thread.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Isolates cannot see each other's memory at all. They talk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by sending messages, and messages are COPIED.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Consequences: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no synchronized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no volatile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no locks, no deadlocks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no data races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no happens-before reasoning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An entire category of Java bug simply does not exist.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COST: you cannot hand a large object graph to another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isolate cheaply, because it is copied. For most app work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that is irrelevant. For genuinely large data it is a real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design constraint.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MISCONCEPTION TO KILL: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async and await do NOT give you another thread.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They yield the ONE thread while waiting on IO.</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your Dart code is busy computing, nothing else runs.</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Isolates do not share memory. They send copied messages. No synchronized, no volatile, no locks, no data races, and no deadlocks.</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compute: the one-line escape hatch</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 with Flutter</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import 'dart:convert';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import 'package:flutter/foundation.dart';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top-level or static function. It must be, because it has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 be sendable to another isolate.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List&lt;Order&gt; parseOrders(String body)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list = jsonDecode(body) as List&lt;dynamic&gt;;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list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.map((e) =&gt; Order.fromJson(e as Map&lt;String, dynamic&gt;))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.toList();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compute() runs it on a background isolate and gives you 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Future for the answer. One 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orders = await compute(parseOrders, responseBody);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WHEN TO REACH FOR 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JSON over roughly 100 KB</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image processing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encryption or hashing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any loop that runs for more than a few milliseconds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WHEN NOT TO:</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network calls. Those are already IO-bound, so await is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enough and compute would only add copying overhead.</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Pass a top-level function and its argument, get a Future back. Flutter starts an isolate, runs it, copies the answer home, and shuts it down.</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sixteen millisecond budget</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number that governs everything</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number that governs every decision on the UI thread.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60 frames per second  =  16.7 ms per frame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120 Hz display        =   8.3 ms per frame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That budget covers building your widgets, laying them out,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and painting them. Your own code shares 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200 ms JSON parse on the UI thread = 12 dropped frames,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and the user sees a visible stutter.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On a server, a slow method costs one request out of a pool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of two hundred. Here it costs the entire interface.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three answers, in order of preference: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1. do less work</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2. do it when the user is not watching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3. move it to another isolate with compute()</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Sixty frames per second gives you 16.7 milliseconds per frame, and that covers building, laying out and painting every widget on screen.</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4.3</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Measuring what blocking costs</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20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A deliberately slow calculation, timed, converted into dropped frames, and reasoned about out loud.</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Continue in the same pad. Copy the Lab 4.3 starter from the handbook.</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1: sumOfSquares, a plain loop from one to fifty million.</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2: time it with a Stopwatch and print the milliseconds.</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3: divide by 16.7 and print how many frames that is.</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4: say to the person next to you what the screen would be doing during that time.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5: write a comment saying which of the three answers applies here, and why.</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Wrap the call in an async function and await it. Confirm the timing does not change at all, and explain why.</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Reduce n until the result is under 16 milliseconds. That is your budget, in units of work.</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Write down one thing in your own systems that would need compute if you moved it here.</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9445752" y="-137160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548640"/>
            <a:ext cx="822960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Day 4 recap</a:t>
            </a:r>
            <a:endParaRPr lang="en-US" sz="3400" dirty="0"/>
          </a:p>
        </p:txBody>
      </p:sp>
      <p:sp>
        <p:nvSpPr>
          <p:cNvPr id="4" name="Text 2"/>
          <p:cNvSpPr txBox="1"/>
          <p:nvPr/>
        </p:nvSpPr>
        <p:spPr>
          <a:xfrm>
            <a:off x="548640" y="1554480"/>
            <a:ext cx="6583680" cy="411480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There are no checked exceptions. Document failure in the return type instead, which is what a sealed state does.</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on catches a type, catch takes anything, the second catch parameter is the stack trace, and rethrow preserves it.</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An Exception is something the world did to you. An Error is a bug. Catch the first, fix the second.</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A sealed exception hierarchy makes it impossible to ship a failure mode with no user-facing message.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Future is CompletableFuture, and await replaces every thenApply chain with straight-line code and ordinary try and catch.</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Future.wait overlaps waiting. Three 800 ms calls take 800 ms. Awaiting in a loop does not.</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A Stream is many values over time. async* and yield produce one; await for and listen consume one. Cancel and close, always.</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One isolate, one thread, no shared memory, no locks. async yields the thread; only compute moves work off it.</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Sixteen point seven milliseconds per frame is the budget for everything.</a:t>
            </a:r>
            <a:endParaRPr lang="en-US" sz="1500" dirty="0"/>
          </a:p>
        </p:txBody>
      </p:sp>
      <p:sp>
        <p:nvSpPr>
          <p:cNvPr id="5" name="Shape 3"/>
          <p:cNvSpPr/>
          <p:nvPr/>
        </p:nvSpPr>
        <p:spPr>
          <a:xfrm>
            <a:off x="7589520" y="1554480"/>
            <a:ext cx="4023360" cy="3840480"/>
          </a:xfrm>
          <a:prstGeom prst="roundRect">
            <a:avLst>
              <a:gd name="adj" fmla="val 2381"/>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818120" y="1691640"/>
            <a:ext cx="365760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Tomorrow</a:t>
            </a:r>
            <a:endParaRPr lang="en-US" sz="1100" dirty="0"/>
          </a:p>
        </p:txBody>
      </p:sp>
      <p:sp>
        <p:nvSpPr>
          <p:cNvPr id="7" name="Text 5"/>
          <p:cNvSpPr txBox="1"/>
          <p:nvPr/>
        </p:nvSpPr>
        <p:spPr>
          <a:xfrm>
            <a:off x="7818120" y="2103120"/>
            <a:ext cx="3657600" cy="31089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Everything is a widget</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The widget, element and render trees</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Stateless and stateful widgets, and setState</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The widget catalogue you will use daily</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Your order model, finally on a screen</a:t>
            </a:r>
            <a:endParaRPr lang="en-US" sz="13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011680" cy="292608"/>
          </a:xfrm>
          <a:prstGeom prst="roundRect">
            <a:avLst>
              <a:gd name="adj" fmla="val 50000"/>
            </a:avLst>
          </a:prstGeom>
          <a:solidFill>
            <a:srgbClr val="2E3440"/>
          </a:solidFill>
          <a:ln w="12700">
            <a:solidFill>
              <a:srgbClr val="2E3440"/>
            </a:solidFill>
            <a:prstDash val="solid"/>
          </a:ln>
        </p:spPr>
      </p:sp>
      <p:sp>
        <p:nvSpPr>
          <p:cNvPr id="3" name="Text 1"/>
          <p:cNvSpPr txBox="1"/>
          <p:nvPr/>
        </p:nvSpPr>
        <p:spPr>
          <a:xfrm>
            <a:off x="548640" y="457200"/>
            <a:ext cx="2011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READ &amp; BREAK DOWN</a:t>
            </a:r>
            <a:endParaRPr lang="en-US" sz="1000" dirty="0"/>
          </a:p>
        </p:txBody>
      </p:sp>
      <p:sp>
        <p:nvSpPr>
          <p:cNvPr id="4" name="Text 2"/>
          <p:cNvSpPr txBox="1"/>
          <p:nvPr/>
        </p:nvSpPr>
        <p:spPr>
          <a:xfrm>
            <a:off x="9811512" y="457200"/>
            <a:ext cx="1828800" cy="292608"/>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Homework · 20 min</a:t>
            </a:r>
            <a:endParaRPr lang="en-US" sz="1200" dirty="0"/>
          </a:p>
        </p:txBody>
      </p:sp>
      <p:sp>
        <p:nvSpPr>
          <p:cNvPr id="5" name="Text 3"/>
          <p:cNvSpPr txBox="1"/>
          <p:nvPr/>
        </p:nvSpPr>
        <p:spPr>
          <a:xfrm>
            <a:off x="548640" y="868680"/>
            <a:ext cx="11091672" cy="640080"/>
          </a:xfrm>
          <a:prstGeom prst="rect">
            <a:avLst/>
          </a:prstGeom>
          <a:noFill/>
          <a:ln/>
        </p:spPr>
        <p:txBody>
          <a:bodyPr wrap="square" lIns="0" tIns="0" rIns="0" bIns="0" rtlCol="0" anchor="ctr"/>
          <a:lstStyle/>
          <a:p>
            <a:pPr indent="0" marL="0">
              <a:buNone/>
            </a:pPr>
            <a:r>
              <a:rPr lang="en-US" sz="2800" b="1" dirty="0">
                <a:solidFill>
                  <a:srgbClr val="2E3440"/>
                </a:solidFill>
                <a:latin typeface="Calibri" pitchFamily="34" charset="0"/>
                <a:ea typeface="Calibri" pitchFamily="34" charset="-122"/>
                <a:cs typeface="Calibri" pitchFamily="34" charset="-120"/>
              </a:rPr>
              <a:t>Tonight: asynchronous programming</a:t>
            </a:r>
            <a:endParaRPr lang="en-US" sz="2800" dirty="0"/>
          </a:p>
        </p:txBody>
      </p:sp>
      <p:sp>
        <p:nvSpPr>
          <p:cNvPr id="6" name="Shape 4"/>
          <p:cNvSpPr/>
          <p:nvPr/>
        </p:nvSpPr>
        <p:spPr>
          <a:xfrm>
            <a:off x="548640" y="1691640"/>
            <a:ext cx="11091672" cy="960120"/>
          </a:xfrm>
          <a:prstGeom prst="roundRect">
            <a:avLst>
              <a:gd name="adj" fmla="val 9524"/>
            </a:avLst>
          </a:prstGeom>
          <a:solidFill>
            <a:srgbClr val="EAF0F7"/>
          </a:solidFill>
          <a:ln w="6350">
            <a:solidFill>
              <a:srgbClr val="EAF0F7"/>
            </a:solidFill>
            <a:prstDash val="solid"/>
          </a:ln>
          <a:effectLst>
            <a:outerShdw sx="100000" sy="100000" kx="0" ky="0" algn="bl" rotWithShape="0" blurRad="38100" dist="12700" dir="5400000">
              <a:srgbClr val="000000">
                <a:alpha val="8000"/>
              </a:srgbClr>
            </a:outerShdw>
          </a:effectLst>
        </p:spPr>
      </p:sp>
      <p:sp>
        <p:nvSpPr>
          <p:cNvPr id="7" name="Text 5"/>
          <p:cNvSpPr txBox="1"/>
          <p:nvPr/>
        </p:nvSpPr>
        <p:spPr>
          <a:xfrm>
            <a:off x="822960" y="1783080"/>
            <a:ext cx="10543032" cy="457200"/>
          </a:xfrm>
          <a:prstGeom prst="rect">
            <a:avLst/>
          </a:prstGeom>
          <a:noFill/>
          <a:ln/>
        </p:spPr>
        <p:txBody>
          <a:bodyPr wrap="square" lIns="0" tIns="0" rIns="0" bIns="0" rtlCol="0" anchor="ctr"/>
          <a:lstStyle/>
          <a:p>
            <a:pPr indent="0" marL="0">
              <a:buNone/>
            </a:pPr>
            <a:r>
              <a:rPr lang="en-US" sz="1800" b="1" dirty="0">
                <a:solidFill>
                  <a:srgbClr val="2E3440"/>
                </a:solidFill>
                <a:latin typeface="Courier New" pitchFamily="34" charset="0"/>
                <a:ea typeface="Courier New" pitchFamily="34" charset="-122"/>
                <a:cs typeface="Courier New" pitchFamily="34" charset="-120"/>
              </a:rPr>
              <a:t>dart.dev/libraries/async/async-await</a:t>
            </a:r>
            <a:endParaRPr lang="en-US" sz="1800" dirty="0"/>
          </a:p>
        </p:txBody>
      </p:sp>
      <p:sp>
        <p:nvSpPr>
          <p:cNvPr id="8" name="Text 6"/>
          <p:cNvSpPr txBox="1"/>
          <p:nvPr/>
        </p:nvSpPr>
        <p:spPr>
          <a:xfrm>
            <a:off x="822960" y="2212848"/>
            <a:ext cx="10543032" cy="365760"/>
          </a:xfrm>
          <a:prstGeom prst="rect">
            <a:avLst/>
          </a:prstGeom>
          <a:noFill/>
          <a:ln/>
        </p:spPr>
        <p:txBody>
          <a:bodyPr wrap="square" lIns="0" tIns="0" rIns="0" bIns="0" rtlCol="0" anchor="ctr"/>
          <a:lstStyle/>
          <a:p>
            <a:pPr indent="0" marL="0">
              <a:buNone/>
            </a:pPr>
            <a:r>
              <a:rPr lang="en-US" sz="1200" dirty="0">
                <a:solidFill>
                  <a:srgbClr val="646E7A"/>
                </a:solidFill>
                <a:latin typeface="Calibri" pitchFamily="34" charset="0"/>
                <a:ea typeface="Calibri" pitchFamily="34" charset="-122"/>
                <a:cs typeface="Calibri" pitchFamily="34" charset="-120"/>
              </a:rPr>
              <a:t>The whole page, then "Creating streams" from dart.dev/libraries/async/creating-streams (about 20 minutes)</a:t>
            </a:r>
            <a:endParaRPr lang="en-US" sz="1200" dirty="0"/>
          </a:p>
        </p:txBody>
      </p:sp>
      <p:sp>
        <p:nvSpPr>
          <p:cNvPr id="9" name="Text 7"/>
          <p:cNvSpPr txBox="1"/>
          <p:nvPr/>
        </p:nvSpPr>
        <p:spPr>
          <a:xfrm>
            <a:off x="548640" y="2880360"/>
            <a:ext cx="6655003" cy="365760"/>
          </a:xfrm>
          <a:prstGeom prst="rect">
            <a:avLst/>
          </a:prstGeom>
          <a:noFill/>
          <a:ln/>
        </p:spPr>
        <p:txBody>
          <a:bodyPr wrap="square" lIns="0" tIns="0" rIns="0" bIns="0" rtlCol="0" anchor="ctr"/>
          <a:lstStyle/>
          <a:p>
            <a:pPr indent="0" marL="0">
              <a:buNone/>
            </a:pPr>
            <a:r>
              <a:rPr lang="en-US" sz="1400" b="1" dirty="0">
                <a:solidFill>
                  <a:srgbClr val="2E3440"/>
                </a:solidFill>
                <a:latin typeface="Calibri" pitchFamily="34" charset="0"/>
                <a:ea typeface="Calibri" pitchFamily="34" charset="-122"/>
                <a:cs typeface="Calibri" pitchFamily="34" charset="-120"/>
              </a:rPr>
              <a:t>Answer these as you read</a:t>
            </a:r>
            <a:endParaRPr lang="en-US" sz="1400" dirty="0"/>
          </a:p>
        </p:txBody>
      </p:sp>
      <p:sp>
        <p:nvSpPr>
          <p:cNvPr id="10" name="Text 8"/>
          <p:cNvSpPr txBox="1"/>
          <p:nvPr/>
        </p:nvSpPr>
        <p:spPr>
          <a:xfrm>
            <a:off x="548640" y="3291840"/>
            <a:ext cx="6655003" cy="2743200"/>
          </a:xfrm>
          <a:prstGeom prst="rect">
            <a:avLst/>
          </a:prstGeom>
          <a:noFill/>
          <a:ln/>
        </p:spPr>
        <p:txBody>
          <a:bodyPr wrap="square" lIns="0" tIns="0" rIns="0" bIns="0" rtlCol="0" anchor="t"/>
          <a:lstStyle/>
          <a:p>
            <a:pPr marL="279400" indent="-279400">
              <a:spcAft>
                <a:spcPts val="800"/>
              </a:spcAft>
              <a:buSzPct val="100000"/>
              <a:buFont typeface="+mj-lt"/>
              <a:buAutoNum type="arabicPeriod" startAt="1"/>
            </a:pPr>
            <a:r>
              <a:rPr lang="en-US" sz="1400" dirty="0">
                <a:solidFill>
                  <a:srgbClr val="22272E"/>
                </a:solidFill>
                <a:latin typeface="Calibri" pitchFamily="34" charset="0"/>
                <a:ea typeface="Calibri" pitchFamily="34" charset="-122"/>
                <a:cs typeface="Calibri" pitchFamily="34" charset="-120"/>
              </a:rPr>
              <a:t>The page describes what happens when an async function runs before it hits its first await. What is it, and why might that matter?</a:t>
            </a:r>
            <a:endParaRPr lang="en-US" sz="1400" dirty="0"/>
          </a:p>
          <a:p>
            <a:pPr marL="279400" indent="-279400">
              <a:spcAft>
                <a:spcPts val="800"/>
              </a:spcAft>
              <a:buSzPct val="100000"/>
              <a:buFont typeface="+mj-lt"/>
              <a:buAutoNum type="arabicPeriod" startAt="1"/>
            </a:pPr>
            <a:r>
              <a:rPr lang="en-US" sz="1400" dirty="0">
                <a:solidFill>
                  <a:srgbClr val="22272E"/>
                </a:solidFill>
                <a:latin typeface="Calibri" pitchFamily="34" charset="0"/>
                <a:ea typeface="Calibri" pitchFamily="34" charset="-122"/>
                <a:cs typeface="Calibri" pitchFamily="34" charset="-120"/>
              </a:rPr>
              <a:t>Find the section on handling errors in async functions. What does it say about an error thrown before the first await?</a:t>
            </a:r>
            <a:endParaRPr lang="en-US" sz="1400" dirty="0"/>
          </a:p>
          <a:p>
            <a:pPr marL="279400" indent="-279400">
              <a:spcAft>
                <a:spcPts val="800"/>
              </a:spcAft>
              <a:buSzPct val="100000"/>
              <a:buFont typeface="+mj-lt"/>
              <a:buAutoNum type="arabicPeriod" startAt="1"/>
            </a:pPr>
            <a:r>
              <a:rPr lang="en-US" sz="1400" dirty="0">
                <a:solidFill>
                  <a:srgbClr val="22272E"/>
                </a:solidFill>
                <a:latin typeface="Calibri" pitchFamily="34" charset="0"/>
                <a:ea typeface="Calibri" pitchFamily="34" charset="-122"/>
                <a:cs typeface="Calibri" pitchFamily="34" charset="-120"/>
              </a:rPr>
              <a:t>In the streams page, find the difference between async* and a StreamController. When would you choose each?</a:t>
            </a:r>
            <a:endParaRPr lang="en-US" sz="1400" dirty="0"/>
          </a:p>
          <a:p>
            <a:pPr marL="279400" indent="-279400">
              <a:spcAft>
                <a:spcPts val="800"/>
              </a:spcAft>
              <a:buSzPct val="100000"/>
              <a:buFont typeface="+mj-lt"/>
              <a:buAutoNum type="arabicPeriod" startAt="1"/>
            </a:pPr>
            <a:r>
              <a:rPr lang="en-US" sz="1400" dirty="0">
                <a:solidFill>
                  <a:srgbClr val="22272E"/>
                </a:solidFill>
                <a:latin typeface="Calibri" pitchFamily="34" charset="0"/>
                <a:ea typeface="Calibri" pitchFamily="34" charset="-122"/>
                <a:cs typeface="Calibri" pitchFamily="34" charset="-120"/>
              </a:rPr>
              <a:t>Tomorrow is the first day of Flutter. Come with one question about anything from the last four days that is still unclear.</a:t>
            </a:r>
            <a:endParaRPr lang="en-US" sz="1400" dirty="0"/>
          </a:p>
        </p:txBody>
      </p:sp>
      <p:sp>
        <p:nvSpPr>
          <p:cNvPr id="11" name="Shape 9"/>
          <p:cNvSpPr/>
          <p:nvPr/>
        </p:nvSpPr>
        <p:spPr>
          <a:xfrm>
            <a:off x="7477963" y="2880360"/>
            <a:ext cx="4162349" cy="3154680"/>
          </a:xfrm>
          <a:prstGeom prst="roundRect">
            <a:avLst>
              <a:gd name="adj" fmla="val 2899"/>
            </a:avLst>
          </a:prstGeom>
          <a:solidFill>
            <a:srgbClr val="FBF6E3"/>
          </a:solidFill>
          <a:ln w="6350">
            <a:solidFill>
              <a:srgbClr val="FBF6E3"/>
            </a:solidFill>
            <a:prstDash val="solid"/>
          </a:ln>
          <a:effectLst>
            <a:outerShdw sx="100000" sy="100000" kx="0" ky="0" algn="bl" rotWithShape="0" blurRad="38100" dist="12700" dir="5400000">
              <a:srgbClr val="000000">
                <a:alpha val="8000"/>
              </a:srgbClr>
            </a:outerShdw>
          </a:effectLst>
        </p:spPr>
      </p:sp>
      <p:sp>
        <p:nvSpPr>
          <p:cNvPr id="12" name="Text 10"/>
          <p:cNvSpPr txBox="1"/>
          <p:nvPr/>
        </p:nvSpPr>
        <p:spPr>
          <a:xfrm>
            <a:off x="7706563" y="3017520"/>
            <a:ext cx="3705149" cy="365760"/>
          </a:xfrm>
          <a:prstGeom prst="rect">
            <a:avLst/>
          </a:prstGeom>
          <a:noFill/>
          <a:ln/>
        </p:spPr>
        <p:txBody>
          <a:bodyPr wrap="square" lIns="0" tIns="0" rIns="0" bIns="0" rtlCol="0" anchor="ctr"/>
          <a:lstStyle/>
          <a:p>
            <a:pPr indent="0" marL="0">
              <a:buNone/>
            </a:pPr>
            <a:r>
              <a:rPr lang="en-US" sz="1400" b="1" dirty="0">
                <a:solidFill>
                  <a:srgbClr val="2E3440"/>
                </a:solidFill>
                <a:latin typeface="Calibri" pitchFamily="34" charset="0"/>
                <a:ea typeface="Calibri" pitchFamily="34" charset="-122"/>
                <a:cs typeface="Calibri" pitchFamily="34" charset="-120"/>
              </a:rPr>
              <a:t>Then</a:t>
            </a:r>
            <a:endParaRPr lang="en-US" sz="1400" dirty="0"/>
          </a:p>
        </p:txBody>
      </p:sp>
      <p:sp>
        <p:nvSpPr>
          <p:cNvPr id="13" name="Text 11"/>
          <p:cNvSpPr txBox="1"/>
          <p:nvPr/>
        </p:nvSpPr>
        <p:spPr>
          <a:xfrm>
            <a:off x="7706563" y="3429000"/>
            <a:ext cx="3705149" cy="25146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22272E"/>
                </a:solidFill>
                <a:latin typeface="Calibri" pitchFamily="34" charset="0"/>
                <a:ea typeface="Calibri" pitchFamily="34" charset="-122"/>
                <a:cs typeface="Calibri" pitchFamily="34" charset="-120"/>
              </a:rPr>
              <a:t>09:00 tomorrow: the first three questions get three minutes each at the whiteboard.</a:t>
            </a:r>
            <a:endParaRPr lang="en-US" sz="1250" dirty="0"/>
          </a:p>
          <a:p>
            <a:pPr marL="177800" indent="-177800">
              <a:spcAft>
                <a:spcPts val="700"/>
              </a:spcAft>
              <a:buSzPct val="100000"/>
              <a:buChar char="•"/>
            </a:pPr>
            <a:r>
              <a:rPr lang="en-US" sz="1250" dirty="0">
                <a:solidFill>
                  <a:srgbClr val="22272E"/>
                </a:solidFill>
                <a:latin typeface="Calibri" pitchFamily="34" charset="0"/>
                <a:ea typeface="Calibri" pitchFamily="34" charset="-122"/>
                <a:cs typeface="Calibri" pitchFamily="34" charset="-120"/>
              </a:rPr>
              <a:t>Then we spend as long as it takes on question four before any Flutter starts.</a:t>
            </a:r>
            <a:endParaRPr lang="en-US" sz="125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PLAN B · When it breaks in class</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gridCol w="7320504"/>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If this happens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Do this instead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Somebody has lost their Day 3 code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Lab 3.2 solution from the Day 3 handbook, pasted at the top of a fresh pad. Three minutes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The checked exceptions debate runs long</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Give both sides for two minutes, land on "document failure in the return type", and whiteboard it as a Friday clinic item</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The no-threads conversation gets heated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Do not defend. Ask what problem they are trying to solve, then answer that specific problem. Usually the answer is compute, and it is one line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Future.wait timing does not show a difference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Check for await on each call INSIDE the list. Awaiting before you put it in the list makes them sequential, and finding that live is a good lesson</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The room is struggling with streams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Cut the transformation slide and Lab 4.2 down to TODO 1 to 3. They meet streams again on Day 7 in context</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You are behind at 15:00</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Lab 4.3 can be a five-minute projector demonstration. Do not skip it entirely; the frame budget number is needed on Day 5</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An async question you cannot answer</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dart.dev/libraries/async on the projector. The async-await page is unusually good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A9D8F"/>
        </a:solidFill>
      </p:bgPr>
    </p:bg>
    <p:spTree>
      <p:nvGrpSpPr>
        <p:cNvPr id="1" name=""/>
        <p:cNvGrpSpPr/>
        <p:nvPr/>
      </p:nvGrpSpPr>
      <p:grpSpPr>
        <a:xfrm>
          <a:off x="0" y="0"/>
          <a:ext cx="0" cy="0"/>
          <a:chOff x="0" y="0"/>
          <a:chExt cx="0" cy="0"/>
        </a:xfrm>
      </p:grpSpPr>
      <p:sp>
        <p:nvSpPr>
          <p:cNvPr id="2" name="Text 0"/>
          <p:cNvSpPr txBox="1"/>
          <p:nvPr/>
        </p:nvSpPr>
        <p:spPr>
          <a:xfrm>
            <a:off x="548640" y="2011680"/>
            <a:ext cx="7315200" cy="457200"/>
          </a:xfrm>
          <a:prstGeom prst="rect">
            <a:avLst/>
          </a:prstGeom>
          <a:noFill/>
          <a:ln/>
        </p:spPr>
        <p:txBody>
          <a:bodyPr wrap="square" lIns="0" tIns="0" rIns="0" bIns="0" rtlCol="0" anchor="ctr"/>
          <a:lstStyle/>
          <a:p>
            <a:pPr indent="0" marL="0">
              <a:buNone/>
            </a:pPr>
            <a:r>
              <a:rPr lang="en-US" sz="1400" spc="400" kern="0" dirty="0">
                <a:solidFill>
                  <a:srgbClr val="2E3440"/>
                </a:solidFill>
                <a:latin typeface="Calibri" pitchFamily="34" charset="0"/>
                <a:ea typeface="Calibri" pitchFamily="34" charset="-122"/>
                <a:cs typeface="Calibri" pitchFamily="34" charset="-120"/>
              </a:rPr>
              <a:t>APPENDIX</a:t>
            </a:r>
            <a:endParaRPr lang="en-US" sz="1400" dirty="0"/>
          </a:p>
        </p:txBody>
      </p:sp>
      <p:sp>
        <p:nvSpPr>
          <p:cNvPr id="3" name="Text 1"/>
          <p:cNvSpPr txBox="1"/>
          <p:nvPr/>
        </p:nvSpPr>
        <p:spPr>
          <a:xfrm>
            <a:off x="548640" y="2468880"/>
            <a:ext cx="10058400" cy="1097280"/>
          </a:xfrm>
          <a:prstGeom prst="rect">
            <a:avLst/>
          </a:prstGeom>
          <a:noFill/>
          <a:ln/>
        </p:spPr>
        <p:txBody>
          <a:bodyPr wrap="square" lIns="0" tIns="0" rIns="0" bIns="0" rtlCol="0" anchor="ctr"/>
          <a:lstStyle/>
          <a:p>
            <a:pPr indent="0" marL="0">
              <a:buNone/>
            </a:pPr>
            <a:r>
              <a:rPr lang="en-US" sz="4000" b="1" dirty="0">
                <a:solidFill>
                  <a:srgbClr val="2E3440"/>
                </a:solidFill>
                <a:latin typeface="Calibri" pitchFamily="34" charset="0"/>
                <a:ea typeface="Calibri" pitchFamily="34" charset="-122"/>
                <a:cs typeface="Calibri" pitchFamily="34" charset="-120"/>
              </a:rPr>
              <a:t>Day 4 reference</a:t>
            </a:r>
            <a:endParaRPr lang="en-US" sz="4000" dirty="0"/>
          </a:p>
        </p:txBody>
      </p:sp>
      <p:sp>
        <p:nvSpPr>
          <p:cNvPr id="4" name="Text 2"/>
          <p:cNvSpPr txBox="1"/>
          <p:nvPr/>
        </p:nvSpPr>
        <p:spPr>
          <a:xfrm>
            <a:off x="548640" y="3566160"/>
            <a:ext cx="10058400" cy="731520"/>
          </a:xfrm>
          <a:prstGeom prst="rect">
            <a:avLst/>
          </a:prstGeom>
          <a:noFill/>
          <a:ln/>
        </p:spPr>
        <p:txBody>
          <a:bodyPr wrap="square" lIns="0" tIns="0" rIns="0" bIns="0" rtlCol="0" anchor="ctr"/>
          <a:lstStyle/>
          <a:p>
            <a:pPr indent="0" marL="0">
              <a:buNone/>
            </a:pPr>
            <a:r>
              <a:rPr lang="en-US" sz="1600" dirty="0">
                <a:solidFill>
                  <a:srgbClr val="2E3440"/>
                </a:solidFill>
                <a:latin typeface="Calibri" pitchFamily="34" charset="0"/>
                <a:ea typeface="Calibri" pitchFamily="34" charset="-122"/>
                <a:cs typeface="Calibri" pitchFamily="34" charset="-120"/>
              </a:rPr>
              <a:t>A · Lab 4.1   B · Lab 4.2   C · Lab 4.3   D · Async cheat sheet   E · Troubleshooting   F · Links</a:t>
            </a:r>
            <a:endParaRPr lang="en-US" sz="1600" dirty="0"/>
          </a:p>
        </p:txBody>
      </p:sp>
      <p:sp>
        <p:nvSpPr>
          <p:cNvPr id="5" name="Text 3"/>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6" name="Text 4"/>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4.1 starter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LAB 4.1 STARTER - dartpad.dev</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Paste in your Day 3 Order, OrderLine, OrderStatus and the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sealed OrderState first.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1: a sealed class OrderException implements Exception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with a final String message and toString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2: three subclasses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EmptyOrderException       'An order needs at least one line'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OutOfStockException(sku)  '&lt;sku&gt; is out of stock'</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ApprovalRequiredException 'Orders over 500 units need approval'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3: String userMessage(OrderException e) using an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exhaustive switch, returning a friendly sentence</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4.1 starter  (2/2)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4: a class OrderService with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Future&lt;Order&gt; submit(Order 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that waits 800 ms, then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throws EmptyOrderException if there are no lines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throws ApprovalRequiredException if itemCount &gt; 500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throws OutOfStockException('SKU-9') if any line uses SKU-9</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otherwise returns a copy with status submitted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5: Future&lt;void&gt; runFlow(Order order) that prints the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Idle and Loading descriptions, awaits submit, then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 Loaded or Failed using your userMessage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void main() async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TODO 6: run the flow for a good order, an empty 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an order with SKU-9, and an order of 600 units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TODO 7: time three parallel submits with Future.wait and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 Stopwatch, and print the milliseconds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TODO 8: time the same three sequentially and compare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4.1 solution  (1/5)</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sealed class OrderException implements Exception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OrderException(this.message);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message;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String toString() =&gt; message;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EmptyOrderException extends OrderException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EmptyOrderException() : super('An order needs at least one 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OutOfStockException extends OrderException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OutOfStockException(this.sku) : super('out of stock');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ApprovalRequiredException extends OrderException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ApprovalRequiredException()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super('Orders over 500 units need manual approval');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4.1 solution  (2/5)</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String userMessage(OrderException e) =&gt; switch (e)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EmptyOrderException() =&gt; 'Add at least one item before submitting.',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OutOfStockException(:final sku) =&gt; 'Sorry, $sku is out of stock.',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ApprovalRequiredException() =&gt;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'This order needs a manager to approve 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OrderService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Future&lt;Order&gt; submit(Order order) async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await Future.delayed(const Duration(milliseconds: 800));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(order.lines.isEmpty) throw const EmptyOrderException();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(order.itemCount &gt; 500) throw const ApprovalRequiredException();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(order.lines.any((l) =&gt; l.sku == 'SKU-9'))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throw const OutOfStockException('SKU-9');</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order.copyWith(status: OrderStatus.submitted);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4.1 solution  (3/5)</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Future&lt;void&gt; runFlow(Order order) async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print(describe(const OrderIdle()));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print(describe(const OrderLoading()));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try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saved = await OrderService().submit(order);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print(describe(OrderLoaded(saved)));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on OrderException catch (e)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print(describe(OrderFailed(userMessage(e))));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async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good =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id: 'ORD-1042',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customer: 'Acme Ltd',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lines: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'SKU-1', description: 'Widget', quantity: 40, unitPrice: 250),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empty = Order(id: 'ORD-1043', customer: 'Beta Co', lines: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missing =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id: 'ORD-1044',</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customer: 'Gamma',</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4.1 solution  (4/5)</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lines: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OrderLine(sku: 'SKU-9', description: 'Ghost', quantity: 1, unitPrice: 10),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huge = 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id: 'ORD-1045',</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customer: 'Delta',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lines: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OrderLine(sku: 'SKU-1', description: 'Widget', quantity: 600, unitPrice: 250),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await runFlow(good);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await runFlow(empty);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await runFlow(missing);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await runFlow(huge);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parallel = Stopwatch()..start();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await Future.wait([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OrderService().submit(good),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OrderService().submit(good),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OrderService().submit(good),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print('parallel   ${parallel.elapsedMilliseconds} ms');</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4.1 solution  (5/5)</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serial = Stopwatch()..start();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await OrderService().submit(good);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await OrderService().submit(good);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await OrderService().submit(good);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print('sequential ${serial.elapsedMilliseconds} ms');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Expected: parallel about 800 ms, sequential about 2400 ms.</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Parallel about 800 ms, sequential about 2400 ms. Those two numbers are the lesson.</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4.2 starter</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 4.2 STARTER - continue in the same pad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import 'dart:async';</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1: a Stream&lt;OrderState&gt; function using async* that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yields OrderLoading, waits 800 ms, then yields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OrderLoaded or OrderFailed. Call it submitStream.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2: consume it with await for and print describe() for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each state that arrives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3: consume it again with listen, printing on data,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 error and on done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4: a class OrderEvents wrapping 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StreamController&lt;Order&gt;.broadcast() with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Stream&lt;Order&gt; get stream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void submitted(Order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Future&lt;void&gt; dispose()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5: attach TWO listeners to the broadcast stream, push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two orders through it, then dispose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6: take a stream of ten ticks, keep only the even ones,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map them to text, take the first three, and print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async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TODO 7: run each of the above in turn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4.2 solution  (1/3)</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import 'dart:async';</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Stream&lt;OrderState&gt; submitStream(Order order) async*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yield const OrderLoading();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await Future.delayed(const Duration(milliseconds: 800));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try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saved = await OrderService().submit(order);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yield OrderLoaded(saved);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on OrderException catch (e)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yield OrderFailed(userMessage(e));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Stream&lt;int&gt; ticks(int count) async*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for (var i = 1; i &lt;= count; i++)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await Future.delayed(const Duration(milliseconds: 50));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yield i;</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OrderEvents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_controller = StreamController&lt;Order&gt;.broadcast();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Stream&lt;Order&gt; get stream =&gt; _controller.stream;</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4.2 solution  (2/3)</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void submitted(Order order) =&gt; _controller.add(order);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Future&lt;void&gt; dispose() =&gt; _controller.close();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async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good =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id: 'ORD-1042',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customer: 'Acme Ltd',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lines: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'SKU-1', description: 'Widget', quantity: 40, unitPrice: 250),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await for (final state in submitStream(good))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print('await for: ${describe(state)}');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sub = submitStream(good).listen(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(state) =&gt; print('listen: ${describe(state)}'),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onError: (e) =&gt; print('listen error: $e'),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onDone: () =&gt; print('listen done'),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await sub.asFuture&lt;void&gt;();</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4.2 solution  (3/3)</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events = OrderEvents();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events.stream.listen((o) =&gt; print('listener A: ${o.id}'));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events.stream.listen((o) =&gt; print('listener B: ${o.id}'));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events.submitted(good);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events.submitted(good.copyWith(id: 'ORD-1043'));</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await Future.delayed(const Duration(milliseconds: 50));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await events.dispose();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labels = await ticks(10)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.where((i) =&gt; i.isEven)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.map((i) =&gt; 'tick $i')</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.take(3)</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.toList();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print(labels);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Expected tail: [tick 2, tick 4, tick 6]</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4.3 starter and solution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 4.3 STARTER - continue in the same pad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1: a top-level function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int sumOfSquares(int 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that loops from 1 to n adding i*i. Make n large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enough to take a noticeable moment, around 50 million.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2: time it with a Stopwatch and print the milliseconds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3: explain to your neighbour, out loud, what would be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happening to the user interface during that time if</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this were running in a Flutter app</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4: write a comment saying which of the three answers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applies here: do less work, do it later, or move 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 another isolate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NOTE: compute() lives in package:flutter/foundation.dart, so</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it is not available in a plain DartPad. On Day 8 you will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call the real thing. Today the point is the measurement and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reasoning, not the API.</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TODO 5: run it and read the number out loud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SOLUTION ----------</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4.3 starter and solution  (2/2)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int sumOfSquares(int 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var total = 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for (var i = 1; i &lt;= n; i++)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total += i * i;</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total;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sw = Stopwatch()..start();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result = sumOfSquares(50000000);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sw.stop();</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print('result $result');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print('took   ${sw.elapsedMilliseconds} ms');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print('frames dropped at 60fps: ${(sw.elapsedMilliseconds / 16.7).round()}');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Answer to TODO 4: this is pure computation with no IO, so</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await would not help at all. The right answer is to move 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to another isolate with compute(). On a real screen the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interface would be completely frozen for the whole duration: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no scrolling, no taps, no animation.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typical result is several hundred milliseconds, which is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tens of dropped frames. Read the frames-dropped number out.</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 · Async cheat sheet: Java to Dart</a:t>
            </a:r>
            <a:endParaRPr lang="en-US" sz="30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gridCol w="3327502"/>
                <a:gridCol w="3993002"/>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Java 8</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Dart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Note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CompletableFuture&lt;T&gt;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Future&lt;T&gt;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Same idea</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completedFuture(v)</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Future.value(v)</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failedFuture(e)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Future.error(e)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thenApply(f)</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await then use it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Straight-line code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thenCompose(f)</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await twice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No flattening needed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allOf(...)</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Future.wait([...])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Returns results in order</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anyOf(...)</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Future.any([...])</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First to finish</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exceptionally(f)</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try / catch</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No wrapper exception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whenComplete(f)</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finally</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orTimeout(...)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.timeout(...)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Throws TimeoutException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get() / join()</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await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Never blocks a thread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Reactor Flux</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Stream&lt;T&gt;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Much simpler</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Flux.create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StreamController</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Close it, always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subscribe(...)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.listen(...)</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Cancel it, always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Thread / executor</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isolate / compute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No shared memory</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synchronized</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nothing</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Not needed. No shared memory</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throws IOException</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nothing</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No checked exceptions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throw e in a catch</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rethrow</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Preserves the stack trace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 · Troubleshooting: symptom to fix</a:t>
            </a:r>
            <a:endParaRPr lang="en-US" sz="3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gridCol w="3105668"/>
                <a:gridCol w="4214835"/>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Symptom</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Cause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Fix</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Prints Instance of 'Future'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Missing await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Add await, and make the caller async</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await is only allowed in async functions</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Function not marked async</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Add async before the body</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Nothing prints and the program exits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main not awaited or not async</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void main() async and await your calls</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Unhandled exception after everything else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 Future nobody awaited threw</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Await it, or wrap in unawaited()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Parallel code is as slow as sequential</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await inside the list literal</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Put the CALLS in the list, await the wait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Bad state: Stream has already been listened to</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Second listener on a single-subscription stream</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Use .broadcast() or asBroadcastStream()</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A listener receives nothing</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Attached after the events were emitted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Broadcast streams do not replay. Listen first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StreamController never finishes</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Never closed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Call close(), usually in dispose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TimeoutException in a lab</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The timeout is shorter than the fake delay</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That is the point. Catch it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compute will not accept the function</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Closure or instance method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It must be top-level or static</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Stack trace is short and useless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throw e inside a catch</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Use rethrow</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Async code blocks the UI anyway</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CPU work, not IO</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await does not help. Use compute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Undefined class StreamController</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Missing import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import 'dart:async';</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F · Links used today</a:t>
            </a:r>
            <a:endParaRPr lang="en-US" sz="30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327502"/>
                <a:gridCol w="776417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Topic</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Link</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Error handling</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dart.dev/language/error-handling</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Exception class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api.dart.dev/dart-core/Exception-class.html</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Asynchronous programming</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dart.dev/libraries/async/async-await</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Futures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dart.dev/libraries/async/futures-error-handling</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Streams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dart.dev/libraries/async/using-streams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Creating streams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dart.dev/libraries/async/creating-streams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Concurrency and isolates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dart.dev/language/concurrency</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compute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api.flutter.dev/flutter/foundation/compute.html</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Effective Dart, usage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dart.dev/effective-dart/usage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Homework</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dart.dev/libraries/async/async-await</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4 - Errors, Async and Isolates</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Flutter for Java Developers - Day 4</dc:title>
  <dc:subject>Flutter Mobile Development for Java Developers</dc:subject>
  <dc:creator>Flutter for Java Developers</dc:creator>
  <cp:lastModifiedBy>Flutter for Java Developers</cp:lastModifiedBy>
  <cp:revision>1</cp:revision>
  <dcterms:created xsi:type="dcterms:W3CDTF">2026-09-11T06:11:48Z</dcterms:created>
  <dcterms:modified xsi:type="dcterms:W3CDTF">2026-09-11T06:11:48Z</dcterms:modified>
</cp:coreProperties>
</file>