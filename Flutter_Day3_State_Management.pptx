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Yesterday you built a real form and two brands, with the brand living in a State object at the root and threaded down by hand. Today we fix that properly, and by 16:00 the quote flow runs idle → loading → loaded/failed through a Riverpod notifier, with the service injected and testable without a widget.
OPENER: two delegates present homework Q1 (classify state) and Q3 (why Riverpod) at the whiteboard. Then slide 3.
PRESENTER CHECKLIST: emulator running; Day 2 app finished, building and committed; flutter_riverpod resolved and pinned in pubspec (run flutter pub get BEFORE class, venue Wi-Fi is not to be trusted); DevTools open; ProviderScope retry disabled in main for demos (see Riverpod 3 notes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day has a shape: problem (block 1), the course pattern (block 2), the wider landscape (block 3), and the refactor that proves it (block 4).
TIMING: block 2 is the core. If block 1 runs long, skip the ValueNotifier slide (it is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After the two delegates present. Confirm the classification of yesterday's four examples: form field text = ephemeral (stays in CaptureForm State); brand = app; last quote = app; dark mode = system, read via MediaQuery/ThemeMode, not stored.
Write the three categories on the whiteboard and leave them there all day; every decision today is "which column?"
Riverpod's why (Q3): compile-time safety, no BuildContext needed, testable, combine providers, autoDispose. Confirm the two they picked and say which two YOU would pick for insurance: testability (pricing logic without widgets) and no runtime ProviderNotFound.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Build the problem before the solution. The room is senior; they will accept Riverpod much faster if they have seen the failure mode of the naive approach on their own code from yesterday.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Open yesterday's app.dart on the projector. Count the hops: QuoteApp → CaptureScreen → AppBar action. Now imagine a SettingsScreen and a ResultScreen that both need the brand. That is three more parameter pairs and setState at the root rebuilding MaterialApp every time.
React people: same story as useState in App.js with props drilled down; you reached for Context, then Redux/Zustand. Angular people: the equivalent is passing @Input/@Output through five components instead of injecting a service.
Do not bash setState. It is correct for ephemeral state and we keep using it inside CaptureForm.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on the mechanism, so Provider and Riverpod are not magic. Show BrandScope: provide it once above MaterialApp, read it with BrandScope.of(context) in the header. Hot reload. Then ask "how does the AppBar button CHANGE the brand?" - it cannot; InheritedWidget is read-only from below. That is the gap.
Angular mapping: InheritedWidget ≈ a value provided in the injector tree; Riverpod ≈ injectable services with observables.
Do not have them build this in a lab - it is understanding, not a pattern we use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You will meet all three in existing codebases and Stack Overflow answers, so know them. ValueNotifier for one value; ChangeNotifier for an object; Provider to make a ChangeNotifier available via context.
PROVIDER CODE: Appendix A. Show it for 60 seconds so context.watch looks familiar, then say the three reasons we use Riverpod instead: no BuildContext dependency (usable in services and tests), compile-time safety (a provider is a global final, cannot be "not found"), immutable state by convention.
A senior dev may say "Provider is enough for us." Fair. Answer: for a small app, yes; for a multi-brand insurance platform with a pricing engine you want to unit test, Riverpod's testability pays for itself in week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official doc teaches Provider. Reading it right before Riverpod lets them see Riverpod as "Provider with the sharp edges removed", not as a rival religion.
EXPECTED: Q1 above MaterialApp (as high as needed, as low as possible) - same for brand key. Q2 Consumer/watch rebuilds on change (header); Provider.of listen:false / read for callbacks (toggle). Q3 a new model every rebuild - state resets and listeners leak. Q4 async loading/error modelling, DI of services, testing without widgets, disposing scoped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course pattern. Everything from here to Friday uses it. Go slowly on watch vs read - that is the mistake everyone makes in week one.
VERSION: the course is built on flutter_riverpod 3.x. If the room resolved 2.x for some reason, the Notifier/NotifierProvider code on these slides is identical; the differences are on the "Riverpod 3 behaviours"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Two commands and one wrapper. Both OS identical.
"Global variables?" - the question will come. Answer: the provider is a global DESCRIPTION (like a route definition); the state is created lazily inside ProviderScope and can be overridden per scope (tests, per-brand). Nothing is shared between scopes.
VENUE WI-FI: pub add downloads packages. If the room's network is slow, you pre-warmed the pub cache on the USB stick: copy into ~/.pub-cache (mac) or %LOCALAPPDATA%\Pub\Cache (win), then flutter pub get resolves offline with --offline flag: flutter pub get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is yesterday's brand toggle as two providers. BrandKeyNotifier holds the key and exposes toggle(). brandProvider derives the BrandTheme; it is read-only and recomputes only on key change.
IMMUTABILITY: state = newValue. For a list, state = [...state, item]; for an object, state = state.copyWith(...). If you mutate in place and do not reassign, Riverpod sees the same reference (well, same == value in 3.x) and nothing rebuilds. This is the #1 support question.
Angular: Notifier ≈ a service holding a BehaviorSubject; Provider ≈ a computed observable. React: Notifier ≈ a Zustand store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Compare with yesterday's app.dart side by side (previous slide's code is still in the deck; flip back). No State class, no callback parameters, CaptureScreen takes nothing. The AppBar button reads the notifier and calls toggle(); the header watches brandProvider and rebuilds.
DEMO: make this change live on your finished Day 2 app - it is 20 lines and the toggle keeps working. That is the Lab 3.1 solution, which they then reproduce.
IMPORT: flutter_riverpod/flutter_riverpod.dart gives you ProviderScope, ConsumerWidget, WidgetRef and the providers. Do not import package:riverpod directly in Flutter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ns2:creationId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Slow down. Four verbs, one rule each. The bug you will see today: someone writes ref.read(brandProvider) in build, hot reloads, and the header never updates on toggle. Show it on purpose: change watch to read in the header, toggle, nothing happens, change back.
listen: we use it this afternoon to show a SnackBar when the quote fails - the classic "side effect on state change" that must not live in build's return value.
select: mention, use in the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For the C#/Angular people this is the slide that lands: providers are the DI container. Interface, implementation, registration, override in tests. No reflection, no annotations, compile-time checked.
The fake service is the one from Day 1 Lab 1.3 with a small change (id from timestamp). Keep it - it is the offline fallback all week if an API is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35 min. Walk with one question: "watch or read - and why?"
COMMON ERRORS: "ProviderScope not found" / "No ProviderScope found" → main.dart not wrapped or hot reload instead of restart. "The argument type 'WidgetRef' can't be assigned" → still a StatelessWidget, change to ConsumerWidget. Toggle does nothing → ref.read in build. "Undefined name 'ref'" in a State class → must be ConsumerState, not State.
PUB GET FAILURE (network): flutter pub get --offline after copying the pre-warmed cache; or share the .pub-cache folder over the LAN.
SOLUTION: Appendix C, and the Lab 3.1 section of the delegate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ns2:creationId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Two halves. First, async in Riverpod - the shape this afternoon's refactor uses. Second, Bloc awareness with an honest comparison; some of these developers will join teams that use Bloc.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is the heart of Lab 3.2. Sealed state from Day 1, a Notifier with two methods, the service read from a provider. Emphasise: the UI never sees an exception; the notifier turns it into QuoteFailed with a message.
Exception message cleanup: Dart's Exception.toString() is "Exception: text"; the replaceFirst strips the prefix for display. On Day 4 with dio we map DioException to friendlier messages.
Why not AsyncNotifier here? Because our state has a fourth case (Idle) and a domain meaning. Next slide shows when AsyncNotifier is the better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Three things on this slide: ref.watch for the state, a switch expression that is exhaustive (add QuoteExpired later and this fails to compile until handled), and ref.listen for the SnackBar - a side effect, so it is not part of the returned widget tree.
CaptureForm gains an enabled flag (Appendix D) so the button shows a spinner and disables during loading. That is how you prevent double submits.
ref.listen must be called inside build (before return) - it registers per build and Riverpod dedupes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Tomorrow's saved quotes list is exactly this: the state is the list from SQLite, so AsyncNotifier fits and the UI uses when(). AsyncValue.guard catches exceptions into AsyncError so the notifier never throws.
Show .when() and say it is a switch expression on AsyncValue; you can also pattern-match: switch (async) { AsyncData(:final value) =&gt; ..., AsyncError(:final error) =&gt; ..., _ =&gt; loading }.
quoteRepositoryProvider does not exist yet - Day 4 creates it. Today the code is read-only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Reference-level; the stretch lane uses it. family: Day 4's quote detail route (quote/:id) will watch quoteByIdProvider(id).
RIVERPOD 3 CHANGE: FamilyNotifier/AutoDisposeNotifier classes are gone; family arg moves to the notifier constructor and autoDispose is a modifier on the provider. If a delegate finds 2.x tutorials online, the build(String id) signature is the old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five things that make a 2.x tutorial not compile, or make a demo look broken. The retry is the one that bites in class: your FakeQuoteService throws for year &lt; 2000, and with retry on, a FutureProvider would silently re-run. Our sealed Notifier catches exceptions itself so it is unaffected, but AsyncNotifier build() failures ARE retried. Disable for the demo with retry: (count, error) =&gt; null on ProviderScope, re-enable for production.
LINK: riverpod.dev/docs/3.0_migration - put it in the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One test, and it is the argument for the whole architecture. Run it live: flutter test test/quote_notifier_test.dart. Both OS identical.
addTearDown(container.dispose) - always, or providers leak across tests.
fireImmediately: true captures the initial Idle state so the sequence assertion includes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some of these people will join Bloc codebases. They need to read Bloc fluently and to be able to explain the trade-off to a lead. A structured debate makes them own the comparison.
EXPECTED: Q1 Cubit = state + methods that emit; Bloc = events in, states out via handlers; Bloc has events (traceability, transformations like debounce). Q2 global hook for every event/transition/error - audit log, analytics, crash context; insurers like audit trails. Q3 presentation = presentation/, business logic = notifiers/cubits, data = data/ + domain/. Q4 typical: explicit events for audit, enforced structure for large teams, mature tooling (bloc_test, hydrated_bloc), widely known.
PRESENTER: do not take sides in the debate; the table on the next-next slide is your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Put it next to QuoteNotifier: identical structure. Cubit.emit == Notifier.state =. Bloc adds the event layer. That is the whole difference in code; the rest is ecosystem and team preference.
Full Bloc with BlocObserver and the Riverpod ProviderObserver equivalent are in Appendix B - show them if the audit question comes up (it will).
Do NOT build this in a lab. Awareness only, per the course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Your position: either is production-grade; consistency across the codebase matters more than the choice. For this team (five developers, new to Flutter, pricing logic to test) Riverpod's lower ceremony wins. If the insurer's compliance team demands an event log, ProviderObserver gives state transitions; Bloc gives events too - that is the one concrete reason to pick Bloc here.
Also mention: Riverpod has a code-generation flavour (riverpod_generator, @riverpod annotations) that removes more boilerplate; we teach the plain API so they understand what the generator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is the day's proof. Give the lab the full 60 minutes; the recap is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Draw the arrow on the whiteboard: UI → notifier → service. Say the rule: the notifier file must not import package:flutter/material.dart. If it does, you have leaked UI into logic.
This diagram is also tomorrow's starting point: the service gets a dio implementation and a repository gets added beside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60 min. Everyone must reach step 5; steps 6-8 are the quality bar.
COMMON ERRORS: "The switch expression isn't exhaustive" → a state missing (good - that is the feature). "ref isn't defined" → State instead of ConsumerState. Spinner never stops → exception not caught in submit (check try/catch) or the service is awaited outside try. SnackBar shows twice → ref.listen placed in a builder that runs twice; keep it at the top of build. Test hangs → forgot await on submit, or the fake's delay is real (fine, 1.2 s).
RETRY CONFUSION: if someone used a FutureProvider for the quote and sees repeated calls in the log, that is Riverpod 3 retry - point to the behaviours slide.
FLUTTER TEST ON WINDOWS: identical command. If "No tests ran" → file must end in _test.dart under test/.
SOLUTION: Appendix D, and the Lab 3.2 section of the delegate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ns2:creationId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tomorrow's first block is navigation and the survey is uneven (1 to 5). The reading levels it.
EXPECTED: Q1 go replaces the stack (deep-link semantics, tabs); push adds a page (detail from a list). Q2 '/quote/:id' → state.pathParameters['id']. Q3 a function (context, state) → String? that returns a new location or null; check an onboarding flag. Q4 a route wrapper that keeps a persistent scaffold (bottom nav) while child routes change; Quote / Saved / Settings tabs.
LINK CHECK: the go_router docs URL moves occasionally; pub.dev/packages/go_router always has the current link at the top of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recap, homework slide, Q&amp;A. Ask: "What would you have to change to add a fifth state, QuoteExpired?" - the answer (one class, then fix every compile error) is the day's lesson in one sentence.
PRESENTER: tonight, deploy the quote API (Day 4 Appendix) and test it from your Mac AND from a Windows machine or the emulator; pin dio, go_router, sqflite, shared_preferences, json_serializable, build_runner versions in the starter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Today is the lowest-confidence topic in the survey (1.8), so the room will be quiet and unsure - ask more questions than usual to check they are with you.
VERSION SAFETY: before Monday, run the pre-flight script and write the resolved flutter_riverpod version on the workbook cover and on the pubspec of the start branch. If it is 2.x, the only slides that need a verbal caveat are "Riverpod 3 behaviours" and "family, autoDispose".
IF THE LAB OVERRUNS: Lab 3.2 core is steps 1-5. Steps 6-8 (tests) can move to Friday morning, which is a testing day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for the audit-trail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for the audit-trail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part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part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part 3. Test imports: package:flutter_test/flutter_test.dart and package:flutter_riverpod/flutter_riverpod.dart.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the second display during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repo placeholder.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262872" y="-1463040"/>
            <a:ext cx="4754880" cy="4754880"/>
          </a:xfrm>
          <a:prstGeom prst="ellipse">
            <a:avLst/>
          </a:prstGeom>
          <a:solidFill>
            <a:srgbClr val="13315C"/>
          </a:solidFill>
          <a:ln w="12700">
            <a:solidFill>
              <a:srgbClr val="13315C"/>
            </a:solidFill>
            <a:prstDash val="solid"/>
          </a:ln>
        </p:spPr>
      </p:sp>
      <p:sp>
        <p:nvSpPr>
          <p:cNvPr id="3" name="Shape 1"/>
          <p:cNvSpPr/>
          <p:nvPr/>
        </p:nvSpPr>
        <p:spPr>
          <a:xfrm>
            <a:off x="10543032" y="4480560"/>
            <a:ext cx="3108960" cy="3108960"/>
          </a:xfrm>
          <a:prstGeom prst="ellipse">
            <a:avLst/>
          </a:prstGeom>
          <a:solidFill>
            <a:srgbClr val="C9A227"/>
          </a:solidFill>
          <a:ln w="12700">
            <a:solidFill>
              <a:srgbClr val="C9A227"/>
            </a:solidFill>
            <a:prstDash val="solid"/>
          </a:ln>
        </p:spPr>
      </p:sp>
      <p:sp>
        <p:nvSpPr>
          <p:cNvPr id="4" name="Text 2"/>
          <p:cNvSpPr txBox="1"/>
          <p:nvPr/>
        </p:nvSpPr>
        <p:spPr>
          <a:xfrm>
            <a:off x="548640" y="731520"/>
            <a:ext cx="7315200" cy="365760"/>
          </a:xfrm>
          <a:prstGeom prst="rect">
            <a:avLst/>
          </a:prstGeom>
          <a:noFill/>
          <a:ln/>
        </p:spPr>
        <p:txBody>
          <a:bodyPr wrap="square" lIns="0" tIns="0" rIns="0" bIns="0" rtlCol="0" anchor="ctr"/>
          <a:lstStyle/>
          <a:p>
            <a:pPr indent="0" marL="0">
              <a:buNone/>
            </a:pPr>
            <a:r>
              <a:rPr lang="en-US" sz="1200" spc="400" kern="0" dirty="0">
                <a:solidFill>
                  <a:srgbClr val="E3C766"/>
                </a:solidFill>
                <a:latin typeface="Calibri" pitchFamily="34" charset="0"/>
                <a:ea typeface="Calibri" pitchFamily="34" charset="-122"/>
                <a:cs typeface="Calibri" pitchFamily="34" charset="-120"/>
              </a:rPr>
              <a:t>MO INTEGRATIONS  ·  TECHNICAL TRAINING</a:t>
            </a:r>
            <a:endParaRPr lang="en-US" sz="1200" dirty="0"/>
          </a:p>
        </p:txBody>
      </p:sp>
      <p:sp>
        <p:nvSpPr>
          <p:cNvPr id="5" name="Text 3"/>
          <p:cNvSpPr txBox="1"/>
          <p:nvPr/>
        </p:nvSpPr>
        <p:spPr>
          <a:xfrm>
            <a:off x="548640" y="1371600"/>
            <a:ext cx="8229600" cy="548640"/>
          </a:xfrm>
          <a:prstGeom prst="rect">
            <a:avLst/>
          </a:prstGeom>
          <a:noFill/>
          <a:ln/>
        </p:spPr>
        <p:txBody>
          <a:bodyPr wrap="square" lIns="0" tIns="0" rIns="0" bIns="0" rtlCol="0" anchor="ctr"/>
          <a:lstStyle/>
          <a:p>
            <a:pPr indent="0" marL="0">
              <a:buNone/>
            </a:pPr>
            <a:r>
              <a:rPr lang="en-US" sz="1800" dirty="0">
                <a:solidFill>
                  <a:srgbClr val="D7DEE8"/>
                </a:solidFill>
                <a:latin typeface="Calibri" pitchFamily="34" charset="0"/>
                <a:ea typeface="Calibri" pitchFamily="34" charset="-122"/>
                <a:cs typeface="Calibri" pitchFamily="34" charset="-120"/>
              </a:rPr>
              <a:t>Flutter Mobile Application Development · 5-Day Programme</a:t>
            </a:r>
            <a:endParaRPr lang="en-US" sz="1800" dirty="0"/>
          </a:p>
        </p:txBody>
      </p:sp>
      <p:sp>
        <p:nvSpPr>
          <p:cNvPr id="6" name="Text 4"/>
          <p:cNvSpPr txBox="1"/>
          <p:nvPr/>
        </p:nvSpPr>
        <p:spPr>
          <a:xfrm>
            <a:off x="548640" y="2103120"/>
            <a:ext cx="8686800" cy="146304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Day 3</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State Management</a:t>
            </a:r>
            <a:endParaRPr lang="en-US" sz="4800" dirty="0"/>
          </a:p>
        </p:txBody>
      </p:sp>
      <p:sp>
        <p:nvSpPr>
          <p:cNvPr id="7" name="Text 5"/>
          <p:cNvSpPr txBox="1"/>
          <p:nvPr/>
        </p:nvSpPr>
        <p:spPr>
          <a:xfrm>
            <a:off x="548640" y="3657600"/>
            <a:ext cx="8229600" cy="731520"/>
          </a:xfrm>
          <a:prstGeom prst="rect">
            <a:avLst/>
          </a:prstGeom>
          <a:noFill/>
          <a:ln/>
        </p:spPr>
        <p:txBody>
          <a:bodyPr wrap="square" lIns="0" tIns="0" rIns="0" bIns="0" rtlCol="0" anchor="ctr"/>
          <a:lstStyle/>
          <a:p>
            <a:pPr indent="0" marL="0">
              <a:buNone/>
            </a:pPr>
            <a:r>
              <a:rPr lang="en-US" sz="2000" dirty="0">
                <a:solidFill>
                  <a:srgbClr val="E3C766"/>
                </a:solidFill>
                <a:latin typeface="Calibri" pitchFamily="34" charset="0"/>
                <a:ea typeface="Calibri" pitchFamily="34" charset="-122"/>
                <a:cs typeface="Calibri" pitchFamily="34" charset="-120"/>
              </a:rPr>
              <a:t>Why state management · Riverpod in depth · Bloc awareness · The refactor</a:t>
            </a:r>
            <a:endParaRPr lang="en-US" sz="2000" dirty="0"/>
          </a:p>
        </p:txBody>
      </p:sp>
      <p:sp>
        <p:nvSpPr>
          <p:cNvPr id="8" name="Text 6"/>
          <p:cNvSpPr txBox="1"/>
          <p:nvPr/>
        </p:nvSpPr>
        <p:spPr>
          <a:xfrm>
            <a:off x="548640" y="5760720"/>
            <a:ext cx="8229600" cy="457200"/>
          </a:xfrm>
          <a:prstGeom prst="rect">
            <a:avLst/>
          </a:prstGeom>
          <a:noFill/>
          <a:ln/>
        </p:spPr>
        <p:txBody>
          <a:bodyPr wrap="square" lIns="0" tIns="0" rIns="0" bIns="0" rtlCol="0" anchor="ctr"/>
          <a:lstStyle/>
          <a:p>
            <a:pPr indent="0" marL="0">
              <a:buNone/>
            </a:pPr>
            <a:r>
              <a:rPr lang="en-US" sz="1200" dirty="0">
                <a:solidFill>
                  <a:srgbClr val="AAB6C4"/>
                </a:solidFill>
                <a:latin typeface="Calibri" pitchFamily="34" charset="0"/>
                <a:ea typeface="Calibri" pitchFamily="34" charset="-122"/>
                <a:cs typeface="Calibri" pitchFamily="34" charset="-120"/>
              </a:rPr>
              <a:t>Lowest confidence in the survey (1.8) - from setState to a scalable pattern  ·  Instructor: Clynton Botterill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Day 3 agenda</a:t>
            </a:r>
            <a:endParaRPr lang="en-US" sz="3000" dirty="0"/>
          </a:p>
        </p:txBody>
      </p:sp>
      <p:sp>
        <p:nvSpPr>
          <p:cNvPr id="3" name="Shape 1"/>
          <p:cNvSpPr/>
          <p:nvPr/>
        </p:nvSpPr>
        <p:spPr>
          <a:xfrm>
            <a:off x="548640" y="1371600"/>
            <a:ext cx="2567178" cy="4663440"/>
          </a:xfrm>
          <a:prstGeom prst="roundRect">
            <a:avLst>
              <a:gd name="adj" fmla="val 3562"/>
            </a:avLst>
          </a:prstGeom>
          <a:solidFill>
            <a:srgbClr val="F3F5F8"/>
          </a:solidFill>
          <a:ln w="6350">
            <a:solidFill>
              <a:srgbClr val="F3F5F8"/>
            </a:solidFill>
            <a:prstDash val="solid"/>
          </a:ln>
          <a:effectLst>
            <a:outerShdw sx="100000" sy="100000" kx="0" ky="0" algn="bl" rotWithShape="0" blurRad="38100" dist="12700" dir="5400000">
              <a:srgbClr val="000000">
                <a:alpha val="8000"/>
              </a:srgbClr>
            </a:outerShdw>
          </a:effectLst>
        </p:spPr>
      </p:sp>
      <p:sp>
        <p:nvSpPr>
          <p:cNvPr id="4" name="Shape 2"/>
          <p:cNvSpPr/>
          <p:nvPr/>
        </p:nvSpPr>
        <p:spPr>
          <a:xfrm>
            <a:off x="822960" y="1600200"/>
            <a:ext cx="548640" cy="548640"/>
          </a:xfrm>
          <a:prstGeom prst="ellipse">
            <a:avLst/>
          </a:prstGeom>
          <a:solidFill>
            <a:srgbClr val="C9A227"/>
          </a:solidFill>
          <a:ln w="12700">
            <a:solidFill>
              <a:srgbClr val="C9A227"/>
            </a:solidFill>
            <a:prstDash val="solid"/>
          </a:ln>
        </p:spPr>
      </p:sp>
      <p:sp>
        <p:nvSpPr>
          <p:cNvPr id="5" name="Text 3"/>
          <p:cNvSpPr txBox="1"/>
          <p:nvPr/>
        </p:nvSpPr>
        <p:spPr>
          <a:xfrm>
            <a:off x="822960" y="1600200"/>
            <a:ext cx="548640" cy="548640"/>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508760" y="1645920"/>
            <a:ext cx="1378458" cy="274320"/>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09:00 - 10:30</a:t>
            </a:r>
            <a:endParaRPr lang="en-US" sz="1000" dirty="0"/>
          </a:p>
        </p:txBody>
      </p:sp>
      <p:sp>
        <p:nvSpPr>
          <p:cNvPr id="7" name="Text 5"/>
          <p:cNvSpPr txBox="1"/>
          <p:nvPr/>
        </p:nvSpPr>
        <p:spPr>
          <a:xfrm>
            <a:off x="1508760" y="1874520"/>
            <a:ext cx="1378458" cy="54864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Why state management</a:t>
            </a:r>
            <a:endParaRPr lang="en-US" sz="1500" dirty="0"/>
          </a:p>
        </p:txBody>
      </p:sp>
      <p:sp>
        <p:nvSpPr>
          <p:cNvPr id="8" name="Text 6"/>
          <p:cNvSpPr txBox="1"/>
          <p:nvPr/>
        </p:nvSpPr>
        <p:spPr>
          <a:xfrm>
            <a:off x="822960"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Homework debrief: ephemeral vs app state</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setState limits and prop drilling</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InheritedWidget: the mechanism</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ValueNotifier, ChangeNotifier, Provider</a:t>
            </a:r>
            <a:endParaRPr lang="en-US" sz="1200" dirty="0"/>
          </a:p>
        </p:txBody>
      </p:sp>
      <p:sp>
        <p:nvSpPr>
          <p:cNvPr id="9" name="Shape 7"/>
          <p:cNvSpPr/>
          <p:nvPr/>
        </p:nvSpPr>
        <p:spPr>
          <a:xfrm>
            <a:off x="3390138" y="1371600"/>
            <a:ext cx="2567178" cy="4663440"/>
          </a:xfrm>
          <a:prstGeom prst="roundRect">
            <a:avLst>
              <a:gd name="adj" fmla="val 3562"/>
            </a:avLst>
          </a:prstGeom>
          <a:solidFill>
            <a:srgbClr val="F3F5F8"/>
          </a:solidFill>
          <a:ln w="6350">
            <a:solidFill>
              <a:srgbClr val="F3F5F8"/>
            </a:solidFill>
            <a:prstDash val="solid"/>
          </a:ln>
          <a:effectLst>
            <a:outerShdw sx="100000" sy="100000" kx="0" ky="0" algn="bl" rotWithShape="0" blurRad="38100" dist="12700" dir="5400000">
              <a:srgbClr val="000000">
                <a:alpha val="8000"/>
              </a:srgbClr>
            </a:outerShdw>
          </a:effectLst>
        </p:spPr>
      </p:sp>
      <p:sp>
        <p:nvSpPr>
          <p:cNvPr id="10" name="Shape 8"/>
          <p:cNvSpPr/>
          <p:nvPr/>
        </p:nvSpPr>
        <p:spPr>
          <a:xfrm>
            <a:off x="3664458" y="1600200"/>
            <a:ext cx="548640" cy="548640"/>
          </a:xfrm>
          <a:prstGeom prst="ellipse">
            <a:avLst/>
          </a:prstGeom>
          <a:solidFill>
            <a:srgbClr val="C9A227"/>
          </a:solidFill>
          <a:ln w="12700">
            <a:solidFill>
              <a:srgbClr val="C9A227"/>
            </a:solidFill>
            <a:prstDash val="solid"/>
          </a:ln>
        </p:spPr>
      </p:sp>
      <p:sp>
        <p:nvSpPr>
          <p:cNvPr id="11" name="Text 9"/>
          <p:cNvSpPr txBox="1"/>
          <p:nvPr/>
        </p:nvSpPr>
        <p:spPr>
          <a:xfrm>
            <a:off x="3664458" y="1600200"/>
            <a:ext cx="548640" cy="548640"/>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350258" y="1645920"/>
            <a:ext cx="1378458" cy="274320"/>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10:45 - 12:30</a:t>
            </a:r>
            <a:endParaRPr lang="en-US" sz="1000" dirty="0"/>
          </a:p>
        </p:txBody>
      </p:sp>
      <p:sp>
        <p:nvSpPr>
          <p:cNvPr id="13" name="Text 11"/>
          <p:cNvSpPr txBox="1"/>
          <p:nvPr/>
        </p:nvSpPr>
        <p:spPr>
          <a:xfrm>
            <a:off x="4350258" y="1874520"/>
            <a:ext cx="1378458" cy="54864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Riverpod in depth</a:t>
            </a:r>
            <a:endParaRPr lang="en-US" sz="1500" dirty="0"/>
          </a:p>
        </p:txBody>
      </p:sp>
      <p:sp>
        <p:nvSpPr>
          <p:cNvPr id="14" name="Text 12"/>
          <p:cNvSpPr txBox="1"/>
          <p:nvPr/>
        </p:nvSpPr>
        <p:spPr>
          <a:xfrm>
            <a:off x="3664458"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ProviderScope, Provider, Notifier</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ref.watch / read / listen / select</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Dependency injection: services as providers</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Lab 3.1 - brand toggle → provider</a:t>
            </a:r>
            <a:endParaRPr lang="en-US" sz="1200" dirty="0"/>
          </a:p>
        </p:txBody>
      </p:sp>
      <p:sp>
        <p:nvSpPr>
          <p:cNvPr id="15" name="Shape 13"/>
          <p:cNvSpPr/>
          <p:nvPr/>
        </p:nvSpPr>
        <p:spPr>
          <a:xfrm>
            <a:off x="6231636" y="1371600"/>
            <a:ext cx="2567178" cy="4663440"/>
          </a:xfrm>
          <a:prstGeom prst="roundRect">
            <a:avLst>
              <a:gd name="adj" fmla="val 3562"/>
            </a:avLst>
          </a:prstGeom>
          <a:solidFill>
            <a:srgbClr val="F3F5F8"/>
          </a:solidFill>
          <a:ln w="6350">
            <a:solidFill>
              <a:srgbClr val="F3F5F8"/>
            </a:solidFill>
            <a:prstDash val="solid"/>
          </a:ln>
          <a:effectLst>
            <a:outerShdw sx="100000" sy="100000" kx="0" ky="0" algn="bl" rotWithShape="0" blurRad="38100" dist="12700" dir="5400000">
              <a:srgbClr val="000000">
                <a:alpha val="8000"/>
              </a:srgbClr>
            </a:outerShdw>
          </a:effectLst>
        </p:spPr>
      </p:sp>
      <p:sp>
        <p:nvSpPr>
          <p:cNvPr id="16" name="Shape 14"/>
          <p:cNvSpPr/>
          <p:nvPr/>
        </p:nvSpPr>
        <p:spPr>
          <a:xfrm>
            <a:off x="6505956" y="1600200"/>
            <a:ext cx="548640" cy="548640"/>
          </a:xfrm>
          <a:prstGeom prst="ellipse">
            <a:avLst/>
          </a:prstGeom>
          <a:solidFill>
            <a:srgbClr val="C9A227"/>
          </a:solidFill>
          <a:ln w="12700">
            <a:solidFill>
              <a:srgbClr val="C9A227"/>
            </a:solidFill>
            <a:prstDash val="solid"/>
          </a:ln>
        </p:spPr>
      </p:sp>
      <p:sp>
        <p:nvSpPr>
          <p:cNvPr id="17" name="Text 15"/>
          <p:cNvSpPr txBox="1"/>
          <p:nvPr/>
        </p:nvSpPr>
        <p:spPr>
          <a:xfrm>
            <a:off x="6505956" y="1600200"/>
            <a:ext cx="548640" cy="548640"/>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191756" y="1645920"/>
            <a:ext cx="1378458" cy="274320"/>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13:15 - 14:30</a:t>
            </a:r>
            <a:endParaRPr lang="en-US" sz="1000" dirty="0"/>
          </a:p>
        </p:txBody>
      </p:sp>
      <p:sp>
        <p:nvSpPr>
          <p:cNvPr id="19" name="Text 17"/>
          <p:cNvSpPr txBox="1"/>
          <p:nvPr/>
        </p:nvSpPr>
        <p:spPr>
          <a:xfrm>
            <a:off x="7191756" y="1874520"/>
            <a:ext cx="1378458" cy="54864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Riverpod async + Bloc awareness</a:t>
            </a:r>
            <a:endParaRPr lang="en-US" sz="1500" dirty="0"/>
          </a:p>
        </p:txBody>
      </p:sp>
      <p:sp>
        <p:nvSpPr>
          <p:cNvPr id="20" name="Text 18"/>
          <p:cNvSpPr txBox="1"/>
          <p:nvPr/>
        </p:nvSpPr>
        <p:spPr>
          <a:xfrm>
            <a:off x="6505956"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AsyncNotifier, AsyncValue, FutureProvider</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family, autoDispose, observers</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Cubit and Bloc: when they earn their place</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Riverpod 3 behaviours to know</a:t>
            </a:r>
            <a:endParaRPr lang="en-US" sz="1200" dirty="0"/>
          </a:p>
        </p:txBody>
      </p:sp>
      <p:sp>
        <p:nvSpPr>
          <p:cNvPr id="21" name="Shape 19"/>
          <p:cNvSpPr/>
          <p:nvPr/>
        </p:nvSpPr>
        <p:spPr>
          <a:xfrm>
            <a:off x="9073134" y="1371600"/>
            <a:ext cx="2567178" cy="4663440"/>
          </a:xfrm>
          <a:prstGeom prst="roundRect">
            <a:avLst>
              <a:gd name="adj" fmla="val 3562"/>
            </a:avLst>
          </a:prstGeom>
          <a:solidFill>
            <a:srgbClr val="F3F5F8"/>
          </a:solidFill>
          <a:ln w="6350">
            <a:solidFill>
              <a:srgbClr val="F3F5F8"/>
            </a:solidFill>
            <a:prstDash val="solid"/>
          </a:ln>
          <a:effectLst>
            <a:outerShdw sx="100000" sy="100000" kx="0" ky="0" algn="bl" rotWithShape="0" blurRad="38100" dist="12700" dir="5400000">
              <a:srgbClr val="000000">
                <a:alpha val="8000"/>
              </a:srgbClr>
            </a:outerShdw>
          </a:effectLst>
        </p:spPr>
      </p:sp>
      <p:sp>
        <p:nvSpPr>
          <p:cNvPr id="22" name="Shape 20"/>
          <p:cNvSpPr/>
          <p:nvPr/>
        </p:nvSpPr>
        <p:spPr>
          <a:xfrm>
            <a:off x="9347454" y="1600200"/>
            <a:ext cx="548640" cy="548640"/>
          </a:xfrm>
          <a:prstGeom prst="ellipse">
            <a:avLst/>
          </a:prstGeom>
          <a:solidFill>
            <a:srgbClr val="C9A227"/>
          </a:solidFill>
          <a:ln w="12700">
            <a:solidFill>
              <a:srgbClr val="C9A227"/>
            </a:solidFill>
            <a:prstDash val="solid"/>
          </a:ln>
        </p:spPr>
      </p:sp>
      <p:sp>
        <p:nvSpPr>
          <p:cNvPr id="23" name="Text 21"/>
          <p:cNvSpPr txBox="1"/>
          <p:nvPr/>
        </p:nvSpPr>
        <p:spPr>
          <a:xfrm>
            <a:off x="9347454" y="1600200"/>
            <a:ext cx="548640" cy="548640"/>
          </a:xfrm>
          <a:prstGeom prst="rect">
            <a:avLst/>
          </a:prstGeom>
          <a:noFill/>
          <a:ln/>
        </p:spPr>
        <p:txBody>
          <a:bodyPr wrap="square" lIns="0" tIns="0" rIns="0" bIns="0" rtlCol="0" anchor="ctr"/>
          <a:lstStyle/>
          <a:p>
            <a:pPr algn="ctr" indent="0" marL="0">
              <a:buNone/>
            </a:pPr>
            <a:r>
              <a:rPr lang="en-US" sz="1600" b="1" dirty="0">
                <a:solidFill>
                  <a:srgbClr val="0B2545"/>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10033254" y="1645920"/>
            <a:ext cx="1378458" cy="274320"/>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14:45 - 16:00</a:t>
            </a:r>
            <a:endParaRPr lang="en-US" sz="1000" dirty="0"/>
          </a:p>
        </p:txBody>
      </p:sp>
      <p:sp>
        <p:nvSpPr>
          <p:cNvPr id="25" name="Text 23"/>
          <p:cNvSpPr txBox="1"/>
          <p:nvPr/>
        </p:nvSpPr>
        <p:spPr>
          <a:xfrm>
            <a:off x="10033254" y="1874520"/>
            <a:ext cx="1378458" cy="54864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The refactor</a:t>
            </a:r>
            <a:endParaRPr lang="en-US" sz="1500" dirty="0"/>
          </a:p>
        </p:txBody>
      </p:sp>
      <p:sp>
        <p:nvSpPr>
          <p:cNvPr id="26" name="Text 24"/>
          <p:cNvSpPr txBox="1"/>
          <p:nvPr/>
        </p:nvSpPr>
        <p:spPr>
          <a:xfrm>
            <a:off x="9347454"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Lab 3.2 - quote flow end-to-end</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idle → loading → loaded / failed</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Service injected, UI dumb, logic tested</a:t>
            </a:r>
            <a:endParaRPr lang="en-US" sz="1200" dirty="0"/>
          </a:p>
          <a:p>
            <a:pPr marL="177800" indent="-1778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Recap + homework: go_router</a:t>
            </a:r>
            <a:endParaRPr lang="en-US" sz="1200" dirty="0"/>
          </a:p>
        </p:txBody>
      </p:sp>
      <p:sp>
        <p:nvSpPr>
          <p:cNvPr id="27" name="Text 2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28" name="Text 2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Whiteboard debrief: what kind of state is it?</a:t>
            </a:r>
            <a:endParaRPr lang="en-US" sz="3000" dirty="0"/>
          </a:p>
        </p:txBody>
      </p:sp>
      <p:sp>
        <p:nvSpPr>
          <p:cNvPr id="3" name="Text 1"/>
          <p:cNvSpPr txBox="1"/>
          <p:nvPr/>
        </p:nvSpPr>
        <p:spPr>
          <a:xfrm>
            <a:off x="548640" y="1325880"/>
            <a:ext cx="11091672" cy="4754880"/>
          </a:xfrm>
          <a:prstGeom prst="rect">
            <a:avLst/>
          </a:prstGeom>
          <a:noFill/>
          <a:ln/>
        </p:spPr>
        <p:txBody>
          <a:bodyPr wrap="square" lIns="0" tIns="0" rIns="0" bIns="0" rtlCol="0" anchor="t"/>
          <a:lstStyle/>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Ephemeral (local) state </a:t>
            </a:r>
            <a:pPr indent="0" marL="0">
              <a:spcAft>
                <a:spcPts val="1000"/>
              </a:spcAft>
              <a:buNone/>
            </a:pPr>
            <a:r>
              <a:rPr lang="en-US" sz="1600" dirty="0">
                <a:solidFill>
                  <a:srgbClr val="1F2933"/>
                </a:solidFill>
                <a:latin typeface="Calibri" pitchFamily="34" charset="0"/>
                <a:ea typeface="Calibri" pitchFamily="34" charset="-122"/>
                <a:cs typeface="Calibri" pitchFamily="34" charset="-120"/>
              </a:rPr>
              <a:t>one widget cares; nobody else reads it. Text field contents, whether a card is expanded, current tab index, animation progress. → setState.</a:t>
            </a:r>
            <a:endParaRPr lang="en-US" sz="1600" dirty="0"/>
          </a:p>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App (shared) state </a:t>
            </a:r>
            <a:pPr indent="0" marL="0">
              <a:spcAft>
                <a:spcPts val="1000"/>
              </a:spcAft>
              <a:buNone/>
            </a:pPr>
            <a:r>
              <a:rPr lang="en-US" sz="1600" dirty="0">
                <a:solidFill>
                  <a:srgbClr val="1F2933"/>
                </a:solidFill>
                <a:latin typeface="Calibri" pitchFamily="34" charset="0"/>
                <a:ea typeface="Calibri" pitchFamily="34" charset="-122"/>
                <a:cs typeface="Calibri" pitchFamily="34" charset="-120"/>
              </a:rPr>
              <a:t>read or changed by more than one widget or screen. Current brand, the quote result, saved quotes, logged-in user. → a provider.</a:t>
            </a:r>
            <a:endParaRPr lang="en-US" sz="1600" dirty="0"/>
          </a:p>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Derived state </a:t>
            </a:r>
            <a:pPr indent="0" marL="0">
              <a:spcAft>
                <a:spcPts val="1000"/>
              </a:spcAft>
              <a:buNone/>
            </a:pPr>
            <a:r>
              <a:rPr lang="en-US" sz="1600" dirty="0">
                <a:solidFill>
                  <a:srgbClr val="1F2933"/>
                </a:solidFill>
                <a:latin typeface="Calibri" pitchFamily="34" charset="0"/>
                <a:ea typeface="Calibri" pitchFamily="34" charset="-122"/>
                <a:cs typeface="Calibri" pitchFamily="34" charset="-120"/>
              </a:rPr>
              <a:t>computed from other state; never stored twice. BrandTheme from brand key; premium from request. → a derived Provider.</a:t>
            </a:r>
            <a:endParaRPr lang="en-US" sz="1600" dirty="0"/>
          </a:p>
          <a:p>
            <a:pPr marL="177800" indent="-177800">
              <a:spcAft>
                <a:spcPts val="1000"/>
              </a:spcAft>
              <a:buSzPct val="100000"/>
              <a:buChar char="•"/>
            </a:pPr>
            <a:r>
              <a:rPr lang="en-US" sz="1600" b="1" dirty="0">
                <a:solidFill>
                  <a:srgbClr val="0B2545"/>
                </a:solidFill>
                <a:latin typeface="Calibri" pitchFamily="34" charset="0"/>
                <a:ea typeface="Calibri" pitchFamily="34" charset="-122"/>
                <a:cs typeface="Calibri" pitchFamily="34" charset="-120"/>
              </a:rPr>
              <a:t>The test </a:t>
            </a:r>
            <a:pPr indent="0" marL="0">
              <a:spcAft>
                <a:spcPts val="1000"/>
              </a:spcAft>
              <a:buNone/>
            </a:pPr>
            <a:r>
              <a:rPr lang="en-US" sz="1600" dirty="0">
                <a:solidFill>
                  <a:srgbClr val="1F2933"/>
                </a:solidFill>
                <a:latin typeface="Calibri" pitchFamily="34" charset="0"/>
                <a:ea typeface="Calibri" pitchFamily="34" charset="-122"/>
                <a:cs typeface="Calibri" pitchFamily="34" charset="-120"/>
              </a:rPr>
              <a:t>"Would a second screen need this?" If yes, it is app state. "Does it come from other state?" If yes, derive it.</a:t>
            </a:r>
            <a:endParaRPr lang="en-US" sz="1600" dirty="0"/>
          </a:p>
        </p:txBody>
      </p:sp>
      <p:sp>
        <p:nvSpPr>
          <p:cNvPr id="4" name="Shape 2"/>
          <p:cNvSpPr/>
          <p:nvPr/>
        </p:nvSpPr>
        <p:spPr>
          <a:xfrm>
            <a:off x="548640" y="5394960"/>
            <a:ext cx="11091672" cy="685800"/>
          </a:xfrm>
          <a:prstGeom prst="roundRect">
            <a:avLst>
              <a:gd name="adj" fmla="val 13333"/>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5" name="Text 3"/>
          <p:cNvSpPr txBox="1"/>
          <p:nvPr/>
        </p:nvSpPr>
        <p:spPr>
          <a:xfrm>
            <a:off x="685800" y="5440680"/>
            <a:ext cx="10817352" cy="59436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Yesterday's brand key is app state stored as ephemeral state. That mismatch is why we had to thread a callback through three widgets. Today's first lab fixes exactly that.</a:t>
            </a:r>
            <a:endParaRPr lang="en-US" sz="12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13315C"/>
          </a:solidFill>
          <a:ln w="12700">
            <a:solidFill>
              <a:srgbClr val="13315C"/>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E3C766"/>
                </a:solidFill>
                <a:latin typeface="Calibri" pitchFamily="34" charset="0"/>
                <a:ea typeface="Calibri" pitchFamily="34" charset="-122"/>
                <a:cs typeface="Calibri" pitchFamily="34" charset="-120"/>
              </a:rPr>
              <a:t>MODULE 9  ·  09:20 - 10:30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Why state management</a:t>
            </a:r>
            <a:endParaRPr lang="en-US" sz="4000" dirty="0"/>
          </a:p>
        </p:txBody>
      </p:sp>
      <p:sp>
        <p:nvSpPr>
          <p:cNvPr id="5" name="Shape 3"/>
          <p:cNvSpPr/>
          <p:nvPr/>
        </p:nvSpPr>
        <p:spPr>
          <a:xfrm>
            <a:off x="6949440" y="1188720"/>
            <a:ext cx="4663440" cy="4389120"/>
          </a:xfrm>
          <a:prstGeom prst="roundRect">
            <a:avLst>
              <a:gd name="adj" fmla="val 2083"/>
            </a:avLst>
          </a:prstGeom>
          <a:solidFill>
            <a:srgbClr val="13315C"/>
          </a:solidFill>
          <a:ln w="6350">
            <a:solidFill>
              <a:srgbClr val="13315C"/>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E3C766"/>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what breaks when app state lives in setState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Describe how InheritedWidget shares data down the tree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Recognise ValueNotifier, ChangeNotifier and Provider when you meet them in the wild</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Choose the right layer for a given piece of state</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setState is fine - until two widgets need the same thing</a:t>
            </a:r>
            <a:endParaRPr lang="en-US" sz="3000" dirty="0"/>
          </a:p>
        </p:txBody>
      </p:sp>
      <p:sp>
        <p:nvSpPr>
          <p:cNvPr id="3" name="Text 1"/>
          <p:cNvSpPr txBox="1"/>
          <p:nvPr/>
        </p:nvSpPr>
        <p:spPr>
          <a:xfrm>
            <a:off x="548640" y="1325880"/>
            <a:ext cx="4521342"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It rebuilds the subtree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of the widget that called it. Put app state in the root and every change rebuilds the whole app.</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It cannot be reached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from another screen without passing the value AND a callback down every level in between: prop drilling.</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It cannot be tested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without pumping a widget tree.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It couples UI to logic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the State class ends up holding validation, network, persistence.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Lifting state up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is the first fix (React, Flutter alike) and where prop drilling starts.</a:t>
            </a:r>
            <a:endParaRPr lang="en-US" sz="1400" dirty="0"/>
          </a:p>
        </p:txBody>
      </p:sp>
      <p:sp>
        <p:nvSpPr>
          <p:cNvPr id="4" name="Shape 2"/>
          <p:cNvSpPr/>
          <p:nvPr/>
        </p:nvSpPr>
        <p:spPr>
          <a:xfrm>
            <a:off x="5344302" y="1325880"/>
            <a:ext cx="6296010" cy="4754880"/>
          </a:xfrm>
          <a:prstGeom prst="roundRect">
            <a:avLst>
              <a:gd name="adj" fmla="val 1538"/>
            </a:avLst>
          </a:prstGeom>
          <a:solidFill>
            <a:srgbClr val="0F172A"/>
          </a:solidFill>
          <a:ln w="12700">
            <a:solidFill>
              <a:srgbClr val="0F172A"/>
            </a:solidFill>
            <a:prstDash val="solid"/>
          </a:ln>
        </p:spPr>
      </p:sp>
      <p:sp>
        <p:nvSpPr>
          <p:cNvPr id="5" name="Text 3"/>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Day 2 app.dart</a:t>
            </a:r>
            <a:endParaRPr lang="en-US" sz="800" dirty="0"/>
          </a:p>
        </p:txBody>
      </p:sp>
      <p:sp>
        <p:nvSpPr>
          <p:cNvPr id="6" name="Text 4"/>
          <p:cNvSpPr txBox="1"/>
          <p:nvPr/>
        </p:nvSpPr>
        <p:spPr>
          <a:xfrm>
            <a:off x="5481462" y="1435608"/>
            <a:ext cx="6021690" cy="4535424"/>
          </a:xfrm>
          <a:prstGeom prst="rect">
            <a:avLst/>
          </a:prstGeom>
          <a:noFill/>
          <a:ln/>
        </p:spPr>
        <p:txBody>
          <a:bodyPr wrap="square" lIns="0" tIns="0" rIns="0" bIns="0" rtlCol="0" anchor="t"/>
          <a:lstStyle/>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Day 2: brand lives in QuoteApp's State and is threaded down by hand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_QuoteAppState extends State&lt;QuoteApp&gt;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String _brandKey = 'alpha';</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Widget build(BuildContext context) =&gt; MaterialApp(</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theme: brands[_brandKey]!.toThemeData(Brightness.light),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home: CaptureScreen(                       // 1. pass the value down</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brand: brands[_brandKey]!,</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onSwitchBrand: () =&gt; setState(() =&gt;      // 2. pass a callback down</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_brandKey = _brandKey == 'alpha' ? 'beta' : 'alpha'),</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Three screens deep, every widget in between must forward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`brand` and `onSwitchBrand` even if it never uses them.</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That is prop drilling. setState also rebuilds the WHOLE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MaterialApp subtree - every screen - for a one-string change.</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InheritedWidget: how Flutter shares data down the tree</a:t>
            </a:r>
            <a:endParaRPr lang="en-US" sz="3000" dirty="0"/>
          </a:p>
        </p:txBody>
      </p:sp>
      <p:sp>
        <p:nvSpPr>
          <p:cNvPr id="3" name="Text 1"/>
          <p:cNvSpPr txBox="1"/>
          <p:nvPr/>
        </p:nvSpPr>
        <p:spPr>
          <a:xfrm>
            <a:off x="548640" y="1325880"/>
            <a:ext cx="4521342"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 widget that holds a value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and lets any descendant look it up via context, in O(1).</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You already use it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Theme.of(context), MediaQuery.of(context), Navigator.of(context), ScaffoldMessenger.of(context).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dependOnInheritedWidgetOfExactType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registers the caller as a dependent; when updateShouldNotify returns true, dependents rebuild.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What it lacks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a way to change the value from below, lifecycle, dependency injection, testing without a tree. Every package on the next slides adds those.</a:t>
            </a:r>
            <a:endParaRPr lang="en-US" sz="1400" dirty="0"/>
          </a:p>
        </p:txBody>
      </p:sp>
      <p:sp>
        <p:nvSpPr>
          <p:cNvPr id="4" name="Shape 2"/>
          <p:cNvSpPr/>
          <p:nvPr/>
        </p:nvSpPr>
        <p:spPr>
          <a:xfrm>
            <a:off x="5344302" y="1325880"/>
            <a:ext cx="6296010" cy="4754880"/>
          </a:xfrm>
          <a:prstGeom prst="roundRect">
            <a:avLst>
              <a:gd name="adj" fmla="val 1538"/>
            </a:avLst>
          </a:prstGeom>
          <a:solidFill>
            <a:srgbClr val="0F172A"/>
          </a:solidFill>
          <a:ln w="12700">
            <a:solidFill>
              <a:srgbClr val="0F172A"/>
            </a:solidFill>
            <a:prstDash val="solid"/>
          </a:ln>
        </p:spPr>
      </p:sp>
      <p:sp>
        <p:nvSpPr>
          <p:cNvPr id="5" name="Text 3"/>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brand_scope.dart</a:t>
            </a:r>
            <a:endParaRPr lang="en-US" sz="800" dirty="0"/>
          </a:p>
        </p:txBody>
      </p:sp>
      <p:sp>
        <p:nvSpPr>
          <p:cNvPr id="6" name="Text 4"/>
          <p:cNvSpPr txBox="1"/>
          <p:nvPr/>
        </p:nvSpPr>
        <p:spPr>
          <a:xfrm>
            <a:off x="5481462" y="1435608"/>
            <a:ext cx="6021690" cy="4535424"/>
          </a:xfrm>
          <a:prstGeom prst="rect">
            <a:avLst/>
          </a:prstGeom>
          <a:noFill/>
          <a:ln/>
        </p:spPr>
        <p:txBody>
          <a:bodyPr wrap="square" lIns="0" tIns="0" rIns="0" bIns="0" rtlCol="0" anchor="t"/>
          <a:lstStyle/>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The mechanism under Theme.of, MediaQuery.of, Provider and Riverpod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BrandScope extends InheritedWidget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BrandScope({super.key, required this.brand, required super.child});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BrandTheme brand;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static BrandTheme of(BuildContext context) =&gt;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context.dependOnInheritedWidgetOfExactType&lt;BrandScope&gt;()!.brand;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bool updateShouldNotify(BrandScope old) =&gt; old.brand != brand;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Provide once, near the root: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BrandScope(brand: brands[_brandKey]!, child: MaterialApp(...))</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Read anywhere below - the widget re-builds when brand changes: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brand = BrandScope.of(context);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What it does NOT give you: a way to CHANGE the value, lifecycle,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dependency injection, or testing without a widget tree.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That is what Provider and Riverpod add.</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ValueNotifier, ChangeNotifier, and Provider</a:t>
            </a:r>
            <a:endParaRPr lang="en-US" sz="3000" dirty="0"/>
          </a:p>
        </p:txBody>
      </p:sp>
      <p:sp>
        <p:nvSpPr>
          <p:cNvPr id="3" name="Text 1"/>
          <p:cNvSpPr txBox="1"/>
          <p:nvPr/>
        </p:nvSpPr>
        <p:spPr>
          <a:xfrm>
            <a:off x="548640" y="1325880"/>
            <a:ext cx="4521342"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ValueNotifier&lt;T&gt;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one value + listeners. ValueListenableBuilder rebuilds on change. Great for a single toggle.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ChangeNotifier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an object with fields; call notifyListeners() after changes. Forget the call and nothing rebuilds - the classic bug.</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Provider package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puts a ChangeNotifier in an InheritedWidget; context.watch/read/select. Widely used; simple; mutable.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Why we go one step further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Provider is tied to BuildContext, throws ProviderNotFoundException at runtime, and models are mutable. Riverpod fixes all three.</a:t>
            </a:r>
            <a:endParaRPr lang="en-US" sz="1400" dirty="0"/>
          </a:p>
        </p:txBody>
      </p:sp>
      <p:sp>
        <p:nvSpPr>
          <p:cNvPr id="4" name="Shape 2"/>
          <p:cNvSpPr/>
          <p:nvPr/>
        </p:nvSpPr>
        <p:spPr>
          <a:xfrm>
            <a:off x="5344302" y="1325880"/>
            <a:ext cx="6296010" cy="4754880"/>
          </a:xfrm>
          <a:prstGeom prst="roundRect">
            <a:avLst>
              <a:gd name="adj" fmla="val 1538"/>
            </a:avLst>
          </a:prstGeom>
          <a:solidFill>
            <a:srgbClr val="0F172A"/>
          </a:solidFill>
          <a:ln w="12700">
            <a:solidFill>
              <a:srgbClr val="0F172A"/>
            </a:solidFill>
            <a:prstDash val="solid"/>
          </a:ln>
        </p:spPr>
      </p:sp>
      <p:sp>
        <p:nvSpPr>
          <p:cNvPr id="5" name="Text 3"/>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6" name="Text 4"/>
          <p:cNvSpPr txBox="1"/>
          <p:nvPr/>
        </p:nvSpPr>
        <p:spPr>
          <a:xfrm>
            <a:off x="5481462" y="1435608"/>
            <a:ext cx="6021690" cy="4535424"/>
          </a:xfrm>
          <a:prstGeom prst="rect">
            <a:avLst/>
          </a:prstGeom>
          <a:noFill/>
          <a:ln/>
        </p:spPr>
        <p:txBody>
          <a:bodyPr wrap="square" lIns="0" tIns="0" rIns="0" bIns="0" rtlCol="0" anchor="t"/>
          <a:lstStyle/>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Smallest possible "observable": ValueNotifier + ValueListenableBuilder</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brandKey = ValueNotifier&lt;String&gt;('alpha');</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ValueListenableBuilder&lt;String&gt;(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valueListenable: brandKey,</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builder: (context, key, _) =&gt; Text(brands[key]!.name),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brandKey.value = 'beta';   // notifies listeners → builder re-runs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ChangeNotifier: same idea for an object with several fields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BrandModel extends ChangeNotifier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String _key = 'alpha';</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BrandTheme get brand =&gt; brands[_key]!;</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void toggle()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_key = _key == 'alpha' ? 'beta' : 'alpha';</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notifyListeners();            // forget this → nothing rebuilds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011680" cy="292608"/>
          </a:xfrm>
          <a:prstGeom prst="roundRect">
            <a:avLst>
              <a:gd name="adj" fmla="val 50000"/>
            </a:avLst>
          </a:prstGeom>
          <a:solidFill>
            <a:srgbClr val="0B2545"/>
          </a:solidFill>
          <a:ln w="12700">
            <a:solidFill>
              <a:srgbClr val="0B2545"/>
            </a:solidFill>
            <a:prstDash val="solid"/>
          </a:ln>
        </p:spPr>
      </p:sp>
      <p:sp>
        <p:nvSpPr>
          <p:cNvPr id="3" name="Text 1"/>
          <p:cNvSpPr txBox="1"/>
          <p:nvPr/>
        </p:nvSpPr>
        <p:spPr>
          <a:xfrm>
            <a:off x="548640" y="457200"/>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 &amp; BREAK DOWN</a:t>
            </a:r>
            <a:endParaRPr lang="en-US" sz="1000" dirty="0"/>
          </a:p>
        </p:txBody>
      </p:sp>
      <p:sp>
        <p:nvSpPr>
          <p:cNvPr id="4" name="Text 2"/>
          <p:cNvSpPr txBox="1"/>
          <p:nvPr/>
        </p:nvSpPr>
        <p:spPr>
          <a:xfrm>
            <a:off x="9811512" y="457200"/>
            <a:ext cx="1828800" cy="292608"/>
          </a:xfrm>
          <a:prstGeom prst="rect">
            <a:avLst/>
          </a:prstGeom>
          <a:noFill/>
          <a:ln/>
        </p:spPr>
        <p:txBody>
          <a:bodyPr wrap="square" lIns="0" tIns="0" rIns="0" bIns="0" rtlCol="0" anchor="ctr"/>
          <a:lstStyle/>
          <a:p>
            <a:pPr algn="r" indent="0" marL="0">
              <a:buNone/>
            </a:pPr>
            <a:r>
              <a:rPr lang="en-US" sz="1200" dirty="0">
                <a:solidFill>
                  <a:srgbClr val="5B6773"/>
                </a:solidFill>
                <a:latin typeface="Calibri" pitchFamily="34" charset="0"/>
                <a:ea typeface="Calibri" pitchFamily="34" charset="-122"/>
                <a:cs typeface="Calibri" pitchFamily="34" charset="-120"/>
              </a:rPr>
              <a:t>10 min read + 5 min debrief</a:t>
            </a:r>
            <a:endParaRPr lang="en-US" sz="1200" dirty="0"/>
          </a:p>
        </p:txBody>
      </p:sp>
      <p:sp>
        <p:nvSpPr>
          <p:cNvPr id="5" name="Text 3"/>
          <p:cNvSpPr txBox="1"/>
          <p:nvPr/>
        </p:nvSpPr>
        <p:spPr>
          <a:xfrm>
            <a:off x="548640" y="868680"/>
            <a:ext cx="11091672" cy="64008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Read: "Simple app state management" - and find the Provider gap</a:t>
            </a:r>
            <a:endParaRPr lang="en-US" sz="2800" dirty="0"/>
          </a:p>
        </p:txBody>
      </p:sp>
      <p:sp>
        <p:nvSpPr>
          <p:cNvPr id="6" name="Shape 4"/>
          <p:cNvSpPr/>
          <p:nvPr/>
        </p:nvSpPr>
        <p:spPr>
          <a:xfrm>
            <a:off x="548640" y="1691640"/>
            <a:ext cx="11091672" cy="960120"/>
          </a:xfrm>
          <a:prstGeom prst="roundRect">
            <a:avLst>
              <a:gd name="adj" fmla="val 9524"/>
            </a:avLst>
          </a:prstGeom>
          <a:solidFill>
            <a:srgbClr val="EAF0F7"/>
          </a:solidFill>
          <a:ln w="6350">
            <a:solidFill>
              <a:srgbClr val="EAF0F7"/>
            </a:solidFill>
            <a:prstDash val="solid"/>
          </a:ln>
          <a:effectLst>
            <a:outerShdw sx="100000" sy="100000" kx="0" ky="0" algn="bl" rotWithShape="0" blurRad="38100" dist="12700" dir="5400000">
              <a:srgbClr val="000000">
                <a:alpha val="8000"/>
              </a:srgbClr>
            </a:outerShdw>
          </a:effectLst>
        </p:spPr>
      </p:sp>
      <p:sp>
        <p:nvSpPr>
          <p:cNvPr id="7" name="Text 5"/>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1800" b="1" dirty="0">
                <a:solidFill>
                  <a:srgbClr val="0B2545"/>
                </a:solidFill>
                <a:latin typeface="Courier New" pitchFamily="34" charset="0"/>
                <a:ea typeface="Courier New" pitchFamily="34" charset="-122"/>
                <a:cs typeface="Courier New" pitchFamily="34" charset="-120"/>
              </a:rPr>
              <a:t>docs.flutter.dev/data-and-backend/state-mgmt/simple</a:t>
            </a:r>
            <a:endParaRPr lang="en-US" sz="1800" dirty="0"/>
          </a:p>
        </p:txBody>
      </p:sp>
      <p:sp>
        <p:nvSpPr>
          <p:cNvPr id="8" name="Text 6"/>
          <p:cNvSpPr txBox="1"/>
          <p:nvPr/>
        </p:nvSpPr>
        <p:spPr>
          <a:xfrm>
            <a:off x="822960" y="2212848"/>
            <a:ext cx="10543032" cy="365760"/>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Whole page: "Our example", "Lifting state up", "Accessing the state", "ChangeNotifier", "ChangeNotifierProvider", "Consumer" (about 10 minutes)</a:t>
            </a:r>
            <a:endParaRPr lang="en-US" sz="1200" dirty="0"/>
          </a:p>
        </p:txBody>
      </p:sp>
      <p:sp>
        <p:nvSpPr>
          <p:cNvPr id="9" name="Text 7"/>
          <p:cNvSpPr txBox="1"/>
          <p:nvPr/>
        </p:nvSpPr>
        <p:spPr>
          <a:xfrm>
            <a:off x="548640" y="2880360"/>
            <a:ext cx="6655003"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Answer these as you read</a:t>
            </a:r>
            <a:endParaRPr lang="en-US" sz="1400" dirty="0"/>
          </a:p>
        </p:txBody>
      </p:sp>
      <p:sp>
        <p:nvSpPr>
          <p:cNvPr id="10" name="Text 8"/>
          <p:cNvSpPr txBox="1"/>
          <p:nvPr/>
        </p:nvSpPr>
        <p:spPr>
          <a:xfrm>
            <a:off x="548640" y="3291840"/>
            <a:ext cx="6655003" cy="2743200"/>
          </a:xfrm>
          <a:prstGeom prst="rect">
            <a:avLst/>
          </a:prstGeom>
          <a:noFill/>
          <a:ln/>
        </p:spPr>
        <p:txBody>
          <a:bodyPr wrap="square" lIns="0" tIns="0" rIns="0" bIns="0" rtlCol="0" anchor="t"/>
          <a:lstStyle/>
          <a:p>
            <a:pPr marL="279400" indent="-279400">
              <a:spcAft>
                <a:spcPts val="800"/>
              </a:spcAft>
              <a:buSzPct val="100000"/>
              <a:buFont typeface="+mj-lt"/>
              <a:buAutoNum type="arabicPeriod" startAt="1"/>
            </a:pPr>
            <a:r>
              <a:rPr lang="en-US" sz="1400" dirty="0">
                <a:solidFill>
                  <a:srgbClr val="1F2933"/>
                </a:solidFill>
                <a:latin typeface="Calibri" pitchFamily="34" charset="0"/>
                <a:ea typeface="Calibri" pitchFamily="34" charset="-122"/>
                <a:cs typeface="Calibri" pitchFamily="34" charset="-120"/>
              </a:rPr>
              <a:t>Where does the doc put the CartModel and why there? Map it to where our brand key should live.</a:t>
            </a:r>
            <a:endParaRPr lang="en-US" sz="1400" dirty="0"/>
          </a:p>
          <a:p>
            <a:pPr marL="279400" indent="-279400">
              <a:spcAft>
                <a:spcPts val="800"/>
              </a:spcAft>
              <a:buSzPct val="100000"/>
              <a:buFont typeface="+mj-lt"/>
              <a:buAutoNum type="arabicPeriod" startAt="1"/>
            </a:pPr>
            <a:r>
              <a:rPr lang="en-US" sz="1400" dirty="0">
                <a:solidFill>
                  <a:srgbClr val="1F2933"/>
                </a:solidFill>
                <a:latin typeface="Calibri" pitchFamily="34" charset="0"/>
                <a:ea typeface="Calibri" pitchFamily="34" charset="-122"/>
                <a:cs typeface="Calibri" pitchFamily="34" charset="-120"/>
              </a:rPr>
              <a:t>What is the difference between Consumer and Provider.of(context, listen: false)? Which of our two uses (AppBar toggle, header rebuild) needs which?</a:t>
            </a:r>
            <a:endParaRPr lang="en-US" sz="1400" dirty="0"/>
          </a:p>
          <a:p>
            <a:pPr marL="279400" indent="-279400">
              <a:spcAft>
                <a:spcPts val="800"/>
              </a:spcAft>
              <a:buSzPct val="100000"/>
              <a:buFont typeface="+mj-lt"/>
              <a:buAutoNum type="arabicPeriod" startAt="1"/>
            </a:pPr>
            <a:r>
              <a:rPr lang="en-US" sz="1400" dirty="0">
                <a:solidFill>
                  <a:srgbClr val="1F2933"/>
                </a:solidFill>
                <a:latin typeface="Calibri" pitchFamily="34" charset="0"/>
                <a:ea typeface="Calibri" pitchFamily="34" charset="-122"/>
                <a:cs typeface="Calibri" pitchFamily="34" charset="-120"/>
              </a:rPr>
              <a:t>The doc says "don't put ChangeNotifier in a widget's build". What goes wrong if you do?</a:t>
            </a:r>
            <a:endParaRPr lang="en-US" sz="1400" dirty="0"/>
          </a:p>
          <a:p>
            <a:pPr marL="279400" indent="-279400">
              <a:spcAft>
                <a:spcPts val="800"/>
              </a:spcAft>
              <a:buSzPct val="100000"/>
              <a:buFont typeface="+mj-lt"/>
              <a:buAutoNum type="arabicPeriod" startAt="1"/>
            </a:pPr>
            <a:r>
              <a:rPr lang="en-US" sz="1400" dirty="0">
                <a:solidFill>
                  <a:srgbClr val="1F2933"/>
                </a:solidFill>
                <a:latin typeface="Calibri" pitchFamily="34" charset="0"/>
                <a:ea typeface="Calibri" pitchFamily="34" charset="-122"/>
                <a:cs typeface="Calibri" pitchFamily="34" charset="-120"/>
              </a:rPr>
              <a:t>Name one thing the doc does not solve that you would need for the insurance app (hint: testing, services, async).</a:t>
            </a:r>
            <a:endParaRPr lang="en-US" sz="1400" dirty="0"/>
          </a:p>
        </p:txBody>
      </p:sp>
      <p:sp>
        <p:nvSpPr>
          <p:cNvPr id="11" name="Shape 9"/>
          <p:cNvSpPr/>
          <p:nvPr/>
        </p:nvSpPr>
        <p:spPr>
          <a:xfrm>
            <a:off x="7477963" y="2880360"/>
            <a:ext cx="4162349" cy="3154680"/>
          </a:xfrm>
          <a:prstGeom prst="roundRect">
            <a:avLst>
              <a:gd name="adj" fmla="val 2899"/>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12" name="Text 10"/>
          <p:cNvSpPr txBox="1"/>
          <p:nvPr/>
        </p:nvSpPr>
        <p:spPr>
          <a:xfrm>
            <a:off x="7706563" y="3017520"/>
            <a:ext cx="3705149"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Then</a:t>
            </a:r>
            <a:endParaRPr lang="en-US" sz="1400" dirty="0"/>
          </a:p>
        </p:txBody>
      </p:sp>
      <p:sp>
        <p:nvSpPr>
          <p:cNvPr id="13" name="Text 11"/>
          <p:cNvSpPr txBox="1"/>
          <p:nvPr/>
        </p:nvSpPr>
        <p:spPr>
          <a:xfrm>
            <a:off x="7706563" y="3429000"/>
            <a:ext cx="3705149"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One person answers Q1+Q2, another Q3+Q4.</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Instructor shows the Provider version of the brand toggle (Appendix A) for 60 seconds.</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Then Riverpod, which answers Q4.</a:t>
            </a:r>
            <a:endParaRPr lang="en-US" sz="125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13315C"/>
          </a:solidFill>
          <a:ln w="12700">
            <a:solidFill>
              <a:srgbClr val="13315C"/>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E3C766"/>
                </a:solidFill>
                <a:latin typeface="Calibri" pitchFamily="34" charset="0"/>
                <a:ea typeface="Calibri" pitchFamily="34" charset="-122"/>
                <a:cs typeface="Calibri" pitchFamily="34" charset="-120"/>
              </a:rPr>
              <a:t>MODULE 10  ·  10:45 - 12:30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Riverpod in depth</a:t>
            </a:r>
            <a:endParaRPr lang="en-US" sz="4000" dirty="0"/>
          </a:p>
        </p:txBody>
      </p:sp>
      <p:sp>
        <p:nvSpPr>
          <p:cNvPr id="5" name="Shape 3"/>
          <p:cNvSpPr/>
          <p:nvPr/>
        </p:nvSpPr>
        <p:spPr>
          <a:xfrm>
            <a:off x="6949440" y="1188720"/>
            <a:ext cx="4663440" cy="4389120"/>
          </a:xfrm>
          <a:prstGeom prst="roundRect">
            <a:avLst>
              <a:gd name="adj" fmla="val 2083"/>
            </a:avLst>
          </a:prstGeom>
          <a:solidFill>
            <a:srgbClr val="13315C"/>
          </a:solidFill>
          <a:ln w="6350">
            <a:solidFill>
              <a:srgbClr val="13315C"/>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E3C766"/>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Set up ProviderScope and write Provider and NotifierProvider</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ref.watch, ref.read, ref.listen and select correctly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Inject services through providers and swap them for fakes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Move the brand toggle into a provider and delete the callbacks</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Setup: one package, one scope</a:t>
            </a:r>
            <a:endParaRPr lang="en-US" sz="3000" dirty="0"/>
          </a:p>
        </p:txBody>
      </p:sp>
      <p:sp>
        <p:nvSpPr>
          <p:cNvPr id="3" name="Text 1"/>
          <p:cNvSpPr txBox="1"/>
          <p:nvPr/>
        </p:nvSpPr>
        <p:spPr>
          <a:xfrm>
            <a:off x="548640" y="1325880"/>
            <a:ext cx="4521342"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flutter pub add flutter_riverpod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pin the major version in pubspec (^3.0.0) so the whole team resolves the same API.</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ProviderScope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wraps the app once. It owns every provider's state. Tests create their own ProviderScope/ProviderContainer with overrides.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riverpod_lint (optional)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catches watch-in-callback and read-in-build mistakes at analysis time. Worth adding on Day 5.</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Providers are global finals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declared at top level, but their STATE lives in the scope - globals in name only.</a:t>
            </a:r>
            <a:endParaRPr lang="en-US" sz="1400" dirty="0"/>
          </a:p>
        </p:txBody>
      </p:sp>
      <p:sp>
        <p:nvSpPr>
          <p:cNvPr id="4" name="Shape 2"/>
          <p:cNvSpPr/>
          <p:nvPr/>
        </p:nvSpPr>
        <p:spPr>
          <a:xfrm>
            <a:off x="5344302" y="1325880"/>
            <a:ext cx="6296010" cy="4754880"/>
          </a:xfrm>
          <a:prstGeom prst="roundRect">
            <a:avLst>
              <a:gd name="adj" fmla="val 1538"/>
            </a:avLst>
          </a:prstGeom>
          <a:solidFill>
            <a:srgbClr val="0F172A"/>
          </a:solidFill>
          <a:ln w="12700">
            <a:solidFill>
              <a:srgbClr val="0F172A"/>
            </a:solidFill>
            <a:prstDash val="solid"/>
          </a:ln>
        </p:spPr>
      </p:sp>
      <p:sp>
        <p:nvSpPr>
          <p:cNvPr id="5" name="Text 3"/>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pubspec.yaml · main.dart</a:t>
            </a:r>
            <a:endParaRPr lang="en-US" sz="800" dirty="0"/>
          </a:p>
        </p:txBody>
      </p:sp>
      <p:sp>
        <p:nvSpPr>
          <p:cNvPr id="6" name="Text 4"/>
          <p:cNvSpPr txBox="1"/>
          <p:nvPr/>
        </p:nvSpPr>
        <p:spPr>
          <a:xfrm>
            <a:off x="5481462" y="1435608"/>
            <a:ext cx="6021690" cy="4535424"/>
          </a:xfrm>
          <a:prstGeom prst="rect">
            <a:avLst/>
          </a:prstGeom>
          <a:noFill/>
          <a:ln/>
        </p:spPr>
        <p:txBody>
          <a:bodyPr wrap="square" lIns="0" tIns="0" rIns="0" bIns="0" rtlCol="0" anchor="t"/>
          <a:lstStyle/>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pubspec.yaml - pin the major version the course was built on</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dependencies: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flutter_riverpod: ^3.0.0</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terminal (same on macOS and Windows)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flutter pub add flutter_riverpod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flutter pub add --dev riverpod_lint custom_lint   # optional, recommended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analysis_options.yaml (optional lints)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analyzer:</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plugins: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 custom_lint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import 'package:flutter/material.dart';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import 'package:flutter_riverpod/flutter_riverpod.dart';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void main()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runApp(const ProviderScope(child: QuoteApp()));   // one scope at the root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Provider and Notifier: the two you need</a:t>
            </a:r>
            <a:endParaRPr lang="en-US" sz="3000" dirty="0"/>
          </a:p>
        </p:txBody>
      </p:sp>
      <p:sp>
        <p:nvSpPr>
          <p:cNvPr id="3" name="Text 1"/>
          <p:cNvSpPr txBox="1"/>
          <p:nvPr/>
        </p:nvSpPr>
        <p:spPr>
          <a:xfrm>
            <a:off x="548640" y="1325880"/>
            <a:ext cx="4521342"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Notifier&lt;T&gt;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a class with build() returning the initial state and methods that assign state = …. Every assignment notifies watchers.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NotifierProvider&lt;N, T&gt;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exposes it. NotifierProvider(N.new) - the constructor tear-off.</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Provider&lt;T&gt;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read-only, computed. Perfect for derived values and services.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Derived providers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ref.watch inside a provider: brandProvider recomputes only when brandKeyProvider changes.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State is immutable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assign a new value; never mutate the old one (lists: state = [...state, item]).</a:t>
            </a:r>
            <a:endParaRPr lang="en-US" sz="1400" dirty="0"/>
          </a:p>
        </p:txBody>
      </p:sp>
      <p:sp>
        <p:nvSpPr>
          <p:cNvPr id="4" name="Shape 2"/>
          <p:cNvSpPr/>
          <p:nvPr/>
        </p:nvSpPr>
        <p:spPr>
          <a:xfrm>
            <a:off x="5344302" y="1325880"/>
            <a:ext cx="6296010" cy="4754880"/>
          </a:xfrm>
          <a:prstGeom prst="roundRect">
            <a:avLst>
              <a:gd name="adj" fmla="val 1538"/>
            </a:avLst>
          </a:prstGeom>
          <a:solidFill>
            <a:srgbClr val="0F172A"/>
          </a:solidFill>
          <a:ln w="12700">
            <a:solidFill>
              <a:srgbClr val="0F172A"/>
            </a:solidFill>
            <a:prstDash val="solid"/>
          </a:ln>
        </p:spPr>
      </p:sp>
      <p:sp>
        <p:nvSpPr>
          <p:cNvPr id="5" name="Text 3"/>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core/theme/brand_provider.dart</a:t>
            </a:r>
            <a:endParaRPr lang="en-US" sz="800" dirty="0"/>
          </a:p>
        </p:txBody>
      </p:sp>
      <p:sp>
        <p:nvSpPr>
          <p:cNvPr id="6" name="Text 4"/>
          <p:cNvSpPr txBox="1"/>
          <p:nvPr/>
        </p:nvSpPr>
        <p:spPr>
          <a:xfrm>
            <a:off x="5481462" y="1435608"/>
            <a:ext cx="6021690" cy="4535424"/>
          </a:xfrm>
          <a:prstGeom prst="rect">
            <a:avLst/>
          </a:prstGeom>
          <a:noFill/>
          <a:ln/>
        </p:spPr>
        <p:txBody>
          <a:bodyPr wrap="square" lIns="0" tIns="0" rIns="0" bIns="0" rtlCol="0" anchor="t"/>
          <a:lstStyle/>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lib/core/theme/brand_provider.dart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import 'package:flutter_riverpod/flutter_riverpod.dart';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import 'brand_theme.dart';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BrandKeyNotifier extends Notifier&lt;String&gt;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String build() =&gt; 'alpha';                       // initial state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void set(String key) =&gt; state = key;             // assign → listeners rebuild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void toggle() =&gt; state = state == 'alpha' ? 'beta' : 'alpha';</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brandKeyProvider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NotifierProvider&lt;BrandKeyNotifier, String&gt;(BrandKeyNotifier.new);</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Derived provider: recomputes only when brandKeyProvider changes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brandProvider = Provider&lt;BrandTheme&gt;((ref)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key = ref.watch(brandKeyProvider);</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brands[key] ?? brands['alpha']!;</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Consuming: ConsumerWidget and ref.watch</a:t>
            </a:r>
            <a:endParaRPr lang="en-US" sz="3000" dirty="0"/>
          </a:p>
        </p:txBody>
      </p:sp>
      <p:sp>
        <p:nvSpPr>
          <p:cNvPr id="3" name="Text 1"/>
          <p:cNvSpPr txBox="1"/>
          <p:nvPr/>
        </p:nvSpPr>
        <p:spPr>
          <a:xfrm>
            <a:off x="548640" y="1325880"/>
            <a:ext cx="42995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ConsumerWidget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StatelessWidget with a WidgetRef parameter in build.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ConsumerStatefulWidget / ConsumerState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when you also need controllers; ref is a field.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Consumer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a builder to rebuild only a sub-tree of a plain widget.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ref.watch(provider)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in build: subscribe and rebuild when it changes.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ref.read(provider.notifier)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in callbacks: get the notifier to call methods.</a:t>
            </a:r>
            <a:endParaRPr lang="en-US" sz="1400" dirty="0"/>
          </a:p>
        </p:txBody>
      </p:sp>
      <p:sp>
        <p:nvSpPr>
          <p:cNvPr id="4" name="Shape 2"/>
          <p:cNvSpPr/>
          <p:nvPr/>
        </p:nvSpPr>
        <p:spPr>
          <a:xfrm>
            <a:off x="5122469" y="1325880"/>
            <a:ext cx="6517843" cy="4754880"/>
          </a:xfrm>
          <a:prstGeom prst="roundRect">
            <a:avLst>
              <a:gd name="adj" fmla="val 1538"/>
            </a:avLst>
          </a:prstGeom>
          <a:solidFill>
            <a:srgbClr val="0F172A"/>
          </a:solidFill>
          <a:ln w="12700">
            <a:solidFill>
              <a:srgbClr val="0F172A"/>
            </a:solidFill>
            <a:prstDash val="solid"/>
          </a:ln>
        </p:spPr>
      </p:sp>
      <p:sp>
        <p:nvSpPr>
          <p:cNvPr id="5" name="Text 3"/>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app.dart</a:t>
            </a:r>
            <a:endParaRPr lang="en-US" sz="800" dirty="0"/>
          </a:p>
        </p:txBody>
      </p:sp>
      <p:sp>
        <p:nvSpPr>
          <p:cNvPr id="6" name="Text 4"/>
          <p:cNvSpPr txBox="1"/>
          <p:nvPr/>
        </p:nvSpPr>
        <p:spPr>
          <a:xfrm>
            <a:off x="5259629" y="1435608"/>
            <a:ext cx="6243523" cy="4535424"/>
          </a:xfrm>
          <a:prstGeom prst="rect">
            <a:avLst/>
          </a:prstGeom>
          <a:noFill/>
          <a:ln/>
        </p:spPr>
        <p:txBody>
          <a:bodyPr wrap="square" lIns="0" tIns="0" rIns="0" bIns="0" rtlCol="0" anchor="t"/>
          <a:lstStyle/>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lib/app.dart - no State, no callbacks</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QuoteApp extends ConsumerWidget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QuoteApp({super.key});</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Widget build(BuildContext context, WidgetRef ref)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brand = ref.watch(brandProvider);         // rebuilds on brand change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MaterialApp(</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title: brand.name,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theme: brand.toThemeData(Brightness.light),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darkTheme: brand.toThemeData(Brightness.dark),</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themeMode: ThemeMode.system,</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home: const CaptureScreen(),                  // takes nothing</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Anywhere below, e.g. the AppBar action:</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IconButton(</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icon: const Icon(Icons.swap_horiz),</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tooltip: 'Switch brand',</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onPressed: () =&gt; ref.read(brandKeyProvider.notifier).toggle(),  // read in callbacks</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watch, read, listen, select - the rules</a:t>
            </a:r>
            <a:endParaRPr lang="en-US" sz="3000" dirty="0"/>
          </a:p>
        </p:txBody>
      </p:sp>
      <p:sp>
        <p:nvSpPr>
          <p:cNvPr id="3" name="Text 1"/>
          <p:cNvSpPr txBox="1"/>
          <p:nvPr/>
        </p:nvSpPr>
        <p:spPr>
          <a:xfrm>
            <a:off x="548640" y="1325880"/>
            <a:ext cx="42995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watch in build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always. It is how the widget subscribes.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read in callbacks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onPressed, onSubmit, initState. Never in build - it does not subscribe, so the widget silently stops updating.</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listen in build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for side effects: snackbars, navigation, analytics. Does not rebuild.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select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rebuild only when one field changes. Use for expensive widgets.</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Never watch in a callback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it throws or leaks. riverpod_lint flags it.</a:t>
            </a:r>
            <a:endParaRPr lang="en-US" sz="1400" dirty="0"/>
          </a:p>
        </p:txBody>
      </p:sp>
      <p:sp>
        <p:nvSpPr>
          <p:cNvPr id="4" name="Shape 2"/>
          <p:cNvSpPr/>
          <p:nvPr/>
        </p:nvSpPr>
        <p:spPr>
          <a:xfrm>
            <a:off x="5122469" y="1325880"/>
            <a:ext cx="6517843" cy="4754880"/>
          </a:xfrm>
          <a:prstGeom prst="roundRect">
            <a:avLst>
              <a:gd name="adj" fmla="val 1538"/>
            </a:avLst>
          </a:prstGeom>
          <a:solidFill>
            <a:srgbClr val="0F172A"/>
          </a:solidFill>
          <a:ln w="12700">
            <a:solidFill>
              <a:srgbClr val="0F172A"/>
            </a:solidFill>
            <a:prstDash val="solid"/>
          </a:ln>
        </p:spPr>
      </p:sp>
      <p:sp>
        <p:nvSpPr>
          <p:cNvPr id="5" name="Text 3"/>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6" name="Text 4"/>
          <p:cNvSpPr txBox="1"/>
          <p:nvPr/>
        </p:nvSpPr>
        <p:spPr>
          <a:xfrm>
            <a:off x="5259629" y="1435608"/>
            <a:ext cx="6243523" cy="4535424"/>
          </a:xfrm>
          <a:prstGeom prst="rect">
            <a:avLst/>
          </a:prstGeom>
          <a:noFill/>
          <a:ln/>
        </p:spPr>
        <p:txBody>
          <a:bodyPr wrap="square" lIns="0" tIns="0" rIns="0" bIns="0" rtlCol="0" anchor="t"/>
          <a:lstStyle/>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ref.watch - in build(): subscribe; rebuild when the value changes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brand = ref.watch(brandProvider);</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ref.read - in callbacks: one-off read, no subscription</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onPressed: () =&gt; ref.read(brandKeyProvider.notifier).toggle()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ref.listen - side effects (snackbar, navigation) on change, no rebuild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ref.listen&lt;QuoteState&gt;(quoteProvider, (prev, next)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if (next is QuoteFailed)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ScaffoldMessenger.of(context).showSnackBar(SnackBar(content: Text(next.message)));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select - rebuild only when a sub-value changes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name = ref.watch(brandProvider.select((b) =&gt; b.name));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Rules: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watch in build, never in callbacks or initState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read in callbacks, never in build (it will not rebuild)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listen in build for side effects</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Dependency injection: services are providers too</a:t>
            </a:r>
            <a:endParaRPr lang="en-US" sz="3000" dirty="0"/>
          </a:p>
        </p:txBody>
      </p:sp>
      <p:sp>
        <p:nvSpPr>
          <p:cNvPr id="3" name="Text 1"/>
          <p:cNvSpPr txBox="1"/>
          <p:nvPr/>
        </p:nvSpPr>
        <p:spPr>
          <a:xfrm>
            <a:off x="548640" y="1325880"/>
            <a:ext cx="4521342"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 service interface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QuoteService with a fake and (Day 4) a dio implementation.</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Provider&lt;QuoteService&gt;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returns the implementation. UI and notifiers ref.read it; nobody calls a constructor.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Swap in one place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Day 4: return DioQuoteService(ref.watch(dioProvider)). No UI change.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Swap in tests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ProviderScope(overrides: [quoteServiceProvider.overrideWithValue(FakeQuoteService())]).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Services can depend on services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ref.watch(dioProvider) inside another provider - a DI graph without a container library.</a:t>
            </a:r>
            <a:endParaRPr lang="en-US" sz="1400" dirty="0"/>
          </a:p>
        </p:txBody>
      </p:sp>
      <p:sp>
        <p:nvSpPr>
          <p:cNvPr id="4" name="Shape 2"/>
          <p:cNvSpPr/>
          <p:nvPr/>
        </p:nvSpPr>
        <p:spPr>
          <a:xfrm>
            <a:off x="5344302" y="1325880"/>
            <a:ext cx="6296010" cy="4754880"/>
          </a:xfrm>
          <a:prstGeom prst="roundRect">
            <a:avLst>
              <a:gd name="adj" fmla="val 1538"/>
            </a:avLst>
          </a:prstGeom>
          <a:solidFill>
            <a:srgbClr val="0F172A"/>
          </a:solidFill>
          <a:ln w="12700">
            <a:solidFill>
              <a:srgbClr val="0F172A"/>
            </a:solidFill>
            <a:prstDash val="solid"/>
          </a:ln>
        </p:spPr>
      </p:sp>
      <p:sp>
        <p:nvSpPr>
          <p:cNvPr id="5" name="Text 3"/>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quote_service.dart · quote_providers.dart</a:t>
            </a:r>
            <a:endParaRPr lang="en-US" sz="800" dirty="0"/>
          </a:p>
        </p:txBody>
      </p:sp>
      <p:sp>
        <p:nvSpPr>
          <p:cNvPr id="6" name="Text 4"/>
          <p:cNvSpPr txBox="1"/>
          <p:nvPr/>
        </p:nvSpPr>
        <p:spPr>
          <a:xfrm>
            <a:off x="5481462" y="1435608"/>
            <a:ext cx="6021690" cy="4535424"/>
          </a:xfrm>
          <a:prstGeom prst="rect">
            <a:avLst/>
          </a:prstGeom>
          <a:noFill/>
          <a:ln/>
        </p:spPr>
        <p:txBody>
          <a:bodyPr wrap="square" lIns="0" tIns="0" rIns="0" bIns="0" rtlCol="0" anchor="t"/>
          <a:lstStyle/>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lib/features/quote/data/quote_service.dart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abstract interface class QuoteService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Future&lt;Quote&gt; getQuote(QuoteRequest request);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FakeQuoteService implements QuoteService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Future&lt;Quote&gt; getQuote(QuoteRequest request) async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await Future.delayed(const Duration(milliseconds: 1200));</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if (request.year &lt; 2000) throw Exception('Vehicle too old to insure');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Quote(id: 'q-${DateTime.now().millisecondsSinceEpoch}',</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premium: calculatePremium(request));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lib/features/quote/presentation/quote_providers.dart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Dependency injection: the UI never constructs a service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quoteServiceProvider = Provider&lt;QuoteService&gt;((ref) =&gt; FakeQuoteService());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Day 4: return DioQuoteService(ref.watch(dioProvider)) - one line changes</a:t>
            </a:r>
            <a:endParaRPr lang="en-US" sz="10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C9A227"/>
          </a:solidFill>
          <a:ln w="12700">
            <a:solidFill>
              <a:srgbClr val="C9A227"/>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LAB 3.1</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0B2545"/>
                </a:solidFill>
                <a:latin typeface="Calibri" pitchFamily="34" charset="0"/>
                <a:ea typeface="Calibri" pitchFamily="34" charset="-122"/>
                <a:cs typeface="Calibri" pitchFamily="34" charset="-120"/>
              </a:rPr>
              <a:t>Brand toggle → Riverpod provider</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5B6773"/>
                </a:solidFill>
                <a:latin typeface="Calibri" pitchFamily="34" charset="0"/>
                <a:ea typeface="Calibri" pitchFamily="34" charset="-122"/>
                <a:cs typeface="Calibri" pitchFamily="34" charset="-120"/>
              </a:rPr>
              <a:t>35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0B2545"/>
                </a:solidFill>
                <a:latin typeface="Calibri" pitchFamily="34" charset="0"/>
                <a:ea typeface="Calibri" pitchFamily="34" charset="-122"/>
                <a:cs typeface="Calibri" pitchFamily="34" charset="-120"/>
              </a:rPr>
              <a:t>Goal  </a:t>
            </a:r>
            <a:pPr indent="0" marL="0">
              <a:buNone/>
            </a:pPr>
            <a:r>
              <a:rPr lang="en-US" sz="1400" dirty="0">
                <a:solidFill>
                  <a:srgbClr val="1F2933"/>
                </a:solidFill>
                <a:latin typeface="Calibri" pitchFamily="34" charset="0"/>
                <a:ea typeface="Calibri" pitchFamily="34" charset="-122"/>
                <a:cs typeface="Calibri" pitchFamily="34" charset="-120"/>
              </a:rPr>
              <a:t>The brand key lives in a NotifierProvider; QuoteApp and CaptureScreen have no brand parameters or callbacks; the toggle still works; a derived provider supplies BrandTheme.</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flutter pub add flutter_riverpod (pin ^3.0.0 in pubspec). main.dart: runApp(const ProviderScope(child: QuoteApp())).</a:t>
            </a:r>
            <a:endParaRPr lang="en-US" sz="1300" dirty="0"/>
          </a:p>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Create lib/core/theme/brand_provider.dart: BrandKeyNotifier (build → "alpha", set, toggle), brandKeyProvider, derived brandProvider.</a:t>
            </a:r>
            <a:endParaRPr lang="en-US" sz="1300" dirty="0"/>
          </a:p>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QuoteApp → ConsumerWidget; ref.watch(brandProvider) for theme/title; home: const CaptureScreen().</a:t>
            </a:r>
            <a:endParaRPr lang="en-US" sz="1300" dirty="0"/>
          </a:p>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CaptureScreen → ConsumerStatefulWidget (it will own the form later); remove brand and onSwitchBrand parameters; AppBar title from ref.watch(brandProvider).name; toggle via ref.read(brandKeyProvider.notifier).toggle().</a:t>
            </a:r>
            <a:endParaRPr lang="en-US" sz="1300" dirty="0"/>
          </a:p>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_BrandHeader: read the brand via ref.watch - make it a ConsumerWidget.</a:t>
            </a:r>
            <a:endParaRPr lang="en-US" sz="1300" dirty="0"/>
          </a:p>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Hot restart (main changed). Toggle works? Then deliberately change one watch to read, toggle, observe nothing updates, change it back.</a:t>
            </a:r>
            <a:endParaRPr lang="en-US" sz="1300" dirty="0"/>
          </a:p>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Add a third brand to the map and confirm no widget file changes.</a:t>
            </a:r>
            <a:endParaRPr lang="en-US" sz="1300" dirty="0"/>
          </a:p>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flutter analyze clean; commit "Day 3: brand provider".</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1F7A5C"/>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Use select so _BrandHeader rebuilds only when the brand name changes.</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Add a ProviderObserver that debugPrints every brand change (see the observers slide, Appendix B).</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Persist nothing yet - but sketch where shared_preferences would plug into BrandKeyNotifier.build() for Day 4.</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13315C"/>
          </a:solidFill>
          <a:ln w="12700">
            <a:solidFill>
              <a:srgbClr val="13315C"/>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E3C766"/>
                </a:solidFill>
                <a:latin typeface="Calibri" pitchFamily="34" charset="0"/>
                <a:ea typeface="Calibri" pitchFamily="34" charset="-122"/>
                <a:cs typeface="Calibri" pitchFamily="34" charset="-120"/>
              </a:rPr>
              <a:t>MODULE 11  ·  13:15 - 14:30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Async state, and the wider landscape</a:t>
            </a:r>
            <a:endParaRPr lang="en-US" sz="4000" dirty="0"/>
          </a:p>
        </p:txBody>
      </p:sp>
      <p:sp>
        <p:nvSpPr>
          <p:cNvPr id="5" name="Shape 3"/>
          <p:cNvSpPr/>
          <p:nvPr/>
        </p:nvSpPr>
        <p:spPr>
          <a:xfrm>
            <a:off x="6949440" y="1188720"/>
            <a:ext cx="4663440" cy="4389120"/>
          </a:xfrm>
          <a:prstGeom prst="roundRect">
            <a:avLst>
              <a:gd name="adj" fmla="val 2083"/>
            </a:avLst>
          </a:prstGeom>
          <a:solidFill>
            <a:srgbClr val="13315C"/>
          </a:solidFill>
          <a:ln w="6350">
            <a:solidFill>
              <a:srgbClr val="13315C"/>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E3C766"/>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Model loading / data / error with sealed state or AsyncValue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AsyncNotifier, FutureProvider, family and autoDispose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Know the Riverpod 3 behaviours that affect demos and tests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Explain what Bloc adds and when a team should choose it</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A Notifier for the quote flow: sealed state, explicit transitions</a:t>
            </a:r>
            <a:endParaRPr lang="en-US" sz="3000" dirty="0"/>
          </a:p>
        </p:txBody>
      </p:sp>
      <p:sp>
        <p:nvSpPr>
          <p:cNvPr id="3" name="Text 1"/>
          <p:cNvSpPr txBox="1"/>
          <p:nvPr/>
        </p:nvSpPr>
        <p:spPr>
          <a:xfrm>
            <a:off x="548640" y="1325880"/>
            <a:ext cx="4077675"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State is a sealed class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from Day 1: Idle, Loading, Loaded(quote), Failed(message). The compiler enforces exhaustive rendering.</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submit()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sets Loading, awaits the injected service, sets Loaded or Failed. Never throws to the UI.</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ref.read inside the notifier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to get the service - the notifier depends on the DI graph, not on a constructor argument.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reset()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back to Idle. Small methods, one responsibility each.</a:t>
            </a:r>
            <a:endParaRPr lang="en-US" sz="1400" dirty="0"/>
          </a:p>
        </p:txBody>
      </p:sp>
      <p:sp>
        <p:nvSpPr>
          <p:cNvPr id="4" name="Shape 2"/>
          <p:cNvSpPr/>
          <p:nvPr/>
        </p:nvSpPr>
        <p:spPr>
          <a:xfrm>
            <a:off x="4900635" y="1325880"/>
            <a:ext cx="6739677" cy="4754880"/>
          </a:xfrm>
          <a:prstGeom prst="roundRect">
            <a:avLst>
              <a:gd name="adj" fmla="val 1538"/>
            </a:avLst>
          </a:prstGeom>
          <a:solidFill>
            <a:srgbClr val="0F172A"/>
          </a:solidFill>
          <a:ln w="12700">
            <a:solidFill>
              <a:srgbClr val="0F172A"/>
            </a:solidFill>
            <a:prstDash val="solid"/>
          </a:ln>
        </p:spPr>
      </p:sp>
      <p:sp>
        <p:nvSpPr>
          <p:cNvPr id="5" name="Text 3"/>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quote_providers.dart</a:t>
            </a:r>
            <a:endParaRPr lang="en-US" sz="800" dirty="0"/>
          </a:p>
        </p:txBody>
      </p:sp>
      <p:sp>
        <p:nvSpPr>
          <p:cNvPr id="6" name="Text 4"/>
          <p:cNvSpPr txBox="1"/>
          <p:nvPr/>
        </p:nvSpPr>
        <p:spPr>
          <a:xfrm>
            <a:off x="5037795" y="1435608"/>
            <a:ext cx="6465357" cy="4535424"/>
          </a:xfrm>
          <a:prstGeom prst="rect">
            <a:avLst/>
          </a:prstGeom>
          <a:noFill/>
          <a:ln/>
        </p:spPr>
        <p:txBody>
          <a:bodyPr wrap="square" lIns="0" tIns="0" rIns="0" bIns="0" rtlCol="0" anchor="t"/>
          <a:lstStyle/>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lib/features/quote/presentation/quote_providers.dart (continued)</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QuoteState / Idle / Loading / Loaded / Failed ALREADY EXIST in</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domain/quote_model.dart from Lab 1.2. Import them - do NOT redeclare,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or you get ambiguous_import errors across the feature.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import 'package:quote_app/features/quote/domain/quote_model.dart';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QuoteNotifier extends Notifier&lt;QuoteState&gt;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QuoteState build() =&gt; const QuoteIdle();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Future&lt;void&gt; submit(QuoteRequest request) async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state = const QuoteLoading();</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try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quote = await ref.read(quoteServiceProvider).getQuote(request);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state = QuoteLoaded(quote);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 catch (e)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state = QuoteFailed(e.toString().replaceFirst('Exception: ',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void reset() =&gt; state = const QuoteIdle();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final quoteProvider = NotifierProvider&lt;QuoteNotifier, QuoteState&gt;(QuoteNotifier.new);</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Rendering the state and triggering the notifier</a:t>
            </a:r>
            <a:endParaRPr lang="en-US" sz="3000" dirty="0"/>
          </a:p>
        </p:txBody>
      </p:sp>
      <p:sp>
        <p:nvSpPr>
          <p:cNvPr id="3" name="Shape 1"/>
          <p:cNvSpPr/>
          <p:nvPr/>
        </p:nvSpPr>
        <p:spPr>
          <a:xfrm>
            <a:off x="548640" y="1325880"/>
            <a:ext cx="11091672" cy="4206240"/>
          </a:xfrm>
          <a:prstGeom prst="roundRect">
            <a:avLst>
              <a:gd name="adj" fmla="val 1739"/>
            </a:avLst>
          </a:prstGeom>
          <a:solidFill>
            <a:srgbClr val="0F172A"/>
          </a:solidFill>
          <a:ln w="12700">
            <a:solidFill>
              <a:srgbClr val="0F172A"/>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capture_screen.dart (ConsumerState)</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In CaptureScreen (ConsumerState) - render the state, trigger the notifier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@override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Widget build(BuildContext context)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state = ref.watch(quoteProvider);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ref.listen(quoteProvider, (prev, next) {          // side effect, not UI</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if (next is QuoteFailed)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ScaffoldMessenger.of(context)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.showSnackBar(SnackBar(content: Text(next.message)));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Scaffold(</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appBar: AppBar(title: Text(ref.watch(brandProvider).name)),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body: Column(children: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CaptureForm(</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enabled: state is! QuoteLoading,</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onSubmit: (r) =&gt; ref.read(quoteProvider.notifier).submit(r),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SizedBox(height: 16),</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switch (state) {                                  // exhaustive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QuoteIdle()           =&gt; const Text('Fill in the form to get a quote'),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QuoteLoading()        =&gt; const CircularProgressIndicator(),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QuoteLoaded(:final quote) =&gt; PremiumCard(quote: quote),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QuoteFailed(:final message) =&gt; Text(message,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style: TextStyle(color: Theme.of(context).colorScheme.error)),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5B6773"/>
                </a:solidFill>
                <a:latin typeface="Calibri" pitchFamily="34" charset="0"/>
                <a:ea typeface="Calibri" pitchFamily="34" charset="-122"/>
                <a:cs typeface="Calibri" pitchFamily="34" charset="-120"/>
              </a:rPr>
              <a:t>switch expression on the sealed state - the compiler will not let you forget a case. ref.listen handles the SnackBar side effect. The form is disabled while loading via an enabled flag.</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AsyncNotifier, AsyncValue and FutureProvider</a:t>
            </a:r>
            <a:endParaRPr lang="en-US" sz="3000" dirty="0"/>
          </a:p>
        </p:txBody>
      </p:sp>
      <p:sp>
        <p:nvSpPr>
          <p:cNvPr id="3" name="Text 1"/>
          <p:cNvSpPr txBox="1"/>
          <p:nvPr/>
        </p:nvSpPr>
        <p:spPr>
          <a:xfrm>
            <a:off x="548640" y="1325880"/>
            <a:ext cx="3855842"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AsyncValue&lt;T&gt;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loading / data / error in one type, with .when() and .value. Riverpod's built-in version of our sealed state.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AsyncNotifier&lt;T&gt;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build() is async; methods set state = AsyncLoading() then AsyncValue.guard(() async {...}).</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FutureProvider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read-only async: config, reference lists. Cached; ref.invalidate to refetch.</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Choose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sealed Notifier when the state has domain meaning beyond loading/data/error; AsyncNotifier when it IS the async value (a list from the DB).</a:t>
            </a:r>
            <a:endParaRPr lang="en-US" sz="1400" dirty="0"/>
          </a:p>
        </p:txBody>
      </p:sp>
      <p:sp>
        <p:nvSpPr>
          <p:cNvPr id="4" name="Shape 2"/>
          <p:cNvSpPr/>
          <p:nvPr/>
        </p:nvSpPr>
        <p:spPr>
          <a:xfrm>
            <a:off x="4678802" y="1325880"/>
            <a:ext cx="6961510" cy="4754880"/>
          </a:xfrm>
          <a:prstGeom prst="roundRect">
            <a:avLst>
              <a:gd name="adj" fmla="val 1538"/>
            </a:avLst>
          </a:prstGeom>
          <a:solidFill>
            <a:srgbClr val="0F172A"/>
          </a:solidFill>
          <a:ln w="12700">
            <a:solidFill>
              <a:srgbClr val="0F172A"/>
            </a:solidFill>
            <a:prstDash val="solid"/>
          </a:ln>
        </p:spPr>
      </p:sp>
      <p:sp>
        <p:nvSpPr>
          <p:cNvPr id="5" name="Text 3"/>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saved_quotes_provider.dart</a:t>
            </a:r>
            <a:endParaRPr lang="en-US" sz="800" dirty="0"/>
          </a:p>
        </p:txBody>
      </p:sp>
      <p:sp>
        <p:nvSpPr>
          <p:cNvPr id="6" name="Text 4"/>
          <p:cNvSpPr txBox="1"/>
          <p:nvPr/>
        </p:nvSpPr>
        <p:spPr>
          <a:xfrm>
            <a:off x="4815962" y="1435608"/>
            <a:ext cx="6687190" cy="4535424"/>
          </a:xfrm>
          <a:prstGeom prst="rect">
            <a:avLst/>
          </a:prstGeom>
          <a:noFill/>
          <a:ln/>
        </p:spPr>
        <p:txBody>
          <a:bodyPr wrap="square" lIns="0" tIns="0" rIns="0" bIns="0" rtlCol="0" anchor="t"/>
          <a:lstStyle/>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When the state IS the async value, let Riverpod model loading/error for you</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class SavedQuotesNotifier extends AsyncNotifier&lt;List&lt;Quote&gt;&gt;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Future&lt;List&lt;Quote&gt;&gt; build() async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ref.read(quoteRepositoryProvider).loadAll();   // Day 4: SQLite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Future&lt;void&gt; add(Quote q) async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repo = ref.read(quoteRepositoryProvider);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state = const AsyncLoading();</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state = await AsyncValue.guard(() async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await repo.save(q);</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repo.loadAll();</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final savedQuotesProvider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AsyncNotifierProvider&lt;SavedQuotesNotifier, List&lt;Quote&gt;&gt;(SavedQuotesNotifier.new);</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UI: AsyncValue has when()</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ref.watch(savedQuotesProvider).when(</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data: (quotes) =&gt; SavedQuotesList(quotes: quotes, onDelete: (_)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loading: () =&gt; const Center(child: CircularProgressIndicator()),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error: (e, st) =&gt; Text('Could not load: $e'),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FutureProvider - read-only async (config, lookups)</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final makesProvider = FutureProvider&lt;List&lt;String&gt;&gt;((ref) async =&gt; ['Toyota', 'VW', 'BMW']);</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family, autoDispose, keepAlive</a:t>
            </a:r>
            <a:endParaRPr lang="en-US" sz="3000" dirty="0"/>
          </a:p>
        </p:txBody>
      </p:sp>
      <p:sp>
        <p:nvSpPr>
          <p:cNvPr id="3" name="Text 1"/>
          <p:cNvSpPr txBox="1"/>
          <p:nvPr/>
        </p:nvSpPr>
        <p:spPr>
          <a:xfrm>
            <a:off x="548640" y="1325880"/>
            <a:ext cx="42995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family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a provider per argument (quote by id). Riverpod 3: the argument is a constructor parameter of the Notifier.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autoDispose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dispose state when the last watcher goes away - search fields, detail screens. Avoids stale caches and memory growth.</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ref.keepAlive()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opt a specific instance out of disposal after it succeeded (cache after first load).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ref.onDispose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clean up streams/controllers created in a provider.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Default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providers are kept alive; make detail-screen providers autoDispose.</a:t>
            </a:r>
            <a:endParaRPr lang="en-US" sz="1400" dirty="0"/>
          </a:p>
        </p:txBody>
      </p:sp>
      <p:sp>
        <p:nvSpPr>
          <p:cNvPr id="4" name="Shape 2"/>
          <p:cNvSpPr/>
          <p:nvPr/>
        </p:nvSpPr>
        <p:spPr>
          <a:xfrm>
            <a:off x="5122469" y="1325880"/>
            <a:ext cx="6517843" cy="4754880"/>
          </a:xfrm>
          <a:prstGeom prst="roundRect">
            <a:avLst>
              <a:gd name="adj" fmla="val 1538"/>
            </a:avLst>
          </a:prstGeom>
          <a:solidFill>
            <a:srgbClr val="0F172A"/>
          </a:solidFill>
          <a:ln w="12700">
            <a:solidFill>
              <a:srgbClr val="0F172A"/>
            </a:solidFill>
            <a:prstDash val="solid"/>
          </a:ln>
        </p:spPr>
      </p:sp>
      <p:sp>
        <p:nvSpPr>
          <p:cNvPr id="5" name="Text 3"/>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6" name="Text 4"/>
          <p:cNvSpPr txBox="1"/>
          <p:nvPr/>
        </p:nvSpPr>
        <p:spPr>
          <a:xfrm>
            <a:off x="5259629" y="1435608"/>
            <a:ext cx="6243523" cy="4535424"/>
          </a:xfrm>
          <a:prstGeom prst="rect">
            <a:avLst/>
          </a:prstGeom>
          <a:noFill/>
          <a:ln/>
        </p:spPr>
        <p:txBody>
          <a:bodyPr wrap="square" lIns="0" tIns="0" rIns="0" bIns="0" rtlCol="0" anchor="t"/>
          <a:lstStyle/>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Parameterised provider (Riverpod 3: family = constructor parameter)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QuoteByIdNotifier extends AsyncNotifier&lt;Quote&gt;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QuoteByIdNotifier(this.id);</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String id;</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Future&lt;Quote&gt; build() =&gt; ref.read(quoteRepositoryProvider).byId(id);</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final quoteByIdProvider = AsyncNotifierProvider.family&lt;QuoteByIdNotifier, Quote, String&gt;(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QuoteByIdNotifier.new,</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ref.watch(quoteByIdProvider('q-123'));</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autoDispose - state is disposed when no widget watches it any more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final searchProvider = Provider.autoDispose&lt;String&gt;((ref)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ref.onDispose(() =&gt; debugPrint('search disposed'));</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keepAlive on demand inside a provider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final cachedProvider = FutureProvider.autoDispose&lt;List&lt;String&gt;&gt;((ref) async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ref.keepAlive();         // keep after first successful load</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fetchMakes();</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Riverpod 3 behaviours that affect demos and tests</a:t>
            </a:r>
            <a:endParaRPr lang="en-US" sz="3000" dirty="0"/>
          </a:p>
        </p:txBody>
      </p:sp>
      <p:sp>
        <p:nvSpPr>
          <p:cNvPr id="3" name="Text 1"/>
          <p:cNvSpPr txBox="1"/>
          <p:nvPr/>
        </p:nvSpPr>
        <p:spPr>
          <a:xfrm>
            <a:off x="548640" y="1325880"/>
            <a:ext cx="4521342"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Automatic retry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a provider that throws is retried with back-off. Great in production, confusing on a projector - disable it in ProviderScope while teaching.</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ProviderException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errors from ref.read/watch are wrapped; inspect .exception.</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Equality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updates are filtered with ==. Two equal states do not rebuild - override == or use records/freezed.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Legacy imports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StateProvider, ChangeNotifierProvider moved to flutter_riverpod/legacy.dart.</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Ref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no generic parameter; old tutorials with ProviderRef&lt;T&gt; are 2.x.</a:t>
            </a:r>
            <a:endParaRPr lang="en-US" sz="1400" dirty="0"/>
          </a:p>
        </p:txBody>
      </p:sp>
      <p:sp>
        <p:nvSpPr>
          <p:cNvPr id="4" name="Shape 2"/>
          <p:cNvSpPr/>
          <p:nvPr/>
        </p:nvSpPr>
        <p:spPr>
          <a:xfrm>
            <a:off x="5344302" y="1325880"/>
            <a:ext cx="6296010" cy="4754880"/>
          </a:xfrm>
          <a:prstGeom prst="roundRect">
            <a:avLst>
              <a:gd name="adj" fmla="val 1538"/>
            </a:avLst>
          </a:prstGeom>
          <a:solidFill>
            <a:srgbClr val="0F172A"/>
          </a:solidFill>
          <a:ln w="12700">
            <a:solidFill>
              <a:srgbClr val="0F172A"/>
            </a:solidFill>
            <a:prstDash val="solid"/>
          </a:ln>
        </p:spPr>
      </p:sp>
      <p:sp>
        <p:nvSpPr>
          <p:cNvPr id="5" name="Text 3"/>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6" name="Text 4"/>
          <p:cNvSpPr txBox="1"/>
          <p:nvPr/>
        </p:nvSpPr>
        <p:spPr>
          <a:xfrm>
            <a:off x="5481462" y="1435608"/>
            <a:ext cx="6021690" cy="4535424"/>
          </a:xfrm>
          <a:prstGeom prst="rect">
            <a:avLst/>
          </a:prstGeom>
          <a:noFill/>
          <a:ln/>
        </p:spPr>
        <p:txBody>
          <a:bodyPr wrap="square" lIns="0" tIns="0" rIns="0" bIns="0" rtlCol="0" anchor="t"/>
          <a:lstStyle/>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Riverpod 3 behaviours to know before you demo</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1) Failures are wrapped. ProviderException is NOT in the main barrel:</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import 'package:flutter_riverpod/misc.dart';   // then: on ProviderException catch (e) =&gt; e.exception</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2) Automatic retry of failed providers is ON by default (exponential back-off).</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Turn it off globally while teaching so errors are visible immediately:</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ProviderScope(retry: (retryCount, error) =&gt; null, child: const QuoteApp())</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3) Providers compare with == (not identical) - value equality on state</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objects matters: override == / hashCode or use records / freezed.</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4) Legacy providers moved:</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import 'package:flutter_riverpod/legacy.dart';   // StateProvider, ChangeNotifierProvider</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5) Ref no longer has a type parameter: Ref, not Ref&lt;T&gt; / ProviderRef&lt;T&gt;.</a:t>
            </a:r>
            <a:endParaRPr lang="en-US" sz="11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Testing preview: no widgets required</a:t>
            </a:r>
            <a:endParaRPr lang="en-US" sz="3000" dirty="0"/>
          </a:p>
        </p:txBody>
      </p:sp>
      <p:sp>
        <p:nvSpPr>
          <p:cNvPr id="3" name="Text 1"/>
          <p:cNvSpPr txBox="1"/>
          <p:nvPr/>
        </p:nvSpPr>
        <p:spPr>
          <a:xfrm>
            <a:off x="548640" y="1325880"/>
            <a:ext cx="4299509" cy="47548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ProviderContainer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a scope without widgets. overrides: swap the service for a fake.</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container.listen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records every state; assert the sequence idle → loading → loaded.</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container.read(provider.notifier)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call methods directly.</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This is why Riverpod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the pricing flow of an insurance app is tested in milliseconds with no emulator.</a:t>
            </a:r>
            <a:endParaRPr lang="en-US" sz="1400" dirty="0"/>
          </a:p>
          <a:p>
            <a:pPr marL="177800" indent="-177800">
              <a:spcAft>
                <a:spcPts val="800"/>
              </a:spcAft>
              <a:buSzPct val="100000"/>
              <a:buChar char="•"/>
            </a:pPr>
            <a:r>
              <a:rPr lang="en-US" sz="1400" b="1" dirty="0">
                <a:solidFill>
                  <a:srgbClr val="0B2545"/>
                </a:solidFill>
                <a:latin typeface="Calibri" pitchFamily="34" charset="0"/>
                <a:ea typeface="Calibri" pitchFamily="34" charset="-122"/>
                <a:cs typeface="Calibri" pitchFamily="34" charset="-120"/>
              </a:rPr>
              <a:t>Day 5 </a:t>
            </a:r>
            <a:pPr indent="0" marL="0">
              <a:spcAft>
                <a:spcPts val="800"/>
              </a:spcAft>
              <a:buNone/>
            </a:pPr>
            <a:r>
              <a:rPr lang="en-US" sz="1400" dirty="0">
                <a:solidFill>
                  <a:srgbClr val="1F2933"/>
                </a:solidFill>
                <a:latin typeface="Calibri" pitchFamily="34" charset="0"/>
                <a:ea typeface="Calibri" pitchFamily="34" charset="-122"/>
                <a:cs typeface="Calibri" pitchFamily="34" charset="-120"/>
              </a:rPr>
              <a:t>widget tests with ProviderScope overrides, mocktail for the service.</a:t>
            </a:r>
            <a:endParaRPr lang="en-US" sz="1400" dirty="0"/>
          </a:p>
        </p:txBody>
      </p:sp>
      <p:sp>
        <p:nvSpPr>
          <p:cNvPr id="4" name="Shape 2"/>
          <p:cNvSpPr/>
          <p:nvPr/>
        </p:nvSpPr>
        <p:spPr>
          <a:xfrm>
            <a:off x="5122469" y="1325880"/>
            <a:ext cx="6517843" cy="4754880"/>
          </a:xfrm>
          <a:prstGeom prst="roundRect">
            <a:avLst>
              <a:gd name="adj" fmla="val 1538"/>
            </a:avLst>
          </a:prstGeom>
          <a:solidFill>
            <a:srgbClr val="0F172A"/>
          </a:solidFill>
          <a:ln w="12700">
            <a:solidFill>
              <a:srgbClr val="0F172A"/>
            </a:solidFill>
            <a:prstDash val="solid"/>
          </a:ln>
        </p:spPr>
      </p:sp>
      <p:sp>
        <p:nvSpPr>
          <p:cNvPr id="5" name="Text 3"/>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test/quote_notifier_test.dart</a:t>
            </a:r>
            <a:endParaRPr lang="en-US" sz="800" dirty="0"/>
          </a:p>
        </p:txBody>
      </p:sp>
      <p:sp>
        <p:nvSpPr>
          <p:cNvPr id="6" name="Text 4"/>
          <p:cNvSpPr txBox="1"/>
          <p:nvPr/>
        </p:nvSpPr>
        <p:spPr>
          <a:xfrm>
            <a:off x="5259629" y="1435608"/>
            <a:ext cx="6243523" cy="4535424"/>
          </a:xfrm>
          <a:prstGeom prst="rect">
            <a:avLst/>
          </a:prstGeom>
          <a:noFill/>
          <a:ln/>
        </p:spPr>
        <p:txBody>
          <a:bodyPr wrap="square" lIns="0" tIns="0" rIns="0" bIns="0" rtlCol="0" anchor="t"/>
          <a:lstStyle/>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Riverpod state is testable with NO widgets (Day 5 goes deeper)</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test('submit moves idle → loading → loaded', () async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final container = ProviderContainer(</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overrides: [quoteServiceProvider.overrideWithValue(FakeQuoteService())],</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addTearDown(container.dispose);</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final states = &lt;QuoteState&gt;[];</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container.listen(quoteProvider, (_, next) =&gt; states.add(next), fireImmediately: true);</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await container.read(quoteProvider.notifier).submit(</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const QuoteRequest(make: 'VW', year: 2020, driverAge: 30, cover: Cover.comprehensive));</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expect(states.map((s) =&gt; s.runtimeType),</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[QuoteIdle, QuoteLoading, QuoteLoaded]);</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011680" cy="292608"/>
          </a:xfrm>
          <a:prstGeom prst="roundRect">
            <a:avLst>
              <a:gd name="adj" fmla="val 50000"/>
            </a:avLst>
          </a:prstGeom>
          <a:solidFill>
            <a:srgbClr val="0B2545"/>
          </a:solidFill>
          <a:ln w="12700">
            <a:solidFill>
              <a:srgbClr val="0B2545"/>
            </a:solidFill>
            <a:prstDash val="solid"/>
          </a:ln>
        </p:spPr>
      </p:sp>
      <p:sp>
        <p:nvSpPr>
          <p:cNvPr id="3" name="Text 1"/>
          <p:cNvSpPr txBox="1"/>
          <p:nvPr/>
        </p:nvSpPr>
        <p:spPr>
          <a:xfrm>
            <a:off x="548640" y="457200"/>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 &amp; BREAK DOWN</a:t>
            </a:r>
            <a:endParaRPr lang="en-US" sz="1000" dirty="0"/>
          </a:p>
        </p:txBody>
      </p:sp>
      <p:sp>
        <p:nvSpPr>
          <p:cNvPr id="4" name="Text 2"/>
          <p:cNvSpPr txBox="1"/>
          <p:nvPr/>
        </p:nvSpPr>
        <p:spPr>
          <a:xfrm>
            <a:off x="9811512" y="457200"/>
            <a:ext cx="1828800" cy="292608"/>
          </a:xfrm>
          <a:prstGeom prst="rect">
            <a:avLst/>
          </a:prstGeom>
          <a:noFill/>
          <a:ln/>
        </p:spPr>
        <p:txBody>
          <a:bodyPr wrap="square" lIns="0" tIns="0" rIns="0" bIns="0" rtlCol="0" anchor="ctr"/>
          <a:lstStyle/>
          <a:p>
            <a:pPr algn="r" indent="0" marL="0">
              <a:buNone/>
            </a:pPr>
            <a:r>
              <a:rPr lang="en-US" sz="1200" dirty="0">
                <a:solidFill>
                  <a:srgbClr val="5B6773"/>
                </a:solidFill>
                <a:latin typeface="Calibri" pitchFamily="34" charset="0"/>
                <a:ea typeface="Calibri" pitchFamily="34" charset="-122"/>
                <a:cs typeface="Calibri" pitchFamily="34" charset="-120"/>
              </a:rPr>
              <a:t>12 min read + 8 min debrief</a:t>
            </a:r>
            <a:endParaRPr lang="en-US" sz="1200" dirty="0"/>
          </a:p>
        </p:txBody>
      </p:sp>
      <p:sp>
        <p:nvSpPr>
          <p:cNvPr id="5" name="Text 3"/>
          <p:cNvSpPr txBox="1"/>
          <p:nvPr/>
        </p:nvSpPr>
        <p:spPr>
          <a:xfrm>
            <a:off x="548640" y="868680"/>
            <a:ext cx="11091672" cy="64008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Read: Bloc core concepts - then argue for it against Riverpod</a:t>
            </a:r>
            <a:endParaRPr lang="en-US" sz="2800" dirty="0"/>
          </a:p>
        </p:txBody>
      </p:sp>
      <p:sp>
        <p:nvSpPr>
          <p:cNvPr id="6" name="Shape 4"/>
          <p:cNvSpPr/>
          <p:nvPr/>
        </p:nvSpPr>
        <p:spPr>
          <a:xfrm>
            <a:off x="548640" y="1691640"/>
            <a:ext cx="11091672" cy="960120"/>
          </a:xfrm>
          <a:prstGeom prst="roundRect">
            <a:avLst>
              <a:gd name="adj" fmla="val 9524"/>
            </a:avLst>
          </a:prstGeom>
          <a:solidFill>
            <a:srgbClr val="EAF0F7"/>
          </a:solidFill>
          <a:ln w="6350">
            <a:solidFill>
              <a:srgbClr val="EAF0F7"/>
            </a:solidFill>
            <a:prstDash val="solid"/>
          </a:ln>
          <a:effectLst>
            <a:outerShdw sx="100000" sy="100000" kx="0" ky="0" algn="bl" rotWithShape="0" blurRad="38100" dist="12700" dir="5400000">
              <a:srgbClr val="000000">
                <a:alpha val="8000"/>
              </a:srgbClr>
            </a:outerShdw>
          </a:effectLst>
        </p:spPr>
      </p:sp>
      <p:sp>
        <p:nvSpPr>
          <p:cNvPr id="7" name="Text 5"/>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1800" b="1" dirty="0">
                <a:solidFill>
                  <a:srgbClr val="0B2545"/>
                </a:solidFill>
                <a:latin typeface="Courier New" pitchFamily="34" charset="0"/>
                <a:ea typeface="Courier New" pitchFamily="34" charset="-122"/>
                <a:cs typeface="Courier New" pitchFamily="34" charset="-120"/>
              </a:rPr>
              <a:t>bloclibrary.dev/bloc-concepts</a:t>
            </a:r>
            <a:endParaRPr lang="en-US" sz="1800" dirty="0"/>
          </a:p>
        </p:txBody>
      </p:sp>
      <p:sp>
        <p:nvSpPr>
          <p:cNvPr id="8" name="Text 6"/>
          <p:cNvSpPr txBox="1"/>
          <p:nvPr/>
        </p:nvSpPr>
        <p:spPr>
          <a:xfrm>
            <a:off x="822960" y="2212848"/>
            <a:ext cx="10543032" cy="365760"/>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"Streams", "Cubit", "Bloc", "Cubit vs Bloc" and "BlocObserver" (about 12 minutes); skim bloclibrary.dev/architecture</a:t>
            </a:r>
            <a:endParaRPr lang="en-US" sz="1200" dirty="0"/>
          </a:p>
        </p:txBody>
      </p:sp>
      <p:sp>
        <p:nvSpPr>
          <p:cNvPr id="9" name="Text 7"/>
          <p:cNvSpPr txBox="1"/>
          <p:nvPr/>
        </p:nvSpPr>
        <p:spPr>
          <a:xfrm>
            <a:off x="548640" y="2880360"/>
            <a:ext cx="6655003"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Answer these as you read</a:t>
            </a:r>
            <a:endParaRPr lang="en-US" sz="1400" dirty="0"/>
          </a:p>
        </p:txBody>
      </p:sp>
      <p:sp>
        <p:nvSpPr>
          <p:cNvPr id="10" name="Text 8"/>
          <p:cNvSpPr txBox="1"/>
          <p:nvPr/>
        </p:nvSpPr>
        <p:spPr>
          <a:xfrm>
            <a:off x="548640" y="3291840"/>
            <a:ext cx="6655003" cy="2743200"/>
          </a:xfrm>
          <a:prstGeom prst="rect">
            <a:avLst/>
          </a:prstGeom>
          <a:noFill/>
          <a:ln/>
        </p:spPr>
        <p:txBody>
          <a:bodyPr wrap="square" lIns="0" tIns="0" rIns="0" bIns="0" rtlCol="0" anchor="t"/>
          <a:lstStyle/>
          <a:p>
            <a:pPr marL="279400" indent="-279400">
              <a:spcAft>
                <a:spcPts val="800"/>
              </a:spcAft>
              <a:buSzPct val="100000"/>
              <a:buFont typeface="+mj-lt"/>
              <a:buAutoNum type="arabicPeriod" startAt="1"/>
            </a:pPr>
            <a:r>
              <a:rPr lang="en-US" sz="1400" dirty="0">
                <a:solidFill>
                  <a:srgbClr val="1F2933"/>
                </a:solidFill>
                <a:latin typeface="Calibri" pitchFamily="34" charset="0"/>
                <a:ea typeface="Calibri" pitchFamily="34" charset="-122"/>
                <a:cs typeface="Calibri" pitchFamily="34" charset="-120"/>
              </a:rPr>
              <a:t>In one sentence each: what is a Cubit, what is a Bloc, and what does a Bloc have that a Cubit does not?</a:t>
            </a:r>
            <a:endParaRPr lang="en-US" sz="1400" dirty="0"/>
          </a:p>
          <a:p>
            <a:pPr marL="279400" indent="-279400">
              <a:spcAft>
                <a:spcPts val="800"/>
              </a:spcAft>
              <a:buSzPct val="100000"/>
              <a:buFont typeface="+mj-lt"/>
              <a:buAutoNum type="arabicPeriod" startAt="1"/>
            </a:pPr>
            <a:r>
              <a:rPr lang="en-US" sz="1400" dirty="0">
                <a:solidFill>
                  <a:srgbClr val="1F2933"/>
                </a:solidFill>
                <a:latin typeface="Calibri" pitchFamily="34" charset="0"/>
                <a:ea typeface="Calibri" pitchFamily="34" charset="-122"/>
                <a:cs typeface="Calibri" pitchFamily="34" charset="-120"/>
              </a:rPr>
              <a:t>What does BlocObserver give you, and why might an insurance product owner care?</a:t>
            </a:r>
            <a:endParaRPr lang="en-US" sz="1400" dirty="0"/>
          </a:p>
          <a:p>
            <a:pPr marL="279400" indent="-279400">
              <a:spcAft>
                <a:spcPts val="800"/>
              </a:spcAft>
              <a:buSzPct val="100000"/>
              <a:buFont typeface="+mj-lt"/>
              <a:buAutoNum type="arabicPeriod" startAt="1"/>
            </a:pPr>
            <a:r>
              <a:rPr lang="en-US" sz="1400" dirty="0">
                <a:solidFill>
                  <a:srgbClr val="1F2933"/>
                </a:solidFill>
                <a:latin typeface="Calibri" pitchFamily="34" charset="0"/>
                <a:ea typeface="Calibri" pitchFamily="34" charset="-122"/>
                <a:cs typeface="Calibri" pitchFamily="34" charset="-120"/>
              </a:rPr>
              <a:t>The docs recommend a three-layer architecture. Map our feature-first folders onto it.</a:t>
            </a:r>
            <a:endParaRPr lang="en-US" sz="1400" dirty="0"/>
          </a:p>
          <a:p>
            <a:pPr marL="279400" indent="-279400">
              <a:spcAft>
                <a:spcPts val="800"/>
              </a:spcAft>
              <a:buSzPct val="100000"/>
              <a:buFont typeface="+mj-lt"/>
              <a:buAutoNum type="arabicPeriod" startAt="1"/>
            </a:pPr>
            <a:r>
              <a:rPr lang="en-US" sz="1400" dirty="0">
                <a:solidFill>
                  <a:srgbClr val="1F2933"/>
                </a:solidFill>
                <a:latin typeface="Calibri" pitchFamily="34" charset="0"/>
                <a:ea typeface="Calibri" pitchFamily="34" charset="-122"/>
                <a:cs typeface="Calibri" pitchFamily="34" charset="-120"/>
              </a:rPr>
              <a:t>Make the case FOR Bloc over Riverpod for the insurance app in three bullet points - even if you disagree.</a:t>
            </a:r>
            <a:endParaRPr lang="en-US" sz="1400" dirty="0"/>
          </a:p>
        </p:txBody>
      </p:sp>
      <p:sp>
        <p:nvSpPr>
          <p:cNvPr id="11" name="Shape 9"/>
          <p:cNvSpPr/>
          <p:nvPr/>
        </p:nvSpPr>
        <p:spPr>
          <a:xfrm>
            <a:off x="7477963" y="2880360"/>
            <a:ext cx="4162349" cy="3154680"/>
          </a:xfrm>
          <a:prstGeom prst="roundRect">
            <a:avLst>
              <a:gd name="adj" fmla="val 2899"/>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12" name="Text 10"/>
          <p:cNvSpPr txBox="1"/>
          <p:nvPr/>
        </p:nvSpPr>
        <p:spPr>
          <a:xfrm>
            <a:off x="7706563" y="3017520"/>
            <a:ext cx="3705149"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Then</a:t>
            </a:r>
            <a:endParaRPr lang="en-US" sz="1400" dirty="0"/>
          </a:p>
        </p:txBody>
      </p:sp>
      <p:sp>
        <p:nvSpPr>
          <p:cNvPr id="13" name="Text 11"/>
          <p:cNvSpPr txBox="1"/>
          <p:nvPr/>
        </p:nvSpPr>
        <p:spPr>
          <a:xfrm>
            <a:off x="7706563" y="3429000"/>
            <a:ext cx="3705149"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Two volunteers debate: one argues Bloc, one Riverpod, 90 seconds each, room votes.</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Instructor shows the Cubit version of QuoteNotifier (next slide) - it is 15 lines and looks familiar.</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Then the honest comparison table.</a:t>
            </a:r>
            <a:endParaRPr lang="en-US" sz="125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Bloc awareness: Cubit and Bloc in code</a:t>
            </a:r>
            <a:endParaRPr lang="en-US" sz="3000" dirty="0"/>
          </a:p>
        </p:txBody>
      </p:sp>
      <p:sp>
        <p:nvSpPr>
          <p:cNvPr id="3" name="Shape 1"/>
          <p:cNvSpPr/>
          <p:nvPr/>
        </p:nvSpPr>
        <p:spPr>
          <a:xfrm>
            <a:off x="548640" y="1325880"/>
            <a:ext cx="5408676" cy="4023360"/>
          </a:xfrm>
          <a:prstGeom prst="roundRect">
            <a:avLst>
              <a:gd name="adj" fmla="val 2273"/>
            </a:avLst>
          </a:prstGeom>
          <a:solidFill>
            <a:srgbClr val="F3F5F8"/>
          </a:solidFill>
          <a:ln w="6350">
            <a:solidFill>
              <a:srgbClr val="F3F5F8"/>
            </a:solidFill>
            <a:prstDash val="solid"/>
          </a:ln>
          <a:effectLst>
            <a:outerShdw sx="100000" sy="100000" kx="0" ky="0" algn="bl" rotWithShape="0" blurRad="38100" dist="12700" dir="5400000">
              <a:srgbClr val="000000">
                <a:alpha val="8000"/>
              </a:srgbClr>
            </a:outerShdw>
          </a:effectLst>
        </p:spPr>
      </p:sp>
      <p:sp>
        <p:nvSpPr>
          <p:cNvPr id="4" name="Text 2"/>
          <p:cNvSpPr txBox="1"/>
          <p:nvPr/>
        </p:nvSpPr>
        <p:spPr>
          <a:xfrm>
            <a:off x="777240" y="1463040"/>
            <a:ext cx="4951476"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Cubit - the same shape as our Notifier</a:t>
            </a:r>
            <a:endParaRPr lang="en-US" sz="1700" dirty="0"/>
          </a:p>
        </p:txBody>
      </p:sp>
      <p:sp>
        <p:nvSpPr>
          <p:cNvPr id="5" name="Shape 3"/>
          <p:cNvSpPr/>
          <p:nvPr/>
        </p:nvSpPr>
        <p:spPr>
          <a:xfrm>
            <a:off x="777240" y="1920240"/>
            <a:ext cx="4951476" cy="3246120"/>
          </a:xfrm>
          <a:prstGeom prst="roundRect">
            <a:avLst>
              <a:gd name="adj" fmla="val 2254"/>
            </a:avLst>
          </a:prstGeom>
          <a:solidFill>
            <a:srgbClr val="0F172A"/>
          </a:solidFill>
          <a:ln w="12700">
            <a:solidFill>
              <a:srgbClr val="0F172A"/>
            </a:solidFill>
            <a:prstDash val="solid"/>
          </a:ln>
        </p:spPr>
      </p:sp>
      <p:sp>
        <p:nvSpPr>
          <p:cNvPr id="6" name="Text 4"/>
          <p:cNvSpPr txBox="1"/>
          <p:nvPr/>
        </p:nvSpPr>
        <p:spPr>
          <a:xfrm>
            <a:off x="914400" y="2029968"/>
            <a:ext cx="4677156" cy="3026664"/>
          </a:xfrm>
          <a:prstGeom prst="rect">
            <a:avLst/>
          </a:prstGeom>
          <a:noFill/>
          <a:ln/>
        </p:spPr>
        <p:txBody>
          <a:bodyPr wrap="square" lIns="0" tIns="0" rIns="0" bIns="0" rtlCol="0" anchor="t"/>
          <a:lstStyle/>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pubspec: flutter pub add flutter_bloc</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QuoteCubit extends Cubit&lt;QuoteState&gt;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QuoteCubit(this._service) : super(const QuoteIdle());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QuoteService _service;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Future&lt;void&gt; submit(QuoteRequest r) async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emit(const QuoteLoading());</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try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emit(QuoteLoaded(await _service.getQuote(r)));</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 catch (e)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emit(QuoteFailed(e.toString()));</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Provide + consume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BlocProvider(create: (_) =&gt; QuoteCubit(FakeQuoteService()), child: const CaptureScreen())</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BlocBuilder&lt;QuoteCubit, QuoteState&gt;(builder: (context, state) =&gt; switch (state) { ...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context.read&lt;QuoteCubit&gt;().submit(request);</a:t>
            </a:r>
            <a:endParaRPr lang="en-US" sz="1000" dirty="0"/>
          </a:p>
        </p:txBody>
      </p:sp>
      <p:sp>
        <p:nvSpPr>
          <p:cNvPr id="7" name="Shape 5"/>
          <p:cNvSpPr/>
          <p:nvPr/>
        </p:nvSpPr>
        <p:spPr>
          <a:xfrm>
            <a:off x="6231636" y="1325880"/>
            <a:ext cx="5408676" cy="4023360"/>
          </a:xfrm>
          <a:prstGeom prst="roundRect">
            <a:avLst>
              <a:gd name="adj" fmla="val 2273"/>
            </a:avLst>
          </a:prstGeom>
          <a:solidFill>
            <a:srgbClr val="EAF0F7"/>
          </a:solidFill>
          <a:ln w="6350">
            <a:solidFill>
              <a:srgbClr val="EAF0F7"/>
            </a:solidFill>
            <a:prstDash val="solid"/>
          </a:ln>
          <a:effectLst>
            <a:outerShdw sx="100000" sy="100000" kx="0" ky="0" algn="bl" rotWithShape="0" blurRad="38100" dist="12700" dir="5400000">
              <a:srgbClr val="000000">
                <a:alpha val="8000"/>
              </a:srgbClr>
            </a:outerShdw>
          </a:effectLst>
        </p:spPr>
      </p:sp>
      <p:sp>
        <p:nvSpPr>
          <p:cNvPr id="8" name="Text 6"/>
          <p:cNvSpPr txBox="1"/>
          <p:nvPr/>
        </p:nvSpPr>
        <p:spPr>
          <a:xfrm>
            <a:off x="6460236" y="1463040"/>
            <a:ext cx="4951476" cy="411480"/>
          </a:xfrm>
          <a:prstGeom prst="rect">
            <a:avLst/>
          </a:prstGeom>
          <a:noFill/>
          <a:ln/>
        </p:spPr>
        <p:txBody>
          <a:bodyPr wrap="square" lIns="0" tIns="0" rIns="0" bIns="0"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Bloc - events in, states out</a:t>
            </a:r>
            <a:endParaRPr lang="en-US" sz="1700" dirty="0"/>
          </a:p>
        </p:txBody>
      </p:sp>
      <p:sp>
        <p:nvSpPr>
          <p:cNvPr id="9" name="Shape 7"/>
          <p:cNvSpPr/>
          <p:nvPr/>
        </p:nvSpPr>
        <p:spPr>
          <a:xfrm>
            <a:off x="6460236" y="1920240"/>
            <a:ext cx="4951476" cy="3246120"/>
          </a:xfrm>
          <a:prstGeom prst="roundRect">
            <a:avLst>
              <a:gd name="adj" fmla="val 2254"/>
            </a:avLst>
          </a:prstGeom>
          <a:solidFill>
            <a:srgbClr val="0F172A"/>
          </a:solidFill>
          <a:ln w="12700">
            <a:solidFill>
              <a:srgbClr val="0F172A"/>
            </a:solidFill>
            <a:prstDash val="solid"/>
          </a:ln>
        </p:spPr>
      </p:sp>
      <p:sp>
        <p:nvSpPr>
          <p:cNvPr id="10" name="Text 8"/>
          <p:cNvSpPr txBox="1"/>
          <p:nvPr/>
        </p:nvSpPr>
        <p:spPr>
          <a:xfrm>
            <a:off x="6597396" y="2029968"/>
            <a:ext cx="4677156" cy="3026664"/>
          </a:xfrm>
          <a:prstGeom prst="rect">
            <a:avLst/>
          </a:prstGeom>
          <a:noFill/>
          <a:ln/>
        </p:spPr>
        <p:txBody>
          <a:bodyPr wrap="square" lIns="0" tIns="0" rIns="0" bIns="0" rtlCol="0" anchor="t"/>
          <a:lstStyle/>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sealed class QuoteEvent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QuoteRequested extends QuoteEvent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QuoteRequested(this.request);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QuoteRequest request;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QuoteBloc extends Bloc&lt;QuoteEvent, QuoteState&gt;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QuoteBloc(this._service) : super(const QuoteIdle())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on&lt;QuoteRequested&gt;(_onRequested);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QuoteService _service;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Future&lt;void&gt; _onRequested(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QuoteRequested e, Emitter&lt;QuoteState&gt; emit) async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emit(const QuoteLoading());</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try { emit(QuoteLoaded(await _service.getQuote(e.request)));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catch (err) { emit(QuoteFailed(err.toString()));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UI: context.read&lt;QuoteBloc&gt;().add(QuoteRequested(r));</a:t>
            </a:r>
            <a:endParaRPr lang="en-US" sz="1000" dirty="0"/>
          </a:p>
        </p:txBody>
      </p:sp>
      <p:sp>
        <p:nvSpPr>
          <p:cNvPr id="11" name="Text 9"/>
          <p:cNvSpPr txBox="1"/>
          <p:nvPr/>
        </p:nvSpPr>
        <p:spPr>
          <a:xfrm>
            <a:off x="548640" y="5486400"/>
            <a:ext cx="11091672" cy="640080"/>
          </a:xfrm>
          <a:prstGeom prst="rect">
            <a:avLst/>
          </a:prstGeom>
          <a:noFill/>
          <a:ln/>
        </p:spPr>
        <p:txBody>
          <a:bodyPr wrap="square" lIns="0" tIns="0" rIns="0" bIns="0" rtlCol="0" anchor="ctr"/>
          <a:lstStyle/>
          <a:p>
            <a:pPr indent="0" marL="0">
              <a:buNone/>
            </a:pPr>
            <a:r>
              <a:rPr lang="en-US" sz="1300" i="1" dirty="0">
                <a:solidFill>
                  <a:srgbClr val="1F2933"/>
                </a:solidFill>
                <a:latin typeface="Calibri" pitchFamily="34" charset="0"/>
                <a:ea typeface="Calibri" pitchFamily="34" charset="-122"/>
                <a:cs typeface="Calibri" pitchFamily="34" charset="-120"/>
              </a:rPr>
              <a:t>Same sealed QuoteState, same service interface. Cubit ≈ Notifier with emit() instead of state =. Bloc adds an event type, an observer hook (Appendix B) and stream transformers.</a:t>
            </a:r>
            <a:endParaRPr lang="en-US" sz="1300" dirty="0"/>
          </a:p>
        </p:txBody>
      </p:sp>
      <p:sp>
        <p:nvSpPr>
          <p:cNvPr id="12" name="Text 10"/>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13" name="Text 11"/>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When Bloc earns its place - an honest comparison</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2440168"/>
                <a:gridCol w="4325752"/>
                <a:gridCol w="4325752"/>
              </a:tblGrid>
              <a:tr h="0">
                <a:tc>
                  <a:txBody>
                    <a:bodyPr/>
                    <a:lstStyle/>
                    <a:p>
                      <a:pPr indent="0" marL="0">
                        <a:buNone/>
                      </a:pP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Riverpod (course pattern)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Bloc / Cubit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Mental model</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Providers + notifiers; DI graph built in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Events → states; DI via BlocProvider/RepositoryProvider</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Boilerplate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Medium (Cubit) to high (Bloc events)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Auditability</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ProviderObserver logs every state change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BlocObserver logs events AND transitions - richer trail</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Testing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ProviderContainer, no widgets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bloc_test package, no widgets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Compile-time safety</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Providers cannot be "not found"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BlocProvider lookups can fail at runtime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Async modelling</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AsyncValue built in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You model loading/error states yourself</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Team enforcement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Conventions + riverpod_lint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Structure enforced by the pattern itself</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Ecosystem</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Riverpod, code-gen (riverpod_generator)</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hydrated_bloc, replay_bloc, bloc_concurrency</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Pick it when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Small-to-medium teams, fast iteration, lots of derived/async state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Large teams, regulated domains that want explicit event logs, existing Bloc codebase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13315C"/>
          </a:solidFill>
          <a:ln w="12700">
            <a:solidFill>
              <a:srgbClr val="13315C"/>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E3C766"/>
                </a:solidFill>
                <a:latin typeface="Calibri" pitchFamily="34" charset="0"/>
                <a:ea typeface="Calibri" pitchFamily="34" charset="-122"/>
                <a:cs typeface="Calibri" pitchFamily="34" charset="-120"/>
              </a:rPr>
              <a:t>MODULE 12  ·  14:45 - 16:00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The refactor: quote flow end-to-end</a:t>
            </a:r>
            <a:endParaRPr lang="en-US" sz="4000" dirty="0"/>
          </a:p>
        </p:txBody>
      </p:sp>
      <p:sp>
        <p:nvSpPr>
          <p:cNvPr id="5" name="Shape 3"/>
          <p:cNvSpPr/>
          <p:nvPr/>
        </p:nvSpPr>
        <p:spPr>
          <a:xfrm>
            <a:off x="6949440" y="1188720"/>
            <a:ext cx="4663440" cy="4389120"/>
          </a:xfrm>
          <a:prstGeom prst="roundRect">
            <a:avLst>
              <a:gd name="adj" fmla="val 2083"/>
            </a:avLst>
          </a:prstGeom>
          <a:solidFill>
            <a:srgbClr val="13315C"/>
          </a:solidFill>
          <a:ln w="6350">
            <a:solidFill>
              <a:srgbClr val="13315C"/>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E3C766"/>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Wire the Day 2 form to a QuoteNotifier through an injected service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Render idle / loading / loaded / failed exhaustively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Disable the form while loading and surface failures as side effects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Prove the logic with one container test</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What the finished flow looks like</a:t>
            </a:r>
            <a:endParaRPr lang="en-US" sz="3000" dirty="0"/>
          </a:p>
        </p:txBody>
      </p:sp>
      <p:sp>
        <p:nvSpPr>
          <p:cNvPr id="3" name="Shape 1"/>
          <p:cNvSpPr/>
          <p:nvPr/>
        </p:nvSpPr>
        <p:spPr>
          <a:xfrm>
            <a:off x="548640" y="1737360"/>
            <a:ext cx="1962302" cy="2377440"/>
          </a:xfrm>
          <a:prstGeom prst="roundRect">
            <a:avLst>
              <a:gd name="adj" fmla="val 4660"/>
            </a:avLst>
          </a:prstGeom>
          <a:solidFill>
            <a:srgbClr val="EAF0F7"/>
          </a:solidFill>
          <a:ln w="6350">
            <a:solidFill>
              <a:srgbClr val="EAF0F7"/>
            </a:solidFill>
            <a:prstDash val="solid"/>
          </a:ln>
          <a:effectLst>
            <a:outerShdw sx="100000" sy="100000" kx="0" ky="0" algn="bl" rotWithShape="0" blurRad="38100" dist="12700" dir="5400000">
              <a:srgbClr val="000000">
                <a:alpha val="8000"/>
              </a:srgbClr>
            </a:outerShdw>
          </a:effectLst>
        </p:spPr>
      </p:sp>
      <p:sp>
        <p:nvSpPr>
          <p:cNvPr id="4" name="Shape 2"/>
          <p:cNvSpPr/>
          <p:nvPr/>
        </p:nvSpPr>
        <p:spPr>
          <a:xfrm>
            <a:off x="777240" y="1920240"/>
            <a:ext cx="502920" cy="502920"/>
          </a:xfrm>
          <a:prstGeom prst="ellipse">
            <a:avLst/>
          </a:prstGeom>
          <a:solidFill>
            <a:srgbClr val="0B2545"/>
          </a:solidFill>
          <a:ln w="12700">
            <a:solidFill>
              <a:srgbClr val="0B2545"/>
            </a:solidFill>
            <a:prstDash val="solid"/>
          </a:ln>
        </p:spPr>
      </p:sp>
      <p:sp>
        <p:nvSpPr>
          <p:cNvPr id="5" name="Text 3"/>
          <p:cNvSpPr txBox="1"/>
          <p:nvPr/>
        </p:nvSpPr>
        <p:spPr>
          <a:xfrm>
            <a:off x="777240" y="19202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777240" y="2560320"/>
            <a:ext cx="1505102" cy="4572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CaptureForm</a:t>
            </a:r>
            <a:endParaRPr lang="en-US" sz="1400" dirty="0"/>
          </a:p>
        </p:txBody>
      </p:sp>
      <p:sp>
        <p:nvSpPr>
          <p:cNvPr id="7" name="Text 5"/>
          <p:cNvSpPr txBox="1"/>
          <p:nvPr/>
        </p:nvSpPr>
        <p:spPr>
          <a:xfrm>
            <a:off x="777240" y="3017520"/>
            <a:ext cx="1505102" cy="10058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Validates, builds QuoteRequest, calls onSubmit. Knows nothing about Riverpod. enabled: false while loading.</a:t>
            </a:r>
            <a:endParaRPr lang="en-US" sz="1150" dirty="0"/>
          </a:p>
        </p:txBody>
      </p:sp>
      <p:sp>
        <p:nvSpPr>
          <p:cNvPr id="8" name="Text 6"/>
          <p:cNvSpPr txBox="1"/>
          <p:nvPr/>
        </p:nvSpPr>
        <p:spPr>
          <a:xfrm>
            <a:off x="2465222" y="2651760"/>
            <a:ext cx="411480" cy="457200"/>
          </a:xfrm>
          <a:prstGeom prst="rect">
            <a:avLst/>
          </a:prstGeom>
          <a:noFill/>
          <a:ln/>
        </p:spPr>
        <p:txBody>
          <a:bodyPr wrap="square" lIns="0" tIns="0" rIns="0" bIns="0" rtlCol="0" anchor="ctr"/>
          <a:lstStyle/>
          <a:p>
            <a:pPr algn="ctr" indent="0" marL="0">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2830982" y="1737360"/>
            <a:ext cx="1962302" cy="2377440"/>
          </a:xfrm>
          <a:prstGeom prst="roundRect">
            <a:avLst>
              <a:gd name="adj" fmla="val 4660"/>
            </a:avLst>
          </a:prstGeom>
          <a:solidFill>
            <a:srgbClr val="F3F5F8"/>
          </a:solidFill>
          <a:ln w="6350">
            <a:solidFill>
              <a:srgbClr val="F3F5F8"/>
            </a:solidFill>
            <a:prstDash val="solid"/>
          </a:ln>
          <a:effectLst>
            <a:outerShdw sx="100000" sy="100000" kx="0" ky="0" algn="bl" rotWithShape="0" blurRad="38100" dist="12700" dir="5400000">
              <a:srgbClr val="000000">
                <a:alpha val="8000"/>
              </a:srgbClr>
            </a:outerShdw>
          </a:effectLst>
        </p:spPr>
      </p:sp>
      <p:sp>
        <p:nvSpPr>
          <p:cNvPr id="10" name="Shape 8"/>
          <p:cNvSpPr/>
          <p:nvPr/>
        </p:nvSpPr>
        <p:spPr>
          <a:xfrm>
            <a:off x="3059582" y="1920240"/>
            <a:ext cx="502920" cy="502920"/>
          </a:xfrm>
          <a:prstGeom prst="ellipse">
            <a:avLst/>
          </a:prstGeom>
          <a:solidFill>
            <a:srgbClr val="0B2545"/>
          </a:solidFill>
          <a:ln w="12700">
            <a:solidFill>
              <a:srgbClr val="0B2545"/>
            </a:solidFill>
            <a:prstDash val="solid"/>
          </a:ln>
        </p:spPr>
      </p:sp>
      <p:sp>
        <p:nvSpPr>
          <p:cNvPr id="11" name="Text 9"/>
          <p:cNvSpPr txBox="1"/>
          <p:nvPr/>
        </p:nvSpPr>
        <p:spPr>
          <a:xfrm>
            <a:off x="3059582" y="19202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059582" y="2560320"/>
            <a:ext cx="1505102" cy="4572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CaptureScreen</a:t>
            </a:r>
            <a:endParaRPr lang="en-US" sz="1400" dirty="0"/>
          </a:p>
        </p:txBody>
      </p:sp>
      <p:sp>
        <p:nvSpPr>
          <p:cNvPr id="13" name="Text 11"/>
          <p:cNvSpPr txBox="1"/>
          <p:nvPr/>
        </p:nvSpPr>
        <p:spPr>
          <a:xfrm>
            <a:off x="3059582" y="3017520"/>
            <a:ext cx="1505102" cy="10058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ConsumerState. watch(quoteProvider) → switch; listen for failures → SnackBar; read(notifier).submit(r).</a:t>
            </a:r>
            <a:endParaRPr lang="en-US" sz="1150" dirty="0"/>
          </a:p>
        </p:txBody>
      </p:sp>
      <p:sp>
        <p:nvSpPr>
          <p:cNvPr id="14" name="Text 12"/>
          <p:cNvSpPr txBox="1"/>
          <p:nvPr/>
        </p:nvSpPr>
        <p:spPr>
          <a:xfrm>
            <a:off x="4747565" y="2651760"/>
            <a:ext cx="411480" cy="457200"/>
          </a:xfrm>
          <a:prstGeom prst="rect">
            <a:avLst/>
          </a:prstGeom>
          <a:noFill/>
          <a:ln/>
        </p:spPr>
        <p:txBody>
          <a:bodyPr wrap="square" lIns="0" tIns="0" rIns="0" bIns="0" rtlCol="0" anchor="ctr"/>
          <a:lstStyle/>
          <a:p>
            <a:pPr algn="ctr" indent="0" marL="0">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5113325" y="1737360"/>
            <a:ext cx="1962302" cy="2377440"/>
          </a:xfrm>
          <a:prstGeom prst="roundRect">
            <a:avLst>
              <a:gd name="adj" fmla="val 4660"/>
            </a:avLst>
          </a:prstGeom>
          <a:solidFill>
            <a:srgbClr val="EAF0F7"/>
          </a:solidFill>
          <a:ln w="6350">
            <a:solidFill>
              <a:srgbClr val="EAF0F7"/>
            </a:solidFill>
            <a:prstDash val="solid"/>
          </a:ln>
          <a:effectLst>
            <a:outerShdw sx="100000" sy="100000" kx="0" ky="0" algn="bl" rotWithShape="0" blurRad="38100" dist="12700" dir="5400000">
              <a:srgbClr val="000000">
                <a:alpha val="8000"/>
              </a:srgbClr>
            </a:outerShdw>
          </a:effectLst>
        </p:spPr>
      </p:sp>
      <p:sp>
        <p:nvSpPr>
          <p:cNvPr id="16" name="Shape 14"/>
          <p:cNvSpPr/>
          <p:nvPr/>
        </p:nvSpPr>
        <p:spPr>
          <a:xfrm>
            <a:off x="5341925" y="1920240"/>
            <a:ext cx="502920" cy="502920"/>
          </a:xfrm>
          <a:prstGeom prst="ellipse">
            <a:avLst/>
          </a:prstGeom>
          <a:solidFill>
            <a:srgbClr val="0B2545"/>
          </a:solidFill>
          <a:ln w="12700">
            <a:solidFill>
              <a:srgbClr val="0B2545"/>
            </a:solidFill>
            <a:prstDash val="solid"/>
          </a:ln>
        </p:spPr>
      </p:sp>
      <p:sp>
        <p:nvSpPr>
          <p:cNvPr id="17" name="Text 15"/>
          <p:cNvSpPr txBox="1"/>
          <p:nvPr/>
        </p:nvSpPr>
        <p:spPr>
          <a:xfrm>
            <a:off x="5341925" y="19202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5341925" y="2560320"/>
            <a:ext cx="1505102" cy="4572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QuoteNotifier</a:t>
            </a:r>
            <a:endParaRPr lang="en-US" sz="1400" dirty="0"/>
          </a:p>
        </p:txBody>
      </p:sp>
      <p:sp>
        <p:nvSpPr>
          <p:cNvPr id="19" name="Text 17"/>
          <p:cNvSpPr txBox="1"/>
          <p:nvPr/>
        </p:nvSpPr>
        <p:spPr>
          <a:xfrm>
            <a:off x="5341925" y="3017520"/>
            <a:ext cx="1505102" cy="10058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Loading → await service → Loaded / Failed. No UI imports. Testable with ProviderContainer.</a:t>
            </a:r>
            <a:endParaRPr lang="en-US" sz="1150" dirty="0"/>
          </a:p>
        </p:txBody>
      </p:sp>
      <p:sp>
        <p:nvSpPr>
          <p:cNvPr id="20" name="Text 18"/>
          <p:cNvSpPr txBox="1"/>
          <p:nvPr/>
        </p:nvSpPr>
        <p:spPr>
          <a:xfrm>
            <a:off x="7029907" y="2651760"/>
            <a:ext cx="411480" cy="457200"/>
          </a:xfrm>
          <a:prstGeom prst="rect">
            <a:avLst/>
          </a:prstGeom>
          <a:noFill/>
          <a:ln/>
        </p:spPr>
        <p:txBody>
          <a:bodyPr wrap="square" lIns="0" tIns="0" rIns="0" bIns="0" rtlCol="0" anchor="ctr"/>
          <a:lstStyle/>
          <a:p>
            <a:pPr algn="ctr" indent="0" marL="0">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21" name="Shape 19"/>
          <p:cNvSpPr/>
          <p:nvPr/>
        </p:nvSpPr>
        <p:spPr>
          <a:xfrm>
            <a:off x="7395667" y="1737360"/>
            <a:ext cx="1962302" cy="2377440"/>
          </a:xfrm>
          <a:prstGeom prst="roundRect">
            <a:avLst>
              <a:gd name="adj" fmla="val 4660"/>
            </a:avLst>
          </a:prstGeom>
          <a:solidFill>
            <a:srgbClr val="F3F5F8"/>
          </a:solidFill>
          <a:ln w="6350">
            <a:solidFill>
              <a:srgbClr val="F3F5F8"/>
            </a:solidFill>
            <a:prstDash val="solid"/>
          </a:ln>
          <a:effectLst>
            <a:outerShdw sx="100000" sy="100000" kx="0" ky="0" algn="bl" rotWithShape="0" blurRad="38100" dist="12700" dir="5400000">
              <a:srgbClr val="000000">
                <a:alpha val="8000"/>
              </a:srgbClr>
            </a:outerShdw>
          </a:effectLst>
        </p:spPr>
      </p:sp>
      <p:sp>
        <p:nvSpPr>
          <p:cNvPr id="22" name="Shape 20"/>
          <p:cNvSpPr/>
          <p:nvPr/>
        </p:nvSpPr>
        <p:spPr>
          <a:xfrm>
            <a:off x="7624267" y="1920240"/>
            <a:ext cx="502920" cy="502920"/>
          </a:xfrm>
          <a:prstGeom prst="ellipse">
            <a:avLst/>
          </a:prstGeom>
          <a:solidFill>
            <a:srgbClr val="0B2545"/>
          </a:solidFill>
          <a:ln w="12700">
            <a:solidFill>
              <a:srgbClr val="0B2545"/>
            </a:solidFill>
            <a:prstDash val="solid"/>
          </a:ln>
        </p:spPr>
      </p:sp>
      <p:sp>
        <p:nvSpPr>
          <p:cNvPr id="23" name="Text 21"/>
          <p:cNvSpPr txBox="1"/>
          <p:nvPr/>
        </p:nvSpPr>
        <p:spPr>
          <a:xfrm>
            <a:off x="7624267" y="19202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624267" y="2560320"/>
            <a:ext cx="1505102" cy="4572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QuoteService</a:t>
            </a:r>
            <a:endParaRPr lang="en-US" sz="1400" dirty="0"/>
          </a:p>
        </p:txBody>
      </p:sp>
      <p:sp>
        <p:nvSpPr>
          <p:cNvPr id="25" name="Text 23"/>
          <p:cNvSpPr txBox="1"/>
          <p:nvPr/>
        </p:nvSpPr>
        <p:spPr>
          <a:xfrm>
            <a:off x="7624267" y="3017520"/>
            <a:ext cx="1505102" cy="10058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Interface + FakeQuoteService via quoteServiceProvider. Day 4 swaps in dio.</a:t>
            </a:r>
            <a:endParaRPr lang="en-US" sz="1150" dirty="0"/>
          </a:p>
        </p:txBody>
      </p:sp>
      <p:sp>
        <p:nvSpPr>
          <p:cNvPr id="26" name="Text 24"/>
          <p:cNvSpPr txBox="1"/>
          <p:nvPr/>
        </p:nvSpPr>
        <p:spPr>
          <a:xfrm>
            <a:off x="9312250" y="2651760"/>
            <a:ext cx="411480" cy="457200"/>
          </a:xfrm>
          <a:prstGeom prst="rect">
            <a:avLst/>
          </a:prstGeom>
          <a:noFill/>
          <a:ln/>
        </p:spPr>
        <p:txBody>
          <a:bodyPr wrap="square" lIns="0" tIns="0" rIns="0" bIns="0" rtlCol="0" anchor="ctr"/>
          <a:lstStyle/>
          <a:p>
            <a:pPr algn="ctr" indent="0" marL="0">
              <a:buNone/>
            </a:pPr>
            <a:r>
              <a:rPr lang="en-US" sz="2400" dirty="0">
                <a:solidFill>
                  <a:srgbClr val="C9A227"/>
                </a:solidFill>
                <a:latin typeface="Calibri" pitchFamily="34" charset="0"/>
                <a:ea typeface="Calibri" pitchFamily="34" charset="-122"/>
                <a:cs typeface="Calibri" pitchFamily="34" charset="-120"/>
              </a:rPr>
              <a:t>›</a:t>
            </a:r>
            <a:endParaRPr lang="en-US" sz="2400" dirty="0"/>
          </a:p>
        </p:txBody>
      </p:sp>
      <p:sp>
        <p:nvSpPr>
          <p:cNvPr id="27" name="Shape 25"/>
          <p:cNvSpPr/>
          <p:nvPr/>
        </p:nvSpPr>
        <p:spPr>
          <a:xfrm>
            <a:off x="9678010" y="1737360"/>
            <a:ext cx="1962302" cy="2377440"/>
          </a:xfrm>
          <a:prstGeom prst="roundRect">
            <a:avLst>
              <a:gd name="adj" fmla="val 4660"/>
            </a:avLst>
          </a:prstGeom>
          <a:solidFill>
            <a:srgbClr val="EAF0F7"/>
          </a:solidFill>
          <a:ln w="6350">
            <a:solidFill>
              <a:srgbClr val="EAF0F7"/>
            </a:solidFill>
            <a:prstDash val="solid"/>
          </a:ln>
          <a:effectLst>
            <a:outerShdw sx="100000" sy="100000" kx="0" ky="0" algn="bl" rotWithShape="0" blurRad="38100" dist="12700" dir="5400000">
              <a:srgbClr val="000000">
                <a:alpha val="8000"/>
              </a:srgbClr>
            </a:outerShdw>
          </a:effectLst>
        </p:spPr>
      </p:sp>
      <p:sp>
        <p:nvSpPr>
          <p:cNvPr id="28" name="Shape 26"/>
          <p:cNvSpPr/>
          <p:nvPr/>
        </p:nvSpPr>
        <p:spPr>
          <a:xfrm>
            <a:off x="9906610" y="1920240"/>
            <a:ext cx="502920" cy="502920"/>
          </a:xfrm>
          <a:prstGeom prst="ellipse">
            <a:avLst/>
          </a:prstGeom>
          <a:solidFill>
            <a:srgbClr val="0B2545"/>
          </a:solidFill>
          <a:ln w="12700">
            <a:solidFill>
              <a:srgbClr val="0B2545"/>
            </a:solidFill>
            <a:prstDash val="solid"/>
          </a:ln>
        </p:spPr>
      </p:sp>
      <p:sp>
        <p:nvSpPr>
          <p:cNvPr id="29" name="Text 27"/>
          <p:cNvSpPr txBox="1"/>
          <p:nvPr/>
        </p:nvSpPr>
        <p:spPr>
          <a:xfrm>
            <a:off x="9906610" y="19202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8"/>
          <p:cNvSpPr txBox="1"/>
          <p:nvPr/>
        </p:nvSpPr>
        <p:spPr>
          <a:xfrm>
            <a:off x="9906610" y="2560320"/>
            <a:ext cx="1505102" cy="45720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PremiumCard</a:t>
            </a:r>
            <a:endParaRPr lang="en-US" sz="1400" dirty="0"/>
          </a:p>
        </p:txBody>
      </p:sp>
      <p:sp>
        <p:nvSpPr>
          <p:cNvPr id="31" name="Text 29"/>
          <p:cNvSpPr txBox="1"/>
          <p:nvPr/>
        </p:nvSpPr>
        <p:spPr>
          <a:xfrm>
            <a:off x="9906610" y="3017520"/>
            <a:ext cx="1505102" cy="10058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Stateless; renders a Quote with theme roles. Reused on the result route Day 4.</a:t>
            </a:r>
            <a:endParaRPr lang="en-US" sz="1150" dirty="0"/>
          </a:p>
        </p:txBody>
      </p:sp>
      <p:sp>
        <p:nvSpPr>
          <p:cNvPr id="32" name="Text 30"/>
          <p:cNvSpPr txBox="1"/>
          <p:nvPr/>
        </p:nvSpPr>
        <p:spPr>
          <a:xfrm>
            <a:off x="548640" y="4389120"/>
            <a:ext cx="11091672" cy="15544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Dependencies point one way: widgets → providers → services. Nothing below the notifier imports Flutter widgets. That is the boundary that keeps the pricing logic testable.</a:t>
            </a:r>
            <a:endParaRPr lang="en-US" sz="1400" dirty="0"/>
          </a:p>
        </p:txBody>
      </p:sp>
      <p:sp>
        <p:nvSpPr>
          <p:cNvPr id="33" name="Text 3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34" name="Text 3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C9A227"/>
          </a:solidFill>
          <a:ln w="12700">
            <a:solidFill>
              <a:srgbClr val="C9A227"/>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LAB 3.2</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0B2545"/>
                </a:solidFill>
                <a:latin typeface="Calibri" pitchFamily="34" charset="0"/>
                <a:ea typeface="Calibri" pitchFamily="34" charset="-122"/>
                <a:cs typeface="Calibri" pitchFamily="34" charset="-120"/>
              </a:rPr>
              <a:t>Quote flow with Riverpod</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5B6773"/>
                </a:solidFill>
                <a:latin typeface="Calibri" pitchFamily="34" charset="0"/>
                <a:ea typeface="Calibri" pitchFamily="34" charset="-122"/>
                <a:cs typeface="Calibri" pitchFamily="34" charset="-120"/>
              </a:rPr>
              <a:t>60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0B2545"/>
                </a:solidFill>
                <a:latin typeface="Calibri" pitchFamily="34" charset="0"/>
                <a:ea typeface="Calibri" pitchFamily="34" charset="-122"/>
                <a:cs typeface="Calibri" pitchFamily="34" charset="-120"/>
              </a:rPr>
              <a:t>Goal  </a:t>
            </a:r>
            <a:pPr indent="0" marL="0">
              <a:buNone/>
            </a:pPr>
            <a:r>
              <a:rPr lang="en-US" sz="1400" dirty="0">
                <a:solidFill>
                  <a:srgbClr val="1F2933"/>
                </a:solidFill>
                <a:latin typeface="Calibri" pitchFamily="34" charset="0"/>
                <a:ea typeface="Calibri" pitchFamily="34" charset="-122"/>
                <a:cs typeface="Calibri" pitchFamily="34" charset="-120"/>
              </a:rPr>
              <a:t>Submitting the capture form shows a spinner, then PremiumCard or an error SnackBar, driven by QuoteNotifier and an injected FakeQuoteService; one container test passes.</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features/quote/data/quote_service.dart: QuoteService interface + FakeQuoteService (1.2 s delay; throws if year &lt; 2000).</a:t>
            </a:r>
            <a:endParaRPr lang="en-US" sz="1300" dirty="0"/>
          </a:p>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features/quote/presentation/quote_providers.dart: quoteServiceProvider, QuoteNotifier(submit, reset), quoteProvider. Import QuoteState from domain/quote_model.dart - do NOT redeclare it.</a:t>
            </a:r>
            <a:endParaRPr lang="en-US" sz="1300" dirty="0"/>
          </a:p>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features/quote/presentation/premium_card.dart: PremiumCard(quote) using theme roles (Appendix D).</a:t>
            </a:r>
            <a:endParaRPr lang="en-US" sz="1300" dirty="0"/>
          </a:p>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CaptureForm: add enabled flag; button shows a small spinner and disables when false.</a:t>
            </a:r>
            <a:endParaRPr lang="en-US" sz="1300" dirty="0"/>
          </a:p>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CaptureScreen: ref.watch(quoteProvider); switch expression renders Idle text / spinner / PremiumCard / error text; ref.listen shows SnackBar on QuoteFailed; onSubmit → ref.read(quoteProvider.notifier).submit(r).</a:t>
            </a:r>
            <a:endParaRPr lang="en-US" sz="1300" dirty="0"/>
          </a:p>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Test the three paths on the emulator: valid (card), year 1998 (error), rapid double-tap (button disabled).</a:t>
            </a:r>
            <a:endParaRPr lang="en-US" sz="1300" dirty="0"/>
          </a:p>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test/quote_notifier_test.dart: ProviderContainer + override + listen; assert Idle → Loading → Loaded. flutter test.</a:t>
            </a:r>
            <a:endParaRPr lang="en-US" sz="1300" dirty="0"/>
          </a:p>
          <a:p>
            <a:pPr marL="279400" indent="-279400">
              <a:spcAft>
                <a:spcPts val="700"/>
              </a:spcAft>
              <a:buSzPct val="100000"/>
              <a:buFont typeface="+mj-lt"/>
              <a:buAutoNum type="arabicPeriod" startAt="1"/>
            </a:pPr>
            <a:r>
              <a:rPr lang="en-US" sz="1300" dirty="0">
                <a:solidFill>
                  <a:srgbClr val="1F2933"/>
                </a:solidFill>
                <a:latin typeface="Calibri" pitchFamily="34" charset="0"/>
                <a:ea typeface="Calibri" pitchFamily="34" charset="-122"/>
                <a:cs typeface="Calibri" pitchFamily="34" charset="-120"/>
              </a:rPr>
              <a:t>flutter analyze clean; commit "Day 3: quote flow".</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1F7A5C"/>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Add QuoteNotifier.reset() wired to a "New quote" button that also resets the form (GlobalKey.reset()).</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Convert the future saved-quotes list to an AsyncNotifier with an in-memory repository; render with .when().</a:t>
            </a:r>
            <a:endParaRPr lang="en-US" sz="1200" dirty="0"/>
          </a:p>
          <a:p>
            <a:pPr marL="177800" indent="-1778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Add a ProviderObserver and name the providers; watch the log during a submit.</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011680" cy="292608"/>
          </a:xfrm>
          <a:prstGeom prst="roundRect">
            <a:avLst>
              <a:gd name="adj" fmla="val 50000"/>
            </a:avLst>
          </a:prstGeom>
          <a:solidFill>
            <a:srgbClr val="0B2545"/>
          </a:solidFill>
          <a:ln w="12700">
            <a:solidFill>
              <a:srgbClr val="0B2545"/>
            </a:solidFill>
            <a:prstDash val="solid"/>
          </a:ln>
        </p:spPr>
      </p:sp>
      <p:sp>
        <p:nvSpPr>
          <p:cNvPr id="3" name="Text 1"/>
          <p:cNvSpPr txBox="1"/>
          <p:nvPr/>
        </p:nvSpPr>
        <p:spPr>
          <a:xfrm>
            <a:off x="548640" y="457200"/>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 &amp; BREAK DOWN</a:t>
            </a:r>
            <a:endParaRPr lang="en-US" sz="1000" dirty="0"/>
          </a:p>
        </p:txBody>
      </p:sp>
      <p:sp>
        <p:nvSpPr>
          <p:cNvPr id="4" name="Text 2"/>
          <p:cNvSpPr txBox="1"/>
          <p:nvPr/>
        </p:nvSpPr>
        <p:spPr>
          <a:xfrm>
            <a:off x="9811512" y="457200"/>
            <a:ext cx="1828800" cy="292608"/>
          </a:xfrm>
          <a:prstGeom prst="rect">
            <a:avLst/>
          </a:prstGeom>
          <a:noFill/>
          <a:ln/>
        </p:spPr>
        <p:txBody>
          <a:bodyPr wrap="square" lIns="0" tIns="0" rIns="0" bIns="0" rtlCol="0" anchor="ctr"/>
          <a:lstStyle/>
          <a:p>
            <a:pPr algn="r" indent="0" marL="0">
              <a:buNone/>
            </a:pPr>
            <a:r>
              <a:rPr lang="en-US" sz="1200" dirty="0">
                <a:solidFill>
                  <a:srgbClr val="5B6773"/>
                </a:solidFill>
                <a:latin typeface="Calibri" pitchFamily="34" charset="0"/>
                <a:ea typeface="Calibri" pitchFamily="34" charset="-122"/>
                <a:cs typeface="Calibri" pitchFamily="34" charset="-120"/>
              </a:rPr>
              <a:t>Homework · 20 min</a:t>
            </a:r>
            <a:endParaRPr lang="en-US" sz="1200" dirty="0"/>
          </a:p>
        </p:txBody>
      </p:sp>
      <p:sp>
        <p:nvSpPr>
          <p:cNvPr id="5" name="Text 3"/>
          <p:cNvSpPr txBox="1"/>
          <p:nvPr/>
        </p:nvSpPr>
        <p:spPr>
          <a:xfrm>
            <a:off x="548640" y="868680"/>
            <a:ext cx="11091672" cy="640080"/>
          </a:xfrm>
          <a:prstGeom prst="rect">
            <a:avLst/>
          </a:prstGeom>
          <a:noFill/>
          <a:ln/>
        </p:spPr>
        <p:txBody>
          <a:bodyPr wrap="square" lIns="0" tIns="0" rIns="0" bIns="0" rtlCol="0" anchor="ctr"/>
          <a:lstStyle/>
          <a:p>
            <a:pPr indent="0" marL="0">
              <a:buNone/>
            </a:pPr>
            <a:r>
              <a:rPr lang="en-US" sz="2800" b="1" dirty="0">
                <a:solidFill>
                  <a:srgbClr val="0B2545"/>
                </a:solidFill>
                <a:latin typeface="Calibri" pitchFamily="34" charset="0"/>
                <a:ea typeface="Calibri" pitchFamily="34" charset="-122"/>
                <a:cs typeface="Calibri" pitchFamily="34" charset="-120"/>
              </a:rPr>
              <a:t>Tonight: read the go_router "Get started" and one routing concept</a:t>
            </a:r>
            <a:endParaRPr lang="en-US" sz="2800" dirty="0"/>
          </a:p>
        </p:txBody>
      </p:sp>
      <p:sp>
        <p:nvSpPr>
          <p:cNvPr id="6" name="Shape 4"/>
          <p:cNvSpPr/>
          <p:nvPr/>
        </p:nvSpPr>
        <p:spPr>
          <a:xfrm>
            <a:off x="548640" y="1691640"/>
            <a:ext cx="11091672" cy="960120"/>
          </a:xfrm>
          <a:prstGeom prst="roundRect">
            <a:avLst>
              <a:gd name="adj" fmla="val 9524"/>
            </a:avLst>
          </a:prstGeom>
          <a:solidFill>
            <a:srgbClr val="EAF0F7"/>
          </a:solidFill>
          <a:ln w="6350">
            <a:solidFill>
              <a:srgbClr val="EAF0F7"/>
            </a:solidFill>
            <a:prstDash val="solid"/>
          </a:ln>
          <a:effectLst>
            <a:outerShdw sx="100000" sy="100000" kx="0" ky="0" algn="bl" rotWithShape="0" blurRad="38100" dist="12700" dir="5400000">
              <a:srgbClr val="000000">
                <a:alpha val="8000"/>
              </a:srgbClr>
            </a:outerShdw>
          </a:effectLst>
        </p:spPr>
      </p:sp>
      <p:sp>
        <p:nvSpPr>
          <p:cNvPr id="7" name="Text 5"/>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1800" b="1" dirty="0">
                <a:solidFill>
                  <a:srgbClr val="0B2545"/>
                </a:solidFill>
                <a:latin typeface="Courier New" pitchFamily="34" charset="0"/>
                <a:ea typeface="Courier New" pitchFamily="34" charset="-122"/>
                <a:cs typeface="Courier New" pitchFamily="34" charset="-120"/>
              </a:rPr>
              <a:t>pub.dev/packages/go_router</a:t>
            </a:r>
            <a:endParaRPr lang="en-US" sz="1800" dirty="0"/>
          </a:p>
        </p:txBody>
      </p:sp>
      <p:sp>
        <p:nvSpPr>
          <p:cNvPr id="8" name="Text 6"/>
          <p:cNvSpPr txBox="1"/>
          <p:nvPr/>
        </p:nvSpPr>
        <p:spPr>
          <a:xfrm>
            <a:off x="822960" y="2212848"/>
            <a:ext cx="10543032" cy="365760"/>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README "Getting started"; then docs at docs.page/csells/go_router or the package docs: "Redirection", "Parameters", "Navigation" (about 20 minutes)</a:t>
            </a:r>
            <a:endParaRPr lang="en-US" sz="1200" dirty="0"/>
          </a:p>
        </p:txBody>
      </p:sp>
      <p:sp>
        <p:nvSpPr>
          <p:cNvPr id="9" name="Text 7"/>
          <p:cNvSpPr txBox="1"/>
          <p:nvPr/>
        </p:nvSpPr>
        <p:spPr>
          <a:xfrm>
            <a:off x="548640" y="2880360"/>
            <a:ext cx="6655003"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Answer these as you read</a:t>
            </a:r>
            <a:endParaRPr lang="en-US" sz="1400" dirty="0"/>
          </a:p>
        </p:txBody>
      </p:sp>
      <p:sp>
        <p:nvSpPr>
          <p:cNvPr id="10" name="Text 8"/>
          <p:cNvSpPr txBox="1"/>
          <p:nvPr/>
        </p:nvSpPr>
        <p:spPr>
          <a:xfrm>
            <a:off x="548640" y="3291840"/>
            <a:ext cx="6655003" cy="2743200"/>
          </a:xfrm>
          <a:prstGeom prst="rect">
            <a:avLst/>
          </a:prstGeom>
          <a:noFill/>
          <a:ln/>
        </p:spPr>
        <p:txBody>
          <a:bodyPr wrap="square" lIns="0" tIns="0" rIns="0" bIns="0" rtlCol="0" anchor="t"/>
          <a:lstStyle/>
          <a:p>
            <a:pPr marL="279400" indent="-279400">
              <a:spcAft>
                <a:spcPts val="800"/>
              </a:spcAft>
              <a:buSzPct val="100000"/>
              <a:buFont typeface="+mj-lt"/>
              <a:buAutoNum type="arabicPeriod" startAt="1"/>
            </a:pPr>
            <a:r>
              <a:rPr lang="en-US" sz="1400" dirty="0">
                <a:solidFill>
                  <a:srgbClr val="1F2933"/>
                </a:solidFill>
                <a:latin typeface="Calibri" pitchFamily="34" charset="0"/>
                <a:ea typeface="Calibri" pitchFamily="34" charset="-122"/>
                <a:cs typeface="Calibri" pitchFamily="34" charset="-120"/>
              </a:rPr>
              <a:t>What is the difference between context.go() and context.push()? Give one use of each in our app.</a:t>
            </a:r>
            <a:endParaRPr lang="en-US" sz="1400" dirty="0"/>
          </a:p>
          <a:p>
            <a:pPr marL="279400" indent="-279400">
              <a:spcAft>
                <a:spcPts val="800"/>
              </a:spcAft>
              <a:buSzPct val="100000"/>
              <a:buFont typeface="+mj-lt"/>
              <a:buAutoNum type="arabicPeriod" startAt="1"/>
            </a:pPr>
            <a:r>
              <a:rPr lang="en-US" sz="1400" dirty="0">
                <a:solidFill>
                  <a:srgbClr val="1F2933"/>
                </a:solidFill>
                <a:latin typeface="Calibri" pitchFamily="34" charset="0"/>
                <a:ea typeface="Calibri" pitchFamily="34" charset="-122"/>
                <a:cs typeface="Calibri" pitchFamily="34" charset="-120"/>
              </a:rPr>
              <a:t>How does go_router express a path parameter, and how do you read it in the builder?</a:t>
            </a:r>
            <a:endParaRPr lang="en-US" sz="1400" dirty="0"/>
          </a:p>
          <a:p>
            <a:pPr marL="279400" indent="-279400">
              <a:spcAft>
                <a:spcPts val="800"/>
              </a:spcAft>
              <a:buSzPct val="100000"/>
              <a:buFont typeface="+mj-lt"/>
              <a:buAutoNum type="arabicPeriod" startAt="1"/>
            </a:pPr>
            <a:r>
              <a:rPr lang="en-US" sz="1400" dirty="0">
                <a:solidFill>
                  <a:srgbClr val="1F2933"/>
                </a:solidFill>
                <a:latin typeface="Calibri" pitchFamily="34" charset="0"/>
                <a:ea typeface="Calibri" pitchFamily="34" charset="-122"/>
                <a:cs typeface="Calibri" pitchFamily="34" charset="-120"/>
              </a:rPr>
              <a:t>What is redirect for, and how would you implement "must complete onboarding first"?</a:t>
            </a:r>
            <a:endParaRPr lang="en-US" sz="1400" dirty="0"/>
          </a:p>
          <a:p>
            <a:pPr marL="279400" indent="-279400">
              <a:spcAft>
                <a:spcPts val="800"/>
              </a:spcAft>
              <a:buSzPct val="100000"/>
              <a:buFont typeface="+mj-lt"/>
              <a:buAutoNum type="arabicPeriod" startAt="1"/>
            </a:pPr>
            <a:r>
              <a:rPr lang="en-US" sz="1400" dirty="0">
                <a:solidFill>
                  <a:srgbClr val="1F2933"/>
                </a:solidFill>
                <a:latin typeface="Calibri" pitchFamily="34" charset="0"/>
                <a:ea typeface="Calibri" pitchFamily="34" charset="-122"/>
                <a:cs typeface="Calibri" pitchFamily="34" charset="-120"/>
              </a:rPr>
              <a:t>What is a StatefulShellRoute / ShellRoute and which of our screens would live inside one?</a:t>
            </a:r>
            <a:endParaRPr lang="en-US" sz="1400" dirty="0"/>
          </a:p>
        </p:txBody>
      </p:sp>
      <p:sp>
        <p:nvSpPr>
          <p:cNvPr id="11" name="Shape 9"/>
          <p:cNvSpPr/>
          <p:nvPr/>
        </p:nvSpPr>
        <p:spPr>
          <a:xfrm>
            <a:off x="7477963" y="2880360"/>
            <a:ext cx="4162349" cy="3154680"/>
          </a:xfrm>
          <a:prstGeom prst="roundRect">
            <a:avLst>
              <a:gd name="adj" fmla="val 2899"/>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12" name="Text 10"/>
          <p:cNvSpPr txBox="1"/>
          <p:nvPr/>
        </p:nvSpPr>
        <p:spPr>
          <a:xfrm>
            <a:off x="7706563" y="3017520"/>
            <a:ext cx="3705149" cy="365760"/>
          </a:xfrm>
          <a:prstGeom prst="rect">
            <a:avLst/>
          </a:prstGeom>
          <a:noFill/>
          <a:ln/>
        </p:spPr>
        <p:txBody>
          <a:bodyPr wrap="square" lIns="0" tIns="0" rIns="0" bIns="0"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Then</a:t>
            </a:r>
            <a:endParaRPr lang="en-US" sz="1400" dirty="0"/>
          </a:p>
        </p:txBody>
      </p:sp>
      <p:sp>
        <p:nvSpPr>
          <p:cNvPr id="13" name="Text 11"/>
          <p:cNvSpPr txBox="1"/>
          <p:nvPr/>
        </p:nvSpPr>
        <p:spPr>
          <a:xfrm>
            <a:off x="7706563" y="3429000"/>
            <a:ext cx="3705149"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09:00 tomorrow: two delegates present Q1+Q2 and Q3+Q4 at the whiteboard.</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We then add routing to the app live from their answers.</a:t>
            </a:r>
            <a:endParaRPr lang="en-US" sz="1250" dirty="0"/>
          </a:p>
          <a:p>
            <a:pPr marL="177800" indent="-1778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Navigation scored 3.2 in the survey - the reading closes the gap for the people at 1.</a:t>
            </a:r>
            <a:endParaRPr lang="en-US" sz="125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445752" y="-1371600"/>
            <a:ext cx="4572000" cy="4572000"/>
          </a:xfrm>
          <a:prstGeom prst="ellipse">
            <a:avLst/>
          </a:prstGeom>
          <a:solidFill>
            <a:srgbClr val="13315C"/>
          </a:solidFill>
          <a:ln w="12700">
            <a:solidFill>
              <a:srgbClr val="13315C"/>
            </a:solidFill>
            <a:prstDash val="solid"/>
          </a:ln>
        </p:spPr>
      </p:sp>
      <p:sp>
        <p:nvSpPr>
          <p:cNvPr id="3" name="Text 1"/>
          <p:cNvSpPr txBox="1"/>
          <p:nvPr/>
        </p:nvSpPr>
        <p:spPr>
          <a:xfrm>
            <a:off x="548640" y="548640"/>
            <a:ext cx="82296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Day 3 recap</a:t>
            </a:r>
            <a:endParaRPr lang="en-US" sz="3400" dirty="0"/>
          </a:p>
        </p:txBody>
      </p:sp>
      <p:sp>
        <p:nvSpPr>
          <p:cNvPr id="4" name="Text 2"/>
          <p:cNvSpPr txBox="1"/>
          <p:nvPr/>
        </p:nvSpPr>
        <p:spPr>
          <a:xfrm>
            <a:off x="548640" y="1554480"/>
            <a:ext cx="6583680" cy="411480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Ephemeral vs app vs derived state - the whiteboard columns decide where state lives.</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setState for local UI; InheritedWidget is the mechanism; Provider adds change + DI; Riverpod removes the sharp edges.</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Providers: Provider (derived/services), NotifierProvider (state + methods), AsyncNotifier/FutureProvider (async), family/autoDispose.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watch in build, read in callbacks, listen for side effects, select to narrow.</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Services injected as providers; overridden in tests; the notifier never imports widgets.</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Bloc: same shape plus events; choose it for enforced structure and event audit trails.</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The quote flow now runs idle → loading → loaded/failed and is unit tested.</a:t>
            </a:r>
            <a:endParaRPr lang="en-US" sz="1500" dirty="0"/>
          </a:p>
        </p:txBody>
      </p:sp>
      <p:sp>
        <p:nvSpPr>
          <p:cNvPr id="5" name="Shape 3"/>
          <p:cNvSpPr/>
          <p:nvPr/>
        </p:nvSpPr>
        <p:spPr>
          <a:xfrm>
            <a:off x="7589520" y="1554480"/>
            <a:ext cx="4023360" cy="3840480"/>
          </a:xfrm>
          <a:prstGeom prst="roundRect">
            <a:avLst>
              <a:gd name="adj" fmla="val 2381"/>
            </a:avLst>
          </a:prstGeom>
          <a:solidFill>
            <a:srgbClr val="13315C"/>
          </a:solidFill>
          <a:ln w="6350">
            <a:solidFill>
              <a:srgbClr val="13315C"/>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818120" y="1691640"/>
            <a:ext cx="3657600" cy="365760"/>
          </a:xfrm>
          <a:prstGeom prst="rect">
            <a:avLst/>
          </a:prstGeom>
          <a:noFill/>
          <a:ln/>
        </p:spPr>
        <p:txBody>
          <a:bodyPr wrap="square" lIns="0" tIns="0" rIns="0" bIns="0" rtlCol="0" anchor="ctr"/>
          <a:lstStyle/>
          <a:p>
            <a:pPr indent="0" marL="0">
              <a:buNone/>
            </a:pPr>
            <a:r>
              <a:rPr lang="en-US" sz="1100" dirty="0">
                <a:solidFill>
                  <a:srgbClr val="E3C766"/>
                </a:solidFill>
                <a:latin typeface="Calibri" pitchFamily="34" charset="0"/>
                <a:ea typeface="Calibri" pitchFamily="34" charset="-122"/>
                <a:cs typeface="Calibri" pitchFamily="34" charset="-120"/>
              </a:rPr>
              <a:t>Tomorrow</a:t>
            </a:r>
            <a:endParaRPr lang="en-US" sz="1100" dirty="0"/>
          </a:p>
        </p:txBody>
      </p:sp>
      <p:sp>
        <p:nvSpPr>
          <p:cNvPr id="7" name="Text 5"/>
          <p:cNvSpPr txBox="1"/>
          <p:nvPr/>
        </p:nvSpPr>
        <p:spPr>
          <a:xfrm>
            <a:off x="7818120" y="2103120"/>
            <a:ext cx="3657600" cy="31089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Navigation with go_router: routes, params, redirect, shell</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REST + JSON with dio; json_serializable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Local storage: shared_preferences, SQLite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Mini-project: onboarding → capture → API → result</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The fake service becomes a real one</a:t>
            </a:r>
            <a:endParaRPr lang="en-US" sz="13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ns2="http://schemas.microsoft.com/office/powerpoint/2010/main"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PLAN B · When it breaks in class</a:t>
            </a:r>
            <a:endParaRPr lang="en-US" sz="3000" dirty="0"/>
          </a:p>
        </p:txBody>
      </p:sp>
      <p:graphicFrame>
        <p:nvGraphicFramePr>
          <p:cNvPr id="32" name="Table 0"/>
          <p:cNvGraphicFramePr>
            <a:graphicFrameLocks noGrp="1"/>
          </p:cNvGraphicFramePr>
          <p:nvPr>
            <p:extLst>
              <p:ext uri="{D42A27DB-BD31-4B8C-83A1-F6EECF244321}">
                <ns2:modId val="1579011935"/>
              </p:ext>
            </p:extLst>
          </p:nvPr>
        </p:nvGraphicFramePr>
        <p:xfrm>
          <a:off x="548640" y="1325880"/>
          <a:ext cx="11091672" cy="914400"/>
        </p:xfrm>
        <a:graphic>
          <a:graphicData uri="http://schemas.openxmlformats.org/drawingml/2006/table">
            <a:tbl>
              <a:tblPr/>
              <a:tblGrid>
                <a:gridCol w="3993002"/>
                <a:gridCol w="709867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If this happens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Do this instead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r>
              <a:tr h="0">
                <a:tc>
                  <a:txBody>
                    <a:bodyPr/>
                    <a:lstStyle/>
                    <a:p>
                      <a:pPr indent="0" marL="0">
                        <a:buNone/>
                      </a:pPr>
                      <a:r>
                        <a:rPr lang="en-US" sz="950" b="1" dirty="0">
                          <a:solidFill>
                            <a:srgbClr val="1F2933"/>
                          </a:solidFill>
                          <a:latin typeface="Courier New" pitchFamily="34" charset="0"/>
                          <a:ea typeface="Courier New" pitchFamily="34" charset="-122"/>
                          <a:cs typeface="Courier New" pitchFamily="34" charset="-120"/>
                        </a:rPr>
                        <a:t>flutter pub add flutter_riverpod fails (network)</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Copy the pre-warmed pub cache from the USB stick into ~/.pub-cache (mac) / %LOCALAPPDATA%\Pub\Cache (win), then flutter pub get --offline. Add flutter_riverpod: ^3.0.0 to pubspec by hand first.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Riverpod resolves to a different major than you tested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The Notifier / NotifierProvider / ref.watch / ref.read code in every lab is IDENTICAL across 2.x and 3.x. Only the family, legacy-import and retry slides differ - none of them is a lab step. Carry on and flag the difference verbally.</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A delegate cannot install the package at all</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They follow the refactor on the projector and rebuild from the handbook Lab 3.2 solution afterwards. Understanding the pattern matters more than typing it.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Your live refactor demo breaks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Put the handbook Lab 3.1 solution on the projector beside yesterday’s app.dart and walk the three changed files - the before/after IS the lesson, and it is faster than debugging live.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"Why not Provider / Bloc?" turns into a long argument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Go to the comparison table, say "either is production-grade, consistency beats the choice", and put the question on the whiteboard for the Friday clinic. Do not spend lab time on it.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Providers behave oddly in a demo (repeat calls, no rebuild)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Two usual causes: Riverpod 3 automatic retry (disable with ProviderScope(retry: (c, e) =&gt; null)), or ref.read where ref.watch belongs. Both are on the slides - turn to them rather than debugging blind.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C9A227"/>
        </a:solidFill>
      </p:bgPr>
    </p:bg>
    <p:spTree>
      <p:nvGrpSpPr>
        <p:cNvPr id="1" name=""/>
        <p:cNvGrpSpPr/>
        <p:nvPr/>
      </p:nvGrpSpPr>
      <p:grpSpPr>
        <a:xfrm>
          <a:off x="0" y="0"/>
          <a:ext cx="0" cy="0"/>
          <a:chOff x="0" y="0"/>
          <a:chExt cx="0" cy="0"/>
        </a:xfrm>
      </p:grpSpPr>
      <p:sp>
        <p:nvSpPr>
          <p:cNvPr id="2" name="Text 0"/>
          <p:cNvSpPr txBox="1"/>
          <p:nvPr/>
        </p:nvSpPr>
        <p:spPr>
          <a:xfrm>
            <a:off x="548640" y="2011680"/>
            <a:ext cx="7315200" cy="457200"/>
          </a:xfrm>
          <a:prstGeom prst="rect">
            <a:avLst/>
          </a:prstGeom>
          <a:noFill/>
          <a:ln/>
        </p:spPr>
        <p:txBody>
          <a:bodyPr wrap="square" lIns="0" tIns="0" rIns="0" bIns="0" rtlCol="0" anchor="ctr"/>
          <a:lstStyle/>
          <a:p>
            <a:pPr indent="0" marL="0">
              <a:buNone/>
            </a:pPr>
            <a:r>
              <a:rPr lang="en-US" sz="1400" spc="400" kern="0" dirty="0">
                <a:solidFill>
                  <a:srgbClr val="0B2545"/>
                </a:solidFill>
                <a:latin typeface="Calibri" pitchFamily="34" charset="0"/>
                <a:ea typeface="Calibri" pitchFamily="34" charset="-122"/>
                <a:cs typeface="Calibri" pitchFamily="34" charset="-120"/>
              </a:rPr>
              <a:t>APPENDIX</a:t>
            </a:r>
            <a:endParaRPr lang="en-US" sz="1400" dirty="0"/>
          </a:p>
        </p:txBody>
      </p:sp>
      <p:sp>
        <p:nvSpPr>
          <p:cNvPr id="3" name="Text 1"/>
          <p:cNvSpPr txBox="1"/>
          <p:nvPr/>
        </p:nvSpPr>
        <p:spPr>
          <a:xfrm>
            <a:off x="548640" y="2468880"/>
            <a:ext cx="10058400" cy="1097280"/>
          </a:xfrm>
          <a:prstGeom prst="rect">
            <a:avLst/>
          </a:prstGeom>
          <a:noFill/>
          <a:ln/>
        </p:spPr>
        <p:txBody>
          <a:bodyPr wrap="square" lIns="0" tIns="0" rIns="0" bIns="0" rtlCol="0" anchor="ctr"/>
          <a:lstStyle/>
          <a:p>
            <a:pPr indent="0" marL="0">
              <a:buNone/>
            </a:pPr>
            <a:r>
              <a:rPr lang="en-US" sz="4000" b="1" dirty="0">
                <a:solidFill>
                  <a:srgbClr val="0B2545"/>
                </a:solidFill>
                <a:latin typeface="Calibri" pitchFamily="34" charset="0"/>
                <a:ea typeface="Calibri" pitchFamily="34" charset="-122"/>
                <a:cs typeface="Calibri" pitchFamily="34" charset="-120"/>
              </a:rPr>
              <a:t>Day 3 reference</a:t>
            </a:r>
            <a:endParaRPr lang="en-US" sz="4000" dirty="0"/>
          </a:p>
        </p:txBody>
      </p:sp>
      <p:sp>
        <p:nvSpPr>
          <p:cNvPr id="4" name="Text 2"/>
          <p:cNvSpPr txBox="1"/>
          <p:nvPr/>
        </p:nvSpPr>
        <p:spPr>
          <a:xfrm>
            <a:off x="548640" y="3566160"/>
            <a:ext cx="10058400" cy="731520"/>
          </a:xfrm>
          <a:prstGeom prst="rect">
            <a:avLst/>
          </a:prstGeom>
          <a:noFill/>
          <a:ln/>
        </p:spPr>
        <p:txBody>
          <a:bodyPr wrap="square" lIns="0" tIns="0" rIns="0" bIns="0" rtlCol="0" anchor="ctr"/>
          <a:lstStyle/>
          <a:p>
            <a:pPr indent="0" marL="0">
              <a:buNone/>
            </a:pPr>
            <a:r>
              <a:rPr lang="en-US" sz="1600" dirty="0">
                <a:solidFill>
                  <a:srgbClr val="0B2545"/>
                </a:solidFill>
                <a:latin typeface="Calibri" pitchFamily="34" charset="0"/>
                <a:ea typeface="Calibri" pitchFamily="34" charset="-122"/>
                <a:cs typeface="Calibri" pitchFamily="34" charset="-120"/>
              </a:rPr>
              <a:t>A · Provider version   B · Observers (Riverpod &amp; Bloc)   C · Lab 3.1 solution   D · Lab 3.2 solution   E · Troubleshooting   F · Links</a:t>
            </a:r>
            <a:endParaRPr lang="en-US" sz="1600" dirty="0"/>
          </a:p>
        </p:txBody>
      </p:sp>
      <p:sp>
        <p:nvSpPr>
          <p:cNvPr id="5" name="Text 3"/>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6" name="Text 4"/>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A · The Provider-package version of the brand toggle</a:t>
            </a:r>
            <a:endParaRPr lang="en-US" sz="3000" dirty="0"/>
          </a:p>
        </p:txBody>
      </p:sp>
      <p:sp>
        <p:nvSpPr>
          <p:cNvPr id="3" name="Shape 1"/>
          <p:cNvSpPr/>
          <p:nvPr/>
        </p:nvSpPr>
        <p:spPr>
          <a:xfrm>
            <a:off x="548640" y="1325880"/>
            <a:ext cx="11091672" cy="4206240"/>
          </a:xfrm>
          <a:prstGeom prst="roundRect">
            <a:avLst>
              <a:gd name="adj" fmla="val 1739"/>
            </a:avLst>
          </a:prstGeom>
          <a:solidFill>
            <a:srgbClr val="0F172A"/>
          </a:solidFill>
          <a:ln w="12700">
            <a:solidFill>
              <a:srgbClr val="0F172A"/>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Dart (package:provider)</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pubspec: flutter pub add provider</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ChangeNotifierProvider(create: (_) =&gt; BrandModel(), child: const QuoteApp())</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read + rebuild on change</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final brand = context.watch&lt;BrandModel&gt;().brand;</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read once, no rebuild (callbacks)</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context.read&lt;BrandModel&gt;().toggle();</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rebuild only when one field changes</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final name = context.select&lt;BrandModel, String&gt;((m) =&gt; m.brand.name);</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Trade-offs: mutable models, runtime ProviderNotFoundException if you</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forget the ancestor, tied to BuildContext (hard to use in services/tests).</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5B6773"/>
                </a:solidFill>
                <a:latin typeface="Calibri" pitchFamily="34" charset="0"/>
                <a:ea typeface="Calibri" pitchFamily="34" charset="-122"/>
                <a:cs typeface="Calibri" pitchFamily="34" charset="-120"/>
              </a:rPr>
              <a:t>Shown for recognition only; the course uses Riverpod.</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B · Observers: BlocObserver and ProviderObserver  (1/2)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Full Bloc: explicit events → states; every transition is observable</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sealed class QuoteEvent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class QuoteRequested extends QuoteEvent { QuoteRequested(this.request); final QuoteRequest request;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class QuoteReset extends QuoteEvent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class QuoteBloc extends Bloc&lt;QuoteEvent, QuoteState&gt;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QuoteBloc(this._service) : super(const QuoteIdle())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on&lt;QuoteRequested&gt;(_onRequested);</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on&lt;QuoteReset&gt;((e, emit) =&gt; emit(const QuoteIdle()));</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final QuoteService _service;</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Future&lt;void&gt; _onRequested(QuoteRequested e, Emitter&lt;QuoteState&gt; emit) async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emit(const QuoteLoading());</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try { emit(QuoteLoaded(await _service.getQuote(e.request)));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catch (err) { emit(QuoteFailed(err.toString()));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B · Observers: BlocObserver and ProviderObserver  (2/2)</a:t>
            </a:r>
            <a:endParaRPr lang="en-US" sz="3000" dirty="0"/>
          </a:p>
        </p:txBody>
      </p:sp>
      <p:sp>
        <p:nvSpPr>
          <p:cNvPr id="3" name="Shape 1"/>
          <p:cNvSpPr/>
          <p:nvPr/>
        </p:nvSpPr>
        <p:spPr>
          <a:xfrm>
            <a:off x="548640" y="1325880"/>
            <a:ext cx="11091672" cy="4206240"/>
          </a:xfrm>
          <a:prstGeom prst="roundRect">
            <a:avLst>
              <a:gd name="adj" fmla="val 1739"/>
            </a:avLst>
          </a:prstGeom>
          <a:solidFill>
            <a:srgbClr val="0F172A"/>
          </a:solidFill>
          <a:ln w="12700">
            <a:solidFill>
              <a:srgbClr val="0F172A"/>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Audit log for free - every event and transition</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AppBlocObserver extends BlocObserver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void onTransition(Bloc bloc, Transition transition)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debugPrint('${bloc.runtimeType}: ${transition.event} → ${transition.nextState}');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super.onTransition(bloc, transition);</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void main() { Bloc.observer = AppBlocObserver(); runApp(const QuoteApp());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Riverpod equivalent of BlocObserver - log every state change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base class AppProviderObserver extends ProviderObserver {   // 'base' required in Riverpod 3</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void didUpdateProvider(ProviderObserverContext context, Object? previousValue, Object? newValue)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debugPrint('${context.provider.name ?? context.provider.runtimeType}: $previousValue → $newValue');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runApp(ProviderScope(observers: [AppProviderObserver()], child: const QuoteApp()));</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name providers for readable logs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quoteProvider = NotifierProvider&lt;QuoteNotifier, QuoteState&gt;(QuoteNotifier.new, name: 'quote');</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5B6773"/>
                </a:solidFill>
                <a:latin typeface="Calibri" pitchFamily="34" charset="0"/>
                <a:ea typeface="Calibri" pitchFamily="34" charset="-122"/>
                <a:cs typeface="Calibri" pitchFamily="34" charset="-120"/>
              </a:rPr>
              <a:t>Both give a global hook for every transition. Bloc also sees the event that caused it.</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C · Lab 3.1 solution - brand provider and consumers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Handbook · Lab 3.1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lib/core/theme/brand_provider.dart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import 'package:flutter_riverpod/flutter_riverpod.dart';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import 'brand_theme.dart';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BrandKeyNotifier extends Notifier&lt;String&gt;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String build() =&gt; 'alpha';                       // initial state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void set(String key) =&gt; state = key;             // assign → listeners rebuild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void toggle() =&gt; state = state == 'alpha' ? 'beta' : 'alpha';</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brandKeyProvider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NotifierProvider&lt;BrandKeyNotifier, String&gt;(BrandKeyNotifier.new);</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Derived provider: recomputes only when brandKeyProvider changes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brandProvider = Provider&lt;BrandTheme&gt;((ref)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key = ref.watch(brandKeyProvider);</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brands[key] ?? brands['alpha']!;</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lib/app.dart - no State, no callbacks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QuoteApp extends ConsumerWidget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QuoteApp({super.key});</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C · Lab 3.1 solution - brand provider and consumers  (2/2)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Handbook · Lab 3.1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Widget build(BuildContext context, WidgetRef ref)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brand = ref.watch(brandProvider);         // rebuilds on brand change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MaterialApp(</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title: brand.name,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theme: brand.toThemeData(Brightness.light),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darkTheme: brand.toThemeData(Brightness.dark),</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themeMode: ThemeMode.system,</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home: const CaptureScreen(),                  // takes nothing</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Anywhere below, e.g. the AppBar action:</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IconButton(</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icon: const Icon(Icons.swap_horiz),</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tooltip: 'Switch brand',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onPressed: () =&gt; ref.read(brandKeyProvider.notifier).toggle(),  // read in callbacks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C · Lab 3.1 solution - Consumer variants and rules</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1) Whole widget reads providers</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class ResultScreen extends ConsumerWidget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ResultScreen({super.key});</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Widget build(BuildContext context, WidgetRef ref)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state = ref.watch(quoteProvider);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Text(state.toString());</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2) Stateful + providers</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class CaptureScreen extends ConsumerStatefulWidget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CaptureScreen({super.key});</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ConsumerState&lt;CaptureScreen&gt; createState() =&gt; _CaptureScreenState();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class _CaptureScreenState extends ConsumerState&lt;CaptureScreen&gt;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Widget build(BuildContext context)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brand = ref.watch(brandProvider);      // ref is a field</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Scaffold(appBar: AppBar(title: Text(brand.name)));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3) Rebuild only a sub-tree of a plain widget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Consumer(builder: (context, ref, child) =&gt; Text(ref.watch(brandProvider).name))</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D · Lab 3.2 solution - service, state, notifier  (1/2)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Handbook · Lab 3.2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lib/features/quote/data/quote_service.dart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abstract interface class QuoteService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Future&lt;Quote&gt; getQuote(QuoteRequest request);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FakeQuoteService implements QuoteService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Future&lt;Quote&gt; getQuote(QuoteRequest request) async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await Future.delayed(const Duration(milliseconds: 1200));</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if (request.year &lt; 2000) throw Exception('Vehicle too old to insure');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return Quote(id: 'q-${DateTime.now().millisecondsSinceEpoch}',</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premium: calculatePremium(request));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lib/features/quote/presentation/quote_providers.dart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Dependency injection: the UI never constructs a service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final quoteServiceProvider = Provider&lt;QuoteService&gt;((ref) =&gt; FakeQuoteService());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Day 4: return DioQuoteService(ref.watch(dioProvider)) - one line changes</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D · Lab 3.2 solution - service, state, notifier  (2/2)</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Handbook · Lab 3.2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lib/features/quote/presentation/quote_providers.dart (continued)</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QuoteState / Idle / Loading / Loaded / Failed ALREADY EXIST in</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domain/quote_model.dart from Lab 1.2. Import them - do NOT redeclare,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or you get ambiguous_import errors across the feature.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import 'package:quote_app/features/quote/domain/quote_model.dart';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class QuoteNotifier extends Notifier&lt;QuoteState&gt;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QuoteState build() =&gt; const QuoteIdle();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Future&lt;void&gt; submit(QuoteRequest request) async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state = const QuoteLoading();</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try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quote = await ref.read(quoteServiceProvider).getQuote(request);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state = QuoteLoaded(quote);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 catch (e)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state = QuoteFailed(e.toString().replaceFirst('Exception: ',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void reset() =&gt; state = const QuoteIdle();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final quoteProvider = NotifierProvider&lt;QuoteNotifier, QuoteState&gt;(QuoteNotifier.new);</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D · Lab 3.2 solution - screen, PremiumCard, enabled form  (1/3)</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Handbook · Lab 3.2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In CaptureScreen (ConsumerState) - render the state, trigger the notifier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@override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Widget build(BuildContext context)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state = ref.watch(quoteProvider);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ref.listen(quoteProvider, (prev, next) {          // side effect, not UI</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if (next is QuoteFailed)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ScaffoldMessenger.of(context)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.showSnackBar(SnackBar(content: Text(next.message)));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Scaffold(</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appBar: AppBar(title: Text(ref.watch(brandProvider).name)),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body: Column(children: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CaptureForm(</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enabled: state is! QuoteLoading,</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onSubmit: (r) =&gt; ref.read(quoteProvider.notifier).submit(r),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SizedBox(height: 16),</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switch (state) {                                  // exhaustive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QuoteIdle()           =&gt; const Text('Fill in the form to get a quote'),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QuoteLoading()        =&gt; const CircularProgressIndicator(),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QuoteLoaded(:final quote) =&gt; PremiumCard(quote: quote),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QuoteFailed(:final message) =&gt; Text(message,</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D · Lab 3.2 solution - screen, PremiumCard, enabled form  (2/3)</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Handbook · Lab 3.2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style: TextStyle(color: Theme.of(context).colorScheme.error)),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class PremiumCard extends StatelessWidget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PremiumCard({super.key, required this.quote});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Quote quote;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Widget build(BuildContext context)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cs = Theme.of(context).colorScheme;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tt = Theme.of(context).textTheme;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return Card(</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color: cs.primaryContainer,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child: Padding(</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padding: const EdgeInsets.all(20),</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child: Column(</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crossAxisAlignment: CrossAxisAlignment.start,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children: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Text('Your monthly premium', style: tt.labelLarge?.copyWith(color: cs.onPrimaryContainer)),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SizedBox(height: 8),</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Text(quote.display,</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style: tt.displaySmall?.copyWith(color: cs.onPrimaryContainer, fontWeight: FontWeight.bold)),</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D · Lab 3.2 solution - screen, PremiumCard, enabled form  (3/3)</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Handbook · Lab 3.2 solution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SizedBox(height: 4),</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Text('Quote ref ${quote.id}', style: tt.bodySmall?.copyWith(color: cs.onPrimaryContainer)),</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CaptureForm gains an `enabled` flag so the button disables while loading</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class CaptureForm extends StatefulWidget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const CaptureForm({super.key, required this.onSubmit, this.enabled = true});</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void Function(QuoteRequest) onSubmit;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final bool enabled;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 …</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in _fields():</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FilledButton.icon(</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onPressed: widget.enabled ? _submit : null,     // null = disabled</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icon: widget.enabled ? const Icon(Icons.calculate) : const SizedBox(</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width: 18, height: 18, child: CircularProgressIndicator(strokeWidth: 2)),</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  label: Text(widget.enabled ? 'Get quote' : 'Calculating…'),</a:t>
            </a:r>
            <a:endParaRPr lang="en-US" sz="1000" dirty="0"/>
          </a:p>
          <a:p>
            <a:pPr indent="0" marL="0">
              <a:lnSpc>
                <a:spcPct val="105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D · Lab 3.2 solution - test and imports</a:t>
            </a:r>
            <a:endParaRPr lang="en-US" sz="3000" dirty="0"/>
          </a:p>
        </p:txBody>
      </p:sp>
      <p:sp>
        <p:nvSpPr>
          <p:cNvPr id="3" name="Shape 1"/>
          <p:cNvSpPr/>
          <p:nvPr/>
        </p:nvSpPr>
        <p:spPr>
          <a:xfrm>
            <a:off x="548640" y="1325880"/>
            <a:ext cx="11091672" cy="4846320"/>
          </a:xfrm>
          <a:prstGeom prst="roundRect">
            <a:avLst>
              <a:gd name="adj" fmla="val 1509"/>
            </a:avLst>
          </a:prstGeom>
          <a:solidFill>
            <a:srgbClr val="0F172A"/>
          </a:solidFill>
          <a:ln w="12700">
            <a:solidFill>
              <a:srgbClr val="0F172A"/>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E3C766"/>
                </a:solidFill>
                <a:latin typeface="Calibri" pitchFamily="34" charset="0"/>
                <a:ea typeface="Calibri" pitchFamily="34" charset="-122"/>
                <a:cs typeface="Calibri" pitchFamily="34" charset="-120"/>
              </a:rPr>
              <a:t>test/quote_notifier_test.dart · imports</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Riverpod state is testable with NO widgets (Day 5 goes deeper)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test('submit moves idle → loading → loaded', () async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container = ProviderContainer(</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overrides: [quoteServiceProvider.overrideWithValue(FakeQuoteService())],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addTearDown(container.dispose);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final states = &lt;QuoteState&gt;[];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container.listen(quoteProvider, (_, next) =&gt; states.add(next), fireImmediately: true);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await container.read(quoteProvider.notifier).submit(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const QuoteRequest(make: 'VW', year: 2020, driverAge: 30, cover: Cover.comprehensive));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expect(states.map((s) =&gt; s.runtimeType),</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[QuoteIdle, QuoteLoading, QuoteLoaded]);</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import 'package:flutter/material.dart';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import 'package:flutter_riverpod/flutter_riverpod.dart';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import 'package:quote_app/core/theme/brand_provider.dart';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import 'package:quote_app/core/theme/brand_theme.dart';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import 'package:quote_app/features/quote/data/quote_service.dart';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import 'package:quote_app/features/quote/domain/quote_model.dart';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import 'package:quote_app/features/quote/presentation/capture_form.dart';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import 'package:quote_app/features/quote/presentation/premium_card.dart';</a:t>
            </a:r>
            <a:endParaRPr lang="en-US" sz="900" dirty="0"/>
          </a:p>
          <a:p>
            <a:pPr indent="0" marL="0">
              <a:lnSpc>
                <a:spcPct val="105000"/>
              </a:lnSpc>
              <a:buNone/>
            </a:pPr>
            <a:r>
              <a:rPr lang="en-US" sz="900" dirty="0">
                <a:solidFill>
                  <a:srgbClr val="E2E8F0"/>
                </a:solidFill>
                <a:latin typeface="Courier New" pitchFamily="34" charset="0"/>
                <a:ea typeface="Courier New" pitchFamily="34" charset="-122"/>
                <a:cs typeface="Courier New" pitchFamily="34" charset="-120"/>
              </a:rPr>
              <a:t>import 'package:quote_app/features/quote/presentation/quote_providers.dart';</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E · Troubleshooting: symptom → fix</a:t>
            </a:r>
            <a:endParaRPr lang="en-US" sz="3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3105668"/>
                <a:gridCol w="4214835"/>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Symptom</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Cause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Fix</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"No ProviderScope found"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main not wrapped, or hot reload after changing main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Wrap runApp in ProviderScope; hot RESTART</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Widget never updates after toggle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ref.read in build</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Use ref.watch in build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"Undefined name 'ref'"</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StatelessWidget / State instead of Consumer variants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ConsumerWidget / ConsumerStatefulWidget + ConsumerState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"The switch expression isn't exhaustive"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Missing sealed subtype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Add the case (intended)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Spinner never stops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Exception escaped try</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Await inside try; catch sets QuoteFailed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State assigned but no rebuild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Mutated in place / equal value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Assign a NEW object; override == or use copyWith</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FutureProvider re-runs after error</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Riverpod 3 automatic retry</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ProviderScope(retry: (c, e) =&gt; null) while demoing</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"StateProvider isn't defined"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Riverpod 3 moved legacy providers</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import 'package:flutter_riverpod/legacy.dart' or use Notifier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r h="0">
                <a:tc>
                  <a:txBody>
                    <a:bodyPr/>
                    <a:lstStyle/>
                    <a:p>
                      <a:pPr indent="0" marL="0">
                        <a:buNone/>
                      </a:pPr>
                      <a:r>
                        <a:rPr lang="en-US" sz="950" b="1" dirty="0">
                          <a:solidFill>
                            <a:srgbClr val="1F2933"/>
                          </a:solidFill>
                          <a:latin typeface="Courier New" pitchFamily="34" charset="0"/>
                          <a:ea typeface="Courier New" pitchFamily="34" charset="-122"/>
                          <a:cs typeface="Courier New" pitchFamily="34" charset="-120"/>
                        </a:rPr>
                        <a:t>build(String id) does not compile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2.x family signature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Riverpod 3: constructor parameter + .family provider</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F2933"/>
                          </a:solidFill>
                          <a:latin typeface="Courier New" pitchFamily="34" charset="0"/>
                          <a:ea typeface="Courier New" pitchFamily="34" charset="-122"/>
                          <a:cs typeface="Courier New" pitchFamily="34" charset="-120"/>
                        </a:rPr>
                        <a:t>flutter pub add fails (network)</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Venue Wi-Fi</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Copy pre-warmed pub cache; flutter pub get --offline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Test: "A ProviderContainer was not disposed"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Missing tearDown</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addTearDown(container.dispose)</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SnackBar shown twice</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ref.listen inside a nested builder</a:t>
                      </a:r>
                      <a:endParaRPr lang="en-US" sz="950" dirty="0">
                        <a:latin typeface="Courier New" charset="0"/>
                        <a:ea typeface="Courier New" charset="0"/>
                        <a:cs typeface="Courier New"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Call ref.listen once at top of build</a:t>
                      </a:r>
                      <a:endParaRPr lang="en-US" sz="105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ns2="http://schemas.microsoft.com/office/powerpoint/2010/main"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0B2545"/>
                </a:solidFill>
                <a:latin typeface="Calibri" pitchFamily="34" charset="0"/>
                <a:ea typeface="Calibri" pitchFamily="34" charset="-122"/>
                <a:cs typeface="Calibri" pitchFamily="34" charset="-120"/>
              </a:rPr>
              <a:t>F · Links used today</a:t>
            </a:r>
            <a:endParaRPr lang="en-US" sz="3000" dirty="0"/>
          </a:p>
        </p:txBody>
      </p:sp>
      <p:graphicFrame>
        <p:nvGraphicFramePr>
          <p:cNvPr id="47" name="Table 0"/>
          <p:cNvGraphicFramePr>
            <a:graphicFrameLocks noGrp="1"/>
          </p:cNvGraphicFramePr>
          <p:nvPr>
            <p:extLst>
              <p:ext uri="{D42A27DB-BD31-4B8C-83A1-F6EECF244321}">
                <ns2:modId val="1579011935"/>
              </p:ext>
            </p:extLst>
          </p:nvPr>
        </p:nvGraphicFramePr>
        <p:xfrm>
          <a:off x="548640" y="1325880"/>
          <a:ext cx="11091672" cy="914400"/>
        </p:xfrm>
        <a:graphic>
          <a:graphicData uri="http://schemas.openxmlformats.org/drawingml/2006/table">
            <a:tbl>
              <a:tblPr/>
              <a:tblGrid>
                <a:gridCol w="3327502"/>
                <a:gridCol w="776417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Topic</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Link</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0B2545"/>
                    </a:solidFill>
                  </a:tcPr>
                </a:tc>
              </a:tr>
              <a:tr h="0">
                <a:tc>
                  <a:txBody>
                    <a:bodyPr/>
                    <a:lstStyle/>
                    <a:p>
                      <a:pPr indent="0" marL="0">
                        <a:buNone/>
                      </a:pPr>
                      <a:r>
                        <a:rPr lang="en-US" sz="1100" b="1" dirty="0">
                          <a:solidFill>
                            <a:srgbClr val="1F2933"/>
                          </a:solidFill>
                          <a:latin typeface="Calibri" pitchFamily="34" charset="0"/>
                          <a:ea typeface="Calibri" pitchFamily="34" charset="-122"/>
                          <a:cs typeface="Calibri" pitchFamily="34" charset="-120"/>
                        </a:rPr>
                        <a:t>State management overview</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docs.flutter.dev/data-and-backend/state-mgmt/intro  ·  …/state-mgmt/simple  ·  …/state-mgmt/options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3"/>
                          </a:solidFill>
                          <a:latin typeface="Calibri" pitchFamily="34" charset="0"/>
                          <a:ea typeface="Calibri" pitchFamily="34" charset="-122"/>
                          <a:cs typeface="Calibri" pitchFamily="34" charset="-120"/>
                        </a:rPr>
                        <a:t>InheritedWidget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api.flutter.dev/flutter/widgets/InheritedWidget-class.html</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933"/>
                          </a:solidFill>
                          <a:latin typeface="Calibri" pitchFamily="34" charset="0"/>
                          <a:ea typeface="Calibri" pitchFamily="34" charset="-122"/>
                          <a:cs typeface="Calibri" pitchFamily="34" charset="-120"/>
                        </a:rPr>
                        <a:t>Riverpod</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riverpod.dev/docs/from_provider/motivation  ·  riverpod.dev/docs/introduction/getting_started  ·  riverpod.dev/docs/3.0_migration</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3"/>
                          </a:solidFill>
                          <a:latin typeface="Calibri" pitchFamily="34" charset="0"/>
                          <a:ea typeface="Calibri" pitchFamily="34" charset="-122"/>
                          <a:cs typeface="Calibri" pitchFamily="34" charset="-120"/>
                        </a:rPr>
                        <a:t>Riverpod testing</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riverpod.dev/docs/how_to/testing  ·  riverpod.dev/docs/concepts2/retry</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933"/>
                          </a:solidFill>
                          <a:latin typeface="Calibri" pitchFamily="34" charset="0"/>
                          <a:ea typeface="Calibri" pitchFamily="34" charset="-122"/>
                          <a:cs typeface="Calibri" pitchFamily="34" charset="-120"/>
                        </a:rPr>
                        <a:t>riverpod_lint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pub.dev/packages/riverpod_lint</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3"/>
                          </a:solidFill>
                          <a:latin typeface="Calibri" pitchFamily="34" charset="0"/>
                          <a:ea typeface="Calibri" pitchFamily="34" charset="-122"/>
                          <a:cs typeface="Calibri" pitchFamily="34" charset="-120"/>
                        </a:rPr>
                        <a:t>Bloc</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bloclibrary.dev/bloc-concepts  ·  bloclibrary.dev/architecture  ·  pub.dev/packages/flutter_bloc</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933"/>
                          </a:solidFill>
                          <a:latin typeface="Calibri" pitchFamily="34" charset="0"/>
                          <a:ea typeface="Calibri" pitchFamily="34" charset="-122"/>
                          <a:cs typeface="Calibri" pitchFamily="34" charset="-120"/>
                        </a:rPr>
                        <a:t>Provider (legacy reference)</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pub.dev/packages/provider</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3"/>
                          </a:solidFill>
                          <a:latin typeface="Calibri" pitchFamily="34" charset="0"/>
                          <a:ea typeface="Calibri" pitchFamily="34" charset="-122"/>
                          <a:cs typeface="Calibri" pitchFamily="34" charset="-120"/>
                        </a:rPr>
                        <a:t>Homework</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pub.dev/packages/go_router (README → docs link)</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3F5F8"/>
                    </a:solidFill>
                  </a:tcPr>
                </a:tc>
              </a:tr>
              <a:tr h="0">
                <a:tc>
                  <a:txBody>
                    <a:bodyPr/>
                    <a:lstStyle/>
                    <a:p>
                      <a:pPr indent="0" marL="0">
                        <a:buNone/>
                      </a:pPr>
                      <a:r>
                        <a:rPr lang="en-US" sz="1100" b="1" dirty="0">
                          <a:solidFill>
                            <a:srgbClr val="1F2933"/>
                          </a:solidFill>
                          <a:latin typeface="Calibri" pitchFamily="34" charset="0"/>
                          <a:ea typeface="Calibri" pitchFamily="34" charset="-122"/>
                          <a:cs typeface="Calibri" pitchFamily="34" charset="-120"/>
                        </a:rPr>
                        <a:t>Course repo</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Calibri" pitchFamily="34" charset="0"/>
                          <a:ea typeface="Calibri" pitchFamily="34" charset="-122"/>
                          <a:cs typeface="Calibri" pitchFamily="34" charset="-120"/>
                        </a:rPr>
                        <a:t>github.com/Clynton19860/flutter - handbooks, exercises and lab solutions</a:t>
                      </a:r>
                      <a:endParaRPr lang="en-US" sz="1100" dirty="0">
                        <a:latin typeface="Calibri" charset="0"/>
                        <a:ea typeface="Calibri" charset="0"/>
                        <a:cs typeface="Calibri" charset="0"/>
                      </a:endParaRPr>
                    </a:p>
                  </a:txBody>
                  <a:tcPr marL="54864" marR="54864" marT="54864" marB="54864"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 Integrations · Flutter Training · Day 3 - State Management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Day 3 - State Management</dc:title>
  <dc:subject>MO Integrations Flutter Training</dc:subject>
  <dc:creator>MO Integrations</dc:creator>
  <cp:lastModifiedBy>MO Integrations</cp:lastModifiedBy>
  <cp:revision>1</cp:revision>
  <dcterms:created xsi:type="dcterms:W3CDTF">2026-09-06T15:57:32Z</dcterms:created>
  <dcterms:modified xsi:type="dcterms:W3CDTF">2026-09-06T15:57:32Z</dcterms:modified>
</cp:coreProperties>
</file>